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  <p:sldMasterId id="2147483678" r:id="rId3"/>
  </p:sldMasterIdLst>
  <p:notesMasterIdLst>
    <p:notesMasterId r:id="rId48"/>
  </p:notesMasterIdLst>
  <p:sldIdLst>
    <p:sldId id="285" r:id="rId4"/>
    <p:sldId id="286" r:id="rId5"/>
    <p:sldId id="257" r:id="rId6"/>
    <p:sldId id="305" r:id="rId7"/>
    <p:sldId id="306" r:id="rId8"/>
    <p:sldId id="307" r:id="rId9"/>
    <p:sldId id="302" r:id="rId10"/>
    <p:sldId id="308" r:id="rId11"/>
    <p:sldId id="326" r:id="rId12"/>
    <p:sldId id="327" r:id="rId13"/>
    <p:sldId id="328" r:id="rId14"/>
    <p:sldId id="329" r:id="rId15"/>
    <p:sldId id="324" r:id="rId16"/>
    <p:sldId id="325" r:id="rId17"/>
    <p:sldId id="309" r:id="rId18"/>
    <p:sldId id="310" r:id="rId19"/>
    <p:sldId id="311" r:id="rId20"/>
    <p:sldId id="258" r:id="rId21"/>
    <p:sldId id="296" r:id="rId22"/>
    <p:sldId id="321" r:id="rId23"/>
    <p:sldId id="320" r:id="rId24"/>
    <p:sldId id="319" r:id="rId25"/>
    <p:sldId id="318" r:id="rId26"/>
    <p:sldId id="322" r:id="rId27"/>
    <p:sldId id="317" r:id="rId28"/>
    <p:sldId id="316" r:id="rId29"/>
    <p:sldId id="315" r:id="rId30"/>
    <p:sldId id="323" r:id="rId31"/>
    <p:sldId id="314" r:id="rId32"/>
    <p:sldId id="313" r:id="rId33"/>
    <p:sldId id="330" r:id="rId34"/>
    <p:sldId id="337" r:id="rId35"/>
    <p:sldId id="331" r:id="rId36"/>
    <p:sldId id="338" r:id="rId37"/>
    <p:sldId id="336" r:id="rId38"/>
    <p:sldId id="339" r:id="rId39"/>
    <p:sldId id="335" r:id="rId40"/>
    <p:sldId id="334" r:id="rId41"/>
    <p:sldId id="340" r:id="rId42"/>
    <p:sldId id="341" r:id="rId43"/>
    <p:sldId id="303" r:id="rId44"/>
    <p:sldId id="312" r:id="rId45"/>
    <p:sldId id="294" r:id="rId46"/>
    <p:sldId id="284" r:id="rId47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441" autoAdjust="0"/>
  </p:normalViewPr>
  <p:slideViewPr>
    <p:cSldViewPr>
      <p:cViewPr varScale="1">
        <p:scale>
          <a:sx n="87" d="100"/>
          <a:sy n="87" d="100"/>
        </p:scale>
        <p:origin x="1416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4A8E67-C31F-4B3F-AE22-4E6EEE62189F}" type="datetimeFigureOut">
              <a:rPr lang="en-US" smtClean="0"/>
              <a:t>6/15/2021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6D6AE2-3021-4755-9483-33FED85582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410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318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5640802-FA98-427B-B9DA-D5CD3C58A5E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318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990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https://codeigniter.com/userguide3/general/controllers.html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6D6AE2-3021-4755-9483-33FED855821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61988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https://codeigniter.com/userguide3/general/controllers.html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6D6AE2-3021-4755-9483-33FED855821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81887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https://codeigniter.com/userguide3/general/controllers.html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6D6AE2-3021-4755-9483-33FED855821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2051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AF5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AF5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AF5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2843" y="1078991"/>
            <a:ext cx="8066537" cy="32575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flipV="1">
            <a:off x="5410200" y="3810000"/>
            <a:ext cx="3733800" cy="904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 flipV="1">
            <a:off x="5410200" y="3897313"/>
            <a:ext cx="3733800" cy="19208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 flipV="1">
            <a:off x="5410200" y="4114800"/>
            <a:ext cx="3733800" cy="9525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5410200" y="4164013"/>
            <a:ext cx="1965325" cy="19050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 flipV="1">
            <a:off x="5410200" y="4198938"/>
            <a:ext cx="1965325" cy="9525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11" name="Rounded Rectangle 10"/>
          <p:cNvSpPr/>
          <p:nvPr/>
        </p:nvSpPr>
        <p:spPr bwMode="white">
          <a:xfrm>
            <a:off x="5410200" y="3962400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12" name="Rounded Rectangle 11"/>
          <p:cNvSpPr/>
          <p:nvPr/>
        </p:nvSpPr>
        <p:spPr bwMode="white">
          <a:xfrm>
            <a:off x="7377113" y="4060825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0" y="3649663"/>
            <a:ext cx="9144000" cy="24447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0" y="3675063"/>
            <a:ext cx="9144000" cy="1412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Rectangle 14"/>
          <p:cNvSpPr/>
          <p:nvPr/>
        </p:nvSpPr>
        <p:spPr>
          <a:xfrm flipV="1">
            <a:off x="6413500" y="3643313"/>
            <a:ext cx="2730500" cy="2476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9144000" cy="370205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7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875"/>
            <a:ext cx="960438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7A5911-318A-42B0-BD23-6D9EB7D0CA04}" type="datetimeFigureOut">
              <a:rPr lang="en-US"/>
              <a:pPr>
                <a:defRPr/>
              </a:pPr>
              <a:t>6/15/2021</a:t>
            </a:fld>
            <a:endParaRPr lang="en-US"/>
          </a:p>
        </p:txBody>
      </p:sp>
      <p:sp>
        <p:nvSpPr>
          <p:cNvPr id="18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588"/>
            <a:ext cx="74771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4458D9D-7997-48C9-9AC8-3F90B58B8F5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4431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4A82B4-6618-4215-93D9-CEB563386B8B}" type="datetimeFigureOut">
              <a:rPr lang="en-US"/>
              <a:pPr>
                <a:defRPr/>
              </a:pPr>
              <a:t>6/15/2021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7DC8DC-866E-4B93-B469-7F06B822183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2998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CF3936-C19B-44C7-9907-C0E7C284152D}" type="datetimeFigureOut">
              <a:rPr lang="en-US"/>
              <a:pPr>
                <a:defRPr/>
              </a:pPr>
              <a:t>6/15/2021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D50082-0BCC-45F0-8D95-A24D80F2B49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5859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314A90-AFC1-4E63-8122-57311A38DF42}" type="datetimeFigureOut">
              <a:rPr lang="en-US"/>
              <a:pPr>
                <a:defRPr/>
              </a:pPr>
              <a:t>6/15/2021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78D1BD-67A6-4741-9925-0FDB9D00201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2786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7A2782CB-796F-4B39-B3A1-A580BB814B6D}" type="datetimeFigureOut">
              <a:rPr lang="en-US"/>
              <a:pPr>
                <a:defRPr/>
              </a:pPr>
              <a:t>6/15/2021</a:t>
            </a:fld>
            <a:endParaRPr lang="en-US"/>
          </a:p>
        </p:txBody>
      </p:sp>
      <p:sp>
        <p:nvSpPr>
          <p:cNvPr id="8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2235CFA-2E95-41A8-BAE8-E6B82C409E5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06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363" y="612775"/>
            <a:ext cx="95726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89DFEC-1725-49C8-B349-7936A7B6C619}" type="datetimeFigureOut">
              <a:rPr lang="en-US"/>
              <a:pPr>
                <a:defRPr/>
              </a:pPr>
              <a:t>6/15/2021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7C593E-29F5-4DB5-AA21-09B3E16427D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86860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C4EACB-F0B1-430E-814E-618E1FB95B3F}" type="datetimeFigureOut">
              <a:rPr lang="en-US"/>
              <a:pPr>
                <a:defRPr/>
              </a:pPr>
              <a:t>6/15/2021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62F2B9-77ED-4645-81E1-35508EBB26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4978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F83054-3FDA-4EA6-BDCD-F6F20A348F07}" type="datetimeFigureOut">
              <a:rPr lang="en-US"/>
              <a:pPr>
                <a:defRPr/>
              </a:pPr>
              <a:t>6/15/2021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4040EC-DEFE-48A7-8B41-72679CFEB6E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0578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3B4C38-6B7A-4435-A3AF-075D8A2102F3}" type="datetimeFigureOut">
              <a:rPr lang="en-US"/>
              <a:pPr>
                <a:defRPr/>
              </a:pPr>
              <a:t>6/15/2021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95D01F-80C4-4EF3-9C3E-4AB2D853C16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79253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F07E67-5493-4B92-9FD9-CEF01D49F27C}" type="datetimeFigureOut">
              <a:rPr lang="en-US"/>
              <a:pPr>
                <a:defRPr/>
              </a:pPr>
              <a:t>6/15/2021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CC2162-9904-4CE2-ADF7-C5DB601A18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25030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7261E-68CB-4B7F-AB36-DC4916C10FE0}" type="datetimeFigureOut">
              <a:rPr lang="en-US"/>
              <a:pPr>
                <a:defRPr/>
              </a:pPr>
              <a:t>6/15/2021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2EC959-A47F-459F-8D4B-AA4F723E346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51712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49026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3545" y="3648456"/>
            <a:ext cx="7296911" cy="492481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Bookman Uralic"/>
                <a:cs typeface="Bookman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44041" y="2828671"/>
            <a:ext cx="5455919" cy="400148"/>
          </a:xfrm>
        </p:spPr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02435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3545" y="3648456"/>
            <a:ext cx="7296911" cy="492481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Bookman Uralic"/>
                <a:cs typeface="Bookman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02377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3545" y="3648456"/>
            <a:ext cx="7296911" cy="492481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Bookman Uralic"/>
                <a:cs typeface="Bookman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18997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6634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42769" y="484758"/>
            <a:ext cx="4458461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AF5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49426" y="3362909"/>
            <a:ext cx="6645147" cy="2021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0" y="366713"/>
            <a:ext cx="9144000" cy="8413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200" y="360363"/>
            <a:ext cx="3733800" cy="904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39738"/>
            <a:ext cx="3733800" cy="18097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400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207" name="Title Placeholder 2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820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2249488"/>
            <a:ext cx="8229600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800">
                <a:solidFill>
                  <a:schemeClr val="accent2"/>
                </a:solidFill>
                <a:latin typeface="+mn-lt"/>
              </a:defRPr>
            </a:lvl1pPr>
          </a:lstStyle>
          <a:p>
            <a:pPr>
              <a:defRPr/>
            </a:pPr>
            <a:fld id="{076F8D71-EA83-45CB-9292-976A9C8DA0C3}" type="datetimeFigureOut">
              <a:rPr lang="en-US"/>
              <a:pPr>
                <a:defRPr/>
              </a:pPr>
              <a:t>6/15/2021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 vert="horz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800">
                <a:solidFill>
                  <a:schemeClr val="accent2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038" y="1588"/>
            <a:ext cx="762000" cy="366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>
                <a:solidFill>
                  <a:srgbClr val="FFFFFF"/>
                </a:solidFill>
                <a:latin typeface="Georgia" panose="02040502050405020303" pitchFamily="18" charset="0"/>
              </a:defRPr>
            </a:lvl1pPr>
          </a:lstStyle>
          <a:p>
            <a:fld id="{C36EDDF5-661D-4F0D-A8FC-08CDEA6AF9C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3112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9pPr>
    </p:titleStyle>
    <p:bodyStyle>
      <a:lvl1pPr marL="365125" indent="-255588" algn="l" rtl="0" eaLnBrk="0" fontAlgn="base" hangingPunct="0">
        <a:spcBef>
          <a:spcPts val="300"/>
        </a:spcBef>
        <a:spcAft>
          <a:spcPct val="0"/>
        </a:spcAft>
        <a:buClr>
          <a:srgbClr val="9BBB59"/>
        </a:buClr>
        <a:buFont typeface="Georgia" panose="02040502050405020303" pitchFamily="18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7225" indent="-246063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Font typeface="Georgia" panose="02040502050405020303" pitchFamily="18" charset="0"/>
        <a:buChar char="▫"/>
        <a:defRPr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2338" indent="-219075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13" indent="-200025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ts val="300"/>
        </a:spcBef>
        <a:spcAft>
          <a:spcPct val="0"/>
        </a:spcAft>
        <a:buClr>
          <a:srgbClr val="9BBB59"/>
        </a:buClr>
        <a:buFont typeface="Georgia" panose="02040502050405020303" pitchFamily="18" charset="0"/>
        <a:buChar char="▫"/>
        <a:defRPr sz="2000" kern="1200">
          <a:solidFill>
            <a:srgbClr val="9BBB59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3545" y="3648455"/>
            <a:ext cx="7296911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Bookman Uralic"/>
                <a:cs typeface="Bookman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44041" y="2828670"/>
            <a:ext cx="5455919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4151" y="5726336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1047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196">
        <a:defRPr>
          <a:latin typeface="+mn-lt"/>
          <a:ea typeface="+mn-ea"/>
          <a:cs typeface="+mn-cs"/>
        </a:defRPr>
      </a:lvl2pPr>
      <a:lvl3pPr marL="914391">
        <a:defRPr>
          <a:latin typeface="+mn-lt"/>
          <a:ea typeface="+mn-ea"/>
          <a:cs typeface="+mn-cs"/>
        </a:defRPr>
      </a:lvl3pPr>
      <a:lvl4pPr marL="1371587">
        <a:defRPr>
          <a:latin typeface="+mn-lt"/>
          <a:ea typeface="+mn-ea"/>
          <a:cs typeface="+mn-cs"/>
        </a:defRPr>
      </a:lvl4pPr>
      <a:lvl5pPr marL="1828782">
        <a:defRPr>
          <a:latin typeface="+mn-lt"/>
          <a:ea typeface="+mn-ea"/>
          <a:cs typeface="+mn-cs"/>
        </a:defRPr>
      </a:lvl5pPr>
      <a:lvl6pPr marL="2285978">
        <a:defRPr>
          <a:latin typeface="+mn-lt"/>
          <a:ea typeface="+mn-ea"/>
          <a:cs typeface="+mn-cs"/>
        </a:defRPr>
      </a:lvl6pPr>
      <a:lvl7pPr marL="2743173">
        <a:defRPr>
          <a:latin typeface="+mn-lt"/>
          <a:ea typeface="+mn-ea"/>
          <a:cs typeface="+mn-cs"/>
        </a:defRPr>
      </a:lvl7pPr>
      <a:lvl8pPr marL="3200368">
        <a:defRPr>
          <a:latin typeface="+mn-lt"/>
          <a:ea typeface="+mn-ea"/>
          <a:cs typeface="+mn-cs"/>
        </a:defRPr>
      </a:lvl8pPr>
      <a:lvl9pPr marL="365756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196">
        <a:defRPr>
          <a:latin typeface="+mn-lt"/>
          <a:ea typeface="+mn-ea"/>
          <a:cs typeface="+mn-cs"/>
        </a:defRPr>
      </a:lvl2pPr>
      <a:lvl3pPr marL="914391">
        <a:defRPr>
          <a:latin typeface="+mn-lt"/>
          <a:ea typeface="+mn-ea"/>
          <a:cs typeface="+mn-cs"/>
        </a:defRPr>
      </a:lvl3pPr>
      <a:lvl4pPr marL="1371587">
        <a:defRPr>
          <a:latin typeface="+mn-lt"/>
          <a:ea typeface="+mn-ea"/>
          <a:cs typeface="+mn-cs"/>
        </a:defRPr>
      </a:lvl4pPr>
      <a:lvl5pPr marL="1828782">
        <a:defRPr>
          <a:latin typeface="+mn-lt"/>
          <a:ea typeface="+mn-ea"/>
          <a:cs typeface="+mn-cs"/>
        </a:defRPr>
      </a:lvl5pPr>
      <a:lvl6pPr marL="2285978">
        <a:defRPr>
          <a:latin typeface="+mn-lt"/>
          <a:ea typeface="+mn-ea"/>
          <a:cs typeface="+mn-cs"/>
        </a:defRPr>
      </a:lvl6pPr>
      <a:lvl7pPr marL="2743173">
        <a:defRPr>
          <a:latin typeface="+mn-lt"/>
          <a:ea typeface="+mn-ea"/>
          <a:cs typeface="+mn-cs"/>
        </a:defRPr>
      </a:lvl7pPr>
      <a:lvl8pPr marL="3200368">
        <a:defRPr>
          <a:latin typeface="+mn-lt"/>
          <a:ea typeface="+mn-ea"/>
          <a:cs typeface="+mn-cs"/>
        </a:defRPr>
      </a:lvl8pPr>
      <a:lvl9pPr marL="3657563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localhost/lecture13/aimvc/public/class/method/param1/param2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questions/16691036/codeigniter-2-difference-between-index-and-construct-and-what-to-put-in-cons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localhost/lecture13/aimvc/public/home/method/param1/param2/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hyperlink" Target="https://note-ade.blogspot.com/2020/10/mvc.html" TargetMode="External"/><Relationship Id="rId3" Type="http://schemas.openxmlformats.org/officeDocument/2006/relationships/hyperlink" Target="https://codeigniter.com/userguide3/general/routing.html" TargetMode="External"/><Relationship Id="rId7" Type="http://schemas.openxmlformats.org/officeDocument/2006/relationships/hyperlink" Target="https://www.freecodecamp.org/news/the-model-view-controller-pattern-mvc-architecture-and-frameworks-explained/" TargetMode="External"/><Relationship Id="rId2" Type="http://schemas.openxmlformats.org/officeDocument/2006/relationships/hyperlink" Target="https://codeigniter.com/userguide3/general/controllers.html#id1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sudhersonv.wixsite.com/codeblogs/single-post/2015/05/19/mvc-url-routing" TargetMode="External"/><Relationship Id="rId5" Type="http://schemas.openxmlformats.org/officeDocument/2006/relationships/hyperlink" Target="https://www.c-sharpcorner.com/article/learn-about-mvc-architecture/" TargetMode="External"/><Relationship Id="rId10" Type="http://schemas.openxmlformats.org/officeDocument/2006/relationships/hyperlink" Target="https://hackernoon.com/beginners-guide-to-ruby-on-rails-mvc-model-view-controller-pattern-4z19196a" TargetMode="External"/><Relationship Id="rId4" Type="http://schemas.openxmlformats.org/officeDocument/2006/relationships/hyperlink" Target="https://developer.mozilla.org/en-US/docs/Glossary/MVC" TargetMode="External"/><Relationship Id="rId9" Type="http://schemas.openxmlformats.org/officeDocument/2006/relationships/hyperlink" Target="https://informatika.uc.ac.id/id/2016/12/sistem-pemrograman-model-view-controller-mvc/" TargetMode="Externa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444" b="-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3276600" y="3308350"/>
            <a:ext cx="5867400" cy="1819275"/>
          </a:xfrm>
          <a:prstGeom prst="rect">
            <a:avLst/>
          </a:prstGeom>
          <a:solidFill>
            <a:schemeClr val="dk1">
              <a:alpha val="42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grpSp>
        <p:nvGrpSpPr>
          <p:cNvPr id="7172" name="Group 8"/>
          <p:cNvGrpSpPr>
            <a:grpSpLocks/>
          </p:cNvGrpSpPr>
          <p:nvPr/>
        </p:nvGrpSpPr>
        <p:grpSpPr bwMode="auto">
          <a:xfrm>
            <a:off x="3428998" y="3429001"/>
            <a:ext cx="5638798" cy="1490376"/>
            <a:chOff x="4966856" y="5954268"/>
            <a:chExt cx="4100945" cy="1258675"/>
          </a:xfrm>
        </p:grpSpPr>
        <p:sp>
          <p:nvSpPr>
            <p:cNvPr id="4" name="Rectangle 3"/>
            <p:cNvSpPr/>
            <p:nvPr/>
          </p:nvSpPr>
          <p:spPr>
            <a:xfrm>
              <a:off x="4966856" y="5954268"/>
              <a:ext cx="4052205" cy="492038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Fakultas</a:t>
              </a:r>
              <a:r>
                <a: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 </a:t>
              </a:r>
              <a:r>
                <a:rPr kumimoji="0" lang="en-US" sz="4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Ilmu</a:t>
              </a:r>
              <a:r>
                <a: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 </a:t>
              </a:r>
              <a:r>
                <a:rPr kumimoji="0" lang="en-US" sz="4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Komputer</a:t>
              </a:r>
              <a:endPara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7178" name="TextBox 5"/>
            <p:cNvSpPr txBox="1">
              <a:spLocks noChangeArrowheads="1"/>
            </p:cNvSpPr>
            <p:nvPr/>
          </p:nvSpPr>
          <p:spPr bwMode="auto">
            <a:xfrm>
              <a:off x="5576457" y="6511136"/>
              <a:ext cx="3491344" cy="701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1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Learning </a:t>
              </a:r>
              <a:r>
                <a:rPr kumimoji="0" lang="en-US" altLang="en-US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is the process of acquiring new understanding, knowledge, behaviors, skills, values, attitudes, and preferences.</a:t>
              </a:r>
              <a:endParaRPr kumimoji="0" lang="en-US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cxnSp>
        <p:nvCxnSpPr>
          <p:cNvPr id="14" name="Straight Connector 13"/>
          <p:cNvCxnSpPr/>
          <p:nvPr/>
        </p:nvCxnSpPr>
        <p:spPr>
          <a:xfrm>
            <a:off x="0" y="5213325"/>
            <a:ext cx="9144000" cy="15875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174" name="Rectangle 1"/>
          <p:cNvSpPr>
            <a:spLocks noChangeArrowheads="1"/>
          </p:cNvSpPr>
          <p:nvPr/>
        </p:nvSpPr>
        <p:spPr bwMode="auto">
          <a:xfrm>
            <a:off x="23446" y="5801380"/>
            <a:ext cx="9144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800" b="1" dirty="0" smtClean="0">
                <a:solidFill>
                  <a:srgbClr val="000000"/>
                </a:solidFill>
                <a:latin typeface="+mn-lt"/>
              </a:rPr>
              <a:t>Default </a:t>
            </a:r>
            <a:r>
              <a:rPr lang="en-US" altLang="en-US" sz="2800" b="1" dirty="0">
                <a:solidFill>
                  <a:srgbClr val="000000"/>
                </a:solidFill>
                <a:latin typeface="+mn-lt"/>
              </a:rPr>
              <a:t>Controller &amp; Method</a:t>
            </a:r>
            <a:endParaRPr kumimoji="0" lang="en-US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67810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8"/>
          <p:cNvSpPr>
            <a:spLocks noChangeArrowheads="1"/>
          </p:cNvSpPr>
          <p:nvPr/>
        </p:nvSpPr>
        <p:spPr bwMode="auto">
          <a:xfrm>
            <a:off x="609600" y="4724400"/>
            <a:ext cx="79248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27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0" algn="ctr" fontAlgn="base">
              <a:spcBef>
                <a:spcPts val="2388"/>
              </a:spcBef>
              <a:spcAft>
                <a:spcPct val="0"/>
              </a:spcAft>
              <a:defRPr/>
            </a:pPr>
            <a:r>
              <a:rPr lang="en-US" sz="3600" b="1" dirty="0">
                <a:solidFill>
                  <a:srgbClr val="1F497D">
                    <a:satMod val="200000"/>
                  </a:srgbClr>
                </a:solidFill>
                <a:latin typeface="+mn-lt"/>
              </a:rPr>
              <a:t>Defining a Default </a:t>
            </a:r>
            <a:r>
              <a:rPr lang="en-US" sz="3600" b="1" dirty="0" smtClean="0">
                <a:solidFill>
                  <a:srgbClr val="1F497D">
                    <a:satMod val="200000"/>
                  </a:srgbClr>
                </a:solidFill>
                <a:latin typeface="+mn-lt"/>
              </a:rPr>
              <a:t>Controller and Method</a:t>
            </a:r>
            <a:endParaRPr kumimoji="0" lang="en-US" altLang="en-US" sz="3600" b="1" i="1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PMingLiU"/>
              <a:cs typeface="PMingLiU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11113" y="3789040"/>
            <a:ext cx="9132887" cy="2096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45" name="Picture 2" descr="Teens and Technology – Cavalier Chronic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70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604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dirty="0">
                <a:solidFill>
                  <a:srgbClr val="1F497D"/>
                </a:solidFill>
                <a:latin typeface="Georgia"/>
              </a:rPr>
              <a:t>What is a Controller?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1026" name="Picture 2" descr="MVC - MDN Web Docs Glossary: Definitions of Web-related terms | MDN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96"/>
          <a:stretch/>
        </p:blipFill>
        <p:spPr bwMode="auto">
          <a:xfrm>
            <a:off x="0" y="1066800"/>
            <a:ext cx="7022433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150564" y="4953000"/>
            <a:ext cx="884103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latin typeface="Georgia" panose="02040502050405020303" pitchFamily="18" charset="0"/>
              </a:rPr>
              <a:t>The Model</a:t>
            </a:r>
          </a:p>
          <a:p>
            <a:r>
              <a:rPr lang="en-US" sz="1200" dirty="0">
                <a:latin typeface="Georgia" panose="02040502050405020303" pitchFamily="18" charset="0"/>
              </a:rPr>
              <a:t>The model defines what data the app should contain. If the state of this data changes, then the model will usually notify the view (</a:t>
            </a:r>
            <a:r>
              <a:rPr lang="en-US" sz="1200" i="1" dirty="0">
                <a:latin typeface="Georgia" panose="02040502050405020303" pitchFamily="18" charset="0"/>
              </a:rPr>
              <a:t>so the display can change as needed</a:t>
            </a:r>
            <a:r>
              <a:rPr lang="en-US" sz="1200" dirty="0">
                <a:latin typeface="Georgia" panose="02040502050405020303" pitchFamily="18" charset="0"/>
              </a:rPr>
              <a:t>) and sometimes the controller (</a:t>
            </a:r>
            <a:r>
              <a:rPr lang="en-US" sz="1200" i="1" dirty="0">
                <a:latin typeface="Georgia" panose="02040502050405020303" pitchFamily="18" charset="0"/>
              </a:rPr>
              <a:t>if different logic is needed to control the updated view</a:t>
            </a:r>
            <a:r>
              <a:rPr lang="en-US" sz="1200" dirty="0">
                <a:latin typeface="Georgia" panose="02040502050405020303" pitchFamily="18" charset="0"/>
              </a:rPr>
              <a:t>).</a:t>
            </a:r>
          </a:p>
          <a:p>
            <a:endParaRPr lang="en-US" sz="1200" b="1" dirty="0">
              <a:latin typeface="Georgia" panose="02040502050405020303" pitchFamily="18" charset="0"/>
            </a:endParaRPr>
          </a:p>
          <a:p>
            <a:r>
              <a:rPr lang="en-US" sz="1200" b="1" dirty="0">
                <a:latin typeface="Georgia" panose="02040502050405020303" pitchFamily="18" charset="0"/>
              </a:rPr>
              <a:t>The View</a:t>
            </a:r>
          </a:p>
          <a:p>
            <a:r>
              <a:rPr lang="en-US" sz="1200" dirty="0">
                <a:latin typeface="Georgia" panose="02040502050405020303" pitchFamily="18" charset="0"/>
              </a:rPr>
              <a:t>The view defines how the app's data should be displayed.</a:t>
            </a:r>
          </a:p>
          <a:p>
            <a:endParaRPr lang="en-US" sz="1200" dirty="0">
              <a:latin typeface="Georgia" panose="02040502050405020303" pitchFamily="18" charset="0"/>
            </a:endParaRPr>
          </a:p>
          <a:p>
            <a:r>
              <a:rPr lang="en-US" sz="1200" b="1" dirty="0">
                <a:latin typeface="Georgia" panose="02040502050405020303" pitchFamily="18" charset="0"/>
              </a:rPr>
              <a:t>The Controller</a:t>
            </a:r>
          </a:p>
          <a:p>
            <a:r>
              <a:rPr lang="en-US" sz="1200" dirty="0">
                <a:latin typeface="Georgia" panose="02040502050405020303" pitchFamily="18" charset="0"/>
              </a:rPr>
              <a:t>The controller contains logic that updates the model and/or view in response to input from the users of the app.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0118" y="1409810"/>
            <a:ext cx="411388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200" b="1" dirty="0">
                <a:latin typeface="Georgia" panose="02040502050405020303" pitchFamily="18" charset="0"/>
              </a:rPr>
              <a:t>Model</a:t>
            </a:r>
            <a:r>
              <a:rPr lang="en-US" sz="1200" dirty="0">
                <a:latin typeface="Georgia" panose="02040502050405020303" pitchFamily="18" charset="0"/>
              </a:rPr>
              <a:t>: The </a:t>
            </a:r>
            <a:r>
              <a:rPr lang="en-US" sz="1200" i="1" dirty="0">
                <a:latin typeface="Georgia" panose="02040502050405020303" pitchFamily="18" charset="0"/>
              </a:rPr>
              <a:t>backend</a:t>
            </a:r>
            <a:r>
              <a:rPr lang="en-US" sz="1200" dirty="0">
                <a:latin typeface="Georgia" panose="02040502050405020303" pitchFamily="18" charset="0"/>
              </a:rPr>
              <a:t> that contains all the data </a:t>
            </a:r>
            <a:r>
              <a:rPr lang="en-US" sz="1200" dirty="0" smtClean="0">
                <a:latin typeface="Georgia" panose="02040502050405020303" pitchFamily="18" charset="0"/>
              </a:rPr>
              <a:t>logic.</a:t>
            </a:r>
            <a:endParaRPr lang="en-US" sz="1200" dirty="0">
              <a:latin typeface="Georgia" panose="02040502050405020303" pitchFamily="18" charset="0"/>
            </a:endParaRPr>
          </a:p>
          <a:p>
            <a:pPr marL="228600" indent="-228600">
              <a:buFont typeface="+mj-lt"/>
              <a:buAutoNum type="arabicParenR"/>
            </a:pPr>
            <a:r>
              <a:rPr lang="en-US" sz="1200" b="1" dirty="0">
                <a:latin typeface="Georgia" panose="02040502050405020303" pitchFamily="18" charset="0"/>
              </a:rPr>
              <a:t>View</a:t>
            </a:r>
            <a:r>
              <a:rPr lang="en-US" sz="1200" dirty="0">
                <a:latin typeface="Georgia" panose="02040502050405020303" pitchFamily="18" charset="0"/>
              </a:rPr>
              <a:t>: The </a:t>
            </a:r>
            <a:r>
              <a:rPr lang="en-US" sz="1200" i="1" dirty="0">
                <a:latin typeface="Georgia" panose="02040502050405020303" pitchFamily="18" charset="0"/>
              </a:rPr>
              <a:t>frontend</a:t>
            </a:r>
            <a:r>
              <a:rPr lang="en-US" sz="1200" dirty="0">
                <a:latin typeface="Georgia" panose="02040502050405020303" pitchFamily="18" charset="0"/>
              </a:rPr>
              <a:t> or graphical user interface (GUI</a:t>
            </a:r>
            <a:r>
              <a:rPr lang="en-US" sz="1200" dirty="0" smtClean="0">
                <a:latin typeface="Georgia" panose="02040502050405020303" pitchFamily="18" charset="0"/>
              </a:rPr>
              <a:t>).</a:t>
            </a:r>
            <a:endParaRPr lang="en-US" sz="1200" dirty="0">
              <a:latin typeface="Georgia" panose="02040502050405020303" pitchFamily="18" charset="0"/>
            </a:endParaRPr>
          </a:p>
          <a:p>
            <a:pPr marL="228600" indent="-228600">
              <a:buFont typeface="+mj-lt"/>
              <a:buAutoNum type="arabicParenR"/>
            </a:pPr>
            <a:r>
              <a:rPr lang="en-US" sz="1200" b="1" dirty="0">
                <a:latin typeface="Georgia" panose="02040502050405020303" pitchFamily="18" charset="0"/>
              </a:rPr>
              <a:t>Controller</a:t>
            </a:r>
            <a:r>
              <a:rPr lang="en-US" sz="1200" dirty="0">
                <a:latin typeface="Georgia" panose="02040502050405020303" pitchFamily="18" charset="0"/>
              </a:rPr>
              <a:t>: The </a:t>
            </a:r>
            <a:r>
              <a:rPr lang="en-US" sz="1200" i="1" dirty="0">
                <a:latin typeface="Georgia" panose="02040502050405020303" pitchFamily="18" charset="0"/>
              </a:rPr>
              <a:t>brains</a:t>
            </a:r>
            <a:r>
              <a:rPr lang="en-US" sz="1200" dirty="0">
                <a:latin typeface="Georgia" panose="02040502050405020303" pitchFamily="18" charset="0"/>
              </a:rPr>
              <a:t> of the application that controls how data is </a:t>
            </a:r>
            <a:r>
              <a:rPr lang="en-US" sz="1200" dirty="0" smtClean="0">
                <a:latin typeface="Georgia" panose="02040502050405020303" pitchFamily="18" charset="0"/>
              </a:rPr>
              <a:t>displayed.</a:t>
            </a:r>
            <a:endParaRPr lang="en-US" sz="12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dirty="0">
                <a:solidFill>
                  <a:srgbClr val="1F497D"/>
                </a:solidFill>
                <a:latin typeface="Georgia"/>
              </a:rPr>
              <a:t>What is a Controller?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90600" y="2057400"/>
            <a:ext cx="74676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i="1" dirty="0">
                <a:latin typeface="Georgia" panose="02040502050405020303" pitchFamily="18" charset="0"/>
              </a:rPr>
              <a:t>Controllers</a:t>
            </a:r>
            <a:r>
              <a:rPr lang="en-US" sz="3200" dirty="0">
                <a:latin typeface="Georgia" panose="02040502050405020303" pitchFamily="18" charset="0"/>
              </a:rPr>
              <a:t> are the </a:t>
            </a:r>
            <a:r>
              <a:rPr lang="en-US" sz="3200" i="1" dirty="0" smtClean="0">
                <a:latin typeface="Georgia" panose="02040502050405020303" pitchFamily="18" charset="0"/>
              </a:rPr>
              <a:t>heart/brain</a:t>
            </a:r>
            <a:r>
              <a:rPr lang="en-US" sz="3200" dirty="0" smtClean="0">
                <a:latin typeface="Georgia" panose="02040502050405020303" pitchFamily="18" charset="0"/>
              </a:rPr>
              <a:t> </a:t>
            </a:r>
            <a:r>
              <a:rPr lang="en-US" sz="3200" dirty="0">
                <a:latin typeface="Georgia" panose="02040502050405020303" pitchFamily="18" charset="0"/>
              </a:rPr>
              <a:t>of </a:t>
            </a:r>
            <a:r>
              <a:rPr lang="en-US" sz="3200" dirty="0" smtClean="0">
                <a:latin typeface="Georgia" panose="02040502050405020303" pitchFamily="18" charset="0"/>
              </a:rPr>
              <a:t>our </a:t>
            </a:r>
            <a:r>
              <a:rPr lang="en-US" sz="3200" dirty="0">
                <a:latin typeface="Georgia" panose="02040502050405020303" pitchFamily="18" charset="0"/>
              </a:rPr>
              <a:t>application, as they determine how HTTP requests should be handled</a:t>
            </a:r>
            <a:r>
              <a:rPr lang="en-US" sz="3200" dirty="0" smtClean="0">
                <a:latin typeface="Georgia" panose="02040502050405020303" pitchFamily="18" charset="0"/>
              </a:rPr>
              <a:t>.</a:t>
            </a:r>
          </a:p>
          <a:p>
            <a:pPr algn="ctr"/>
            <a:endParaRPr lang="en-US" sz="3200" dirty="0">
              <a:latin typeface="Georgia" panose="02040502050405020303" pitchFamily="18" charset="0"/>
            </a:endParaRPr>
          </a:p>
          <a:p>
            <a:pPr algn="ctr"/>
            <a:r>
              <a:rPr lang="en-US" sz="3200" dirty="0">
                <a:latin typeface="Georgia" panose="02040502050405020303" pitchFamily="18" charset="0"/>
              </a:rPr>
              <a:t>A </a:t>
            </a:r>
            <a:r>
              <a:rPr lang="en-US" sz="3200" b="1" i="1" dirty="0">
                <a:latin typeface="Georgia" panose="02040502050405020303" pitchFamily="18" charset="0"/>
              </a:rPr>
              <a:t>Controller</a:t>
            </a:r>
            <a:r>
              <a:rPr lang="en-US" sz="3200" dirty="0">
                <a:latin typeface="Georgia" panose="02040502050405020303" pitchFamily="18" charset="0"/>
              </a:rPr>
              <a:t> is simply a class file that is named in a way that can be associated with a URI.</a:t>
            </a:r>
          </a:p>
        </p:txBody>
      </p:sp>
    </p:spTree>
    <p:extLst>
      <p:ext uri="{BB962C8B-B14F-4D97-AF65-F5344CB8AC3E}">
        <p14:creationId xmlns:p14="http://schemas.microsoft.com/office/powerpoint/2010/main" val="3880332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dirty="0">
                <a:solidFill>
                  <a:srgbClr val="1F497D"/>
                </a:solidFill>
                <a:latin typeface="Georgia"/>
              </a:rPr>
              <a:t>What is a Controller?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2050" name="Picture 2" descr="Learn About MVC Architect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447800"/>
            <a:ext cx="629386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152400" y="5107394"/>
            <a:ext cx="885021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Georgia" panose="02040502050405020303" pitchFamily="18" charset="0"/>
              </a:rPr>
              <a:t>Normally a </a:t>
            </a:r>
            <a:r>
              <a:rPr lang="en-US" sz="2400" i="1" dirty="0">
                <a:latin typeface="Georgia" panose="02040502050405020303" pitchFamily="18" charset="0"/>
              </a:rPr>
              <a:t>user</a:t>
            </a:r>
            <a:r>
              <a:rPr lang="en-US" sz="2400" dirty="0">
                <a:latin typeface="Georgia" panose="02040502050405020303" pitchFamily="18" charset="0"/>
              </a:rPr>
              <a:t> interacts with the </a:t>
            </a:r>
            <a:r>
              <a:rPr lang="en-US" sz="2400" b="1" i="1" dirty="0">
                <a:latin typeface="Georgia" panose="02040502050405020303" pitchFamily="18" charset="0"/>
              </a:rPr>
              <a:t>view</a:t>
            </a:r>
            <a:r>
              <a:rPr lang="en-US" sz="2400" dirty="0">
                <a:latin typeface="Georgia" panose="02040502050405020303" pitchFamily="18" charset="0"/>
              </a:rPr>
              <a:t> and performs some action on the screen. A </a:t>
            </a:r>
            <a:r>
              <a:rPr lang="en-US" sz="2400" i="1" dirty="0">
                <a:latin typeface="Georgia" panose="02040502050405020303" pitchFamily="18" charset="0"/>
              </a:rPr>
              <a:t>request</a:t>
            </a:r>
            <a:r>
              <a:rPr lang="en-US" sz="2400" dirty="0">
                <a:latin typeface="Georgia" panose="02040502050405020303" pitchFamily="18" charset="0"/>
              </a:rPr>
              <a:t> is generated from the </a:t>
            </a:r>
            <a:r>
              <a:rPr lang="en-US" sz="2400" i="1" dirty="0">
                <a:latin typeface="Georgia" panose="02040502050405020303" pitchFamily="18" charset="0"/>
              </a:rPr>
              <a:t>view</a:t>
            </a:r>
            <a:r>
              <a:rPr lang="en-US" sz="2400" dirty="0">
                <a:latin typeface="Georgia" panose="02040502050405020303" pitchFamily="18" charset="0"/>
              </a:rPr>
              <a:t> which is handled by the </a:t>
            </a:r>
            <a:r>
              <a:rPr lang="en-US" sz="2400" b="1" i="1" dirty="0">
                <a:latin typeface="Georgia" panose="02040502050405020303" pitchFamily="18" charset="0"/>
              </a:rPr>
              <a:t>controller</a:t>
            </a:r>
            <a:r>
              <a:rPr lang="en-US" sz="2400" dirty="0">
                <a:latin typeface="Georgia" panose="02040502050405020303" pitchFamily="18" charset="0"/>
              </a:rPr>
              <a:t>. </a:t>
            </a:r>
            <a:r>
              <a:rPr lang="en-US" sz="2400" b="1" i="1" dirty="0">
                <a:latin typeface="Georgia" panose="02040502050405020303" pitchFamily="18" charset="0"/>
              </a:rPr>
              <a:t>Controller</a:t>
            </a:r>
            <a:r>
              <a:rPr lang="en-US" sz="2400" dirty="0">
                <a:latin typeface="Georgia" panose="02040502050405020303" pitchFamily="18" charset="0"/>
              </a:rPr>
              <a:t> is actually responsible for handling </a:t>
            </a:r>
            <a:r>
              <a:rPr lang="en-US" sz="2400" i="1" dirty="0">
                <a:latin typeface="Georgia" panose="02040502050405020303" pitchFamily="18" charset="0"/>
              </a:rPr>
              <a:t>http</a:t>
            </a:r>
            <a:r>
              <a:rPr lang="en-US" sz="2400" dirty="0">
                <a:latin typeface="Georgia" panose="02040502050405020303" pitchFamily="18" charset="0"/>
              </a:rPr>
              <a:t> </a:t>
            </a:r>
            <a:r>
              <a:rPr lang="en-US" sz="2400" i="1" dirty="0">
                <a:latin typeface="Georgia" panose="02040502050405020303" pitchFamily="18" charset="0"/>
              </a:rPr>
              <a:t>request</a:t>
            </a:r>
            <a:r>
              <a:rPr lang="en-US" sz="2400" dirty="0">
                <a:latin typeface="Georgia" panose="02040502050405020303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64476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dirty="0" err="1" smtClean="0">
                <a:solidFill>
                  <a:srgbClr val="1F497D"/>
                </a:solidFill>
                <a:latin typeface="Georgia"/>
              </a:rPr>
              <a:t>Laravel</a:t>
            </a:r>
            <a:r>
              <a:rPr lang="en-US" dirty="0" smtClean="0">
                <a:solidFill>
                  <a:srgbClr val="1F497D"/>
                </a:solidFill>
                <a:latin typeface="Georgia"/>
              </a:rPr>
              <a:t> Controller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371600"/>
            <a:ext cx="5715000" cy="36158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52400" y="5486400"/>
            <a:ext cx="8839200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Georgia" panose="02040502050405020303" pitchFamily="18" charset="0"/>
              </a:rPr>
              <a:t>MVC URL Routing system allows to create powerful and flexible URLs for </a:t>
            </a:r>
            <a:r>
              <a:rPr lang="en-US" sz="1600" dirty="0" smtClean="0">
                <a:latin typeface="Georgia" panose="02040502050405020303" pitchFamily="18" charset="0"/>
              </a:rPr>
              <a:t>the </a:t>
            </a:r>
            <a:r>
              <a:rPr lang="en-US" sz="1600" dirty="0">
                <a:latin typeface="Georgia" panose="02040502050405020303" pitchFamily="18" charset="0"/>
              </a:rPr>
              <a:t>applications. </a:t>
            </a:r>
            <a:endParaRPr lang="en-US" sz="1600" dirty="0" smtClean="0">
              <a:latin typeface="Georgia" panose="02040502050405020303" pitchFamily="18" charset="0"/>
            </a:endParaRPr>
          </a:p>
          <a:p>
            <a:r>
              <a:rPr lang="en-US" sz="1600" dirty="0" smtClean="0">
                <a:latin typeface="Georgia" panose="02040502050405020303" pitchFamily="18" charset="0"/>
              </a:rPr>
              <a:t>It </a:t>
            </a:r>
            <a:r>
              <a:rPr lang="en-US" sz="1600" dirty="0">
                <a:latin typeface="Georgia" panose="02040502050405020303" pitchFamily="18" charset="0"/>
              </a:rPr>
              <a:t>provides two </a:t>
            </a:r>
            <a:r>
              <a:rPr lang="en-US" sz="1600" dirty="0" smtClean="0">
                <a:latin typeface="Georgia" panose="02040502050405020303" pitchFamily="18" charset="0"/>
              </a:rPr>
              <a:t>functionalities</a:t>
            </a:r>
            <a:r>
              <a:rPr lang="en-US" sz="1600" dirty="0">
                <a:latin typeface="Georgia" panose="02040502050405020303" pitchFamily="18" charset="0"/>
              </a:rPr>
              <a:t>:</a:t>
            </a:r>
            <a:r>
              <a:rPr lang="en-US" sz="1600" dirty="0" smtClean="0">
                <a:latin typeface="Georgia" panose="02040502050405020303" pitchFamily="18" charset="0"/>
              </a:rPr>
              <a:t> </a:t>
            </a:r>
            <a:endParaRPr lang="en-US" sz="1600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arenR"/>
            </a:pPr>
            <a:r>
              <a:rPr lang="en-US" sz="1400" b="1" dirty="0" smtClean="0">
                <a:latin typeface="Georgia" panose="02040502050405020303" pitchFamily="18" charset="0"/>
              </a:rPr>
              <a:t>Inspect </a:t>
            </a:r>
            <a:r>
              <a:rPr lang="en-US" sz="1400" b="1" dirty="0">
                <a:latin typeface="Georgia" panose="02040502050405020303" pitchFamily="18" charset="0"/>
              </a:rPr>
              <a:t>incoming URLs </a:t>
            </a:r>
            <a:r>
              <a:rPr lang="en-US" sz="1400" dirty="0">
                <a:latin typeface="Georgia" panose="02040502050405020303" pitchFamily="18" charset="0"/>
              </a:rPr>
              <a:t>- This functionality manifests when the application receives a client request.  </a:t>
            </a:r>
          </a:p>
          <a:p>
            <a:pPr marL="342900" indent="-342900">
              <a:buFont typeface="+mj-lt"/>
              <a:buAutoNum type="arabicParenR"/>
            </a:pPr>
            <a:r>
              <a:rPr lang="en-US" sz="1400" b="1" dirty="0">
                <a:latin typeface="Georgia" panose="02040502050405020303" pitchFamily="18" charset="0"/>
              </a:rPr>
              <a:t>Generate outgoing URLs </a:t>
            </a:r>
            <a:r>
              <a:rPr lang="en-US" sz="1400" dirty="0">
                <a:latin typeface="Georgia" panose="02040502050405020303" pitchFamily="18" charset="0"/>
              </a:rPr>
              <a:t>- This functionality manifests when we render URLs using </a:t>
            </a:r>
            <a:r>
              <a:rPr lang="en-US" sz="1400" dirty="0" err="1" smtClean="0">
                <a:latin typeface="Georgia" panose="02040502050405020303" pitchFamily="18" charset="0"/>
              </a:rPr>
              <a:t>Url</a:t>
            </a:r>
            <a:r>
              <a:rPr lang="en-US" sz="1400" dirty="0" smtClean="0">
                <a:latin typeface="Georgia" panose="02040502050405020303" pitchFamily="18" charset="0"/>
              </a:rPr>
              <a:t> Action </a:t>
            </a:r>
            <a:r>
              <a:rPr lang="en-US" sz="1400" dirty="0">
                <a:latin typeface="Georgia" panose="02040502050405020303" pitchFamily="18" charset="0"/>
              </a:rPr>
              <a:t>in </a:t>
            </a:r>
            <a:r>
              <a:rPr lang="en-US" sz="1400" dirty="0" smtClean="0">
                <a:latin typeface="Georgia" panose="02040502050405020303" pitchFamily="18" charset="0"/>
              </a:rPr>
              <a:t>the View. </a:t>
            </a:r>
            <a:endParaRPr lang="en-US" sz="14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6169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200400"/>
            <a:ext cx="78486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1 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– Some Useful Functions </a:t>
            </a:r>
          </a:p>
          <a:p>
            <a:pPr lvl="0" algn="ctr">
              <a:defRPr/>
            </a:pPr>
            <a:r>
              <a:rPr lang="en-US" sz="2800" b="1" dirty="0">
                <a:solidFill>
                  <a:prstClr val="black"/>
                </a:solidFill>
                <a:latin typeface="Georgia"/>
              </a:rPr>
              <a:t>[</a:t>
            </a:r>
            <a:r>
              <a:rPr kumimoji="0" lang="en-US" sz="2800" b="1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</a:rPr>
              <a:t>We will use later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</a:rPr>
              <a:t>]</a:t>
            </a:r>
            <a:endParaRPr lang="en-US" sz="4000" b="1" dirty="0">
              <a:solidFill>
                <a:prstClr val="black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307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>
            <a:off x="0" y="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 rot="10800000">
            <a:off x="0" y="441960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4977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dirty="0">
                <a:solidFill>
                  <a:srgbClr val="1F497D"/>
                </a:solidFill>
                <a:latin typeface="Georgia"/>
              </a:rPr>
              <a:t>1 - PHP </a:t>
            </a:r>
            <a:r>
              <a:rPr lang="en-US" dirty="0" err="1">
                <a:solidFill>
                  <a:srgbClr val="1F497D"/>
                </a:solidFill>
                <a:latin typeface="Georgia"/>
              </a:rPr>
              <a:t>file_exists</a:t>
            </a:r>
            <a:r>
              <a:rPr lang="en-US" dirty="0">
                <a:solidFill>
                  <a:srgbClr val="1F497D"/>
                </a:solidFill>
                <a:latin typeface="Georgia"/>
              </a:rPr>
              <a:t>() Function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8530" y="1219200"/>
            <a:ext cx="886307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The </a:t>
            </a:r>
            <a:r>
              <a:rPr lang="en-US" dirty="0" err="1">
                <a:latin typeface="Georgia" panose="02040502050405020303" pitchFamily="18" charset="0"/>
              </a:rPr>
              <a:t>file_exists</a:t>
            </a:r>
            <a:r>
              <a:rPr lang="en-US" dirty="0">
                <a:latin typeface="Georgia" panose="02040502050405020303" pitchFamily="18" charset="0"/>
              </a:rPr>
              <a:t>() function checks whether a file or directory </a:t>
            </a:r>
            <a:r>
              <a:rPr lang="en-US" dirty="0" smtClean="0">
                <a:latin typeface="Georgia" panose="02040502050405020303" pitchFamily="18" charset="0"/>
              </a:rPr>
              <a:t>exists. </a:t>
            </a:r>
            <a:r>
              <a:rPr lang="en-US" b="1" dirty="0" smtClean="0">
                <a:latin typeface="Georgia" panose="02040502050405020303" pitchFamily="18" charset="0"/>
              </a:rPr>
              <a:t>Note</a:t>
            </a:r>
            <a:r>
              <a:rPr lang="en-US" dirty="0">
                <a:latin typeface="Georgia" panose="02040502050405020303" pitchFamily="18" charset="0"/>
              </a:rPr>
              <a:t>: The result of this function is cached. Use </a:t>
            </a:r>
            <a:r>
              <a:rPr lang="en-US" dirty="0" err="1">
                <a:latin typeface="Georgia" panose="02040502050405020303" pitchFamily="18" charset="0"/>
              </a:rPr>
              <a:t>clearstatcache</a:t>
            </a:r>
            <a:r>
              <a:rPr lang="en-US" dirty="0">
                <a:latin typeface="Georgia" panose="02040502050405020303" pitchFamily="18" charset="0"/>
              </a:rPr>
              <a:t>() to clear the cache.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352" y="2017931"/>
            <a:ext cx="8816248" cy="469359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300" dirty="0">
                <a:latin typeface="Georgia" panose="02040502050405020303" pitchFamily="18" charset="0"/>
              </a:rPr>
              <a:t>&lt;?</a:t>
            </a:r>
            <a:r>
              <a:rPr lang="en-US" sz="2300" dirty="0" err="1">
                <a:latin typeface="Georgia" panose="02040502050405020303" pitchFamily="18" charset="0"/>
              </a:rPr>
              <a:t>php</a:t>
            </a:r>
            <a:endParaRPr lang="en-US" sz="2300" dirty="0">
              <a:latin typeface="Georgia" panose="02040502050405020303" pitchFamily="18" charset="0"/>
            </a:endParaRPr>
          </a:p>
          <a:p>
            <a:endParaRPr lang="en-US" sz="2300" dirty="0">
              <a:latin typeface="Georgia" panose="02040502050405020303" pitchFamily="18" charset="0"/>
            </a:endParaRPr>
          </a:p>
          <a:p>
            <a:pPr lvl="1"/>
            <a:r>
              <a:rPr lang="en-US" sz="2300" dirty="0">
                <a:latin typeface="Georgia" panose="02040502050405020303" pitchFamily="18" charset="0"/>
              </a:rPr>
              <a:t>// </a:t>
            </a:r>
            <a:r>
              <a:rPr lang="en-US" sz="2300" b="1" i="1" dirty="0" smtClean="0">
                <a:latin typeface="Georgia" panose="02040502050405020303" pitchFamily="18" charset="0"/>
              </a:rPr>
              <a:t>check </a:t>
            </a:r>
            <a:r>
              <a:rPr lang="en-US" sz="2300" b="1" i="1" dirty="0">
                <a:latin typeface="Georgia" panose="02040502050405020303" pitchFamily="18" charset="0"/>
              </a:rPr>
              <a:t>whether file exists or not</a:t>
            </a:r>
          </a:p>
          <a:p>
            <a:pPr lvl="1"/>
            <a:r>
              <a:rPr lang="en-US" sz="2300" dirty="0">
                <a:latin typeface="Georgia" panose="02040502050405020303" pitchFamily="18" charset="0"/>
              </a:rPr>
              <a:t>$</a:t>
            </a:r>
            <a:r>
              <a:rPr lang="en-US" sz="2300" dirty="0" err="1">
                <a:latin typeface="Georgia" panose="02040502050405020303" pitchFamily="18" charset="0"/>
              </a:rPr>
              <a:t>file_pointer</a:t>
            </a:r>
            <a:r>
              <a:rPr lang="en-US" sz="2300" dirty="0">
                <a:latin typeface="Georgia" panose="02040502050405020303" pitchFamily="18" charset="0"/>
              </a:rPr>
              <a:t> = '/user01/work/gfg.txt';</a:t>
            </a:r>
          </a:p>
          <a:p>
            <a:pPr lvl="1"/>
            <a:endParaRPr lang="en-US" sz="2300" dirty="0">
              <a:latin typeface="Georgia" panose="02040502050405020303" pitchFamily="18" charset="0"/>
            </a:endParaRPr>
          </a:p>
          <a:p>
            <a:pPr lvl="1"/>
            <a:r>
              <a:rPr lang="en-US" sz="2300" dirty="0">
                <a:latin typeface="Georgia" panose="02040502050405020303" pitchFamily="18" charset="0"/>
              </a:rPr>
              <a:t>if (</a:t>
            </a:r>
            <a:r>
              <a:rPr lang="en-US" sz="2300" dirty="0" err="1">
                <a:latin typeface="Georgia" panose="02040502050405020303" pitchFamily="18" charset="0"/>
              </a:rPr>
              <a:t>file_exists</a:t>
            </a:r>
            <a:r>
              <a:rPr lang="en-US" sz="2300" dirty="0">
                <a:latin typeface="Georgia" panose="02040502050405020303" pitchFamily="18" charset="0"/>
              </a:rPr>
              <a:t>($</a:t>
            </a:r>
            <a:r>
              <a:rPr lang="en-US" sz="2300" dirty="0" err="1">
                <a:latin typeface="Georgia" panose="02040502050405020303" pitchFamily="18" charset="0"/>
              </a:rPr>
              <a:t>file_pointer</a:t>
            </a:r>
            <a:r>
              <a:rPr lang="en-US" sz="2300" dirty="0" smtClean="0">
                <a:latin typeface="Georgia" panose="02040502050405020303" pitchFamily="18" charset="0"/>
              </a:rPr>
              <a:t>)) {</a:t>
            </a:r>
            <a:endParaRPr lang="en-US" sz="2300" dirty="0">
              <a:latin typeface="Georgia" panose="02040502050405020303" pitchFamily="18" charset="0"/>
            </a:endParaRPr>
          </a:p>
          <a:p>
            <a:pPr lvl="1"/>
            <a:r>
              <a:rPr lang="en-US" sz="2300" dirty="0">
                <a:latin typeface="Georgia" panose="02040502050405020303" pitchFamily="18" charset="0"/>
              </a:rPr>
              <a:t>	echo "The file $</a:t>
            </a:r>
            <a:r>
              <a:rPr lang="en-US" sz="2300" dirty="0" err="1">
                <a:latin typeface="Georgia" panose="02040502050405020303" pitchFamily="18" charset="0"/>
              </a:rPr>
              <a:t>file_pointer</a:t>
            </a:r>
            <a:r>
              <a:rPr lang="en-US" sz="2300" dirty="0">
                <a:latin typeface="Georgia" panose="02040502050405020303" pitchFamily="18" charset="0"/>
              </a:rPr>
              <a:t> exists";</a:t>
            </a:r>
          </a:p>
          <a:p>
            <a:pPr lvl="1"/>
            <a:endParaRPr lang="en-US" sz="2300" dirty="0" smtClean="0">
              <a:latin typeface="Georgia" panose="02040502050405020303" pitchFamily="18" charset="0"/>
            </a:endParaRPr>
          </a:p>
          <a:p>
            <a:pPr lvl="1"/>
            <a:r>
              <a:rPr lang="en-US" sz="2300" dirty="0" smtClean="0">
                <a:latin typeface="Georgia" panose="02040502050405020303" pitchFamily="18" charset="0"/>
              </a:rPr>
              <a:t>}else{</a:t>
            </a:r>
            <a:endParaRPr lang="en-US" sz="2300" dirty="0">
              <a:latin typeface="Georgia" panose="02040502050405020303" pitchFamily="18" charset="0"/>
            </a:endParaRPr>
          </a:p>
          <a:p>
            <a:pPr lvl="1"/>
            <a:r>
              <a:rPr lang="en-US" sz="2300" dirty="0">
                <a:latin typeface="Georgia" panose="02040502050405020303" pitchFamily="18" charset="0"/>
              </a:rPr>
              <a:t>	echo "The file $</a:t>
            </a:r>
            <a:r>
              <a:rPr lang="en-US" sz="2300" dirty="0" err="1">
                <a:latin typeface="Georgia" panose="02040502050405020303" pitchFamily="18" charset="0"/>
              </a:rPr>
              <a:t>file_pointer</a:t>
            </a:r>
            <a:r>
              <a:rPr lang="en-US" sz="2300" dirty="0">
                <a:latin typeface="Georgia" panose="02040502050405020303" pitchFamily="18" charset="0"/>
              </a:rPr>
              <a:t> </a:t>
            </a:r>
            <a:r>
              <a:rPr lang="en-US" sz="2300" dirty="0" smtClean="0">
                <a:latin typeface="Georgia" panose="02040502050405020303" pitchFamily="18" charset="0"/>
              </a:rPr>
              <a:t>does not </a:t>
            </a:r>
            <a:r>
              <a:rPr lang="en-US" sz="2300" dirty="0">
                <a:latin typeface="Georgia" panose="02040502050405020303" pitchFamily="18" charset="0"/>
              </a:rPr>
              <a:t>exists";</a:t>
            </a:r>
          </a:p>
          <a:p>
            <a:pPr lvl="1"/>
            <a:r>
              <a:rPr lang="en-US" sz="2300" dirty="0">
                <a:latin typeface="Georgia" panose="02040502050405020303" pitchFamily="18" charset="0"/>
              </a:rPr>
              <a:t>}</a:t>
            </a:r>
          </a:p>
          <a:p>
            <a:endParaRPr lang="en-US" sz="2300" dirty="0">
              <a:latin typeface="Georgia" panose="02040502050405020303" pitchFamily="18" charset="0"/>
            </a:endParaRPr>
          </a:p>
          <a:p>
            <a:r>
              <a:rPr lang="en-US" sz="2300" dirty="0">
                <a:latin typeface="Georgia" panose="02040502050405020303" pitchFamily="18" charset="0"/>
              </a:rPr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686509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dirty="0" smtClean="0">
                <a:solidFill>
                  <a:srgbClr val="1F497D"/>
                </a:solidFill>
                <a:latin typeface="Georgia"/>
              </a:rPr>
              <a:t>2 </a:t>
            </a:r>
            <a:r>
              <a:rPr lang="en-US" dirty="0">
                <a:solidFill>
                  <a:srgbClr val="1F497D"/>
                </a:solidFill>
                <a:latin typeface="Georgia"/>
              </a:rPr>
              <a:t>- PHP unset() Function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8530" y="1219200"/>
            <a:ext cx="886307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The unset() function destroys a given variable</a:t>
            </a:r>
            <a:r>
              <a:rPr lang="en-US" dirty="0" smtClean="0">
                <a:latin typeface="Georgia" panose="02040502050405020303" pitchFamily="18" charset="0"/>
              </a:rPr>
              <a:t>. Here we use unset</a:t>
            </a:r>
            <a:r>
              <a:rPr lang="en-US" dirty="0">
                <a:latin typeface="Georgia" panose="02040502050405020303" pitchFamily="18" charset="0"/>
              </a:rPr>
              <a:t>() function </a:t>
            </a:r>
            <a:r>
              <a:rPr lang="en-US" dirty="0" smtClean="0">
                <a:latin typeface="Georgia" panose="02040502050405020303" pitchFamily="18" charset="0"/>
              </a:rPr>
              <a:t>to delete </a:t>
            </a:r>
            <a:r>
              <a:rPr lang="en-US" dirty="0">
                <a:latin typeface="Georgia" panose="02040502050405020303" pitchFamily="18" charset="0"/>
              </a:rPr>
              <a:t>a </a:t>
            </a:r>
            <a:r>
              <a:rPr lang="en-US" dirty="0" smtClean="0">
                <a:latin typeface="Georgia" panose="02040502050405020303" pitchFamily="18" charset="0"/>
              </a:rPr>
              <a:t>given element index in array.</a:t>
            </a:r>
            <a:endParaRPr lang="en-US" dirty="0">
              <a:latin typeface="Georgia" panose="020405020504050203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2017931"/>
            <a:ext cx="8839200" cy="40211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33050" y="6140067"/>
            <a:ext cx="42098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Georgia" panose="02040502050405020303" pitchFamily="18" charset="0"/>
              </a:rPr>
              <a:t>Index 2 already removed.</a:t>
            </a:r>
            <a:endParaRPr lang="en-US" sz="2800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179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dirty="0">
                <a:solidFill>
                  <a:srgbClr val="1F497D"/>
                </a:solidFill>
                <a:latin typeface="Georgia"/>
              </a:rPr>
              <a:t>3</a:t>
            </a:r>
            <a:r>
              <a:rPr lang="en-US" dirty="0" smtClean="0">
                <a:solidFill>
                  <a:srgbClr val="1F497D"/>
                </a:solidFill>
                <a:latin typeface="Georgia"/>
              </a:rPr>
              <a:t> </a:t>
            </a:r>
            <a:r>
              <a:rPr lang="en-US" dirty="0">
                <a:solidFill>
                  <a:srgbClr val="1F497D"/>
                </a:solidFill>
                <a:latin typeface="Georgia"/>
              </a:rPr>
              <a:t>- PHP </a:t>
            </a:r>
            <a:r>
              <a:rPr lang="en-US" dirty="0" err="1" smtClean="0">
                <a:solidFill>
                  <a:srgbClr val="1F497D"/>
                </a:solidFill>
                <a:latin typeface="Georgia"/>
              </a:rPr>
              <a:t>method_exists</a:t>
            </a:r>
            <a:r>
              <a:rPr lang="en-US" dirty="0" smtClean="0">
                <a:solidFill>
                  <a:srgbClr val="1F497D"/>
                </a:solidFill>
                <a:latin typeface="Georgia"/>
              </a:rPr>
              <a:t>() </a:t>
            </a:r>
            <a:r>
              <a:rPr lang="en-US" dirty="0">
                <a:solidFill>
                  <a:srgbClr val="1F497D"/>
                </a:solidFill>
                <a:latin typeface="Georgia"/>
              </a:rPr>
              <a:t>Function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8530" y="1219200"/>
            <a:ext cx="886307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It checks if the class method exists in the given object. It returns TRUE if the method given by </a:t>
            </a:r>
            <a:r>
              <a:rPr lang="en-US" dirty="0" err="1">
                <a:latin typeface="Georgia" panose="02040502050405020303" pitchFamily="18" charset="0"/>
              </a:rPr>
              <a:t>method_name</a:t>
            </a:r>
            <a:r>
              <a:rPr lang="en-US" dirty="0">
                <a:latin typeface="Georgia" panose="02040502050405020303" pitchFamily="18" charset="0"/>
              </a:rPr>
              <a:t> has been defined for the given object, FALSE otherwise.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73" y="1879028"/>
            <a:ext cx="6788227" cy="45786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722" y="4953000"/>
            <a:ext cx="5543550" cy="1752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30362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dirty="0" smtClean="0">
                <a:solidFill>
                  <a:srgbClr val="1F497D"/>
                </a:solidFill>
                <a:latin typeface="Georgia"/>
              </a:rPr>
              <a:t>4 - PHP </a:t>
            </a:r>
            <a:r>
              <a:rPr lang="en-US" dirty="0" err="1">
                <a:solidFill>
                  <a:srgbClr val="1F497D"/>
                </a:solidFill>
                <a:latin typeface="Georgia"/>
              </a:rPr>
              <a:t>array_values</a:t>
            </a:r>
            <a:r>
              <a:rPr lang="en-US" dirty="0">
                <a:solidFill>
                  <a:srgbClr val="1F497D"/>
                </a:solidFill>
                <a:latin typeface="Georgia"/>
              </a:rPr>
              <a:t>() Function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8530" y="1219200"/>
            <a:ext cx="886307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The </a:t>
            </a:r>
            <a:r>
              <a:rPr lang="en-US" dirty="0" err="1">
                <a:latin typeface="Georgia" panose="02040502050405020303" pitchFamily="18" charset="0"/>
              </a:rPr>
              <a:t>array_values</a:t>
            </a:r>
            <a:r>
              <a:rPr lang="en-US" dirty="0">
                <a:latin typeface="Georgia" panose="02040502050405020303" pitchFamily="18" charset="0"/>
              </a:rPr>
              <a:t>() function returns an array containing all the values of an </a:t>
            </a:r>
            <a:r>
              <a:rPr lang="en-US" dirty="0" smtClean="0">
                <a:latin typeface="Georgia" panose="02040502050405020303" pitchFamily="18" charset="0"/>
              </a:rPr>
              <a:t>array. </a:t>
            </a:r>
            <a:r>
              <a:rPr lang="en-US" b="1" dirty="0" smtClean="0">
                <a:latin typeface="Georgia" panose="02040502050405020303" pitchFamily="18" charset="0"/>
              </a:rPr>
              <a:t>Tip</a:t>
            </a:r>
            <a:r>
              <a:rPr lang="en-US" dirty="0">
                <a:latin typeface="Georgia" panose="02040502050405020303" pitchFamily="18" charset="0"/>
              </a:rPr>
              <a:t>: The returned array will have numeric keys, starting at 0 and increase by 1.</a:t>
            </a:r>
          </a:p>
          <a:p>
            <a:endParaRPr lang="en-US" dirty="0">
              <a:latin typeface="Georgia" panose="020405020504050203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73" y="1893983"/>
            <a:ext cx="8263819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241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dirty="0">
                <a:solidFill>
                  <a:srgbClr val="1F497D"/>
                </a:solidFill>
                <a:latin typeface="Georgia"/>
              </a:rPr>
              <a:t>5</a:t>
            </a:r>
            <a:r>
              <a:rPr lang="en-US" dirty="0" smtClean="0">
                <a:solidFill>
                  <a:srgbClr val="1F497D"/>
                </a:solidFill>
                <a:latin typeface="Georgia"/>
              </a:rPr>
              <a:t> - </a:t>
            </a:r>
            <a:r>
              <a:rPr lang="en-US" dirty="0" err="1" smtClean="0">
                <a:solidFill>
                  <a:srgbClr val="1F497D"/>
                </a:solidFill>
                <a:latin typeface="Georgia"/>
              </a:rPr>
              <a:t>call_user_func_array</a:t>
            </a:r>
            <a:r>
              <a:rPr lang="en-US" dirty="0" smtClean="0">
                <a:solidFill>
                  <a:srgbClr val="1F497D"/>
                </a:solidFill>
                <a:latin typeface="Georgia"/>
              </a:rPr>
              <a:t>() </a:t>
            </a:r>
            <a:r>
              <a:rPr lang="en-US" dirty="0">
                <a:solidFill>
                  <a:srgbClr val="1F497D"/>
                </a:solidFill>
                <a:latin typeface="Georgia"/>
              </a:rPr>
              <a:t>Function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8530" y="1219200"/>
            <a:ext cx="886307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The </a:t>
            </a:r>
            <a:r>
              <a:rPr lang="en-US" dirty="0" err="1">
                <a:latin typeface="Georgia" panose="02040502050405020303" pitchFamily="18" charset="0"/>
              </a:rPr>
              <a:t>call_user_func_array</a:t>
            </a:r>
            <a:r>
              <a:rPr lang="en-US" dirty="0">
                <a:latin typeface="Georgia" panose="02040502050405020303" pitchFamily="18" charset="0"/>
              </a:rPr>
              <a:t>() function call a user function given with an array of parameters. The </a:t>
            </a:r>
            <a:r>
              <a:rPr lang="en-US" dirty="0" err="1">
                <a:latin typeface="Georgia" panose="02040502050405020303" pitchFamily="18" charset="0"/>
              </a:rPr>
              <a:t>call_user_func_array</a:t>
            </a:r>
            <a:r>
              <a:rPr lang="en-US" dirty="0">
                <a:latin typeface="Georgia" panose="02040502050405020303" pitchFamily="18" charset="0"/>
              </a:rPr>
              <a:t>() function can call a custom function "</a:t>
            </a:r>
            <a:r>
              <a:rPr lang="en-US" i="1" dirty="0">
                <a:latin typeface="Georgia" panose="02040502050405020303" pitchFamily="18" charset="0"/>
              </a:rPr>
              <a:t>function</a:t>
            </a:r>
            <a:r>
              <a:rPr lang="en-US" dirty="0">
                <a:latin typeface="Georgia" panose="02040502050405020303" pitchFamily="18" charset="0"/>
              </a:rPr>
              <a:t>" with the parameters from "</a:t>
            </a:r>
            <a:r>
              <a:rPr lang="en-US" dirty="0" err="1">
                <a:latin typeface="Georgia" panose="02040502050405020303" pitchFamily="18" charset="0"/>
              </a:rPr>
              <a:t>param_arr</a:t>
            </a:r>
            <a:r>
              <a:rPr lang="en-US" dirty="0">
                <a:latin typeface="Georgia" panose="02040502050405020303" pitchFamily="18" charset="0"/>
              </a:rPr>
              <a:t> array".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61" y="2225292"/>
            <a:ext cx="8799839" cy="1058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61" y="3343755"/>
            <a:ext cx="8799839" cy="3230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0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200400"/>
            <a:ext cx="78486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4000" dirty="0">
                <a:solidFill>
                  <a:prstClr val="black"/>
                </a:solidFill>
                <a:latin typeface="Georgia"/>
              </a:rPr>
              <a:t>2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– Check </a:t>
            </a:r>
            <a:r>
              <a:rPr lang="en-US" sz="4000" dirty="0" smtClean="0">
                <a:solidFill>
                  <a:prstClr val="black"/>
                </a:solidFill>
              </a:rPr>
              <a:t>Routing Rules from Previous Lecture</a:t>
            </a:r>
            <a:endParaRPr lang="en-US" sz="4000" dirty="0">
              <a:solidFill>
                <a:prstClr val="black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307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>
            <a:off x="0" y="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 rot="10800000">
            <a:off x="0" y="441960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4458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Handling Request URL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1600199"/>
            <a:ext cx="7507173" cy="510296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1028" y="1219200"/>
            <a:ext cx="77975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Handle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more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routing </a:t>
            </a:r>
            <a:r>
              <a:rPr kumimoji="0" lang="en-US" sz="1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rules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when </a:t>
            </a:r>
            <a:r>
              <a:rPr kumimoji="0" lang="en-US" sz="1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users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try to request through URL.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7396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URL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Routing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710" y="1143000"/>
            <a:ext cx="885388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Typically there is a one-to-one relationship (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hubungan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satu-ke-satu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) between a URL string and its corresponding controller class/method. The segments in a URL (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bagian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dalam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URL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) normally follow this pattern: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2209800"/>
            <a:ext cx="8762999" cy="533400"/>
          </a:xfrm>
          <a:prstGeom prst="roundRect">
            <a:avLst>
              <a:gd name="adj" fmla="val 27517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http:/www.example.com/</a:t>
            </a:r>
            <a:r>
              <a:rPr kumimoji="0" lang="en-US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class</a:t>
            </a:r>
            <a:r>
              <a:rPr kumimoji="0" 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/</a:t>
            </a:r>
            <a:r>
              <a:rPr kumimoji="0" lang="en-US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method</a:t>
            </a:r>
            <a:r>
              <a:rPr kumimoji="0" 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/</a:t>
            </a:r>
            <a:r>
              <a:rPr kumimoji="0" lang="en-US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parameter1</a:t>
            </a:r>
            <a:r>
              <a:rPr kumimoji="0" 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/</a:t>
            </a:r>
            <a:r>
              <a:rPr kumimoji="0" lang="en-US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parameter2</a:t>
            </a:r>
            <a:r>
              <a:rPr kumimoji="0" 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/</a:t>
            </a: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2399" y="3657600"/>
            <a:ext cx="883919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Class</a:t>
            </a: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merupakan</a:t>
            </a: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</a:t>
            </a:r>
            <a:r>
              <a:rPr kumimoji="0" lang="en-US" sz="36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controller class </a:t>
            </a: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yang </a:t>
            </a:r>
            <a:r>
              <a:rPr kumimoji="0" lang="en-US" sz="3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sudah</a:t>
            </a: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dibuat</a:t>
            </a: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dan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biasanya</a:t>
            </a: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segmen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kedua</a:t>
            </a: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(</a:t>
            </a:r>
            <a:r>
              <a:rPr kumimoji="0" lang="en-US" sz="3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method</a:t>
            </a: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)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dari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URL </a:t>
            </a:r>
            <a:r>
              <a:rPr kumimoji="0" lang="en-US" sz="3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disiapkan</a:t>
            </a: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untuk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nama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</a:t>
            </a:r>
            <a:r>
              <a:rPr kumimoji="0" lang="en-US" sz="3600" b="0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metode</a:t>
            </a: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.</a:t>
            </a:r>
          </a:p>
        </p:txBody>
      </p:sp>
      <p:sp>
        <p:nvSpPr>
          <p:cNvPr id="2" name="Rectangle 1"/>
          <p:cNvSpPr/>
          <p:nvPr/>
        </p:nvSpPr>
        <p:spPr>
          <a:xfrm>
            <a:off x="137710" y="2920425"/>
            <a:ext cx="885388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What is a Controller?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A Controller is simply a class file that is named in a way that can be associated with a URI.</a:t>
            </a:r>
          </a:p>
        </p:txBody>
      </p:sp>
    </p:spTree>
    <p:extLst>
      <p:ext uri="{BB962C8B-B14F-4D97-AF65-F5344CB8AC3E}">
        <p14:creationId xmlns:p14="http://schemas.microsoft.com/office/powerpoint/2010/main" val="4109321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219202"/>
            <a:ext cx="8839200" cy="5213728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URI 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Routing from Previous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Demo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8560" y="6432929"/>
            <a:ext cx="866935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i="1" dirty="0" smtClean="0">
                <a:latin typeface="Georgia" panose="02040502050405020303" pitchFamily="18" charset="0"/>
              </a:rPr>
              <a:t>URL Format</a:t>
            </a:r>
            <a:r>
              <a:rPr lang="en-US" sz="1400" b="1" dirty="0" smtClean="0">
                <a:latin typeface="Georgia" panose="02040502050405020303" pitchFamily="18" charset="0"/>
              </a:rPr>
              <a:t>: </a:t>
            </a:r>
            <a:r>
              <a:rPr lang="en-US" sz="1400" dirty="0" smtClean="0">
                <a:latin typeface="Georgia" panose="02040502050405020303" pitchFamily="18" charset="0"/>
                <a:hlinkClick r:id="rId4"/>
              </a:rPr>
              <a:t>http</a:t>
            </a:r>
            <a:r>
              <a:rPr lang="en-US" sz="1400" dirty="0">
                <a:latin typeface="Georgia" panose="02040502050405020303" pitchFamily="18" charset="0"/>
                <a:hlinkClick r:id="rId4"/>
              </a:rPr>
              <a:t>://localhost/lecture13/aimvc/public/class/method/param1/param2</a:t>
            </a:r>
            <a:r>
              <a:rPr lang="en-US" sz="1400" dirty="0" smtClean="0">
                <a:latin typeface="Georgia" panose="02040502050405020303" pitchFamily="18" charset="0"/>
                <a:hlinkClick r:id="rId4"/>
              </a:rPr>
              <a:t>/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10" name="Up Arrow 9"/>
          <p:cNvSpPr/>
          <p:nvPr/>
        </p:nvSpPr>
        <p:spPr>
          <a:xfrm>
            <a:off x="1794831" y="2307116"/>
            <a:ext cx="685800" cy="762000"/>
          </a:xfrm>
          <a:prstGeom prst="up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562894" y="3200400"/>
            <a:ext cx="1149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7030A0"/>
                </a:solidFill>
                <a:latin typeface="Georgia" panose="02040502050405020303" pitchFamily="18" charset="0"/>
              </a:rPr>
              <a:t>Controller</a:t>
            </a:r>
            <a:endParaRPr lang="en-US" sz="1400" b="1" dirty="0">
              <a:solidFill>
                <a:srgbClr val="7030A0"/>
              </a:solidFill>
              <a:latin typeface="Georgia" panose="02040502050405020303" pitchFamily="18" charset="0"/>
            </a:endParaRPr>
          </a:p>
        </p:txBody>
      </p:sp>
      <p:sp>
        <p:nvSpPr>
          <p:cNvPr id="12" name="Up Arrow 11"/>
          <p:cNvSpPr/>
          <p:nvPr/>
        </p:nvSpPr>
        <p:spPr>
          <a:xfrm>
            <a:off x="3389232" y="2307116"/>
            <a:ext cx="685800" cy="762000"/>
          </a:xfrm>
          <a:prstGeom prst="up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120863" y="3200400"/>
            <a:ext cx="12225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rgbClr val="7030A0"/>
                </a:solidFill>
                <a:latin typeface="Georgia" panose="02040502050405020303" pitchFamily="18" charset="0"/>
              </a:rPr>
              <a:t>Method</a:t>
            </a:r>
            <a:endParaRPr lang="en-US" sz="1400" b="1" dirty="0">
              <a:solidFill>
                <a:srgbClr val="7030A0"/>
              </a:solidFill>
              <a:latin typeface="Georgia" panose="02040502050405020303" pitchFamily="18" charset="0"/>
            </a:endParaRPr>
          </a:p>
        </p:txBody>
      </p:sp>
      <p:sp>
        <p:nvSpPr>
          <p:cNvPr id="14" name="Up Arrow 13"/>
          <p:cNvSpPr/>
          <p:nvPr/>
        </p:nvSpPr>
        <p:spPr>
          <a:xfrm>
            <a:off x="4992769" y="2307116"/>
            <a:ext cx="685800" cy="762000"/>
          </a:xfrm>
          <a:prstGeom prst="up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724400" y="3200400"/>
            <a:ext cx="1222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rgbClr val="7030A0"/>
                </a:solidFill>
                <a:latin typeface="Georgia" panose="02040502050405020303" pitchFamily="18" charset="0"/>
              </a:rPr>
              <a:t>Parameter #1</a:t>
            </a:r>
            <a:endParaRPr lang="en-US" sz="1400" b="1" dirty="0">
              <a:solidFill>
                <a:srgbClr val="7030A0"/>
              </a:solidFill>
              <a:latin typeface="Georgia" panose="02040502050405020303" pitchFamily="18" charset="0"/>
            </a:endParaRPr>
          </a:p>
        </p:txBody>
      </p:sp>
      <p:sp>
        <p:nvSpPr>
          <p:cNvPr id="19" name="Up Arrow 18"/>
          <p:cNvSpPr/>
          <p:nvPr/>
        </p:nvSpPr>
        <p:spPr>
          <a:xfrm>
            <a:off x="6632736" y="2307116"/>
            <a:ext cx="685800" cy="762000"/>
          </a:xfrm>
          <a:prstGeom prst="up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6364367" y="3200400"/>
            <a:ext cx="1222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rgbClr val="7030A0"/>
                </a:solidFill>
                <a:latin typeface="Georgia" panose="02040502050405020303" pitchFamily="18" charset="0"/>
              </a:rPr>
              <a:t>Parameter #2</a:t>
            </a:r>
            <a:endParaRPr lang="en-US" sz="1400" b="1" dirty="0">
              <a:solidFill>
                <a:srgbClr val="7030A0"/>
              </a:solidFill>
              <a:latin typeface="Georgia" panose="02040502050405020303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52558" y="4317992"/>
            <a:ext cx="8241359" cy="892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Georgia" panose="02040502050405020303" pitchFamily="18" charset="0"/>
              </a:rPr>
              <a:t>Our app starts from this directory location: </a:t>
            </a:r>
          </a:p>
          <a:p>
            <a:r>
              <a:rPr lang="en-US" sz="2400" i="1" dirty="0" smtClean="0">
                <a:solidFill>
                  <a:srgbClr val="FF0000"/>
                </a:solidFill>
                <a:latin typeface="Georgia" panose="02040502050405020303" pitchFamily="18" charset="0"/>
              </a:rPr>
              <a:t>http</a:t>
            </a:r>
            <a:r>
              <a:rPr lang="en-US" sz="2400" i="1" dirty="0">
                <a:solidFill>
                  <a:srgbClr val="FF0000"/>
                </a:solidFill>
                <a:latin typeface="Georgia" panose="02040502050405020303" pitchFamily="18" charset="0"/>
              </a:rPr>
              <a:t>://localhost/lecture13/aimvc/public/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304" y="2708701"/>
            <a:ext cx="8851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latin typeface="Georgia" panose="02040502050405020303" pitchFamily="18" charset="0"/>
              </a:rPr>
              <a:t>Index[0]</a:t>
            </a:r>
            <a:endParaRPr lang="en-US" sz="1200" b="1" dirty="0">
              <a:latin typeface="Georgia" panose="02040502050405020303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43200" y="2696896"/>
            <a:ext cx="8531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latin typeface="Georgia" panose="02040502050405020303" pitchFamily="18" charset="0"/>
              </a:rPr>
              <a:t>Index[1]</a:t>
            </a:r>
            <a:endParaRPr lang="en-US" sz="1200" b="1" dirty="0">
              <a:latin typeface="Georgia" panose="02040502050405020303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343400" y="2696896"/>
            <a:ext cx="873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latin typeface="Georgia" panose="02040502050405020303" pitchFamily="18" charset="0"/>
              </a:rPr>
              <a:t>Index[2]</a:t>
            </a:r>
            <a:endParaRPr lang="en-US" sz="1200" b="1" dirty="0">
              <a:latin typeface="Georgia" panose="02040502050405020303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84043" y="2707254"/>
            <a:ext cx="873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latin typeface="Georgia" panose="02040502050405020303" pitchFamily="18" charset="0"/>
              </a:rPr>
              <a:t>Index[3]</a:t>
            </a:r>
            <a:endParaRPr lang="en-US" sz="1200" b="1" dirty="0">
              <a:latin typeface="Georgia" panose="02040502050405020303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56660" y="5304709"/>
            <a:ext cx="8057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Georgia" panose="02040502050405020303" pitchFamily="18" charset="0"/>
              </a:rPr>
              <a:t>This means Controller default (home) and method default (index).</a:t>
            </a:r>
            <a:endParaRPr lang="en-US" b="1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341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465942"/>
            <a:ext cx="78486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4000" noProof="0" dirty="0">
                <a:solidFill>
                  <a:prstClr val="black"/>
                </a:solidFill>
                <a:latin typeface="Georgia"/>
              </a:rPr>
              <a:t>3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– Create Classes </a:t>
            </a:r>
          </a:p>
          <a:p>
            <a:pPr lvl="0" algn="ctr"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400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Home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&amp; </a:t>
            </a:r>
            <a:r>
              <a:rPr kumimoji="0" lang="en-US" sz="400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Project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</a:p>
          <a:p>
            <a:pPr lvl="0" algn="ctr"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as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Controller and Default Method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endParaRPr lang="en-US" sz="4000" dirty="0">
              <a:solidFill>
                <a:prstClr val="black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307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>
            <a:off x="0" y="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 rot="10800000">
            <a:off x="0" y="441960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6662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Controller Classes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72" y="990600"/>
            <a:ext cx="4329628" cy="356787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974" y="990600"/>
            <a:ext cx="4329627" cy="35678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6171" y="5212140"/>
            <a:ext cx="88254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latin typeface="Georgia" panose="02040502050405020303" pitchFamily="18" charset="0"/>
              </a:rPr>
              <a:t>Create </a:t>
            </a:r>
            <a:r>
              <a:rPr lang="en-US" sz="3200" i="1" dirty="0" smtClean="0">
                <a:latin typeface="Georgia" panose="02040502050405020303" pitchFamily="18" charset="0"/>
              </a:rPr>
              <a:t>two classes </a:t>
            </a:r>
            <a:r>
              <a:rPr lang="en-US" sz="3200" dirty="0" smtClean="0">
                <a:latin typeface="Georgia" panose="02040502050405020303" pitchFamily="18" charset="0"/>
              </a:rPr>
              <a:t>in </a:t>
            </a:r>
            <a:r>
              <a:rPr lang="en-US" sz="3200" i="1" dirty="0" smtClean="0">
                <a:latin typeface="Georgia" panose="02040502050405020303" pitchFamily="18" charset="0"/>
              </a:rPr>
              <a:t>controller</a:t>
            </a:r>
            <a:r>
              <a:rPr lang="en-US" sz="3200" dirty="0" smtClean="0">
                <a:latin typeface="Georgia" panose="02040502050405020303" pitchFamily="18" charset="0"/>
              </a:rPr>
              <a:t> directory to represent/handle </a:t>
            </a:r>
            <a:r>
              <a:rPr lang="en-US" sz="3200" b="1" i="1" dirty="0" smtClean="0">
                <a:latin typeface="Georgia" panose="02040502050405020303" pitchFamily="18" charset="0"/>
              </a:rPr>
              <a:t>home</a:t>
            </a:r>
            <a:r>
              <a:rPr lang="en-US" sz="3200" dirty="0" smtClean="0">
                <a:latin typeface="Georgia" panose="02040502050405020303" pitchFamily="18" charset="0"/>
              </a:rPr>
              <a:t> and </a:t>
            </a:r>
            <a:r>
              <a:rPr lang="en-US" sz="3200" b="1" i="1" dirty="0" smtClean="0">
                <a:latin typeface="Georgia" panose="02040502050405020303" pitchFamily="18" charset="0"/>
              </a:rPr>
              <a:t>project</a:t>
            </a:r>
            <a:r>
              <a:rPr lang="en-US" sz="3200" dirty="0" smtClean="0">
                <a:latin typeface="Georgia" panose="02040502050405020303" pitchFamily="18" charset="0"/>
              </a:rPr>
              <a:t> pages in our framework.</a:t>
            </a:r>
            <a:endParaRPr lang="en-US" sz="3200" dirty="0">
              <a:latin typeface="Georgia" panose="020405020504050203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2233" y="4568697"/>
            <a:ext cx="67056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latin typeface="Georgia" panose="02040502050405020303" pitchFamily="18" charset="0"/>
              </a:rPr>
              <a:t>Important Note:</a:t>
            </a:r>
            <a:endParaRPr lang="en-US" sz="1400" b="1" dirty="0">
              <a:latin typeface="Georgia" panose="02040502050405020303" pitchFamily="18" charset="0"/>
            </a:endParaRPr>
          </a:p>
          <a:p>
            <a:r>
              <a:rPr lang="en-US" sz="1200" i="1" dirty="0" smtClean="0">
                <a:latin typeface="Georgia" panose="02040502050405020303" pitchFamily="18" charset="0"/>
              </a:rPr>
              <a:t>Class </a:t>
            </a:r>
            <a:r>
              <a:rPr lang="en-US" sz="1200" i="1" dirty="0">
                <a:latin typeface="Georgia" panose="02040502050405020303" pitchFamily="18" charset="0"/>
              </a:rPr>
              <a:t>names must start with an uppercase letter.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i="1" dirty="0">
                <a:solidFill>
                  <a:srgbClr val="1F497D"/>
                </a:solidFill>
                <a:latin typeface="Georgia"/>
              </a:rPr>
              <a:t>i</a:t>
            </a:r>
            <a:r>
              <a:rPr lang="en-US" sz="3200" i="1" noProof="0" dirty="0" err="1" smtClean="0">
                <a:solidFill>
                  <a:srgbClr val="1F497D"/>
                </a:solidFill>
                <a:latin typeface="Georgia"/>
              </a:rPr>
              <a:t>ndex</a:t>
            </a:r>
            <a:r>
              <a:rPr lang="en-US" sz="3200" i="1" noProof="0" dirty="0" smtClean="0">
                <a:solidFill>
                  <a:srgbClr val="1F497D"/>
                </a:solidFill>
                <a:latin typeface="Georgia"/>
              </a:rPr>
              <a:t>() </a:t>
            </a:r>
            <a:r>
              <a:rPr lang="en-US" sz="3200" noProof="0" dirty="0" smtClean="0">
                <a:solidFill>
                  <a:srgbClr val="1F497D"/>
                </a:solidFill>
                <a:latin typeface="Georgia"/>
              </a:rPr>
              <a:t>as a Default Method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990600"/>
            <a:ext cx="4364934" cy="35433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665" y="990600"/>
            <a:ext cx="4364935" cy="35433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52400" y="4953000"/>
            <a:ext cx="8839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atin typeface="Georgia" panose="02040502050405020303" pitchFamily="18" charset="0"/>
              </a:rPr>
              <a:t>When we do not </a:t>
            </a:r>
            <a:r>
              <a:rPr lang="en-US" sz="3200" dirty="0" smtClean="0">
                <a:latin typeface="Georgia" panose="02040502050405020303" pitchFamily="18" charset="0"/>
              </a:rPr>
              <a:t>write/request </a:t>
            </a:r>
            <a:r>
              <a:rPr lang="en-US" sz="3200" dirty="0">
                <a:latin typeface="Georgia" panose="02040502050405020303" pitchFamily="18" charset="0"/>
              </a:rPr>
              <a:t>anything in the URL </a:t>
            </a:r>
            <a:r>
              <a:rPr lang="en-US" sz="3200" dirty="0" smtClean="0">
                <a:latin typeface="Georgia" panose="02040502050405020303" pitchFamily="18" charset="0"/>
              </a:rPr>
              <a:t>(“</a:t>
            </a:r>
            <a:r>
              <a:rPr lang="en-US" sz="3200" i="1" dirty="0" smtClean="0">
                <a:latin typeface="Georgia" panose="02040502050405020303" pitchFamily="18" charset="0"/>
              </a:rPr>
              <a:t>/</a:t>
            </a:r>
            <a:r>
              <a:rPr lang="en-US" sz="3200" i="1" dirty="0" err="1">
                <a:latin typeface="Georgia" panose="02040502050405020303" pitchFamily="18" charset="0"/>
              </a:rPr>
              <a:t>aimvc</a:t>
            </a:r>
            <a:r>
              <a:rPr lang="en-US" sz="3200" i="1" dirty="0">
                <a:latin typeface="Georgia" panose="02040502050405020303" pitchFamily="18" charset="0"/>
              </a:rPr>
              <a:t>/public</a:t>
            </a:r>
            <a:r>
              <a:rPr lang="en-US" sz="3200" i="1" dirty="0" smtClean="0">
                <a:latin typeface="Georgia" panose="02040502050405020303" pitchFamily="18" charset="0"/>
              </a:rPr>
              <a:t>/</a:t>
            </a:r>
            <a:r>
              <a:rPr lang="en-US" sz="3200" dirty="0" smtClean="0">
                <a:latin typeface="Georgia" panose="02040502050405020303" pitchFamily="18" charset="0"/>
              </a:rPr>
              <a:t>”), </a:t>
            </a:r>
            <a:r>
              <a:rPr lang="en-US" sz="3200" dirty="0">
                <a:latin typeface="Georgia" panose="02040502050405020303" pitchFamily="18" charset="0"/>
              </a:rPr>
              <a:t>then this method (</a:t>
            </a:r>
            <a:r>
              <a:rPr lang="en-US" sz="3200" i="1" dirty="0" smtClean="0">
                <a:latin typeface="Georgia" panose="02040502050405020303" pitchFamily="18" charset="0"/>
              </a:rPr>
              <a:t>index</a:t>
            </a:r>
            <a:r>
              <a:rPr lang="en-US" sz="3200" dirty="0" smtClean="0">
                <a:latin typeface="Georgia" panose="02040502050405020303" pitchFamily="18" charset="0"/>
              </a:rPr>
              <a:t>) </a:t>
            </a:r>
            <a:r>
              <a:rPr lang="en-US" sz="3200" dirty="0">
                <a:latin typeface="Georgia" panose="02040502050405020303" pitchFamily="18" charset="0"/>
              </a:rPr>
              <a:t>will be called.</a:t>
            </a:r>
          </a:p>
        </p:txBody>
      </p:sp>
    </p:spTree>
    <p:extLst>
      <p:ext uri="{BB962C8B-B14F-4D97-AF65-F5344CB8AC3E}">
        <p14:creationId xmlns:p14="http://schemas.microsoft.com/office/powerpoint/2010/main" val="4263433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i="1" dirty="0" smtClean="0">
                <a:solidFill>
                  <a:srgbClr val="1F497D"/>
                </a:solidFill>
                <a:latin typeface="Georgia"/>
              </a:rPr>
              <a:t>__construct() vs </a:t>
            </a:r>
            <a:r>
              <a:rPr lang="en-US" sz="3200" i="1" dirty="0" err="1" smtClean="0">
                <a:solidFill>
                  <a:srgbClr val="1F497D"/>
                </a:solidFill>
                <a:latin typeface="Georgia"/>
              </a:rPr>
              <a:t>i</a:t>
            </a:r>
            <a:r>
              <a:rPr lang="en-US" sz="3200" i="1" noProof="0" dirty="0" err="1" smtClean="0">
                <a:solidFill>
                  <a:srgbClr val="1F497D"/>
                </a:solidFill>
                <a:latin typeface="Georgia"/>
              </a:rPr>
              <a:t>ndex</a:t>
            </a:r>
            <a:r>
              <a:rPr lang="en-US" sz="3200" i="1" noProof="0" dirty="0" smtClean="0">
                <a:solidFill>
                  <a:srgbClr val="1F497D"/>
                </a:solidFill>
                <a:latin typeface="Georgia"/>
              </a:rPr>
              <a:t>() </a:t>
            </a: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m</a:t>
            </a:r>
            <a:r>
              <a:rPr lang="en-US" sz="3200" noProof="0" dirty="0" err="1" smtClean="0">
                <a:solidFill>
                  <a:srgbClr val="1F497D"/>
                </a:solidFill>
                <a:latin typeface="Georgia"/>
              </a:rPr>
              <a:t>ethods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5" name="Rounded Rectangular Callout 4"/>
          <p:cNvSpPr/>
          <p:nvPr/>
        </p:nvSpPr>
        <p:spPr>
          <a:xfrm>
            <a:off x="1371600" y="1828800"/>
            <a:ext cx="6019800" cy="1940957"/>
          </a:xfrm>
          <a:prstGeom prst="wedgeRoundRectCallout">
            <a:avLst>
              <a:gd name="adj1" fmla="val 48162"/>
              <a:gd name="adj2" fmla="val 122098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3600" dirty="0">
                <a:latin typeface="Georgia" panose="02040502050405020303" pitchFamily="18" charset="0"/>
              </a:rPr>
              <a:t>Why don't you just use the constructor instead of the index method?</a:t>
            </a:r>
          </a:p>
        </p:txBody>
      </p:sp>
      <p:pic>
        <p:nvPicPr>
          <p:cNvPr id="6" name="Picture 5" descr="Download Free png Photography Person Clip art - thinking clipart png  download - 645 ... - DLPNG.co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6615" y="4476896"/>
            <a:ext cx="1719273" cy="2132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152400" y="5867400"/>
            <a:ext cx="662940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Georgia" panose="02040502050405020303" pitchFamily="18" charset="0"/>
              </a:rPr>
              <a:t>Link: </a:t>
            </a:r>
          </a:p>
          <a:p>
            <a:r>
              <a:rPr lang="en-US" sz="1600" dirty="0" smtClean="0">
                <a:latin typeface="Georgia" panose="02040502050405020303" pitchFamily="18" charset="0"/>
                <a:hlinkClick r:id="rId3"/>
              </a:rPr>
              <a:t>https</a:t>
            </a:r>
            <a:r>
              <a:rPr lang="en-US" sz="1600" dirty="0">
                <a:latin typeface="Georgia" panose="02040502050405020303" pitchFamily="18" charset="0"/>
                <a:hlinkClick r:id="rId3"/>
              </a:rPr>
              <a:t>://</a:t>
            </a:r>
            <a:r>
              <a:rPr lang="en-US" sz="1600" dirty="0" smtClean="0">
                <a:latin typeface="Georgia" panose="02040502050405020303" pitchFamily="18" charset="0"/>
                <a:hlinkClick r:id="rId3"/>
              </a:rPr>
              <a:t>stackoverflow.com/questions/16691036/codeigniter-2-difference-between-index-and-construct-and-what-to-put-in-cons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0465" y="4457616"/>
            <a:ext cx="74676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latin typeface="Georgia" panose="02040502050405020303" pitchFamily="18" charset="0"/>
              </a:rPr>
              <a:t>__</a:t>
            </a:r>
            <a:r>
              <a:rPr lang="en-US" sz="1200" dirty="0">
                <a:latin typeface="Georgia" panose="02040502050405020303" pitchFamily="18" charset="0"/>
              </a:rPr>
              <a:t>construct() is called first, then according to URL is called index() or other functions</a:t>
            </a:r>
            <a:r>
              <a:rPr lang="en-US" sz="1200" dirty="0" smtClean="0">
                <a:latin typeface="Georgia" panose="02040502050405020303" pitchFamily="18" charset="0"/>
              </a:rPr>
              <a:t>.</a:t>
            </a:r>
            <a:endParaRPr lang="en-US" sz="1200" dirty="0">
              <a:latin typeface="Georgia" panose="02040502050405020303" pitchFamily="18" charset="0"/>
            </a:endParaRPr>
          </a:p>
          <a:p>
            <a:r>
              <a:rPr lang="en-US" sz="1200" b="1" dirty="0" smtClean="0">
                <a:latin typeface="Georgia" panose="02040502050405020303" pitchFamily="18" charset="0"/>
              </a:rPr>
              <a:t>Public </a:t>
            </a:r>
            <a:r>
              <a:rPr lang="en-US" sz="1200" b="1" dirty="0">
                <a:latin typeface="Georgia" panose="02040502050405020303" pitchFamily="18" charset="0"/>
              </a:rPr>
              <a:t>function __construct() should contain: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200" dirty="0" smtClean="0">
                <a:latin typeface="Georgia" panose="02040502050405020303" pitchFamily="18" charset="0"/>
              </a:rPr>
              <a:t>allocating </a:t>
            </a:r>
            <a:r>
              <a:rPr lang="en-US" sz="1200" dirty="0">
                <a:latin typeface="Georgia" panose="02040502050405020303" pitchFamily="18" charset="0"/>
              </a:rPr>
              <a:t>resources used in entire class ex. $this-&gt;load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200" dirty="0">
                <a:latin typeface="Georgia" panose="02040502050405020303" pitchFamily="18" charset="0"/>
              </a:rPr>
              <a:t>check user authentication (if entire class requires it)</a:t>
            </a:r>
          </a:p>
          <a:p>
            <a:r>
              <a:rPr lang="en-US" sz="1200" b="1" dirty="0" smtClean="0">
                <a:latin typeface="Georgia" panose="02040502050405020303" pitchFamily="18" charset="0"/>
              </a:rPr>
              <a:t>Public </a:t>
            </a:r>
            <a:r>
              <a:rPr lang="en-US" sz="1200" b="1" dirty="0">
                <a:latin typeface="Georgia" panose="02040502050405020303" pitchFamily="18" charset="0"/>
              </a:rPr>
              <a:t>function index() should contain</a:t>
            </a:r>
            <a:r>
              <a:rPr lang="en-US" sz="1200" b="1" dirty="0" smtClean="0">
                <a:latin typeface="Georgia" panose="02040502050405020303" pitchFamily="18" charset="0"/>
              </a:rPr>
              <a:t>:</a:t>
            </a:r>
            <a:endParaRPr lang="en-US" sz="1200" b="1" dirty="0">
              <a:latin typeface="Georgia" panose="02040502050405020303" pitchFamily="18" charset="0"/>
            </a:endParaRPr>
          </a:p>
          <a:p>
            <a:pPr marL="228600" indent="-228600">
              <a:buFont typeface="+mj-lt"/>
              <a:buAutoNum type="arabicParenR"/>
            </a:pPr>
            <a:r>
              <a:rPr lang="en-US" sz="1200" dirty="0">
                <a:latin typeface="Georgia" panose="02040502050405020303" pitchFamily="18" charset="0"/>
              </a:rPr>
              <a:t>allocating resources used only in this function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200" dirty="0">
                <a:latin typeface="Georgia" panose="02040502050405020303" pitchFamily="18" charset="0"/>
              </a:rPr>
              <a:t>calling views or displaying anything</a:t>
            </a:r>
          </a:p>
        </p:txBody>
      </p:sp>
    </p:spTree>
    <p:extLst>
      <p:ext uri="{BB962C8B-B14F-4D97-AF65-F5344CB8AC3E}">
        <p14:creationId xmlns:p14="http://schemas.microsoft.com/office/powerpoint/2010/main" val="1085668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3096161"/>
            <a:ext cx="86106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4000" noProof="0" dirty="0">
                <a:solidFill>
                  <a:prstClr val="black"/>
                </a:solidFill>
                <a:latin typeface="Georgia"/>
              </a:rPr>
              <a:t>4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– Handle URL Request with </a:t>
            </a:r>
            <a:r>
              <a:rPr lang="en-US" sz="4000" dirty="0" smtClean="0">
                <a:solidFill>
                  <a:prstClr val="black"/>
                </a:solidFill>
                <a:latin typeface="Georgia"/>
              </a:rPr>
              <a:t>Controller Classes (</a:t>
            </a:r>
            <a:r>
              <a:rPr lang="en-US" sz="4000" i="1" dirty="0" smtClean="0">
                <a:solidFill>
                  <a:prstClr val="black"/>
                </a:solidFill>
                <a:latin typeface="Georgia"/>
              </a:rPr>
              <a:t>home</a:t>
            </a:r>
            <a:r>
              <a:rPr lang="en-US" sz="4000" dirty="0" smtClean="0">
                <a:solidFill>
                  <a:prstClr val="black"/>
                </a:solidFill>
                <a:latin typeface="Georgia"/>
              </a:rPr>
              <a:t> &amp; </a:t>
            </a:r>
            <a:r>
              <a:rPr lang="en-US" sz="4000" i="1" dirty="0" smtClean="0">
                <a:solidFill>
                  <a:prstClr val="black"/>
                </a:solidFill>
                <a:latin typeface="Georgia"/>
              </a:rPr>
              <a:t>project</a:t>
            </a:r>
            <a:r>
              <a:rPr lang="en-US" sz="4000" dirty="0" smtClean="0">
                <a:solidFill>
                  <a:prstClr val="black"/>
                </a:solidFill>
                <a:latin typeface="Georgia"/>
              </a:rPr>
              <a:t>)</a:t>
            </a:r>
            <a:endParaRPr lang="en-US" sz="4000" dirty="0">
              <a:solidFill>
                <a:prstClr val="black"/>
              </a:solidFill>
            </a:endParaRPr>
          </a:p>
        </p:txBody>
      </p:sp>
      <p:pic>
        <p:nvPicPr>
          <p:cNvPr id="307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>
            <a:off x="0" y="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 rot="10800000">
            <a:off x="0" y="441960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9546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2" y="1487277"/>
            <a:ext cx="8839200" cy="5218323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 bwMode="auto">
          <a:xfrm>
            <a:off x="152401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91">
              <a:defRPr/>
            </a:pPr>
            <a:r>
              <a:rPr lang="en-US" dirty="0">
                <a:solidFill>
                  <a:srgbClr val="1F497D"/>
                </a:solidFill>
                <a:latin typeface="Georgia"/>
              </a:rPr>
              <a:t>Create </a:t>
            </a:r>
            <a:r>
              <a:rPr lang="en-US" dirty="0" smtClean="0">
                <a:solidFill>
                  <a:srgbClr val="1F497D"/>
                </a:solidFill>
                <a:latin typeface="Georgia"/>
              </a:rPr>
              <a:t>Global Variables</a:t>
            </a:r>
            <a:endParaRPr kumimoji="0" lang="en-US" sz="4000" b="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704" y="1129096"/>
            <a:ext cx="8784777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700" dirty="0" smtClean="0">
                <a:latin typeface="Georgia" panose="02040502050405020303" pitchFamily="18" charset="0"/>
              </a:rPr>
              <a:t>In PHP class, global </a:t>
            </a:r>
            <a:r>
              <a:rPr lang="en-US" sz="1700" dirty="0">
                <a:latin typeface="Georgia" panose="02040502050405020303" pitchFamily="18" charset="0"/>
              </a:rPr>
              <a:t>variable as property in </a:t>
            </a:r>
            <a:r>
              <a:rPr lang="en-US" sz="1700" dirty="0" smtClean="0">
                <a:latin typeface="Georgia" panose="02040502050405020303" pitchFamily="18" charset="0"/>
              </a:rPr>
              <a:t>class to store a </a:t>
            </a:r>
            <a:r>
              <a:rPr lang="en-US" sz="1700" b="1" i="1" dirty="0" smtClean="0">
                <a:latin typeface="Georgia" panose="02040502050405020303" pitchFamily="18" charset="0"/>
              </a:rPr>
              <a:t>default controller (home)</a:t>
            </a:r>
            <a:r>
              <a:rPr lang="en-US" sz="1700" dirty="0" smtClean="0">
                <a:latin typeface="Georgia" panose="02040502050405020303" pitchFamily="18" charset="0"/>
              </a:rPr>
              <a:t>.</a:t>
            </a:r>
            <a:endParaRPr lang="en-US" sz="1700" dirty="0">
              <a:latin typeface="Georgia" panose="020405020504050203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05000" y="2514600"/>
            <a:ext cx="2391578" cy="6362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915098" y="3520156"/>
            <a:ext cx="4333301" cy="3660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915098" y="4726236"/>
            <a:ext cx="5400102" cy="9887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Curved Connector 9"/>
          <p:cNvCxnSpPr>
            <a:stCxn id="8" idx="3"/>
            <a:endCxn id="7" idx="3"/>
          </p:cNvCxnSpPr>
          <p:nvPr/>
        </p:nvCxnSpPr>
        <p:spPr>
          <a:xfrm flipH="1" flipV="1">
            <a:off x="6248399" y="3703178"/>
            <a:ext cx="1066801" cy="1517440"/>
          </a:xfrm>
          <a:prstGeom prst="curvedConnector3">
            <a:avLst>
              <a:gd name="adj1" fmla="val -21429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Right Arrow 11"/>
          <p:cNvSpPr/>
          <p:nvPr/>
        </p:nvSpPr>
        <p:spPr>
          <a:xfrm>
            <a:off x="4548131" y="2526802"/>
            <a:ext cx="228600" cy="60960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883429" y="2646936"/>
            <a:ext cx="18854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Georgia" panose="02040502050405020303" pitchFamily="18" charset="0"/>
              </a:rPr>
              <a:t>Global variables </a:t>
            </a:r>
            <a:endParaRPr lang="en-US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388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1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9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 smtClean="0">
                <a:solidFill>
                  <a:srgbClr val="1F497D"/>
                </a:solidFill>
                <a:latin typeface="Georgia"/>
              </a:rPr>
              <a:t>Remember this </a:t>
            </a:r>
            <a:r>
              <a:rPr lang="en-US" b="1" noProof="0" dirty="0" smtClean="0">
                <a:solidFill>
                  <a:srgbClr val="1F497D"/>
                </a:solidFill>
                <a:latin typeface="Georgia"/>
              </a:rPr>
              <a:t>$</a:t>
            </a:r>
            <a:r>
              <a:rPr lang="en-US" b="1" noProof="0" dirty="0" err="1" smtClean="0">
                <a:solidFill>
                  <a:srgbClr val="1F497D"/>
                </a:solidFill>
                <a:latin typeface="Georgia"/>
              </a:rPr>
              <a:t>url</a:t>
            </a:r>
            <a:r>
              <a:rPr lang="en-US" b="1" noProof="0" dirty="0" smtClean="0">
                <a:solidFill>
                  <a:srgbClr val="1F497D"/>
                </a:solidFill>
                <a:latin typeface="Georgia"/>
              </a:rPr>
              <a:t> variable !!!</a:t>
            </a:r>
            <a:endParaRPr kumimoji="0" lang="en-US" sz="4000" b="1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2" y="1219200"/>
            <a:ext cx="8839200" cy="5486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137970" y="4527934"/>
            <a:ext cx="4939230" cy="7381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096000" y="1508984"/>
            <a:ext cx="2743201" cy="1595021"/>
          </a:xfrm>
          <a:prstGeom prst="horizontalScroll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latin typeface="Georgia" panose="02040502050405020303" pitchFamily="18" charset="0"/>
              </a:rPr>
              <a:t>If the </a:t>
            </a:r>
            <a:r>
              <a:rPr lang="en-US" b="1" i="1" dirty="0" err="1" smtClean="0">
                <a:solidFill>
                  <a:srgbClr val="C00000"/>
                </a:solidFill>
                <a:latin typeface="Georgia" panose="02040502050405020303" pitchFamily="18" charset="0"/>
              </a:rPr>
              <a:t>url</a:t>
            </a:r>
            <a:r>
              <a:rPr lang="en-US" b="1" i="1" dirty="0" smtClean="0">
                <a:solidFill>
                  <a:srgbClr val="C00000"/>
                </a:solidFill>
                <a:latin typeface="Georgia" panose="02040502050405020303" pitchFamily="18" charset="0"/>
              </a:rPr>
              <a:t> request </a:t>
            </a:r>
            <a:r>
              <a:rPr lang="en-US" dirty="0" smtClean="0">
                <a:latin typeface="Georgia" panose="02040502050405020303" pitchFamily="18" charset="0"/>
              </a:rPr>
              <a:t>change, we can handle next request after this line of code.</a:t>
            </a:r>
            <a:endParaRPr lang="en-US" dirty="0">
              <a:latin typeface="Georgia" panose="02040502050405020303" pitchFamily="18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3404212" y="2971800"/>
            <a:ext cx="3987188" cy="18315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4343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219202"/>
            <a:ext cx="8839200" cy="5213728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After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lang="en-US" dirty="0" smtClean="0">
                <a:solidFill>
                  <a:srgbClr val="1F497D"/>
                </a:solidFill>
                <a:latin typeface="Georgia"/>
              </a:rPr>
              <a:t>Add Some 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URI Routing Rules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8560" y="6432929"/>
            <a:ext cx="866935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URL Format</a:t>
            </a: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: 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  <a:hlinkClick r:id="rId4"/>
              </a:rPr>
              <a:t>http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  <a:hlinkClick r:id="rId4"/>
              </a:rPr>
              <a:t>://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  <a:hlinkClick r:id="rId4"/>
              </a:rPr>
              <a:t>localhost/lecture13/aimvc/public/home/method/param1/param2/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10" name="Up Arrow 9"/>
          <p:cNvSpPr/>
          <p:nvPr/>
        </p:nvSpPr>
        <p:spPr>
          <a:xfrm>
            <a:off x="1794831" y="2307116"/>
            <a:ext cx="685800" cy="762000"/>
          </a:xfrm>
          <a:prstGeom prst="up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62894" y="3200400"/>
            <a:ext cx="1149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Controller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12" name="Up Arrow 11"/>
          <p:cNvSpPr/>
          <p:nvPr/>
        </p:nvSpPr>
        <p:spPr>
          <a:xfrm>
            <a:off x="3389232" y="2307116"/>
            <a:ext cx="685800" cy="762000"/>
          </a:xfrm>
          <a:prstGeom prst="up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120863" y="3200400"/>
            <a:ext cx="12225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Method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14" name="Up Arrow 13"/>
          <p:cNvSpPr/>
          <p:nvPr/>
        </p:nvSpPr>
        <p:spPr>
          <a:xfrm>
            <a:off x="4992769" y="2307116"/>
            <a:ext cx="685800" cy="762000"/>
          </a:xfrm>
          <a:prstGeom prst="up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24400" y="3200400"/>
            <a:ext cx="1222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Parameter #1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19" name="Up Arrow 18"/>
          <p:cNvSpPr/>
          <p:nvPr/>
        </p:nvSpPr>
        <p:spPr>
          <a:xfrm>
            <a:off x="6632736" y="2307116"/>
            <a:ext cx="685800" cy="762000"/>
          </a:xfrm>
          <a:prstGeom prst="up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64367" y="3200400"/>
            <a:ext cx="1222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Parameter #2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20304" y="2708701"/>
            <a:ext cx="8851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Index[0]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43200" y="2696896"/>
            <a:ext cx="8531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Index[1]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343400" y="2696896"/>
            <a:ext cx="873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Index[2]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84043" y="2707254"/>
            <a:ext cx="873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Index[3]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52558" y="4317992"/>
            <a:ext cx="8241359" cy="892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Georgia" panose="02040502050405020303" pitchFamily="18" charset="0"/>
              </a:rPr>
              <a:t>Our app starts from this directory location: </a:t>
            </a:r>
          </a:p>
          <a:p>
            <a:r>
              <a:rPr lang="en-US" sz="2400" i="1" dirty="0" smtClean="0">
                <a:solidFill>
                  <a:srgbClr val="FF0000"/>
                </a:solidFill>
                <a:latin typeface="Georgia" panose="02040502050405020303" pitchFamily="18" charset="0"/>
              </a:rPr>
              <a:t>http</a:t>
            </a:r>
            <a:r>
              <a:rPr lang="en-US" sz="2400" i="1" dirty="0">
                <a:solidFill>
                  <a:srgbClr val="FF0000"/>
                </a:solidFill>
                <a:latin typeface="Georgia" panose="02040502050405020303" pitchFamily="18" charset="0"/>
              </a:rPr>
              <a:t>://localhost/lecture13/aimvc/public/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660" y="5304709"/>
            <a:ext cx="8057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Georgia" panose="02040502050405020303" pitchFamily="18" charset="0"/>
              </a:rPr>
              <a:t>This means Controller default (</a:t>
            </a:r>
            <a:r>
              <a:rPr lang="en-US" b="1" i="1" dirty="0" smtClean="0">
                <a:latin typeface="Georgia" panose="02040502050405020303" pitchFamily="18" charset="0"/>
              </a:rPr>
              <a:t>home</a:t>
            </a:r>
            <a:r>
              <a:rPr lang="en-US" b="1" dirty="0" smtClean="0">
                <a:latin typeface="Georgia" panose="02040502050405020303" pitchFamily="18" charset="0"/>
              </a:rPr>
              <a:t>) and method default (</a:t>
            </a:r>
            <a:r>
              <a:rPr lang="en-US" b="1" i="1" dirty="0" smtClean="0">
                <a:latin typeface="Georgia" panose="02040502050405020303" pitchFamily="18" charset="0"/>
              </a:rPr>
              <a:t>index</a:t>
            </a:r>
            <a:r>
              <a:rPr lang="en-US" b="1" dirty="0" smtClean="0">
                <a:latin typeface="Georgia" panose="02040502050405020303" pitchFamily="18" charset="0"/>
              </a:rPr>
              <a:t>).</a:t>
            </a:r>
            <a:endParaRPr lang="en-US" b="1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222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1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9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Get element</a:t>
            </a:r>
            <a:r>
              <a:rPr kumimoji="0" lang="en-US" sz="3600" b="0" i="0" u="none" strike="noStrike" kern="1200" cap="none" spc="0" normalizeH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3600" b="0" i="1" u="none" strike="noStrike" kern="1200" cap="none" spc="0" normalizeH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index 0</a:t>
            </a:r>
            <a:r>
              <a:rPr kumimoji="0" lang="en-US" sz="3600" b="0" i="0" u="none" strike="noStrike" kern="1200" cap="none" spc="0" normalizeH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as Controller Name</a:t>
            </a:r>
            <a:endParaRPr kumimoji="0" lang="en-US" sz="3600" b="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2" y="1219201"/>
            <a:ext cx="8839200" cy="5486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895600" y="4605051"/>
            <a:ext cx="4419600" cy="17957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105400" y="1524000"/>
            <a:ext cx="3810000" cy="1226939"/>
          </a:xfrm>
          <a:prstGeom prst="horizontalScroll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latin typeface="Georgia" panose="02040502050405020303" pitchFamily="18" charset="0"/>
              </a:rPr>
              <a:t>Check if specific controller class file exist in controller directory or not.</a:t>
            </a:r>
            <a:endParaRPr lang="en-US" dirty="0">
              <a:latin typeface="Georgia" panose="02040502050405020303" pitchFamily="18" charset="0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4953000" y="2438400"/>
            <a:ext cx="2133600" cy="23622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8090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1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91"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Recognize </a:t>
            </a:r>
            <a:r>
              <a:rPr lang="en-US" dirty="0">
                <a:solidFill>
                  <a:srgbClr val="1F497D"/>
                </a:solidFill>
                <a:latin typeface="Georgia"/>
              </a:rPr>
              <a:t>Controller Name</a:t>
            </a:r>
            <a:endParaRPr kumimoji="0" lang="en-US" sz="4000" b="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1219200"/>
            <a:ext cx="8839200" cy="505551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37912" y="4419600"/>
            <a:ext cx="7239000" cy="2331184"/>
          </a:xfrm>
          <a:prstGeom prst="horizontalScroll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600" b="1" dirty="0" smtClean="0">
                <a:latin typeface="Georgia" panose="02040502050405020303" pitchFamily="18" charset="0"/>
              </a:rPr>
              <a:t>Element of </a:t>
            </a:r>
            <a:r>
              <a:rPr lang="en-US" sz="3600" b="1" i="1" dirty="0" smtClean="0">
                <a:latin typeface="Georgia" panose="02040502050405020303" pitchFamily="18" charset="0"/>
              </a:rPr>
              <a:t>index 0</a:t>
            </a:r>
            <a:r>
              <a:rPr lang="en-US" sz="3600" b="1" dirty="0" smtClean="0">
                <a:latin typeface="Georgia" panose="02040502050405020303" pitchFamily="18" charset="0"/>
              </a:rPr>
              <a:t> (value: </a:t>
            </a:r>
            <a:r>
              <a:rPr lang="en-US" sz="3600" b="1" i="1" dirty="0" smtClean="0">
                <a:latin typeface="Georgia" panose="02040502050405020303" pitchFamily="18" charset="0"/>
              </a:rPr>
              <a:t>home</a:t>
            </a:r>
            <a:r>
              <a:rPr lang="en-US" sz="3600" b="1" dirty="0" smtClean="0">
                <a:latin typeface="Georgia" panose="02040502050405020303" pitchFamily="18" charset="0"/>
              </a:rPr>
              <a:t>) already recognized as a controller class name.</a:t>
            </a:r>
            <a:endParaRPr lang="en-US" sz="3600" b="1" dirty="0">
              <a:latin typeface="Georgia" panose="020405020504050203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0995" y="2737367"/>
            <a:ext cx="2867179" cy="715089"/>
          </a:xfrm>
          <a:prstGeom prst="wedgeRoundRectCallout">
            <a:avLst>
              <a:gd name="adj1" fmla="val -44656"/>
              <a:gd name="adj2" fmla="val 117963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i="1" dirty="0" smtClean="0">
                <a:solidFill>
                  <a:srgbClr val="C00000"/>
                </a:solidFill>
                <a:latin typeface="Georgia" panose="02040502050405020303" pitchFamily="18" charset="0"/>
              </a:rPr>
              <a:t>There’s no index 0 after </a:t>
            </a:r>
            <a:r>
              <a:rPr lang="en-US" i="1" dirty="0" err="1" smtClean="0">
                <a:solidFill>
                  <a:srgbClr val="C00000"/>
                </a:solidFill>
                <a:latin typeface="Georgia" panose="02040502050405020303" pitchFamily="18" charset="0"/>
              </a:rPr>
              <a:t>var_dump</a:t>
            </a:r>
            <a:r>
              <a:rPr lang="en-US" i="1" dirty="0" smtClean="0">
                <a:solidFill>
                  <a:srgbClr val="C00000"/>
                </a:solidFill>
                <a:latin typeface="Georgia" panose="02040502050405020303" pitchFamily="18" charset="0"/>
              </a:rPr>
              <a:t>()?</a:t>
            </a:r>
            <a:endParaRPr lang="en-US" i="1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pic>
        <p:nvPicPr>
          <p:cNvPr id="6" name="Picture 12" descr="Download Free png Woman Girl Clip Art - Girl Thinking Clipart Png Free PNG  Images ... - DLPNG.co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473" y="3886200"/>
            <a:ext cx="805045" cy="1070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1597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1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9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Full Handle Controller</a:t>
            </a:r>
            <a:endParaRPr kumimoji="0" lang="en-US" sz="4000" b="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1219200"/>
            <a:ext cx="8839200" cy="54269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588046" y="2993835"/>
            <a:ext cx="5031954" cy="21877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715000" y="1297126"/>
            <a:ext cx="3260076" cy="1267837"/>
          </a:xfrm>
          <a:prstGeom prst="horizontalScroll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>
                <a:latin typeface="Georgia" panose="02040502050405020303" pitchFamily="18" charset="0"/>
              </a:rPr>
              <a:t>After get controller name in controller directory, you can create an object based on controller class that you already included.</a:t>
            </a:r>
            <a:endParaRPr lang="en-US" sz="1400" dirty="0">
              <a:latin typeface="Georgia" panose="02040502050405020303" pitchFamily="18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6096000" y="2438400"/>
            <a:ext cx="990600" cy="6173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1" y="4918406"/>
            <a:ext cx="1219200" cy="18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26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3096161"/>
            <a:ext cx="86106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4000" noProof="0" dirty="0">
                <a:solidFill>
                  <a:prstClr val="black"/>
                </a:solidFill>
                <a:latin typeface="Georgia"/>
              </a:rPr>
              <a:t>5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– Handle URL Request with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</a:p>
          <a:p>
            <a:pPr lvl="0" algn="ctr">
              <a:defRPr/>
            </a:pPr>
            <a:r>
              <a:rPr kumimoji="0" lang="en-US" sz="4000" b="1" i="1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Method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and </a:t>
            </a:r>
            <a:r>
              <a:rPr kumimoji="0" lang="en-US" sz="4000" b="1" i="1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</a:rPr>
              <a:t>Default Method</a:t>
            </a:r>
            <a:endParaRPr lang="en-US" sz="4000" b="1" i="1" dirty="0">
              <a:solidFill>
                <a:prstClr val="black"/>
              </a:solidFill>
            </a:endParaRPr>
          </a:p>
        </p:txBody>
      </p:sp>
      <p:pic>
        <p:nvPicPr>
          <p:cNvPr id="307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>
            <a:off x="0" y="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 rot="10800000">
            <a:off x="0" y="441960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0018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1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91">
              <a:defRPr/>
            </a:pPr>
            <a:r>
              <a:rPr lang="en-US" sz="3600" dirty="0">
                <a:solidFill>
                  <a:srgbClr val="1F497D"/>
                </a:solidFill>
                <a:latin typeface="Georgia"/>
              </a:rPr>
              <a:t>Recognize </a:t>
            </a:r>
            <a:r>
              <a:rPr lang="en-US" sz="3600" dirty="0" smtClean="0">
                <a:solidFill>
                  <a:srgbClr val="1F497D"/>
                </a:solidFill>
                <a:latin typeface="Georgia"/>
              </a:rPr>
              <a:t>Method Name (default or not)</a:t>
            </a:r>
            <a:endParaRPr lang="en-US" sz="3600" dirty="0">
              <a:solidFill>
                <a:srgbClr val="1F497D"/>
              </a:solidFill>
              <a:latin typeface="Georg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2" y="1219201"/>
            <a:ext cx="8839200" cy="527209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015168" y="4018405"/>
            <a:ext cx="5300031" cy="16663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715000" y="1297126"/>
            <a:ext cx="3260076" cy="1554123"/>
          </a:xfrm>
          <a:prstGeom prst="horizontalScroll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>
                <a:latin typeface="Georgia" panose="02040502050405020303" pitchFamily="18" charset="0"/>
              </a:rPr>
              <a:t>Array index in </a:t>
            </a:r>
            <a:r>
              <a:rPr lang="en-US" sz="1400" dirty="0" err="1" smtClean="0">
                <a:latin typeface="Georgia" panose="02040502050405020303" pitchFamily="18" charset="0"/>
              </a:rPr>
              <a:t>url</a:t>
            </a:r>
            <a:r>
              <a:rPr lang="en-US" sz="1400" dirty="0" smtClean="0">
                <a:latin typeface="Georgia" panose="02040502050405020303" pitchFamily="18" charset="0"/>
              </a:rPr>
              <a:t>[1] contains method name from input request </a:t>
            </a:r>
            <a:r>
              <a:rPr lang="en-US" sz="1400" dirty="0" err="1" smtClean="0">
                <a:latin typeface="Georgia" panose="02040502050405020303" pitchFamily="18" charset="0"/>
              </a:rPr>
              <a:t>url</a:t>
            </a:r>
            <a:r>
              <a:rPr lang="en-US" sz="1400" dirty="0" smtClean="0">
                <a:latin typeface="Georgia" panose="02040502050405020303" pitchFamily="18" charset="0"/>
              </a:rPr>
              <a:t>. After checking the existence of method, this system can decide to output default method or not.</a:t>
            </a:r>
            <a:endParaRPr lang="en-US" sz="1400" dirty="0">
              <a:latin typeface="Georgia" panose="02040502050405020303" pitchFamily="18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419600" y="2743200"/>
            <a:ext cx="2590800" cy="14478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3768373"/>
            <a:ext cx="1273108" cy="19526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933" y="4573640"/>
            <a:ext cx="1187067" cy="18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34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1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9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Test Handle Method</a:t>
            </a:r>
            <a:endParaRPr kumimoji="0" lang="en-US" sz="4000" b="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1219200"/>
            <a:ext cx="8839200" cy="50555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52601" y="3657600"/>
            <a:ext cx="7239000" cy="3067348"/>
          </a:xfrm>
          <a:prstGeom prst="horizontalScroll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600" b="1" dirty="0" smtClean="0">
                <a:latin typeface="Georgia" panose="02040502050405020303" pitchFamily="18" charset="0"/>
              </a:rPr>
              <a:t>Element of </a:t>
            </a:r>
            <a:r>
              <a:rPr lang="en-US" sz="3600" b="1" i="1" dirty="0" smtClean="0">
                <a:latin typeface="Georgia" panose="02040502050405020303" pitchFamily="18" charset="0"/>
              </a:rPr>
              <a:t>index 1</a:t>
            </a:r>
            <a:r>
              <a:rPr lang="en-US" sz="3600" b="1" dirty="0" smtClean="0">
                <a:latin typeface="Georgia" panose="02040502050405020303" pitchFamily="18" charset="0"/>
              </a:rPr>
              <a:t> (value: </a:t>
            </a:r>
            <a:r>
              <a:rPr lang="en-US" sz="3600" b="1" i="1" dirty="0" smtClean="0">
                <a:latin typeface="Georgia" panose="02040502050405020303" pitchFamily="18" charset="0"/>
              </a:rPr>
              <a:t>index</a:t>
            </a:r>
            <a:r>
              <a:rPr lang="en-US" sz="3600" b="1" dirty="0" smtClean="0">
                <a:latin typeface="Georgia" panose="02040502050405020303" pitchFamily="18" charset="0"/>
              </a:rPr>
              <a:t>) already recognized as a </a:t>
            </a:r>
            <a:r>
              <a:rPr lang="en-US" sz="3600" b="1" i="1" dirty="0" smtClean="0">
                <a:latin typeface="Georgia" panose="02040502050405020303" pitchFamily="18" charset="0"/>
              </a:rPr>
              <a:t>default method name </a:t>
            </a:r>
            <a:r>
              <a:rPr lang="en-US" sz="3600" b="1" dirty="0" smtClean="0">
                <a:latin typeface="Georgia" panose="02040502050405020303" pitchFamily="18" charset="0"/>
              </a:rPr>
              <a:t>(</a:t>
            </a:r>
            <a:r>
              <a:rPr lang="en-US" sz="3600" b="1" i="1" dirty="0" smtClean="0">
                <a:latin typeface="Georgia" panose="02040502050405020303" pitchFamily="18" charset="0"/>
              </a:rPr>
              <a:t>index</a:t>
            </a:r>
            <a:r>
              <a:rPr lang="en-US" sz="3600" b="1" dirty="0" smtClean="0">
                <a:latin typeface="Georgia" panose="02040502050405020303" pitchFamily="18" charset="0"/>
              </a:rPr>
              <a:t>).</a:t>
            </a:r>
            <a:endParaRPr lang="en-US" sz="3600" b="1" dirty="0">
              <a:latin typeface="Georgia" panose="02040502050405020303" pitchFamily="18" charset="0"/>
            </a:endParaRPr>
          </a:p>
        </p:txBody>
      </p:sp>
      <p:sp>
        <p:nvSpPr>
          <p:cNvPr id="6" name="Up Arrow 5"/>
          <p:cNvSpPr/>
          <p:nvPr/>
        </p:nvSpPr>
        <p:spPr>
          <a:xfrm>
            <a:off x="729241" y="2406268"/>
            <a:ext cx="685800" cy="762000"/>
          </a:xfrm>
          <a:prstGeom prst="up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0872" y="3299552"/>
            <a:ext cx="1222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Parameter #1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8" name="Up Arrow 7"/>
          <p:cNvSpPr/>
          <p:nvPr/>
        </p:nvSpPr>
        <p:spPr>
          <a:xfrm>
            <a:off x="2474832" y="2406268"/>
            <a:ext cx="685800" cy="762000"/>
          </a:xfrm>
          <a:prstGeom prst="up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06463" y="3299552"/>
            <a:ext cx="1222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Parameter #2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6643" y="2796048"/>
            <a:ext cx="873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Index[2]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58224" y="2806406"/>
            <a:ext cx="873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Index[3]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283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3096161"/>
            <a:ext cx="86106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4000" dirty="0">
                <a:solidFill>
                  <a:prstClr val="black"/>
                </a:solidFill>
                <a:latin typeface="Georgia"/>
              </a:rPr>
              <a:t>6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– Handle URL Request with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</a:p>
          <a:p>
            <a:pPr lvl="0" algn="ctr">
              <a:defRPr/>
            </a:pPr>
            <a:r>
              <a:rPr lang="en-US" sz="4000" b="1" i="1" dirty="0" smtClean="0">
                <a:solidFill>
                  <a:prstClr val="black"/>
                </a:solidFill>
                <a:latin typeface="Georgia"/>
              </a:rPr>
              <a:t>Parameter</a:t>
            </a:r>
            <a:endParaRPr lang="en-US" sz="4000" b="1" i="1" dirty="0">
              <a:solidFill>
                <a:prstClr val="black"/>
              </a:solidFill>
            </a:endParaRPr>
          </a:p>
        </p:txBody>
      </p:sp>
      <p:pic>
        <p:nvPicPr>
          <p:cNvPr id="307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>
            <a:off x="0" y="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 rot="10800000">
            <a:off x="0" y="441960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8114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2" y="1253801"/>
            <a:ext cx="8839200" cy="5272092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 bwMode="auto">
          <a:xfrm>
            <a:off x="152401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91">
              <a:defRPr/>
            </a:pPr>
            <a:r>
              <a:rPr lang="en-US" sz="3600" dirty="0">
                <a:solidFill>
                  <a:srgbClr val="1F497D"/>
                </a:solidFill>
                <a:latin typeface="Georgia"/>
              </a:rPr>
              <a:t>Recognize </a:t>
            </a:r>
            <a:r>
              <a:rPr lang="en-US" sz="3600" dirty="0" smtClean="0">
                <a:solidFill>
                  <a:srgbClr val="1F497D"/>
                </a:solidFill>
                <a:latin typeface="Georgia"/>
              </a:rPr>
              <a:t>Input Parameters</a:t>
            </a:r>
            <a:endParaRPr lang="en-US" sz="3600" dirty="0">
              <a:solidFill>
                <a:srgbClr val="1F497D"/>
              </a:solidFill>
              <a:latin typeface="Georgia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59237" y="3258371"/>
            <a:ext cx="4265364" cy="18470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715000" y="1540371"/>
            <a:ext cx="3260076" cy="1431429"/>
          </a:xfrm>
          <a:prstGeom prst="horizontalScroll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smtClean="0">
                <a:latin typeface="Georgia" panose="02040502050405020303" pitchFamily="18" charset="0"/>
              </a:rPr>
              <a:t>Check </a:t>
            </a:r>
            <a:r>
              <a:rPr lang="en-US" sz="1600" dirty="0">
                <a:latin typeface="Georgia" panose="02040502050405020303" pitchFamily="18" charset="0"/>
              </a:rPr>
              <a:t>whether the remaining array still exists or not. If yes, then it must be reset </a:t>
            </a:r>
            <a:r>
              <a:rPr lang="en-US" sz="1600" dirty="0" smtClean="0">
                <a:latin typeface="Georgia" panose="02040502050405020303" pitchFamily="18" charset="0"/>
              </a:rPr>
              <a:t>started from </a:t>
            </a:r>
            <a:r>
              <a:rPr lang="en-US" sz="1600" i="1" dirty="0" smtClean="0">
                <a:latin typeface="Georgia" panose="02040502050405020303" pitchFamily="18" charset="0"/>
              </a:rPr>
              <a:t>index </a:t>
            </a:r>
            <a:r>
              <a:rPr lang="en-US" sz="1600" i="1" dirty="0">
                <a:latin typeface="Georgia" panose="02040502050405020303" pitchFamily="18" charset="0"/>
              </a:rPr>
              <a:t>0</a:t>
            </a:r>
            <a:r>
              <a:rPr lang="en-US" sz="1600" dirty="0">
                <a:latin typeface="Georgia" panose="02040502050405020303" pitchFamily="18" charset="0"/>
              </a:rPr>
              <a:t>.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5562600" y="2880955"/>
            <a:ext cx="1828800" cy="10052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4257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1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91">
              <a:defRPr/>
            </a:pPr>
            <a:r>
              <a:rPr lang="en-US" dirty="0">
                <a:solidFill>
                  <a:srgbClr val="1F497D"/>
                </a:solidFill>
                <a:latin typeface="Georgia"/>
              </a:rPr>
              <a:t>Test Handle </a:t>
            </a:r>
            <a:r>
              <a:rPr lang="en-US" dirty="0" smtClean="0">
                <a:solidFill>
                  <a:srgbClr val="1F497D"/>
                </a:solidFill>
                <a:latin typeface="Georgia"/>
              </a:rPr>
              <a:t>Input Parameters</a:t>
            </a:r>
            <a:endParaRPr lang="en-US" dirty="0">
              <a:solidFill>
                <a:srgbClr val="1F497D"/>
              </a:solidFill>
              <a:latin typeface="Georgi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1219200"/>
            <a:ext cx="8839200" cy="5055514"/>
          </a:xfrm>
          <a:prstGeom prst="rect">
            <a:avLst/>
          </a:prstGeom>
        </p:spPr>
      </p:pic>
      <p:sp>
        <p:nvSpPr>
          <p:cNvPr id="12" name="Up Arrow 11"/>
          <p:cNvSpPr/>
          <p:nvPr/>
        </p:nvSpPr>
        <p:spPr>
          <a:xfrm>
            <a:off x="729241" y="2406268"/>
            <a:ext cx="685800" cy="762000"/>
          </a:xfrm>
          <a:prstGeom prst="up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0872" y="3299552"/>
            <a:ext cx="1222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Parameter #1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14" name="Up Arrow 13"/>
          <p:cNvSpPr/>
          <p:nvPr/>
        </p:nvSpPr>
        <p:spPr>
          <a:xfrm>
            <a:off x="2474832" y="2406268"/>
            <a:ext cx="685800" cy="762000"/>
          </a:xfrm>
          <a:prstGeom prst="up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206463" y="3299552"/>
            <a:ext cx="1222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Parameter #2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6643" y="2796048"/>
            <a:ext cx="8851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Index[0]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58224" y="2806406"/>
            <a:ext cx="8531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Index[1]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33600" y="3962400"/>
            <a:ext cx="6858001" cy="2740164"/>
          </a:xfrm>
          <a:prstGeom prst="horizontalScroll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200" b="1" dirty="0">
                <a:latin typeface="Georgia" panose="02040502050405020303" pitchFamily="18" charset="0"/>
              </a:rPr>
              <a:t>All elements in the array containing the "</a:t>
            </a:r>
            <a:r>
              <a:rPr lang="en-US" sz="3200" b="1" i="1" dirty="0">
                <a:latin typeface="Georgia" panose="02040502050405020303" pitchFamily="18" charset="0"/>
              </a:rPr>
              <a:t>parameters</a:t>
            </a:r>
            <a:r>
              <a:rPr lang="en-US" sz="3200" b="1" dirty="0">
                <a:latin typeface="Georgia" panose="02040502050405020303" pitchFamily="18" charset="0"/>
              </a:rPr>
              <a:t>" have been reset and are now stored in global variables.</a:t>
            </a:r>
          </a:p>
        </p:txBody>
      </p:sp>
    </p:spTree>
    <p:extLst>
      <p:ext uri="{BB962C8B-B14F-4D97-AF65-F5344CB8AC3E}">
        <p14:creationId xmlns:p14="http://schemas.microsoft.com/office/powerpoint/2010/main" val="1726993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3096161"/>
            <a:ext cx="8610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4000" dirty="0">
                <a:solidFill>
                  <a:prstClr val="black"/>
                </a:solidFill>
                <a:latin typeface="Georgia"/>
              </a:rPr>
              <a:t>7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lang="en-US" sz="4000" dirty="0">
                <a:solidFill>
                  <a:prstClr val="black"/>
                </a:solidFill>
              </a:rPr>
              <a:t>– Finalize URL </a:t>
            </a:r>
            <a:r>
              <a:rPr lang="en-US" sz="4000" dirty="0" smtClean="0">
                <a:solidFill>
                  <a:prstClr val="black"/>
                </a:solidFill>
              </a:rPr>
              <a:t>Request</a:t>
            </a:r>
          </a:p>
          <a:p>
            <a:pPr lvl="0" algn="ctr">
              <a:defRPr/>
            </a:pPr>
            <a:r>
              <a:rPr lang="en-US" sz="2400" b="1" dirty="0" smtClean="0">
                <a:solidFill>
                  <a:prstClr val="black"/>
                </a:solidFill>
              </a:rPr>
              <a:t>[</a:t>
            </a:r>
            <a:r>
              <a:rPr lang="en-US" sz="2400" b="1" i="1" dirty="0" smtClean="0">
                <a:solidFill>
                  <a:prstClr val="black"/>
                </a:solidFill>
              </a:rPr>
              <a:t>run controller &amp; method with parameters</a:t>
            </a:r>
            <a:r>
              <a:rPr lang="en-US" sz="2400" b="1" dirty="0" smtClean="0">
                <a:solidFill>
                  <a:prstClr val="black"/>
                </a:solidFill>
              </a:rPr>
              <a:t>]</a:t>
            </a:r>
            <a:endParaRPr lang="en-US" sz="2400" b="1" dirty="0">
              <a:solidFill>
                <a:prstClr val="black"/>
              </a:solidFill>
            </a:endParaRPr>
          </a:p>
        </p:txBody>
      </p:sp>
      <p:pic>
        <p:nvPicPr>
          <p:cNvPr id="307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>
            <a:off x="0" y="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 rot="10800000">
            <a:off x="0" y="441960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964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1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91">
              <a:defRPr/>
            </a:pPr>
            <a:r>
              <a:rPr lang="en-US" dirty="0">
                <a:solidFill>
                  <a:srgbClr val="1F497D"/>
                </a:solidFill>
                <a:latin typeface="Georgia"/>
              </a:rPr>
              <a:t>Run controller &amp; method</a:t>
            </a:r>
            <a:endParaRPr kumimoji="0" lang="en-US" sz="4000" b="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2" y="1219201"/>
            <a:ext cx="8839200" cy="527209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059236" y="3665865"/>
            <a:ext cx="6475163" cy="4489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9346" y="3886200"/>
            <a:ext cx="1219200" cy="180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636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3096161"/>
            <a:ext cx="8610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4000" noProof="0" dirty="0">
                <a:solidFill>
                  <a:prstClr val="black"/>
                </a:solidFill>
                <a:latin typeface="Georgia"/>
              </a:rPr>
              <a:t>8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lang="en-US" sz="4000" dirty="0">
                <a:solidFill>
                  <a:prstClr val="black"/>
                </a:solidFill>
              </a:rPr>
              <a:t>– </a:t>
            </a:r>
            <a:r>
              <a:rPr lang="en-US" sz="4000" dirty="0" smtClean="0">
                <a:solidFill>
                  <a:prstClr val="black"/>
                </a:solidFill>
              </a:rPr>
              <a:t>Testing</a:t>
            </a:r>
            <a:endParaRPr lang="en-US" sz="2400" b="1" dirty="0">
              <a:solidFill>
                <a:prstClr val="black"/>
              </a:solidFill>
            </a:endParaRPr>
          </a:p>
        </p:txBody>
      </p:sp>
      <p:pic>
        <p:nvPicPr>
          <p:cNvPr id="307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>
            <a:off x="0" y="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 rot="10800000">
            <a:off x="0" y="441960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0822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1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9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Add More Methods</a:t>
            </a:r>
            <a:endParaRPr kumimoji="0" lang="en-US" sz="4000" b="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91" y="1219200"/>
            <a:ext cx="8834610" cy="4873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567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1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9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Access Home Controller (</a:t>
            </a:r>
            <a:r>
              <a:rPr kumimoji="0" lang="en-US" sz="4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index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endParaRPr kumimoji="0" lang="en-US" sz="4000" b="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1219200"/>
            <a:ext cx="8839200" cy="5055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292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1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91"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Access </a:t>
            </a:r>
            <a:r>
              <a:rPr lang="en-US" dirty="0">
                <a:solidFill>
                  <a:srgbClr val="1F497D"/>
                </a:solidFill>
                <a:latin typeface="Georgia"/>
              </a:rPr>
              <a:t>Project Controller (</a:t>
            </a:r>
            <a:r>
              <a:rPr lang="en-US" i="1" dirty="0">
                <a:solidFill>
                  <a:srgbClr val="1F497D"/>
                </a:solidFill>
                <a:latin typeface="Georgia"/>
              </a:rPr>
              <a:t>index</a:t>
            </a:r>
            <a:r>
              <a:rPr lang="en-US" dirty="0">
                <a:solidFill>
                  <a:srgbClr val="1F497D"/>
                </a:solidFill>
                <a:latin typeface="Georgia"/>
              </a:rPr>
              <a:t>)</a:t>
            </a:r>
            <a:endParaRPr kumimoji="0" lang="en-US" sz="4000" b="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17" y="1219200"/>
            <a:ext cx="8828183" cy="504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641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1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91"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</a:rPr>
              <a:t>Access </a:t>
            </a: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Home </a:t>
            </a:r>
            <a:r>
              <a:rPr lang="en-US" sz="3200" dirty="0">
                <a:solidFill>
                  <a:srgbClr val="1F497D"/>
                </a:solidFill>
                <a:latin typeface="Georgia"/>
              </a:rPr>
              <a:t>Controller </a:t>
            </a: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with Specific Method</a:t>
            </a: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37" y="1219200"/>
            <a:ext cx="8837364" cy="5054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49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86200"/>
            <a:ext cx="914399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3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exercise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for students</a:t>
            </a:r>
          </a:p>
        </p:txBody>
      </p:sp>
      <p:pic>
        <p:nvPicPr>
          <p:cNvPr id="6148" name="Picture 4" descr="Clipboard checklist clipart letters example gif - Cliparti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1" y="1143001"/>
            <a:ext cx="1752600" cy="2609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4410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1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9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Latihan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untuk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4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Students</a:t>
            </a:r>
            <a:endParaRPr kumimoji="0" lang="en-US" sz="4000" b="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5776" y="1167211"/>
            <a:ext cx="88658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Create directory	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C:\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xampp\htdocs\lecture13\</a:t>
            </a: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l" defTabSz="9143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Create file		: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_.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php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400" y="2194560"/>
            <a:ext cx="8991600" cy="313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82296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4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Buat</a:t>
            </a:r>
            <a:r>
              <a:rPr kumimoji="0" lang="en-US" sz="144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</a:t>
            </a:r>
            <a:r>
              <a:rPr kumimoji="0" lang="en-US" sz="144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semua</a:t>
            </a:r>
            <a:r>
              <a:rPr kumimoji="0" lang="en-US" sz="144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</a:t>
            </a:r>
            <a:r>
              <a:rPr kumimoji="0" lang="en-US" sz="1440" b="0" i="0" u="none" strike="noStrike" kern="1200" cap="none" spc="0" normalizeH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contoh</a:t>
            </a:r>
            <a:r>
              <a:rPr kumimoji="0" lang="en-US" sz="144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</a:t>
            </a:r>
            <a:r>
              <a:rPr kumimoji="0" lang="en-US" sz="144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yang </a:t>
            </a:r>
            <a:r>
              <a:rPr kumimoji="0" lang="en-US" sz="144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sudah</a:t>
            </a:r>
            <a:r>
              <a:rPr kumimoji="0" lang="en-US" sz="144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di </a:t>
            </a:r>
            <a:r>
              <a:rPr kumimoji="0" lang="en-US" sz="144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pelajari</a:t>
            </a:r>
            <a:r>
              <a:rPr kumimoji="0" lang="en-US" sz="144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</a:t>
            </a:r>
            <a:r>
              <a:rPr kumimoji="0" lang="en-US" sz="144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sebelumnya</a:t>
            </a:r>
            <a:r>
              <a:rPr kumimoji="0" lang="en-US" sz="144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.</a:t>
            </a:r>
            <a:endParaRPr kumimoji="0" lang="en-US" sz="14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9496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Reference (#1)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5282" y="949612"/>
            <a:ext cx="8839200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>
                <a:latin typeface="Georgia" panose="02040502050405020303" pitchFamily="18" charset="0"/>
              </a:rPr>
              <a:t>Controllers</a:t>
            </a:r>
          </a:p>
          <a:p>
            <a:r>
              <a:rPr lang="en-US" sz="1200" dirty="0">
                <a:latin typeface="Georgia" panose="02040502050405020303" pitchFamily="18" charset="0"/>
                <a:hlinkClick r:id="rId2"/>
              </a:rPr>
              <a:t>https://</a:t>
            </a:r>
            <a:r>
              <a:rPr lang="en-US" sz="1200" dirty="0" smtClean="0">
                <a:latin typeface="Georgia" panose="02040502050405020303" pitchFamily="18" charset="0"/>
                <a:hlinkClick r:id="rId2"/>
              </a:rPr>
              <a:t>codeigniter.com/userguide3/general/controllers.html#id1</a:t>
            </a:r>
            <a:endParaRPr lang="en-US" sz="1200" dirty="0" smtClean="0">
              <a:latin typeface="Georgia" panose="02040502050405020303" pitchFamily="18" charset="0"/>
            </a:endParaRPr>
          </a:p>
          <a:p>
            <a:endParaRPr lang="en-US" sz="1500" dirty="0">
              <a:latin typeface="Georgia" panose="02040502050405020303" pitchFamily="18" charset="0"/>
            </a:endParaRPr>
          </a:p>
          <a:p>
            <a:r>
              <a:rPr lang="en-US" sz="1500" b="1" dirty="0">
                <a:latin typeface="Georgia" panose="02040502050405020303" pitchFamily="18" charset="0"/>
              </a:rPr>
              <a:t>URI Routing</a:t>
            </a:r>
          </a:p>
          <a:p>
            <a:r>
              <a:rPr lang="en-US" sz="1200" dirty="0">
                <a:latin typeface="Georgia" panose="02040502050405020303" pitchFamily="18" charset="0"/>
                <a:hlinkClick r:id="rId3"/>
              </a:rPr>
              <a:t>https://</a:t>
            </a:r>
            <a:r>
              <a:rPr lang="en-US" sz="1200" dirty="0" smtClean="0">
                <a:latin typeface="Georgia" panose="02040502050405020303" pitchFamily="18" charset="0"/>
                <a:hlinkClick r:id="rId3"/>
              </a:rPr>
              <a:t>codeigniter.com/userguide3/general/routing.html</a:t>
            </a:r>
            <a:endParaRPr lang="en-US" sz="1200" dirty="0" smtClean="0">
              <a:latin typeface="Georgia" panose="02040502050405020303" pitchFamily="18" charset="0"/>
            </a:endParaRPr>
          </a:p>
          <a:p>
            <a:endParaRPr lang="en-US" sz="1500" dirty="0">
              <a:latin typeface="Georgia" panose="02040502050405020303" pitchFamily="18" charset="0"/>
            </a:endParaRPr>
          </a:p>
          <a:p>
            <a:r>
              <a:rPr lang="en-US" sz="1500" b="1" dirty="0">
                <a:latin typeface="Georgia" panose="02040502050405020303" pitchFamily="18" charset="0"/>
              </a:rPr>
              <a:t>Model View Controller example</a:t>
            </a:r>
          </a:p>
          <a:p>
            <a:r>
              <a:rPr lang="en-US" sz="1200" dirty="0">
                <a:latin typeface="Georgia" panose="02040502050405020303" pitchFamily="18" charset="0"/>
                <a:hlinkClick r:id="rId4"/>
              </a:rPr>
              <a:t>https://</a:t>
            </a:r>
            <a:r>
              <a:rPr lang="en-US" sz="1200" dirty="0" smtClean="0">
                <a:latin typeface="Georgia" panose="02040502050405020303" pitchFamily="18" charset="0"/>
                <a:hlinkClick r:id="rId4"/>
              </a:rPr>
              <a:t>developer.mozilla.org/en-US/docs/Glossary/MVC</a:t>
            </a:r>
            <a:endParaRPr lang="en-US" sz="1200" dirty="0" smtClean="0">
              <a:latin typeface="Georgia" panose="02040502050405020303" pitchFamily="18" charset="0"/>
            </a:endParaRPr>
          </a:p>
          <a:p>
            <a:endParaRPr lang="en-US" sz="1500" dirty="0">
              <a:latin typeface="Georgia" panose="02040502050405020303" pitchFamily="18" charset="0"/>
            </a:endParaRPr>
          </a:p>
          <a:p>
            <a:r>
              <a:rPr lang="en-US" sz="1500" b="1" dirty="0">
                <a:latin typeface="Georgia" panose="02040502050405020303" pitchFamily="18" charset="0"/>
              </a:rPr>
              <a:t>Learn About MVC Architecture</a:t>
            </a:r>
          </a:p>
          <a:p>
            <a:r>
              <a:rPr lang="en-US" sz="1200" dirty="0">
                <a:latin typeface="Georgia" panose="02040502050405020303" pitchFamily="18" charset="0"/>
                <a:hlinkClick r:id="rId5"/>
              </a:rPr>
              <a:t>https://www.c-sharpcorner.com/article/learn-about-mvc-architecture</a:t>
            </a:r>
            <a:r>
              <a:rPr lang="en-US" sz="1200" dirty="0" smtClean="0">
                <a:latin typeface="Georgia" panose="02040502050405020303" pitchFamily="18" charset="0"/>
                <a:hlinkClick r:id="rId5"/>
              </a:rPr>
              <a:t>/</a:t>
            </a:r>
            <a:endParaRPr lang="en-US" sz="1200" dirty="0" smtClean="0">
              <a:latin typeface="Georgia" panose="02040502050405020303" pitchFamily="18" charset="0"/>
            </a:endParaRPr>
          </a:p>
          <a:p>
            <a:endParaRPr lang="en-US" sz="1500" dirty="0">
              <a:latin typeface="Georgia" panose="02040502050405020303" pitchFamily="18" charset="0"/>
            </a:endParaRPr>
          </a:p>
          <a:p>
            <a:r>
              <a:rPr lang="en-US" sz="1500" b="1" dirty="0">
                <a:latin typeface="Georgia" panose="02040502050405020303" pitchFamily="18" charset="0"/>
              </a:rPr>
              <a:t>MVC URL Routing</a:t>
            </a:r>
          </a:p>
          <a:p>
            <a:r>
              <a:rPr lang="en-US" sz="1200" dirty="0">
                <a:latin typeface="Georgia" panose="02040502050405020303" pitchFamily="18" charset="0"/>
                <a:hlinkClick r:id="rId6"/>
              </a:rPr>
              <a:t>https://</a:t>
            </a:r>
            <a:r>
              <a:rPr lang="en-US" sz="1200" dirty="0" smtClean="0">
                <a:latin typeface="Georgia" panose="02040502050405020303" pitchFamily="18" charset="0"/>
                <a:hlinkClick r:id="rId6"/>
              </a:rPr>
              <a:t>sudhersonv.wixsite.com/codeblogs/single-post/2015/05/19/mvc-url-routing</a:t>
            </a:r>
            <a:endParaRPr lang="en-US" sz="1200" dirty="0" smtClean="0">
              <a:latin typeface="Georgia" panose="02040502050405020303" pitchFamily="18" charset="0"/>
            </a:endParaRPr>
          </a:p>
          <a:p>
            <a:endParaRPr lang="en-US" sz="1500" dirty="0">
              <a:latin typeface="Georgia" panose="02040502050405020303" pitchFamily="18" charset="0"/>
            </a:endParaRPr>
          </a:p>
          <a:p>
            <a:r>
              <a:rPr lang="en-US" sz="1500" b="1" dirty="0">
                <a:latin typeface="Georgia" panose="02040502050405020303" pitchFamily="18" charset="0"/>
              </a:rPr>
              <a:t>Model View Controller Pattern – MVC Architecture and Frameworks</a:t>
            </a:r>
          </a:p>
          <a:p>
            <a:r>
              <a:rPr lang="en-US" sz="1200" dirty="0">
                <a:latin typeface="Georgia" panose="02040502050405020303" pitchFamily="18" charset="0"/>
                <a:hlinkClick r:id="rId7"/>
              </a:rPr>
              <a:t>https://www.freecodecamp.org/news/the-model-view-controller-pattern-mvc-architecture-and-frameworks-explained</a:t>
            </a:r>
            <a:r>
              <a:rPr lang="en-US" sz="1200" dirty="0" smtClean="0">
                <a:latin typeface="Georgia" panose="02040502050405020303" pitchFamily="18" charset="0"/>
                <a:hlinkClick r:id="rId7"/>
              </a:rPr>
              <a:t>/</a:t>
            </a:r>
            <a:endParaRPr lang="en-US" sz="1200" dirty="0" smtClean="0">
              <a:latin typeface="Georgia" panose="02040502050405020303" pitchFamily="18" charset="0"/>
            </a:endParaRPr>
          </a:p>
          <a:p>
            <a:endParaRPr lang="en-US" sz="1500" dirty="0">
              <a:latin typeface="Georgia" panose="02040502050405020303" pitchFamily="18" charset="0"/>
            </a:endParaRPr>
          </a:p>
          <a:p>
            <a:r>
              <a:rPr lang="en-US" sz="1500" b="1" dirty="0" err="1" smtClean="0">
                <a:latin typeface="Georgia" panose="02040502050405020303" pitchFamily="18" charset="0"/>
              </a:rPr>
              <a:t>Apa</a:t>
            </a:r>
            <a:r>
              <a:rPr lang="en-US" sz="1500" b="1" dirty="0" smtClean="0">
                <a:latin typeface="Georgia" panose="02040502050405020303" pitchFamily="18" charset="0"/>
              </a:rPr>
              <a:t> </a:t>
            </a:r>
            <a:r>
              <a:rPr lang="en-US" sz="1500" b="1" dirty="0" err="1">
                <a:latin typeface="Georgia" panose="02040502050405020303" pitchFamily="18" charset="0"/>
              </a:rPr>
              <a:t>i</a:t>
            </a:r>
            <a:r>
              <a:rPr lang="en-US" sz="1500" b="1" dirty="0" err="1" smtClean="0">
                <a:latin typeface="Georgia" panose="02040502050405020303" pitchFamily="18" charset="0"/>
              </a:rPr>
              <a:t>tu</a:t>
            </a:r>
            <a:r>
              <a:rPr lang="en-US" sz="1500" b="1" dirty="0" smtClean="0">
                <a:latin typeface="Georgia" panose="02040502050405020303" pitchFamily="18" charset="0"/>
              </a:rPr>
              <a:t> MVC? </a:t>
            </a:r>
            <a:r>
              <a:rPr lang="en-US" sz="1500" b="1" dirty="0" err="1" smtClean="0">
                <a:latin typeface="Georgia" panose="02040502050405020303" pitchFamily="18" charset="0"/>
              </a:rPr>
              <a:t>Mengenal</a:t>
            </a:r>
            <a:r>
              <a:rPr lang="en-US" sz="1500" b="1" dirty="0" smtClean="0">
                <a:latin typeface="Georgia" panose="02040502050405020303" pitchFamily="18" charset="0"/>
              </a:rPr>
              <a:t> </a:t>
            </a:r>
            <a:r>
              <a:rPr lang="en-US" sz="1500" b="1" dirty="0" err="1" smtClean="0">
                <a:latin typeface="Georgia" panose="02040502050405020303" pitchFamily="18" charset="0"/>
              </a:rPr>
              <a:t>Mvc</a:t>
            </a:r>
            <a:r>
              <a:rPr lang="en-US" sz="1500" b="1" dirty="0" smtClean="0">
                <a:latin typeface="Georgia" panose="02040502050405020303" pitchFamily="18" charset="0"/>
              </a:rPr>
              <a:t> (Model View Controller)</a:t>
            </a:r>
          </a:p>
          <a:p>
            <a:r>
              <a:rPr lang="en-US" sz="1200" dirty="0" smtClean="0">
                <a:latin typeface="Georgia" panose="02040502050405020303" pitchFamily="18" charset="0"/>
                <a:hlinkClick r:id="rId8"/>
              </a:rPr>
              <a:t>https</a:t>
            </a:r>
            <a:r>
              <a:rPr lang="en-US" sz="1200" dirty="0">
                <a:latin typeface="Georgia" panose="02040502050405020303" pitchFamily="18" charset="0"/>
                <a:hlinkClick r:id="rId8"/>
              </a:rPr>
              <a:t>://</a:t>
            </a:r>
            <a:r>
              <a:rPr lang="en-US" sz="1200" dirty="0" smtClean="0">
                <a:latin typeface="Georgia" panose="02040502050405020303" pitchFamily="18" charset="0"/>
                <a:hlinkClick r:id="rId8"/>
              </a:rPr>
              <a:t>note-ade.blogspot.com/2020/10/mvc.html</a:t>
            </a:r>
            <a:endParaRPr lang="en-US" sz="1200" dirty="0" smtClean="0">
              <a:latin typeface="Georgia" panose="02040502050405020303" pitchFamily="18" charset="0"/>
            </a:endParaRPr>
          </a:p>
          <a:p>
            <a:endParaRPr lang="en-US" sz="1500" dirty="0">
              <a:latin typeface="Georgia" panose="02040502050405020303" pitchFamily="18" charset="0"/>
            </a:endParaRPr>
          </a:p>
          <a:p>
            <a:r>
              <a:rPr lang="en-US" sz="1500" b="1" dirty="0" err="1">
                <a:latin typeface="Georgia" panose="02040502050405020303" pitchFamily="18" charset="0"/>
              </a:rPr>
              <a:t>Sistem</a:t>
            </a:r>
            <a:r>
              <a:rPr lang="en-US" sz="1500" b="1" dirty="0">
                <a:latin typeface="Georgia" panose="02040502050405020303" pitchFamily="18" charset="0"/>
              </a:rPr>
              <a:t> </a:t>
            </a:r>
            <a:r>
              <a:rPr lang="en-US" sz="1500" b="1" dirty="0" err="1">
                <a:latin typeface="Georgia" panose="02040502050405020303" pitchFamily="18" charset="0"/>
              </a:rPr>
              <a:t>Pemrograman</a:t>
            </a:r>
            <a:r>
              <a:rPr lang="en-US" sz="1500" b="1" dirty="0">
                <a:latin typeface="Georgia" panose="02040502050405020303" pitchFamily="18" charset="0"/>
              </a:rPr>
              <a:t> Model View Controller (MVC)</a:t>
            </a:r>
          </a:p>
          <a:p>
            <a:r>
              <a:rPr lang="en-US" sz="1200" dirty="0">
                <a:latin typeface="Georgia" panose="02040502050405020303" pitchFamily="18" charset="0"/>
                <a:hlinkClick r:id="rId9"/>
              </a:rPr>
              <a:t>https://informatika.uc.ac.id/id/2016/12/sistem-pemrograman-model-view-controller-mvc</a:t>
            </a:r>
            <a:r>
              <a:rPr lang="en-US" sz="1200" dirty="0" smtClean="0">
                <a:latin typeface="Georgia" panose="02040502050405020303" pitchFamily="18" charset="0"/>
                <a:hlinkClick r:id="rId9"/>
              </a:rPr>
              <a:t>/</a:t>
            </a:r>
            <a:endParaRPr lang="en-US" sz="1200" dirty="0" smtClean="0">
              <a:latin typeface="Georgia" panose="02040502050405020303" pitchFamily="18" charset="0"/>
            </a:endParaRPr>
          </a:p>
          <a:p>
            <a:endParaRPr lang="en-US" sz="1500" dirty="0">
              <a:latin typeface="Georgia" panose="02040502050405020303" pitchFamily="18" charset="0"/>
            </a:endParaRPr>
          </a:p>
          <a:p>
            <a:r>
              <a:rPr lang="en-US" sz="1500" b="1" dirty="0">
                <a:latin typeface="Georgia" panose="02040502050405020303" pitchFamily="18" charset="0"/>
              </a:rPr>
              <a:t>A Beginner's guide to Ruby on Rails MVC</a:t>
            </a:r>
          </a:p>
          <a:p>
            <a:r>
              <a:rPr lang="en-US" sz="1200" dirty="0">
                <a:latin typeface="Georgia" panose="02040502050405020303" pitchFamily="18" charset="0"/>
                <a:hlinkClick r:id="rId10"/>
              </a:rPr>
              <a:t>https://</a:t>
            </a:r>
            <a:r>
              <a:rPr lang="en-US" sz="1200" dirty="0" smtClean="0">
                <a:latin typeface="Georgia" panose="02040502050405020303" pitchFamily="18" charset="0"/>
                <a:hlinkClick r:id="rId10"/>
              </a:rPr>
              <a:t>hackernoon.com/beginners-guide-to-ruby-on-rails-mvc-model-view-controller-pattern-4z19196a</a:t>
            </a:r>
            <a:endParaRPr lang="en-US" sz="1200" dirty="0" smtClean="0">
              <a:latin typeface="Georgia" panose="02040502050405020303" pitchFamily="18" charset="0"/>
            </a:endParaRPr>
          </a:p>
          <a:p>
            <a:endParaRPr lang="en-US" sz="12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8614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0" y="2971800"/>
            <a:ext cx="5530215" cy="1035745"/>
          </a:xfrm>
          <a:prstGeom prst="wedgeRoundRectCallout">
            <a:avLst>
              <a:gd name="adj1" fmla="val 51225"/>
              <a:gd name="adj2" fmla="val 132447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solidFill>
                  <a:srgbClr val="30859C"/>
                </a:solidFill>
              </a:rPr>
              <a:t>THANK</a:t>
            </a:r>
            <a:r>
              <a:rPr sz="6000" spc="-355" dirty="0">
                <a:solidFill>
                  <a:srgbClr val="30859C"/>
                </a:solidFill>
              </a:rPr>
              <a:t> </a:t>
            </a:r>
            <a:r>
              <a:rPr sz="6000" spc="-5" dirty="0" smtClean="0">
                <a:solidFill>
                  <a:srgbClr val="30859C"/>
                </a:solidFill>
              </a:rPr>
              <a:t>YOU</a:t>
            </a:r>
            <a:endParaRPr sz="6000" dirty="0"/>
          </a:p>
        </p:txBody>
      </p:sp>
      <p:pic>
        <p:nvPicPr>
          <p:cNvPr id="3" name="Picture 2" descr="Download Free png Photography Person Clip art - thinking clipart png  download - 645 ... - DLPNG.co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6615" y="4476896"/>
            <a:ext cx="1719273" cy="2132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903914" y="76200"/>
            <a:ext cx="802197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0" i="0" u="none" strike="noStrike" kern="1200" cap="all" spc="100" normalizeH="0" baseline="0" noProof="0" dirty="0" smtClean="0">
                <a:ln>
                  <a:noFill/>
                </a:ln>
                <a:solidFill>
                  <a:sysClr val="windowText" lastClr="000000">
                    <a:lumMod val="95000"/>
                    <a:lumOff val="5000"/>
                  </a:sysClr>
                </a:solidFill>
                <a:effectLst/>
                <a:uLnTx/>
                <a:uFillTx/>
                <a:latin typeface="Tw Cen MT Condensed" panose="020B0606020104020203"/>
                <a:ea typeface="+mj-ea"/>
                <a:cs typeface="+mj-cs"/>
              </a:rPr>
              <a:t>END PRESENTATION</a:t>
            </a:r>
            <a:endParaRPr kumimoji="0" lang="en-US" sz="5000" b="0" i="0" u="none" strike="noStrike" kern="1200" cap="all" spc="100" normalizeH="0" baseline="0" noProof="0" dirty="0">
              <a:ln>
                <a:noFill/>
              </a:ln>
              <a:solidFill>
                <a:sysClr val="windowText" lastClr="000000">
                  <a:lumMod val="95000"/>
                  <a:lumOff val="5000"/>
                </a:sysClr>
              </a:solidFill>
              <a:effectLst/>
              <a:uLnTx/>
              <a:uFillTx/>
              <a:latin typeface="Tw Cen MT Condensed" panose="020B0606020104020203"/>
              <a:ea typeface="+mj-ea"/>
              <a:cs typeface="+mj-cs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903913" y="1186434"/>
            <a:ext cx="3041667" cy="670501"/>
            <a:chOff x="1024128" y="2917984"/>
            <a:chExt cx="3041667" cy="670501"/>
          </a:xfrm>
        </p:grpSpPr>
        <p:sp>
          <p:nvSpPr>
            <p:cNvPr id="6" name="Rectangle 5"/>
            <p:cNvSpPr/>
            <p:nvPr/>
          </p:nvSpPr>
          <p:spPr>
            <a:xfrm>
              <a:off x="1024128" y="3188375"/>
              <a:ext cx="225286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457200"/>
              <a:r>
                <a:rPr lang="en-US" sz="2000" dirty="0" smtClean="0">
                  <a:solidFill>
                    <a:prstClr val="black"/>
                  </a:solidFill>
                  <a:latin typeface="Tw Cen MT" panose="020B0602020104020603"/>
                </a:rPr>
                <a:t>Instructor: S – W </a:t>
              </a:r>
              <a:r>
                <a:rPr lang="en-US" sz="2000" dirty="0">
                  <a:solidFill>
                    <a:prstClr val="black"/>
                  </a:solidFill>
                  <a:latin typeface="Tw Cen MT" panose="020B0602020104020603"/>
                </a:rPr>
                <a:t>–</a:t>
              </a:r>
              <a:r>
                <a:rPr lang="en-US" sz="2000" dirty="0" smtClean="0">
                  <a:solidFill>
                    <a:prstClr val="black"/>
                  </a:solidFill>
                  <a:latin typeface="Tw Cen MT" panose="020B0602020104020603"/>
                </a:rPr>
                <a:t> T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024128" y="2917984"/>
              <a:ext cx="304166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457200"/>
              <a:r>
                <a:rPr lang="en-US" sz="2000" dirty="0">
                  <a:solidFill>
                    <a:srgbClr val="FF0000"/>
                  </a:solidFill>
                  <a:latin typeface="Tw Cen MT" panose="020B0602020104020603"/>
                </a:rPr>
                <a:t>Thank you for your attention</a:t>
              </a:r>
            </a:p>
          </p:txBody>
        </p:sp>
      </p:grpSp>
      <p:sp>
        <p:nvSpPr>
          <p:cNvPr id="8" name="Rectangle 7"/>
          <p:cNvSpPr/>
          <p:nvPr/>
        </p:nvSpPr>
        <p:spPr>
          <a:xfrm>
            <a:off x="470335" y="540135"/>
            <a:ext cx="304599" cy="1316800"/>
          </a:xfrm>
          <a:prstGeom prst="rect">
            <a:avLst/>
          </a:prstGeom>
          <a:solidFill>
            <a:sysClr val="windowText" lastClr="000000"/>
          </a:solidFill>
          <a:ln w="15875" cap="flat" cmpd="sng" algn="ctr">
            <a:solidFill>
              <a:sysClr val="windowText" lastClr="000000">
                <a:shade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Urb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1643</TotalTime>
  <Words>1401</Words>
  <Application>Microsoft Office PowerPoint</Application>
  <PresentationFormat>On-screen Show (4:3)</PresentationFormat>
  <Paragraphs>192</Paragraphs>
  <Slides>44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44</vt:i4>
      </vt:variant>
    </vt:vector>
  </HeadingPairs>
  <TitlesOfParts>
    <vt:vector size="59" baseType="lpstr">
      <vt:lpstr>Bookman Uralic</vt:lpstr>
      <vt:lpstr>Carlito</vt:lpstr>
      <vt:lpstr>PMingLiU</vt:lpstr>
      <vt:lpstr>Arial</vt:lpstr>
      <vt:lpstr>Calibri</vt:lpstr>
      <vt:lpstr>Georgia</vt:lpstr>
      <vt:lpstr>Tahoma</vt:lpstr>
      <vt:lpstr>Times New Roman</vt:lpstr>
      <vt:lpstr>Trebuchet MS</vt:lpstr>
      <vt:lpstr>Tw Cen MT</vt:lpstr>
      <vt:lpstr>Tw Cen MT Condensed</vt:lpstr>
      <vt:lpstr>Wingdings 2</vt:lpstr>
      <vt:lpstr>Office Theme</vt:lpstr>
      <vt:lpstr>Urban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NL</dc:creator>
  <cp:lastModifiedBy>NL</cp:lastModifiedBy>
  <cp:revision>223</cp:revision>
  <dcterms:created xsi:type="dcterms:W3CDTF">2021-03-23T22:28:06Z</dcterms:created>
  <dcterms:modified xsi:type="dcterms:W3CDTF">2021-06-15T12:52:12Z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2018-01-22T00:00:00Z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2021-03-23T00:00:00Z</vt:filetime>
  </property>
</Properties>
</file>