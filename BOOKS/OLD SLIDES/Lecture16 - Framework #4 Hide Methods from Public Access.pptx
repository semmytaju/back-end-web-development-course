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  <p:sldMasterId id="2147483678" r:id="rId3"/>
  </p:sldMasterIdLst>
  <p:notesMasterIdLst>
    <p:notesMasterId r:id="rId29"/>
  </p:notesMasterIdLst>
  <p:sldIdLst>
    <p:sldId id="320" r:id="rId4"/>
    <p:sldId id="321" r:id="rId5"/>
    <p:sldId id="285" r:id="rId6"/>
    <p:sldId id="286" r:id="rId7"/>
    <p:sldId id="302" r:id="rId8"/>
    <p:sldId id="305" r:id="rId9"/>
    <p:sldId id="257" r:id="rId10"/>
    <p:sldId id="306" r:id="rId11"/>
    <p:sldId id="307" r:id="rId12"/>
    <p:sldId id="258" r:id="rId13"/>
    <p:sldId id="296" r:id="rId14"/>
    <p:sldId id="317" r:id="rId15"/>
    <p:sldId id="313" r:id="rId16"/>
    <p:sldId id="318" r:id="rId17"/>
    <p:sldId id="316" r:id="rId18"/>
    <p:sldId id="319" r:id="rId19"/>
    <p:sldId id="315" r:id="rId20"/>
    <p:sldId id="314" r:id="rId21"/>
    <p:sldId id="312" r:id="rId22"/>
    <p:sldId id="311" r:id="rId23"/>
    <p:sldId id="310" r:id="rId24"/>
    <p:sldId id="309" r:id="rId25"/>
    <p:sldId id="303" r:id="rId26"/>
    <p:sldId id="304" r:id="rId27"/>
    <p:sldId id="284" r:id="rId28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441" autoAdjust="0"/>
  </p:normalViewPr>
  <p:slideViewPr>
    <p:cSldViewPr>
      <p:cViewPr varScale="1">
        <p:scale>
          <a:sx n="70" d="100"/>
          <a:sy n="70" d="100"/>
        </p:scale>
        <p:origin x="1302" y="5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presProps" Target="presProps.xml"/><Relationship Id="rId8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4A8E67-C31F-4B3F-AE22-4E6EEE62189F}" type="datetimeFigureOut">
              <a:rPr lang="en-US" smtClean="0"/>
              <a:t>3/15/2022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6D6AE2-3021-4755-9483-33FED85582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410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Hidup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yang </a:t>
            </a:r>
            <a:r>
              <a:rPr lang="en-US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Mengandalkan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Tuhan</a:t>
            </a:r>
            <a:endParaRPr lang="en-US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dirty="0" smtClean="0"/>
              <a:t>https://gbtkristuspelepas.org/hidup-yang-mengandalkan-tuhan-yer-175-8/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F888058-3C18-4172-AB88-11269E84D87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51931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81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r" defTabSz="9318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5640802-FA98-427B-B9DA-D5CD3C58A5EC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pPr marL="0" marR="0" lvl="0" indent="0" algn="r" defTabSz="9318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19908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https://codeigniter.com/userguide3/general/controllers.html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6D6AE2-3021-4755-9483-33FED855821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50965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3/15/2022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00AF5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5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3/15/2022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00AF5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3/15/2022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00AF5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3/15/2022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72843" y="1078991"/>
            <a:ext cx="8066537" cy="32575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3/15/2022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 flipV="1">
            <a:off x="5410200" y="3810000"/>
            <a:ext cx="3733800" cy="904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 flipV="1">
            <a:off x="5410200" y="3897313"/>
            <a:ext cx="3733800" cy="19208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 flipV="1">
            <a:off x="5410200" y="4114800"/>
            <a:ext cx="3733800" cy="9525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5410200" y="4164013"/>
            <a:ext cx="1965325" cy="19050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Rectangle 9"/>
          <p:cNvSpPr/>
          <p:nvPr/>
        </p:nvSpPr>
        <p:spPr>
          <a:xfrm flipV="1">
            <a:off x="5410200" y="4198938"/>
            <a:ext cx="1965325" cy="9525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11" name="Rounded Rectangle 10"/>
          <p:cNvSpPr/>
          <p:nvPr/>
        </p:nvSpPr>
        <p:spPr bwMode="white">
          <a:xfrm>
            <a:off x="5410200" y="3962400"/>
            <a:ext cx="3063875" cy="26988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12" name="Rounded Rectangle 11"/>
          <p:cNvSpPr/>
          <p:nvPr/>
        </p:nvSpPr>
        <p:spPr bwMode="white">
          <a:xfrm>
            <a:off x="7377113" y="4060825"/>
            <a:ext cx="1600200" cy="36513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0" y="3649663"/>
            <a:ext cx="9144000" cy="24447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0" y="3675063"/>
            <a:ext cx="9144000" cy="1412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Rectangle 14"/>
          <p:cNvSpPr/>
          <p:nvPr/>
        </p:nvSpPr>
        <p:spPr>
          <a:xfrm flipV="1">
            <a:off x="6413500" y="3643313"/>
            <a:ext cx="2730500" cy="2476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9144000" cy="370205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7" name="Date Placeholder 27"/>
          <p:cNvSpPr>
            <a:spLocks noGrp="1"/>
          </p:cNvSpPr>
          <p:nvPr>
            <p:ph type="dt" sz="half" idx="10"/>
          </p:nvPr>
        </p:nvSpPr>
        <p:spPr>
          <a:xfrm>
            <a:off x="6705600" y="4206875"/>
            <a:ext cx="960438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7A5911-318A-42B0-BD23-6D9EB7D0CA04}" type="datetimeFigureOut">
              <a:rPr lang="en-US"/>
              <a:pPr>
                <a:defRPr/>
              </a:pPr>
              <a:t>3/15/2022</a:t>
            </a:fld>
            <a:endParaRPr lang="en-US"/>
          </a:p>
        </p:txBody>
      </p:sp>
      <p:sp>
        <p:nvSpPr>
          <p:cNvPr id="18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20088" y="1588"/>
            <a:ext cx="747712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4458D9D-7997-48C9-9AC8-3F90B58B8F5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44431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4A82B4-6618-4215-93D9-CEB563386B8B}" type="datetimeFigureOut">
              <a:rPr lang="en-US"/>
              <a:pPr>
                <a:defRPr/>
              </a:pPr>
              <a:t>3/15/2022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7DC8DC-866E-4B93-B469-7F06B822183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62998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CF3936-C19B-44C7-9907-C0E7C284152D}" type="datetimeFigureOut">
              <a:rPr lang="en-US"/>
              <a:pPr>
                <a:defRPr/>
              </a:pPr>
              <a:t>3/15/2022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D50082-0BCC-45F0-8D95-A24D80F2B49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5859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314A90-AFC1-4E63-8122-57311A38DF42}" type="datetimeFigureOut">
              <a:rPr lang="en-US"/>
              <a:pPr>
                <a:defRPr/>
              </a:pPr>
              <a:t>3/15/2022</a:t>
            </a:fld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78D1BD-67A6-4741-9925-0FDB9D00201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62786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/>
          <a:lstStyle>
            <a:lvl1pPr>
              <a:defRPr sz="4000" b="0" i="0" cap="none"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7A2782CB-796F-4B39-B3A1-A580BB814B6D}" type="datetimeFigureOut">
              <a:rPr lang="en-US"/>
              <a:pPr>
                <a:defRPr/>
              </a:pPr>
              <a:t>3/15/2022</a:t>
            </a:fld>
            <a:endParaRPr lang="en-US"/>
          </a:p>
        </p:txBody>
      </p:sp>
      <p:sp>
        <p:nvSpPr>
          <p:cNvPr id="8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2235CFA-2E95-41A8-BAE8-E6B82C409E5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706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83363" y="612775"/>
            <a:ext cx="957262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89DFEC-1725-49C8-B349-7936A7B6C619}" type="datetimeFigureOut">
              <a:rPr lang="en-US"/>
              <a:pPr>
                <a:defRPr/>
              </a:pPr>
              <a:t>3/15/2022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7C593E-29F5-4DB5-AA21-09B3E16427D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386860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C4EACB-F0B1-430E-814E-618E1FB95B3F}" type="datetimeFigureOut">
              <a:rPr lang="en-US"/>
              <a:pPr>
                <a:defRPr/>
              </a:pPr>
              <a:t>3/15/2022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62F2B9-77ED-4645-81E1-35508EBB26E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49780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F83054-3FDA-4EA6-BDCD-F6F20A348F07}" type="datetimeFigureOut">
              <a:rPr lang="en-US"/>
              <a:pPr>
                <a:defRPr/>
              </a:pPr>
              <a:t>3/15/2022</a:t>
            </a:fld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4040EC-DEFE-48A7-8B41-72679CFEB6E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0578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3B4C38-6B7A-4435-A3AF-075D8A2102F3}" type="datetimeFigureOut">
              <a:rPr lang="en-US"/>
              <a:pPr>
                <a:defRPr/>
              </a:pPr>
              <a:t>3/15/2022</a:t>
            </a:fld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95D01F-80C4-4EF3-9C3E-4AB2D853C16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79253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F07E67-5493-4B92-9FD9-CEF01D49F27C}" type="datetimeFigureOut">
              <a:rPr lang="en-US"/>
              <a:pPr>
                <a:defRPr/>
              </a:pPr>
              <a:t>3/15/2022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CC2162-9904-4CE2-ADF7-C5DB601A180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25030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37261E-68CB-4B7F-AB36-DC4916C10FE0}" type="datetimeFigureOut">
              <a:rPr lang="en-US"/>
              <a:pPr>
                <a:defRPr/>
              </a:pPr>
              <a:t>3/15/2022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2EC959-A47F-459F-8D4B-AA4F723E346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051712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400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3/15/2022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149026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23545" y="3648456"/>
            <a:ext cx="7296911" cy="492481"/>
          </a:xfrm>
        </p:spPr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Bookman Uralic"/>
                <a:cs typeface="Bookman Ural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44041" y="2828671"/>
            <a:ext cx="5455919" cy="400148"/>
          </a:xfrm>
        </p:spPr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3/15/2022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302435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23545" y="3648456"/>
            <a:ext cx="7296911" cy="492481"/>
          </a:xfrm>
        </p:spPr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Bookman Uralic"/>
                <a:cs typeface="Bookman Ural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00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00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3/15/2022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802377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23545" y="3648456"/>
            <a:ext cx="7296911" cy="492481"/>
          </a:xfrm>
        </p:spPr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Bookman Uralic"/>
                <a:cs typeface="Bookman Ural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3/15/2022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418997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3/15/2022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6634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42769" y="484758"/>
            <a:ext cx="4458461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00AF5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49426" y="3362909"/>
            <a:ext cx="6645147" cy="20218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3/15/2022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0" y="366713"/>
            <a:ext cx="9144000" cy="8413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0" y="0"/>
            <a:ext cx="9144000" cy="31115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0" y="307975"/>
            <a:ext cx="9144000" cy="92075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1" name="Rectangle 30"/>
          <p:cNvSpPr/>
          <p:nvPr/>
        </p:nvSpPr>
        <p:spPr>
          <a:xfrm flipV="1">
            <a:off x="5410200" y="360363"/>
            <a:ext cx="3733800" cy="904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2" name="Rectangle 31"/>
          <p:cNvSpPr/>
          <p:nvPr/>
        </p:nvSpPr>
        <p:spPr>
          <a:xfrm flipV="1">
            <a:off x="5410200" y="439738"/>
            <a:ext cx="3733800" cy="18097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5407025" y="496888"/>
            <a:ext cx="3063875" cy="28575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7373938" y="588963"/>
            <a:ext cx="1600200" cy="3651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5" name="Rectangle 34"/>
          <p:cNvSpPr/>
          <p:nvPr/>
        </p:nvSpPr>
        <p:spPr bwMode="invGray">
          <a:xfrm>
            <a:off x="9085263" y="-1588"/>
            <a:ext cx="57150" cy="620713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9043988" y="-1588"/>
            <a:ext cx="28575" cy="620713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9024938" y="-1588"/>
            <a:ext cx="9525" cy="620713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8" name="Rectangle 37"/>
          <p:cNvSpPr/>
          <p:nvPr/>
        </p:nvSpPr>
        <p:spPr bwMode="invGray">
          <a:xfrm>
            <a:off x="8975725" y="-1588"/>
            <a:ext cx="26988" cy="620713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9" name="Rectangle 38"/>
          <p:cNvSpPr/>
          <p:nvPr/>
        </p:nvSpPr>
        <p:spPr bwMode="invGray">
          <a:xfrm>
            <a:off x="8915400" y="0"/>
            <a:ext cx="55563" cy="585788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0" name="Rectangle 39"/>
          <p:cNvSpPr/>
          <p:nvPr/>
        </p:nvSpPr>
        <p:spPr bwMode="invGray">
          <a:xfrm>
            <a:off x="8874125" y="0"/>
            <a:ext cx="7938" cy="585788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207" name="Title Placeholder 21"/>
          <p:cNvSpPr>
            <a:spLocks noGrp="1"/>
          </p:cNvSpPr>
          <p:nvPr>
            <p:ph type="title"/>
          </p:nvPr>
        </p:nvSpPr>
        <p:spPr bwMode="auto"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8208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457200" y="2249488"/>
            <a:ext cx="8229600" cy="432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586538" y="612775"/>
            <a:ext cx="957262" cy="457200"/>
          </a:xfrm>
          <a:prstGeom prst="rect">
            <a:avLst/>
          </a:prstGeom>
        </p:spPr>
        <p:txBody>
          <a:bodyPr vert="horz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800">
                <a:solidFill>
                  <a:schemeClr val="accent2"/>
                </a:solidFill>
                <a:latin typeface="+mn-lt"/>
              </a:defRPr>
            </a:lvl1pPr>
          </a:lstStyle>
          <a:p>
            <a:pPr>
              <a:defRPr/>
            </a:pPr>
            <a:fld id="{076F8D71-EA83-45CB-9292-976A9C8DA0C3}" type="datetimeFigureOut">
              <a:rPr lang="en-US"/>
              <a:pPr>
                <a:defRPr/>
              </a:pPr>
              <a:t>3/15/2022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257800" y="612775"/>
            <a:ext cx="1325563" cy="457200"/>
          </a:xfrm>
          <a:prstGeom prst="rect">
            <a:avLst/>
          </a:prstGeom>
        </p:spPr>
        <p:txBody>
          <a:bodyPr vert="horz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800">
                <a:solidFill>
                  <a:schemeClr val="accent2"/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74038" y="1588"/>
            <a:ext cx="762000" cy="36671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>
                <a:solidFill>
                  <a:srgbClr val="FFFFFF"/>
                </a:solidFill>
                <a:latin typeface="Georgia" panose="02040502050405020303" pitchFamily="18" charset="0"/>
              </a:defRPr>
            </a:lvl1pPr>
          </a:lstStyle>
          <a:p>
            <a:fld id="{C36EDDF5-661D-4F0D-A8FC-08CDEA6AF9C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3112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9pPr>
    </p:titleStyle>
    <p:bodyStyle>
      <a:lvl1pPr marL="365125" indent="-255588" algn="l" rtl="0" eaLnBrk="0" fontAlgn="base" hangingPunct="0">
        <a:spcBef>
          <a:spcPts val="300"/>
        </a:spcBef>
        <a:spcAft>
          <a:spcPct val="0"/>
        </a:spcAft>
        <a:buClr>
          <a:srgbClr val="9BBB59"/>
        </a:buClr>
        <a:buFont typeface="Georgia" panose="02040502050405020303" pitchFamily="18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7225" indent="-246063" algn="l" rtl="0" eaLnBrk="0" fontAlgn="base" hangingPunct="0">
        <a:spcBef>
          <a:spcPts val="300"/>
        </a:spcBef>
        <a:spcAft>
          <a:spcPct val="0"/>
        </a:spcAft>
        <a:buClr>
          <a:schemeClr val="accent2"/>
        </a:buClr>
        <a:buFont typeface="Georgia" panose="02040502050405020303" pitchFamily="18" charset="0"/>
        <a:buChar char="▫"/>
        <a:defRPr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2338" indent="-219075" algn="l" rtl="0" eaLnBrk="0" fontAlgn="base" hangingPunct="0">
        <a:spcBef>
          <a:spcPts val="300"/>
        </a:spcBef>
        <a:spcAft>
          <a:spcPct val="0"/>
        </a:spcAft>
        <a:buClr>
          <a:schemeClr val="accent1"/>
        </a:buClr>
        <a:buFont typeface="Wingdings 2" panose="05020102010507070707" pitchFamily="18" charset="2"/>
        <a:buChar char=""/>
        <a:defRPr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13" indent="-200025" algn="l" rtl="0" eaLnBrk="0" fontAlgn="base" hangingPunct="0">
        <a:spcBef>
          <a:spcPts val="300"/>
        </a:spcBef>
        <a:spcAft>
          <a:spcPct val="0"/>
        </a:spcAft>
        <a:buClr>
          <a:schemeClr val="accent1"/>
        </a:buClr>
        <a:buFont typeface="Wingdings 2" panose="05020102010507070707" pitchFamily="18" charset="2"/>
        <a:buChar char=""/>
        <a:defRPr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063" indent="-182563" algn="l" rtl="0" eaLnBrk="0" fontAlgn="base" hangingPunct="0">
        <a:spcBef>
          <a:spcPts val="300"/>
        </a:spcBef>
        <a:spcAft>
          <a:spcPct val="0"/>
        </a:spcAft>
        <a:buClr>
          <a:srgbClr val="9BBB59"/>
        </a:buClr>
        <a:buFont typeface="Georgia" panose="02040502050405020303" pitchFamily="18" charset="0"/>
        <a:buChar char="▫"/>
        <a:defRPr sz="2000" kern="1200">
          <a:solidFill>
            <a:srgbClr val="9BBB59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23545" y="3648455"/>
            <a:ext cx="7296911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Bookman Uralic"/>
                <a:cs typeface="Bookman Ural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44041" y="2828670"/>
            <a:ext cx="5455919" cy="400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4151" y="5726336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3/15/2022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71047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196">
        <a:defRPr>
          <a:latin typeface="+mn-lt"/>
          <a:ea typeface="+mn-ea"/>
          <a:cs typeface="+mn-cs"/>
        </a:defRPr>
      </a:lvl2pPr>
      <a:lvl3pPr marL="914391">
        <a:defRPr>
          <a:latin typeface="+mn-lt"/>
          <a:ea typeface="+mn-ea"/>
          <a:cs typeface="+mn-cs"/>
        </a:defRPr>
      </a:lvl3pPr>
      <a:lvl4pPr marL="1371587">
        <a:defRPr>
          <a:latin typeface="+mn-lt"/>
          <a:ea typeface="+mn-ea"/>
          <a:cs typeface="+mn-cs"/>
        </a:defRPr>
      </a:lvl4pPr>
      <a:lvl5pPr marL="1828782">
        <a:defRPr>
          <a:latin typeface="+mn-lt"/>
          <a:ea typeface="+mn-ea"/>
          <a:cs typeface="+mn-cs"/>
        </a:defRPr>
      </a:lvl5pPr>
      <a:lvl6pPr marL="2285978">
        <a:defRPr>
          <a:latin typeface="+mn-lt"/>
          <a:ea typeface="+mn-ea"/>
          <a:cs typeface="+mn-cs"/>
        </a:defRPr>
      </a:lvl6pPr>
      <a:lvl7pPr marL="2743173">
        <a:defRPr>
          <a:latin typeface="+mn-lt"/>
          <a:ea typeface="+mn-ea"/>
          <a:cs typeface="+mn-cs"/>
        </a:defRPr>
      </a:lvl7pPr>
      <a:lvl8pPr marL="3200368">
        <a:defRPr>
          <a:latin typeface="+mn-lt"/>
          <a:ea typeface="+mn-ea"/>
          <a:cs typeface="+mn-cs"/>
        </a:defRPr>
      </a:lvl8pPr>
      <a:lvl9pPr marL="3657563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196">
        <a:defRPr>
          <a:latin typeface="+mn-lt"/>
          <a:ea typeface="+mn-ea"/>
          <a:cs typeface="+mn-cs"/>
        </a:defRPr>
      </a:lvl2pPr>
      <a:lvl3pPr marL="914391">
        <a:defRPr>
          <a:latin typeface="+mn-lt"/>
          <a:ea typeface="+mn-ea"/>
          <a:cs typeface="+mn-cs"/>
        </a:defRPr>
      </a:lvl3pPr>
      <a:lvl4pPr marL="1371587">
        <a:defRPr>
          <a:latin typeface="+mn-lt"/>
          <a:ea typeface="+mn-ea"/>
          <a:cs typeface="+mn-cs"/>
        </a:defRPr>
      </a:lvl4pPr>
      <a:lvl5pPr marL="1828782">
        <a:defRPr>
          <a:latin typeface="+mn-lt"/>
          <a:ea typeface="+mn-ea"/>
          <a:cs typeface="+mn-cs"/>
        </a:defRPr>
      </a:lvl5pPr>
      <a:lvl6pPr marL="2285978">
        <a:defRPr>
          <a:latin typeface="+mn-lt"/>
          <a:ea typeface="+mn-ea"/>
          <a:cs typeface="+mn-cs"/>
        </a:defRPr>
      </a:lvl6pPr>
      <a:lvl7pPr marL="2743173">
        <a:defRPr>
          <a:latin typeface="+mn-lt"/>
          <a:ea typeface="+mn-ea"/>
          <a:cs typeface="+mn-cs"/>
        </a:defRPr>
      </a:lvl7pPr>
      <a:lvl8pPr marL="3200368">
        <a:defRPr>
          <a:latin typeface="+mn-lt"/>
          <a:ea typeface="+mn-ea"/>
          <a:cs typeface="+mn-cs"/>
        </a:defRPr>
      </a:lvl8pPr>
      <a:lvl9pPr marL="3657563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localhost/lecture13/aimvc/public/class/method/param1/param2/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igniter.com/userguide3/general/controllers.html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4495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90500" y="4724400"/>
            <a:ext cx="8763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Harapan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adalah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bentuk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dasar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dari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kepercayaan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akan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sesuatu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yang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diinginkan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akan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didapatkan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atau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suatu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kejadian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akan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berbuah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kebaikan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di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waktu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yang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akan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datang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HARAPAN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adalah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apa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yang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Tuhan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inginkan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terjadi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sedangkan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IMPIAN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adalah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apa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yang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kita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inginkan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terjadi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76857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1371600"/>
            <a:ext cx="8305800" cy="43704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Bagaimana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caranya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hidup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mengandalkan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Tuhan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? </a:t>
            </a:r>
            <a:endParaRPr kumimoji="0" lang="en-US" sz="2000" b="1" i="0" u="none" strike="noStrike" kern="1200" cap="none" spc="0" normalizeH="0" baseline="0" noProof="0" dirty="0" smtClean="0">
              <a:ln>
                <a:noFill/>
              </a:ln>
              <a:solidFill>
                <a:srgbClr val="0A0A0A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srgbClr val="0A0A0A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1" u="none" strike="noStrike" kern="1200" cap="none" spc="0" normalizeH="0" baseline="0" noProof="0" dirty="0" err="1" smtClean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Pertama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Jangan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pernah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menggantikan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/>
            </a:r>
            <a:b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- </a:t>
            </a:r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SUMBER DAYA </a:t>
            </a:r>
            <a:r>
              <a:rPr kumimoji="0" lang="en-US" sz="20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rohani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yang </a:t>
            </a:r>
            <a:r>
              <a:rPr kumimoji="0" lang="en-US" sz="2000" b="0" i="1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tak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2000" b="0" i="1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terbatas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dengan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/>
            </a:r>
            <a:b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-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sumber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daya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2000" b="0" i="1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duniawi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(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yang </a:t>
            </a:r>
            <a:r>
              <a:rPr kumimoji="0" lang="en-US" sz="2000" b="0" i="1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terbatas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 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baca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: 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Ef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 6:13-18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). 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rgbClr val="0A0A0A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1" u="none" strike="noStrike" kern="1200" cap="none" spc="0" normalizeH="0" baseline="0" noProof="0" dirty="0">
              <a:ln>
                <a:noFill/>
              </a:ln>
              <a:solidFill>
                <a:srgbClr val="0A0A0A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1" u="none" strike="noStrike" kern="1200" cap="none" spc="0" normalizeH="0" baseline="0" noProof="0" dirty="0" err="1" smtClean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Kedua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BERUSAHA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lah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semaksimal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mungkin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tetapi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serahkanlah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hasilnya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pada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Tuhan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Mengandalkan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Tuhan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bukan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berarti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meniadakan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usaha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namun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berusaha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dengan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cara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pandang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bahwa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Tuhanlah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yang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berdaulat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(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Ayb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 42:2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). 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rgbClr val="0A0A0A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1" u="none" strike="noStrike" kern="1200" cap="none" spc="0" normalizeH="0" baseline="0" noProof="0" dirty="0">
              <a:ln>
                <a:noFill/>
              </a:ln>
              <a:solidFill>
                <a:srgbClr val="0A0A0A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1" u="none" strike="noStrike" kern="1200" cap="none" spc="0" normalizeH="0" baseline="0" noProof="0" dirty="0" err="1" smtClean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Ketiga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TAAT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lah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pada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pimpinan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Tuhan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Mintalah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kekuatan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pada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Kristus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yang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terlebih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dulu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“</a:t>
            </a:r>
            <a:r>
              <a:rPr kumimoji="0" lang="en-US" sz="2000" b="0" i="1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taat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2000" b="0" i="1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sampai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2000" b="0" i="1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mati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di </a:t>
            </a:r>
            <a:r>
              <a:rPr kumimoji="0" lang="en-US" sz="2000" b="0" i="1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kayu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2000" b="0" i="1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salib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” demi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menebus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dosa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kita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(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Flp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 2:8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). 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Amin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9857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444" b="-2"/>
          <a:stretch>
            <a:fillRect/>
          </a:stretch>
        </p:blipFill>
        <p:spPr bwMode="auto">
          <a:xfrm>
            <a:off x="0" y="-44068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/>
        </p:nvSpPr>
        <p:spPr>
          <a:xfrm>
            <a:off x="3276600" y="3308350"/>
            <a:ext cx="5867400" cy="1819275"/>
          </a:xfrm>
          <a:prstGeom prst="rect">
            <a:avLst/>
          </a:prstGeom>
          <a:solidFill>
            <a:schemeClr val="dk1">
              <a:alpha val="42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grpSp>
        <p:nvGrpSpPr>
          <p:cNvPr id="7172" name="Group 8"/>
          <p:cNvGrpSpPr>
            <a:grpSpLocks/>
          </p:cNvGrpSpPr>
          <p:nvPr/>
        </p:nvGrpSpPr>
        <p:grpSpPr bwMode="auto">
          <a:xfrm>
            <a:off x="3428998" y="3429001"/>
            <a:ext cx="5638798" cy="1490376"/>
            <a:chOff x="4966856" y="5954268"/>
            <a:chExt cx="4100945" cy="1258675"/>
          </a:xfrm>
        </p:grpSpPr>
        <p:sp>
          <p:nvSpPr>
            <p:cNvPr id="4" name="Rectangle 3"/>
            <p:cNvSpPr/>
            <p:nvPr/>
          </p:nvSpPr>
          <p:spPr>
            <a:xfrm>
              <a:off x="4966856" y="5954268"/>
              <a:ext cx="4052205" cy="492038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Fakultas</a:t>
              </a:r>
              <a:r>
                <a:rPr kumimoji="0" 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 </a:t>
              </a:r>
              <a:r>
                <a:rPr kumimoji="0" lang="en-US" sz="4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Ilmu</a:t>
              </a:r>
              <a:r>
                <a:rPr kumimoji="0" 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 </a:t>
              </a:r>
              <a:r>
                <a:rPr kumimoji="0" lang="en-US" sz="4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Komputer</a:t>
              </a:r>
              <a:endPara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7178" name="TextBox 5"/>
            <p:cNvSpPr txBox="1">
              <a:spLocks noChangeArrowheads="1"/>
            </p:cNvSpPr>
            <p:nvPr/>
          </p:nvSpPr>
          <p:spPr bwMode="auto">
            <a:xfrm>
              <a:off x="5576457" y="6511136"/>
              <a:ext cx="3491344" cy="7018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1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Learning </a:t>
              </a:r>
              <a:r>
                <a:rPr kumimoji="0" lang="en-US" altLang="en-US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is the process of acquiring new understanding, knowledge, behaviors, skills, values, attitudes, and preferences.</a:t>
              </a:r>
              <a:endParaRPr kumimoji="0" lang="en-US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cxnSp>
        <p:nvCxnSpPr>
          <p:cNvPr id="14" name="Straight Connector 13"/>
          <p:cNvCxnSpPr/>
          <p:nvPr/>
        </p:nvCxnSpPr>
        <p:spPr>
          <a:xfrm>
            <a:off x="0" y="5213325"/>
            <a:ext cx="9144000" cy="15875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174" name="Rectangle 1"/>
          <p:cNvSpPr>
            <a:spLocks noChangeArrowheads="1"/>
          </p:cNvSpPr>
          <p:nvPr/>
        </p:nvSpPr>
        <p:spPr bwMode="auto">
          <a:xfrm>
            <a:off x="23446" y="5801380"/>
            <a:ext cx="9144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2800" b="1" dirty="0">
                <a:solidFill>
                  <a:srgbClr val="000000"/>
                </a:solidFill>
                <a:latin typeface="+mn-lt"/>
              </a:rPr>
              <a:t>Hide Methods from Public Access</a:t>
            </a:r>
            <a:endParaRPr kumimoji="0" lang="en-US" altLang="en-US" sz="16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67810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8"/>
          <p:cNvSpPr>
            <a:spLocks noChangeArrowheads="1"/>
          </p:cNvSpPr>
          <p:nvPr/>
        </p:nvSpPr>
        <p:spPr bwMode="auto">
          <a:xfrm>
            <a:off x="609600" y="4724400"/>
            <a:ext cx="79248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27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lvl="0" algn="ctr" fontAlgn="base">
              <a:spcBef>
                <a:spcPts val="2388"/>
              </a:spcBef>
              <a:spcAft>
                <a:spcPct val="0"/>
              </a:spcAft>
              <a:defRPr/>
            </a:pPr>
            <a:r>
              <a:rPr lang="en-US" sz="3600" b="1" dirty="0">
                <a:solidFill>
                  <a:srgbClr val="1F497D">
                    <a:satMod val="200000"/>
                  </a:srgbClr>
                </a:solidFill>
                <a:latin typeface="+mn-lt"/>
              </a:rPr>
              <a:t>Welcome to the </a:t>
            </a:r>
            <a:r>
              <a:rPr lang="en-US" sz="3600" b="1" dirty="0" smtClean="0">
                <a:solidFill>
                  <a:srgbClr val="1F497D">
                    <a:satMod val="200000"/>
                  </a:srgbClr>
                </a:solidFill>
                <a:latin typeface="+mn-lt"/>
              </a:rPr>
              <a:t>Framework Programming </a:t>
            </a:r>
            <a:r>
              <a:rPr lang="en-US" sz="3600" b="1" i="1" dirty="0">
                <a:solidFill>
                  <a:srgbClr val="1F497D">
                    <a:satMod val="200000"/>
                  </a:srgbClr>
                </a:solidFill>
                <a:latin typeface="+mn-lt"/>
              </a:rPr>
              <a:t>course</a:t>
            </a:r>
            <a:endParaRPr kumimoji="0" lang="en-US" altLang="en-US" sz="3600" b="1" i="1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PMingLiU"/>
              <a:cs typeface="PMingLiU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11113" y="3789040"/>
            <a:ext cx="9132887" cy="20960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0245" name="Picture 2" descr="Teens and Technology – Cavalier Chronic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3703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2604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200400"/>
            <a:ext cx="9144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1 - </a:t>
            </a:r>
            <a:r>
              <a:rPr lang="en-US" sz="4000" dirty="0" smtClean="0">
                <a:solidFill>
                  <a:prstClr val="black"/>
                </a:solidFill>
              </a:rPr>
              <a:t>Pass </a:t>
            </a:r>
            <a:r>
              <a:rPr lang="en-US" sz="4000" dirty="0">
                <a:solidFill>
                  <a:prstClr val="black"/>
                </a:solidFill>
              </a:rPr>
              <a:t>the value </a:t>
            </a:r>
            <a:r>
              <a:rPr lang="en-US" sz="4000" dirty="0" smtClean="0">
                <a:solidFill>
                  <a:prstClr val="black"/>
                </a:solidFill>
              </a:rPr>
              <a:t>via URL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pic>
        <p:nvPicPr>
          <p:cNvPr id="3074" name="Picture 2" descr="Fresh Green Leaves Header On White Background Stock Photo, Picture And  Royalty Free Image. Image 78250847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312"/>
          <a:stretch/>
        </p:blipFill>
        <p:spPr bwMode="auto">
          <a:xfrm>
            <a:off x="0" y="0"/>
            <a:ext cx="91440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Fresh Green Leaves Header On White Background Stock Photo, Picture And  Royalty Free Image. Image 78250847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312"/>
          <a:stretch/>
        </p:blipFill>
        <p:spPr bwMode="auto">
          <a:xfrm rot="10800000">
            <a:off x="0" y="4419600"/>
            <a:ext cx="91440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4977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219202"/>
            <a:ext cx="8839200" cy="5213728"/>
          </a:xfrm>
          <a:prstGeom prst="rect">
            <a:avLst/>
          </a:prstGeom>
        </p:spPr>
      </p:pic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9144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dirty="0">
                <a:solidFill>
                  <a:srgbClr val="1F497D"/>
                </a:solidFill>
                <a:latin typeface="Georgia"/>
              </a:rPr>
              <a:t>Handle Input Data from URL</a:t>
            </a:r>
          </a:p>
        </p:txBody>
      </p:sp>
      <p:sp>
        <p:nvSpPr>
          <p:cNvPr id="9" name="Rectangle 8"/>
          <p:cNvSpPr/>
          <p:nvPr/>
        </p:nvSpPr>
        <p:spPr>
          <a:xfrm>
            <a:off x="38560" y="6432929"/>
            <a:ext cx="866935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URL Format</a:t>
            </a: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: 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  <a:hlinkClick r:id="rId4"/>
              </a:rPr>
              <a:t>http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  <a:hlinkClick r:id="rId4"/>
              </a:rPr>
              <a:t>://localhost/lecture13/aimvc/public/class/method/param1/param2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  <a:hlinkClick r:id="rId4"/>
              </a:rPr>
              <a:t>/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10" name="Up Arrow 9"/>
          <p:cNvSpPr/>
          <p:nvPr/>
        </p:nvSpPr>
        <p:spPr>
          <a:xfrm>
            <a:off x="1794831" y="2307116"/>
            <a:ext cx="685800" cy="762000"/>
          </a:xfrm>
          <a:prstGeom prst="up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562894" y="3200400"/>
            <a:ext cx="1149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Controller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12" name="Up Arrow 11"/>
          <p:cNvSpPr/>
          <p:nvPr/>
        </p:nvSpPr>
        <p:spPr>
          <a:xfrm>
            <a:off x="3389232" y="2307116"/>
            <a:ext cx="685800" cy="762000"/>
          </a:xfrm>
          <a:prstGeom prst="up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120863" y="3200400"/>
            <a:ext cx="12225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Method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14" name="Up Arrow 13"/>
          <p:cNvSpPr/>
          <p:nvPr/>
        </p:nvSpPr>
        <p:spPr>
          <a:xfrm>
            <a:off x="4992769" y="2307116"/>
            <a:ext cx="685800" cy="762000"/>
          </a:xfrm>
          <a:prstGeom prst="up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724400" y="3200400"/>
            <a:ext cx="12225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Parameter #1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19" name="Up Arrow 18"/>
          <p:cNvSpPr/>
          <p:nvPr/>
        </p:nvSpPr>
        <p:spPr>
          <a:xfrm>
            <a:off x="6632736" y="2307116"/>
            <a:ext cx="685800" cy="762000"/>
          </a:xfrm>
          <a:prstGeom prst="up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364367" y="3200400"/>
            <a:ext cx="12225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Parameter #2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52558" y="4317992"/>
            <a:ext cx="8241359" cy="892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Our app starts from this directory location: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http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://localhost/lecture13/aimvc/public/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304" y="2708701"/>
            <a:ext cx="8851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Index[0]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743200" y="2696896"/>
            <a:ext cx="8531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Index[1]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343400" y="2696896"/>
            <a:ext cx="8739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Index[2]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984043" y="2707254"/>
            <a:ext cx="8739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Index[3]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56660" y="5304709"/>
            <a:ext cx="80570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This means Controller default (home) and method default (index).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355000" y="2016086"/>
            <a:ext cx="3202572" cy="170753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640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9144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3600" dirty="0" smtClean="0">
                <a:solidFill>
                  <a:srgbClr val="1F497D"/>
                </a:solidFill>
                <a:latin typeface="Georgia"/>
              </a:rPr>
              <a:t>Handle Input Data from Default Method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4166" y="1219200"/>
            <a:ext cx="893743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Georgia" panose="02040502050405020303" pitchFamily="18" charset="0"/>
              </a:rPr>
              <a:t>Default method can be accessed through these URLs: </a:t>
            </a:r>
          </a:p>
          <a:p>
            <a:r>
              <a:rPr lang="en-US" sz="2400" i="1" dirty="0">
                <a:latin typeface="Georgia" panose="02040502050405020303" pitchFamily="18" charset="0"/>
              </a:rPr>
              <a:t>http://localhost/lecture16/aimvc/public/</a:t>
            </a:r>
            <a:r>
              <a:rPr lang="en-US" sz="2400" b="1" i="1" dirty="0">
                <a:solidFill>
                  <a:srgbClr val="FF0000"/>
                </a:solidFill>
                <a:latin typeface="Georgia" panose="02040502050405020303" pitchFamily="18" charset="0"/>
              </a:rPr>
              <a:t>home/index/</a:t>
            </a:r>
          </a:p>
          <a:p>
            <a:r>
              <a:rPr lang="en-US" sz="2400" i="1" dirty="0">
                <a:latin typeface="Georgia" panose="02040502050405020303" pitchFamily="18" charset="0"/>
              </a:rPr>
              <a:t>http://localhost/lecture16/aimvc/public/</a:t>
            </a:r>
            <a:r>
              <a:rPr lang="en-US" sz="2400" b="1" i="1" dirty="0">
                <a:solidFill>
                  <a:srgbClr val="FF0000"/>
                </a:solidFill>
                <a:latin typeface="Georgia" panose="02040502050405020303" pitchFamily="18" charset="0"/>
              </a:rPr>
              <a:t>home/</a:t>
            </a:r>
          </a:p>
          <a:p>
            <a:endParaRPr lang="en-US" b="1" dirty="0" smtClean="0">
              <a:latin typeface="Georgia" panose="02040502050405020303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2362200"/>
            <a:ext cx="8839200" cy="433797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9144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3600" dirty="0" smtClean="0">
                <a:solidFill>
                  <a:srgbClr val="1F497D"/>
                </a:solidFill>
                <a:latin typeface="Georgia"/>
              </a:rPr>
              <a:t>Handle Input Data from Default Method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1" y="1219200"/>
            <a:ext cx="8839200" cy="499903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286000" y="3124200"/>
            <a:ext cx="6019800" cy="108424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ular Callout 6"/>
          <p:cNvSpPr/>
          <p:nvPr/>
        </p:nvSpPr>
        <p:spPr>
          <a:xfrm>
            <a:off x="5295900" y="4360843"/>
            <a:ext cx="3048000" cy="1328023"/>
          </a:xfrm>
          <a:prstGeom prst="wedgeRoundRectCallout">
            <a:avLst>
              <a:gd name="adj1" fmla="val 50010"/>
              <a:gd name="adj2" fmla="val 79921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200" dirty="0">
                <a:latin typeface="Georgia" panose="02040502050405020303" pitchFamily="18" charset="0"/>
              </a:rPr>
              <a:t>PHP Function </a:t>
            </a:r>
            <a:r>
              <a:rPr lang="en-US" sz="1200" dirty="0" smtClean="0">
                <a:latin typeface="Georgia" panose="02040502050405020303" pitchFamily="18" charset="0"/>
              </a:rPr>
              <a:t>Arguments, Information </a:t>
            </a:r>
            <a:r>
              <a:rPr lang="en-US" sz="1200" dirty="0">
                <a:latin typeface="Georgia" panose="02040502050405020303" pitchFamily="18" charset="0"/>
              </a:rPr>
              <a:t>can be passed to functions through arguments. An argument is just like a </a:t>
            </a:r>
            <a:r>
              <a:rPr lang="en-US" sz="1200" dirty="0" smtClean="0">
                <a:latin typeface="Georgia" panose="02040502050405020303" pitchFamily="18" charset="0"/>
              </a:rPr>
              <a:t>variable. Arguments </a:t>
            </a:r>
            <a:r>
              <a:rPr lang="en-US" sz="1200" dirty="0">
                <a:latin typeface="Georgia" panose="02040502050405020303" pitchFamily="18" charset="0"/>
              </a:rPr>
              <a:t>are specified after the function name, inside the parentheses.</a:t>
            </a:r>
          </a:p>
        </p:txBody>
      </p:sp>
      <p:pic>
        <p:nvPicPr>
          <p:cNvPr id="8" name="Picture 7" descr="Download Free png Photography Person Clip art - thinking clipart png  download - 645 ... - DLPNG.com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4210" y="5943600"/>
            <a:ext cx="613421" cy="760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019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9144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3600" dirty="0" smtClean="0">
                <a:solidFill>
                  <a:srgbClr val="1F497D"/>
                </a:solidFill>
                <a:latin typeface="Georgia"/>
              </a:rPr>
              <a:t>Handle Input Data from Default Method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219200"/>
            <a:ext cx="7467600" cy="381392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3625" y="3276600"/>
            <a:ext cx="6657975" cy="340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182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6858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3200" dirty="0" smtClean="0">
                <a:solidFill>
                  <a:srgbClr val="1F497D"/>
                </a:solidFill>
                <a:latin typeface="Georgia"/>
              </a:rPr>
              <a:t>Why Fatal Error?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36" y="990600"/>
            <a:ext cx="8837364" cy="45135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300" y="5581879"/>
            <a:ext cx="89053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 smtClean="0">
                <a:solidFill>
                  <a:srgbClr val="FF0000"/>
                </a:solidFill>
                <a:latin typeface="Georgia" panose="02040502050405020303" pitchFamily="18" charset="0"/>
              </a:rPr>
              <a:t>There’re no default parameters in this method. You may need to remember this, when you create a method with parameters, you should provide the method with default parameters.</a:t>
            </a:r>
            <a:endParaRPr lang="en-US" sz="2000" i="1" dirty="0">
              <a:solidFill>
                <a:srgbClr val="FF0000"/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6858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3200" dirty="0" smtClean="0">
                <a:solidFill>
                  <a:srgbClr val="1F497D"/>
                </a:solidFill>
                <a:latin typeface="Georgia"/>
              </a:rPr>
              <a:t>Default </a:t>
            </a:r>
            <a:r>
              <a:rPr lang="en-US" sz="3200" dirty="0">
                <a:solidFill>
                  <a:srgbClr val="1F497D"/>
                </a:solidFill>
                <a:latin typeface="Georgia"/>
              </a:rPr>
              <a:t>Values for Function Parameters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990600"/>
            <a:ext cx="8077200" cy="420300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209800" y="2819401"/>
            <a:ext cx="5638800" cy="9906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599761" y="3018622"/>
            <a:ext cx="2624769" cy="209320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600" y="4186858"/>
            <a:ext cx="4953000" cy="2529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433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6858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3200" dirty="0" smtClean="0">
                <a:solidFill>
                  <a:srgbClr val="1F497D"/>
                </a:solidFill>
                <a:latin typeface="Georgia"/>
              </a:rPr>
              <a:t>Many Arguments from URL Request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990601"/>
            <a:ext cx="8839200" cy="507991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3870" y="6222916"/>
            <a:ext cx="8763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>
                <a:latin typeface="Georgia" panose="02040502050405020303" pitchFamily="18" charset="0"/>
              </a:rPr>
              <a:t>You can add as many arguments as you want, just separate them with a comma.</a:t>
            </a:r>
          </a:p>
        </p:txBody>
      </p:sp>
      <p:sp>
        <p:nvSpPr>
          <p:cNvPr id="5" name="Rectangle 4"/>
          <p:cNvSpPr/>
          <p:nvPr/>
        </p:nvSpPr>
        <p:spPr>
          <a:xfrm>
            <a:off x="2319969" y="3962400"/>
            <a:ext cx="5843530" cy="12954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470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6858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3200" dirty="0" smtClean="0">
                <a:solidFill>
                  <a:srgbClr val="1F497D"/>
                </a:solidFill>
                <a:latin typeface="Georgia"/>
              </a:rPr>
              <a:t>Many Arguments from URL Request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990599"/>
            <a:ext cx="8839200" cy="455087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0099" y="5695709"/>
            <a:ext cx="8763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 smtClean="0">
                <a:latin typeface="Georgia" panose="02040502050405020303" pitchFamily="18" charset="0"/>
              </a:rPr>
              <a:t>We added three </a:t>
            </a:r>
            <a:r>
              <a:rPr lang="en-US" i="1" dirty="0">
                <a:latin typeface="Georgia" panose="02040502050405020303" pitchFamily="18" charset="0"/>
              </a:rPr>
              <a:t>arguments as </a:t>
            </a:r>
            <a:r>
              <a:rPr lang="en-US" i="1" dirty="0" smtClean="0">
                <a:latin typeface="Georgia" panose="02040502050405020303" pitchFamily="18" charset="0"/>
              </a:rPr>
              <a:t>a parameter input for the method in class controller, we </a:t>
            </a:r>
            <a:r>
              <a:rPr lang="en-US" i="1" dirty="0">
                <a:latin typeface="Georgia" panose="02040502050405020303" pitchFamily="18" charset="0"/>
              </a:rPr>
              <a:t>separate </a:t>
            </a:r>
            <a:r>
              <a:rPr lang="en-US" i="1" dirty="0" smtClean="0">
                <a:latin typeface="Georgia" panose="02040502050405020303" pitchFamily="18" charset="0"/>
              </a:rPr>
              <a:t>data </a:t>
            </a:r>
            <a:r>
              <a:rPr lang="en-US" i="1" dirty="0">
                <a:latin typeface="Georgia" panose="02040502050405020303" pitchFamily="18" charset="0"/>
              </a:rPr>
              <a:t>with a comma.</a:t>
            </a:r>
          </a:p>
        </p:txBody>
      </p:sp>
    </p:spTree>
    <p:extLst>
      <p:ext uri="{BB962C8B-B14F-4D97-AF65-F5344CB8AC3E}">
        <p14:creationId xmlns:p14="http://schemas.microsoft.com/office/powerpoint/2010/main" val="1829751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200400"/>
            <a:ext cx="9144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2 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- </a:t>
            </a:r>
            <a:r>
              <a:rPr lang="en-US" sz="4000" noProof="0" dirty="0" smtClean="0">
                <a:solidFill>
                  <a:prstClr val="black"/>
                </a:solidFill>
              </a:rPr>
              <a:t>P</a:t>
            </a:r>
            <a:r>
              <a:rPr lang="en-US" sz="4000" dirty="0" err="1" smtClean="0">
                <a:solidFill>
                  <a:prstClr val="black"/>
                </a:solidFill>
              </a:rPr>
              <a:t>revent</a:t>
            </a:r>
            <a:r>
              <a:rPr lang="en-US" sz="4000" dirty="0" smtClean="0">
                <a:solidFill>
                  <a:prstClr val="black"/>
                </a:solidFill>
              </a:rPr>
              <a:t> Direct Access Methods</a:t>
            </a:r>
            <a:endParaRPr lang="en-US" sz="4000" dirty="0">
              <a:solidFill>
                <a:prstClr val="black"/>
              </a:solidFill>
            </a:endParaRPr>
          </a:p>
        </p:txBody>
      </p:sp>
      <p:pic>
        <p:nvPicPr>
          <p:cNvPr id="3074" name="Picture 2" descr="Fresh Green Leaves Header On White Background Stock Photo, Picture And  Royalty Free Image. Image 78250847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312"/>
          <a:stretch/>
        </p:blipFill>
        <p:spPr bwMode="auto">
          <a:xfrm>
            <a:off x="0" y="0"/>
            <a:ext cx="91440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Fresh Green Leaves Header On White Background Stock Photo, Picture And  Royalty Free Image. Image 78250847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312"/>
          <a:stretch/>
        </p:blipFill>
        <p:spPr bwMode="auto">
          <a:xfrm rot="10800000">
            <a:off x="0" y="4419600"/>
            <a:ext cx="91440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7438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6858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3200" dirty="0" smtClean="0">
                <a:solidFill>
                  <a:srgbClr val="1F497D"/>
                </a:solidFill>
                <a:latin typeface="Georgia"/>
              </a:rPr>
              <a:t>Controllers in </a:t>
            </a:r>
            <a:r>
              <a:rPr lang="en-US" sz="3200" dirty="0" err="1" smtClean="0">
                <a:solidFill>
                  <a:srgbClr val="1F497D"/>
                </a:solidFill>
                <a:latin typeface="Georgia"/>
              </a:rPr>
              <a:t>CodeIgniter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990600"/>
            <a:ext cx="8839200" cy="4800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9476" y="5943600"/>
            <a:ext cx="877677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1" dirty="0" smtClean="0">
                <a:latin typeface="Georgia" panose="02040502050405020303" pitchFamily="18" charset="0"/>
              </a:rPr>
              <a:t>Link</a:t>
            </a:r>
            <a:r>
              <a:rPr lang="en-US" b="1" dirty="0" smtClean="0">
                <a:latin typeface="Georgia" panose="02040502050405020303" pitchFamily="18" charset="0"/>
              </a:rPr>
              <a:t>: </a:t>
            </a:r>
            <a:r>
              <a:rPr lang="en-US" dirty="0" smtClean="0">
                <a:latin typeface="Georgia" panose="02040502050405020303" pitchFamily="18" charset="0"/>
                <a:hlinkClick r:id="rId3"/>
              </a:rPr>
              <a:t>https</a:t>
            </a:r>
            <a:r>
              <a:rPr lang="en-US" dirty="0">
                <a:latin typeface="Georgia" panose="02040502050405020303" pitchFamily="18" charset="0"/>
                <a:hlinkClick r:id="rId3"/>
              </a:rPr>
              <a:t>://</a:t>
            </a:r>
            <a:r>
              <a:rPr lang="en-US" dirty="0" smtClean="0">
                <a:latin typeface="Georgia" panose="02040502050405020303" pitchFamily="18" charset="0"/>
                <a:hlinkClick r:id="rId3"/>
              </a:rPr>
              <a:t>codeigniter.com/userguide3/general/controllers.html</a:t>
            </a:r>
            <a:endParaRPr lang="en-US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7978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2286000"/>
            <a:ext cx="6058661" cy="2031325"/>
          </a:xfrm>
        </p:spPr>
        <p:txBody>
          <a:bodyPr/>
          <a:lstStyle/>
          <a:p>
            <a:pPr algn="ctr"/>
            <a:r>
              <a:rPr lang="en-US" dirty="0" smtClean="0"/>
              <a:t>How to prevent direct access methods in </a:t>
            </a:r>
            <a:r>
              <a:rPr lang="en-US" i="1" dirty="0" smtClean="0"/>
              <a:t>controller</a:t>
            </a:r>
            <a:r>
              <a:rPr lang="en-US" dirty="0" smtClean="0"/>
              <a:t> class?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49363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6858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3200" dirty="0">
                <a:solidFill>
                  <a:srgbClr val="1F497D"/>
                </a:solidFill>
                <a:latin typeface="Georgia"/>
              </a:rPr>
              <a:t>How to </a:t>
            </a:r>
            <a:r>
              <a:rPr lang="en-US" sz="3200" dirty="0" smtClean="0">
                <a:solidFill>
                  <a:srgbClr val="1F497D"/>
                </a:solidFill>
                <a:latin typeface="Georgia"/>
              </a:rPr>
              <a:t>Prevent Direct Access </a:t>
            </a:r>
            <a:r>
              <a:rPr lang="en-US" sz="3200" dirty="0">
                <a:solidFill>
                  <a:srgbClr val="1F497D"/>
                </a:solidFill>
                <a:latin typeface="Georgia"/>
              </a:rPr>
              <a:t>M</a:t>
            </a:r>
            <a:r>
              <a:rPr lang="en-US" sz="3200" dirty="0" smtClean="0">
                <a:solidFill>
                  <a:srgbClr val="1F497D"/>
                </a:solidFill>
                <a:latin typeface="Georgia"/>
              </a:rPr>
              <a:t>ethods?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219200" y="1447800"/>
            <a:ext cx="64770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00" dirty="0">
                <a:latin typeface="Georgia" panose="02040502050405020303" pitchFamily="18" charset="0"/>
              </a:rPr>
              <a:t>In some cases </a:t>
            </a:r>
            <a:r>
              <a:rPr lang="en-US" sz="2600" dirty="0" smtClean="0">
                <a:latin typeface="Georgia" panose="02040502050405020303" pitchFamily="18" charset="0"/>
              </a:rPr>
              <a:t>we </a:t>
            </a:r>
            <a:r>
              <a:rPr lang="en-US" sz="2600" dirty="0">
                <a:latin typeface="Georgia" panose="02040502050405020303" pitchFamily="18" charset="0"/>
              </a:rPr>
              <a:t>may want certain methods hidden from public </a:t>
            </a:r>
            <a:r>
              <a:rPr lang="en-US" sz="2600" dirty="0" smtClean="0">
                <a:latin typeface="Georgia" panose="02040502050405020303" pitchFamily="18" charset="0"/>
              </a:rPr>
              <a:t>access, so there’s no direct access to a method. </a:t>
            </a:r>
            <a:r>
              <a:rPr lang="en-US" sz="2600" dirty="0">
                <a:latin typeface="Georgia" panose="02040502050405020303" pitchFamily="18" charset="0"/>
              </a:rPr>
              <a:t>In order to achieve this, simply declare the method as being </a:t>
            </a:r>
            <a:r>
              <a:rPr lang="en-US" sz="2600" b="1" i="1" dirty="0">
                <a:latin typeface="Georgia" panose="02040502050405020303" pitchFamily="18" charset="0"/>
              </a:rPr>
              <a:t>private</a:t>
            </a:r>
            <a:r>
              <a:rPr lang="en-US" sz="2600" dirty="0">
                <a:latin typeface="Georgia" panose="02040502050405020303" pitchFamily="18" charset="0"/>
              </a:rPr>
              <a:t> or </a:t>
            </a:r>
            <a:r>
              <a:rPr lang="en-US" sz="2600" b="1" i="1" dirty="0">
                <a:latin typeface="Georgia" panose="02040502050405020303" pitchFamily="18" charset="0"/>
              </a:rPr>
              <a:t>protected</a:t>
            </a:r>
            <a:r>
              <a:rPr lang="en-US" sz="2600" dirty="0">
                <a:latin typeface="Georgia" panose="02040502050405020303" pitchFamily="18" charset="0"/>
              </a:rPr>
              <a:t> and it will not be served via a URL request. </a:t>
            </a:r>
            <a:endParaRPr lang="en-US" sz="2600" dirty="0" smtClean="0">
              <a:latin typeface="Georgia" panose="02040502050405020303" pitchFamily="18" charset="0"/>
            </a:endParaRPr>
          </a:p>
          <a:p>
            <a:pPr algn="ctr"/>
            <a:endParaRPr lang="en-US" sz="2600" dirty="0">
              <a:latin typeface="Georgia" panose="02040502050405020303" pitchFamily="18" charset="0"/>
            </a:endParaRPr>
          </a:p>
          <a:p>
            <a:pPr algn="ctr"/>
            <a:r>
              <a:rPr lang="en-US" sz="2600" dirty="0" smtClean="0">
                <a:latin typeface="Georgia" panose="02040502050405020303" pitchFamily="18" charset="0"/>
              </a:rPr>
              <a:t>We </a:t>
            </a:r>
            <a:r>
              <a:rPr lang="en-US" sz="2600" dirty="0">
                <a:latin typeface="Georgia" panose="02040502050405020303" pitchFamily="18" charset="0"/>
              </a:rPr>
              <a:t>can create </a:t>
            </a:r>
            <a:r>
              <a:rPr lang="en-US" sz="2600" i="1" dirty="0" smtClean="0">
                <a:latin typeface="Georgia" panose="02040502050405020303" pitchFamily="18" charset="0"/>
              </a:rPr>
              <a:t>private</a:t>
            </a:r>
            <a:r>
              <a:rPr lang="en-US" sz="2600" dirty="0" smtClean="0">
                <a:latin typeface="Georgia" panose="02040502050405020303" pitchFamily="18" charset="0"/>
              </a:rPr>
              <a:t> or </a:t>
            </a:r>
            <a:r>
              <a:rPr lang="en-US" sz="2600" i="1" dirty="0" smtClean="0">
                <a:latin typeface="Georgia" panose="02040502050405020303" pitchFamily="18" charset="0"/>
              </a:rPr>
              <a:t>protected</a:t>
            </a:r>
            <a:r>
              <a:rPr lang="en-US" sz="2600" dirty="0" smtClean="0">
                <a:latin typeface="Georgia" panose="02040502050405020303" pitchFamily="18" charset="0"/>
              </a:rPr>
              <a:t> </a:t>
            </a:r>
            <a:r>
              <a:rPr lang="en-US" sz="2600" dirty="0">
                <a:latin typeface="Georgia" panose="02040502050405020303" pitchFamily="18" charset="0"/>
              </a:rPr>
              <a:t>functions in </a:t>
            </a:r>
            <a:r>
              <a:rPr lang="en-US" sz="2600" dirty="0" smtClean="0">
                <a:latin typeface="Georgia" panose="02040502050405020303" pitchFamily="18" charset="0"/>
              </a:rPr>
              <a:t>the class </a:t>
            </a:r>
            <a:r>
              <a:rPr lang="en-US" sz="2600" dirty="0">
                <a:latin typeface="Georgia" panose="02040502050405020303" pitchFamily="18" charset="0"/>
              </a:rPr>
              <a:t>controller by using the </a:t>
            </a:r>
            <a:r>
              <a:rPr lang="en-US" sz="2600" b="1" i="1" dirty="0">
                <a:latin typeface="Georgia" panose="02040502050405020303" pitchFamily="18" charset="0"/>
              </a:rPr>
              <a:t>underscore prefix</a:t>
            </a:r>
            <a:r>
              <a:rPr lang="en-US" sz="2600" dirty="0">
                <a:latin typeface="Georgia" panose="02040502050405020303" pitchFamily="18" charset="0"/>
              </a:rPr>
              <a:t>.</a:t>
            </a:r>
          </a:p>
          <a:p>
            <a:pPr algn="ctr"/>
            <a:endParaRPr lang="en-US" sz="2600" dirty="0">
              <a:latin typeface="Georgia" panose="02040502050405020303" pitchFamily="18" charset="0"/>
            </a:endParaRPr>
          </a:p>
          <a:p>
            <a:pPr algn="ctr"/>
            <a:endParaRPr lang="en-US" sz="26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2631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6858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3200" b="1" dirty="0" smtClean="0">
                <a:solidFill>
                  <a:srgbClr val="1F497D"/>
                </a:solidFill>
                <a:latin typeface="Georgia"/>
              </a:rPr>
              <a:t>Close </a:t>
            </a:r>
            <a:r>
              <a:rPr lang="en-US" sz="3200" b="1" dirty="0">
                <a:solidFill>
                  <a:srgbClr val="1F497D"/>
                </a:solidFill>
                <a:latin typeface="Georgia"/>
              </a:rPr>
              <a:t>Direct Access - </a:t>
            </a:r>
            <a:r>
              <a:rPr lang="en-US" sz="3200" i="1" dirty="0">
                <a:solidFill>
                  <a:srgbClr val="1F497D"/>
                </a:solidFill>
                <a:latin typeface="Georgia"/>
              </a:rPr>
              <a:t>Private </a:t>
            </a:r>
            <a:r>
              <a:rPr lang="en-US" sz="3200" i="1" dirty="0" smtClean="0">
                <a:solidFill>
                  <a:srgbClr val="1F497D"/>
                </a:solidFill>
                <a:latin typeface="Georgia"/>
              </a:rPr>
              <a:t>Methods</a:t>
            </a:r>
            <a:endParaRPr kumimoji="0" lang="en-US" sz="3200" b="0" i="1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1" y="990600"/>
            <a:ext cx="8839200" cy="488501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176749" y="4722564"/>
            <a:ext cx="2623851" cy="76383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0592" y="5943600"/>
            <a:ext cx="893100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1" dirty="0">
                <a:latin typeface="Georgia" panose="02040502050405020303" pitchFamily="18" charset="0"/>
              </a:rPr>
              <a:t>Prefixing method </a:t>
            </a:r>
            <a:r>
              <a:rPr lang="en-US" dirty="0">
                <a:latin typeface="Georgia" panose="02040502050405020303" pitchFamily="18" charset="0"/>
              </a:rPr>
              <a:t>names with an </a:t>
            </a:r>
            <a:r>
              <a:rPr lang="en-US" b="1" i="1" dirty="0">
                <a:latin typeface="Georgia" panose="02040502050405020303" pitchFamily="18" charset="0"/>
              </a:rPr>
              <a:t>underscore</a:t>
            </a:r>
            <a:r>
              <a:rPr lang="en-US" dirty="0">
                <a:latin typeface="Georgia" panose="02040502050405020303" pitchFamily="18" charset="0"/>
              </a:rPr>
              <a:t> will also prevent them from being </a:t>
            </a:r>
            <a:r>
              <a:rPr lang="en-US" dirty="0" smtClean="0">
                <a:latin typeface="Georgia" panose="02040502050405020303" pitchFamily="18" charset="0"/>
              </a:rPr>
              <a:t>called from URL. </a:t>
            </a:r>
            <a:r>
              <a:rPr lang="en-US" dirty="0">
                <a:latin typeface="Georgia" panose="02040502050405020303" pitchFamily="18" charset="0"/>
              </a:rPr>
              <a:t>This is a legacy feature that is left for backwards-compatibility.</a:t>
            </a:r>
          </a:p>
        </p:txBody>
      </p:sp>
    </p:spTree>
    <p:extLst>
      <p:ext uri="{BB962C8B-B14F-4D97-AF65-F5344CB8AC3E}">
        <p14:creationId xmlns:p14="http://schemas.microsoft.com/office/powerpoint/2010/main" val="3472785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6858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3200" dirty="0" smtClean="0">
                <a:solidFill>
                  <a:srgbClr val="1F497D"/>
                </a:solidFill>
                <a:latin typeface="Georgia"/>
              </a:rPr>
              <a:t>Try </a:t>
            </a:r>
            <a:r>
              <a:rPr lang="en-US" sz="3200" dirty="0">
                <a:solidFill>
                  <a:srgbClr val="1F497D"/>
                </a:solidFill>
                <a:latin typeface="Georgia"/>
              </a:rPr>
              <a:t>to </a:t>
            </a:r>
            <a:r>
              <a:rPr lang="en-US" sz="3200" dirty="0" smtClean="0">
                <a:solidFill>
                  <a:srgbClr val="1F497D"/>
                </a:solidFill>
                <a:latin typeface="Georgia"/>
              </a:rPr>
              <a:t>access private method </a:t>
            </a:r>
            <a:r>
              <a:rPr lang="en-US" sz="3200" dirty="0">
                <a:solidFill>
                  <a:srgbClr val="1F497D"/>
                </a:solidFill>
                <a:latin typeface="Georgia"/>
              </a:rPr>
              <a:t>via the URL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990599"/>
            <a:ext cx="8839200" cy="455087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0592" y="5572036"/>
            <a:ext cx="893100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Georgia" panose="02040502050405020303" pitchFamily="18" charset="0"/>
              </a:rPr>
              <a:t>Browser returns an fatal error must </a:t>
            </a:r>
            <a:r>
              <a:rPr lang="en-US" dirty="0">
                <a:latin typeface="Georgia" panose="02040502050405020303" pitchFamily="18" charset="0"/>
              </a:rPr>
              <a:t>be a valid callback, </a:t>
            </a:r>
            <a:r>
              <a:rPr lang="en-US" i="1" dirty="0">
                <a:solidFill>
                  <a:srgbClr val="FF0000"/>
                </a:solidFill>
                <a:latin typeface="Georgia" panose="02040502050405020303" pitchFamily="18" charset="0"/>
              </a:rPr>
              <a:t>cannot access private </a:t>
            </a:r>
            <a:r>
              <a:rPr lang="en-US" i="1" dirty="0" smtClean="0">
                <a:solidFill>
                  <a:srgbClr val="FF0000"/>
                </a:solidFill>
                <a:latin typeface="Georgia" panose="02040502050405020303" pitchFamily="18" charset="0"/>
              </a:rPr>
              <a:t>method</a:t>
            </a:r>
            <a:r>
              <a:rPr lang="en-US" dirty="0" smtClean="0">
                <a:latin typeface="Georgia" panose="02040502050405020303" pitchFamily="18" charset="0"/>
              </a:rPr>
              <a:t>.</a:t>
            </a:r>
            <a:endParaRPr lang="en-US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2138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1" y="990600"/>
            <a:ext cx="8839200" cy="4885011"/>
          </a:xfrm>
          <a:prstGeom prst="rect">
            <a:avLst/>
          </a:prstGeom>
        </p:spPr>
      </p:pic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6858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3200" dirty="0" smtClean="0">
                <a:solidFill>
                  <a:srgbClr val="1F497D"/>
                </a:solidFill>
                <a:latin typeface="Georgia"/>
              </a:rPr>
              <a:t>Create a Function to Check Underscore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452171" y="3136135"/>
            <a:ext cx="3567629" cy="91531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130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1" y="990600"/>
            <a:ext cx="8839200" cy="4885011"/>
          </a:xfrm>
          <a:prstGeom prst="rect">
            <a:avLst/>
          </a:prstGeom>
        </p:spPr>
      </p:pic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6858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3200" dirty="0" smtClean="0">
                <a:solidFill>
                  <a:srgbClr val="1F497D"/>
                </a:solidFill>
                <a:latin typeface="Georgia"/>
              </a:rPr>
              <a:t>Update </a:t>
            </a:r>
            <a:r>
              <a:rPr lang="en-US" sz="3200" i="1" dirty="0" smtClean="0">
                <a:solidFill>
                  <a:srgbClr val="1F497D"/>
                </a:solidFill>
                <a:latin typeface="Georgia"/>
              </a:rPr>
              <a:t>your</a:t>
            </a:r>
            <a:r>
              <a:rPr lang="en-US" sz="3200" dirty="0" smtClean="0">
                <a:solidFill>
                  <a:srgbClr val="1F497D"/>
                </a:solidFill>
                <a:latin typeface="Georgia"/>
              </a:rPr>
              <a:t> Core </a:t>
            </a:r>
            <a:r>
              <a:rPr lang="en-US" sz="3200" i="1" dirty="0" err="1" smtClean="0">
                <a:solidFill>
                  <a:srgbClr val="1F497D"/>
                </a:solidFill>
                <a:latin typeface="Georgia"/>
              </a:rPr>
              <a:t>App.php</a:t>
            </a:r>
            <a:r>
              <a:rPr lang="en-US" sz="3200" dirty="0" smtClean="0">
                <a:solidFill>
                  <a:srgbClr val="1F497D"/>
                </a:solidFill>
                <a:latin typeface="Georgia"/>
              </a:rPr>
              <a:t> File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88185" y="2209800"/>
            <a:ext cx="4603215" cy="28194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791199" y="3954661"/>
            <a:ext cx="3166533" cy="1595021"/>
          </a:xfrm>
          <a:prstGeom prst="horizontalScroll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Remove this item from array, so it can’t be recognized as an input parameter for the next segment.</a:t>
            </a:r>
            <a:endParaRPr lang="en-US" dirty="0"/>
          </a:p>
        </p:txBody>
      </p:sp>
      <p:sp>
        <p:nvSpPr>
          <p:cNvPr id="7" name="Left Arrow 6"/>
          <p:cNvSpPr/>
          <p:nvPr/>
        </p:nvSpPr>
        <p:spPr>
          <a:xfrm>
            <a:off x="4648199" y="4447371"/>
            <a:ext cx="1143000" cy="3048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510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6858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3200" dirty="0">
                <a:solidFill>
                  <a:srgbClr val="1F497D"/>
                </a:solidFill>
                <a:latin typeface="Georgia"/>
              </a:rPr>
              <a:t>Final Testing </a:t>
            </a:r>
            <a:r>
              <a:rPr lang="en-US" sz="3200" dirty="0" smtClean="0">
                <a:solidFill>
                  <a:srgbClr val="1F497D"/>
                </a:solidFill>
                <a:latin typeface="Georgia"/>
              </a:rPr>
              <a:t>- Direct </a:t>
            </a:r>
            <a:r>
              <a:rPr lang="en-US" sz="3200" dirty="0">
                <a:solidFill>
                  <a:srgbClr val="1F497D"/>
                </a:solidFill>
                <a:latin typeface="Georgia"/>
              </a:rPr>
              <a:t>Access Methods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5084" y="5560754"/>
            <a:ext cx="893651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Georgia" panose="02040502050405020303" pitchFamily="18" charset="0"/>
              </a:rPr>
              <a:t>Now, we can </a:t>
            </a:r>
            <a:r>
              <a:rPr lang="en-US" sz="2400" b="1" dirty="0" smtClean="0">
                <a:latin typeface="Georgia" panose="02040502050405020303" pitchFamily="18" charset="0"/>
              </a:rPr>
              <a:t>completely Prevent </a:t>
            </a:r>
            <a:r>
              <a:rPr lang="en-US" sz="2400" b="1" dirty="0">
                <a:latin typeface="Georgia" panose="02040502050405020303" pitchFamily="18" charset="0"/>
              </a:rPr>
              <a:t>Direct Access Methods from URL and even try to handle underscore prefix from core </a:t>
            </a:r>
            <a:r>
              <a:rPr lang="en-US" sz="2400" b="1" dirty="0" err="1">
                <a:latin typeface="Georgia" panose="02040502050405020303" pitchFamily="18" charset="0"/>
              </a:rPr>
              <a:t>App.php</a:t>
            </a:r>
            <a:r>
              <a:rPr lang="en-US" sz="2400" b="1" dirty="0">
                <a:latin typeface="Georgia" panose="02040502050405020303" pitchFamily="18" charset="0"/>
              </a:rPr>
              <a:t> file.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970626"/>
            <a:ext cx="8839200" cy="4550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91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886200"/>
            <a:ext cx="9143999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3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exercise 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for students</a:t>
            </a:r>
          </a:p>
        </p:txBody>
      </p:sp>
      <p:pic>
        <p:nvPicPr>
          <p:cNvPr id="6148" name="Picture 4" descr="Clipboard checklist clipart letters example gif - Clipartix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1" y="1143001"/>
            <a:ext cx="1752600" cy="2609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4410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1" y="152400"/>
            <a:ext cx="8839200" cy="9144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91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Latihan</a:t>
            </a: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4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untuk</a:t>
            </a: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4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Students</a:t>
            </a:r>
            <a:endParaRPr kumimoji="0" lang="en-US" sz="4000" b="0" i="1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5776" y="1167211"/>
            <a:ext cx="88658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Create directory	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C:\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xampp\htdocs\lecture16\</a:t>
            </a:r>
            <a:endParaRPr kumimoji="0" lang="en-US" sz="24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  <a:p>
            <a:pPr marL="0" marR="0" lvl="0" indent="0" algn="l" defTabSz="9143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Create file		: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_.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php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2400" y="2194560"/>
            <a:ext cx="8991600" cy="3139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82296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4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Buat</a:t>
            </a:r>
            <a:r>
              <a:rPr kumimoji="0" lang="en-US" sz="144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 </a:t>
            </a:r>
            <a:r>
              <a:rPr kumimoji="0" lang="en-US" sz="144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semua</a:t>
            </a:r>
            <a:r>
              <a:rPr kumimoji="0" lang="en-US" sz="1440" b="0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 </a:t>
            </a:r>
            <a:r>
              <a:rPr kumimoji="0" lang="en-US" sz="1440" b="0" i="0" u="none" strike="noStrike" kern="1200" cap="none" spc="0" normalizeH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contoh</a:t>
            </a:r>
            <a:r>
              <a:rPr kumimoji="0" lang="en-US" sz="1440" b="0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 </a:t>
            </a:r>
            <a:r>
              <a:rPr kumimoji="0" lang="en-US" sz="144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yang </a:t>
            </a:r>
            <a:r>
              <a:rPr kumimoji="0" lang="en-US" sz="144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sudah</a:t>
            </a:r>
            <a:r>
              <a:rPr kumimoji="0" lang="en-US" sz="144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 di </a:t>
            </a:r>
            <a:r>
              <a:rPr kumimoji="0" lang="en-US" sz="144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pelajari</a:t>
            </a:r>
            <a:r>
              <a:rPr kumimoji="0" lang="en-US" sz="144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 </a:t>
            </a:r>
            <a:r>
              <a:rPr kumimoji="0" lang="en-US" sz="144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sebelumnya</a:t>
            </a:r>
            <a:r>
              <a:rPr kumimoji="0" lang="en-US" sz="144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.</a:t>
            </a:r>
            <a:endParaRPr kumimoji="0" lang="en-US" sz="144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4901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76400" y="2971800"/>
            <a:ext cx="5530215" cy="1035745"/>
          </a:xfrm>
          <a:prstGeom prst="wedgeRoundRectCallout">
            <a:avLst>
              <a:gd name="adj1" fmla="val 51225"/>
              <a:gd name="adj2" fmla="val 132447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6000" dirty="0">
                <a:solidFill>
                  <a:srgbClr val="30859C"/>
                </a:solidFill>
              </a:rPr>
              <a:t>THANK</a:t>
            </a:r>
            <a:r>
              <a:rPr sz="6000" spc="-355" dirty="0">
                <a:solidFill>
                  <a:srgbClr val="30859C"/>
                </a:solidFill>
              </a:rPr>
              <a:t> </a:t>
            </a:r>
            <a:r>
              <a:rPr sz="6000" spc="-5" dirty="0" smtClean="0">
                <a:solidFill>
                  <a:srgbClr val="30859C"/>
                </a:solidFill>
              </a:rPr>
              <a:t>YOU</a:t>
            </a:r>
            <a:endParaRPr sz="6000" dirty="0"/>
          </a:p>
        </p:txBody>
      </p:sp>
      <p:pic>
        <p:nvPicPr>
          <p:cNvPr id="3" name="Picture 2" descr="Download Free png Photography Person Clip art - thinking clipart png  download - 645 ... - DLPNG.co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6615" y="4476896"/>
            <a:ext cx="1719273" cy="2132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903914" y="76200"/>
            <a:ext cx="802197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0" b="0" i="0" u="none" strike="noStrike" kern="1200" cap="all" spc="100" normalizeH="0" baseline="0" noProof="0" dirty="0" smtClean="0">
                <a:ln>
                  <a:noFill/>
                </a:ln>
                <a:solidFill>
                  <a:sysClr val="windowText" lastClr="000000">
                    <a:lumMod val="95000"/>
                    <a:lumOff val="5000"/>
                  </a:sysClr>
                </a:solidFill>
                <a:effectLst/>
                <a:uLnTx/>
                <a:uFillTx/>
                <a:latin typeface="Tw Cen MT Condensed" panose="020B0606020104020203"/>
                <a:ea typeface="+mj-ea"/>
                <a:cs typeface="+mj-cs"/>
              </a:rPr>
              <a:t>END PRESENTATION</a:t>
            </a:r>
            <a:endParaRPr kumimoji="0" lang="en-US" sz="5000" b="0" i="0" u="none" strike="noStrike" kern="1200" cap="all" spc="100" normalizeH="0" baseline="0" noProof="0" dirty="0">
              <a:ln>
                <a:noFill/>
              </a:ln>
              <a:solidFill>
                <a:sysClr val="windowText" lastClr="000000">
                  <a:lumMod val="95000"/>
                  <a:lumOff val="5000"/>
                </a:sysClr>
              </a:solidFill>
              <a:effectLst/>
              <a:uLnTx/>
              <a:uFillTx/>
              <a:latin typeface="Tw Cen MT Condensed" panose="020B0606020104020203"/>
              <a:ea typeface="+mj-ea"/>
              <a:cs typeface="+mj-cs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903913" y="1186434"/>
            <a:ext cx="3041667" cy="670501"/>
            <a:chOff x="1024128" y="2917984"/>
            <a:chExt cx="3041667" cy="670501"/>
          </a:xfrm>
        </p:grpSpPr>
        <p:sp>
          <p:nvSpPr>
            <p:cNvPr id="6" name="Rectangle 5"/>
            <p:cNvSpPr/>
            <p:nvPr/>
          </p:nvSpPr>
          <p:spPr>
            <a:xfrm>
              <a:off x="1024128" y="3188375"/>
              <a:ext cx="2252861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457200"/>
              <a:r>
                <a:rPr lang="en-US" sz="2000" dirty="0" smtClean="0">
                  <a:solidFill>
                    <a:prstClr val="black"/>
                  </a:solidFill>
                  <a:latin typeface="Tw Cen MT" panose="020B0602020104020603"/>
                </a:rPr>
                <a:t>Instructor: S – W </a:t>
              </a:r>
              <a:r>
                <a:rPr lang="en-US" sz="2000" dirty="0">
                  <a:solidFill>
                    <a:prstClr val="black"/>
                  </a:solidFill>
                  <a:latin typeface="Tw Cen MT" panose="020B0602020104020603"/>
                </a:rPr>
                <a:t>–</a:t>
              </a:r>
              <a:r>
                <a:rPr lang="en-US" sz="2000" dirty="0" smtClean="0">
                  <a:solidFill>
                    <a:prstClr val="black"/>
                  </a:solidFill>
                  <a:latin typeface="Tw Cen MT" panose="020B0602020104020603"/>
                </a:rPr>
                <a:t> T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1024128" y="2917984"/>
              <a:ext cx="304166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457200"/>
              <a:r>
                <a:rPr lang="en-US" sz="2000" dirty="0">
                  <a:solidFill>
                    <a:srgbClr val="FF0000"/>
                  </a:solidFill>
                  <a:latin typeface="Tw Cen MT" panose="020B0602020104020603"/>
                </a:rPr>
                <a:t>Thank you for your attention</a:t>
              </a:r>
            </a:p>
          </p:txBody>
        </p:sp>
      </p:grpSp>
      <p:sp>
        <p:nvSpPr>
          <p:cNvPr id="8" name="Rectangle 7"/>
          <p:cNvSpPr/>
          <p:nvPr/>
        </p:nvSpPr>
        <p:spPr>
          <a:xfrm>
            <a:off x="470335" y="540135"/>
            <a:ext cx="304599" cy="1316800"/>
          </a:xfrm>
          <a:prstGeom prst="rect">
            <a:avLst/>
          </a:prstGeom>
          <a:solidFill>
            <a:sysClr val="windowText" lastClr="000000"/>
          </a:solidFill>
          <a:ln w="15875" cap="flat" cmpd="sng" algn="ctr">
            <a:solidFill>
              <a:sysClr val="windowText" lastClr="000000">
                <a:shade val="50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Urb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1001</TotalTime>
  <Words>680</Words>
  <Application>Microsoft Office PowerPoint</Application>
  <PresentationFormat>On-screen Show (4:3)</PresentationFormat>
  <Paragraphs>74</Paragraphs>
  <Slides>25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25</vt:i4>
      </vt:variant>
    </vt:vector>
  </HeadingPairs>
  <TitlesOfParts>
    <vt:vector size="40" baseType="lpstr">
      <vt:lpstr>Bookman Uralic</vt:lpstr>
      <vt:lpstr>Carlito</vt:lpstr>
      <vt:lpstr>PMingLiU</vt:lpstr>
      <vt:lpstr>Arial</vt:lpstr>
      <vt:lpstr>Calibri</vt:lpstr>
      <vt:lpstr>Georgia</vt:lpstr>
      <vt:lpstr>Tahoma</vt:lpstr>
      <vt:lpstr>Times New Roman</vt:lpstr>
      <vt:lpstr>Trebuchet MS</vt:lpstr>
      <vt:lpstr>Tw Cen MT</vt:lpstr>
      <vt:lpstr>Tw Cen MT Condensed</vt:lpstr>
      <vt:lpstr>Wingdings 2</vt:lpstr>
      <vt:lpstr>Office Theme</vt:lpstr>
      <vt:lpstr>Urban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to prevent direct access methods in controller class?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NL</dc:creator>
  <cp:lastModifiedBy>NL</cp:lastModifiedBy>
  <cp:revision>160</cp:revision>
  <dcterms:created xsi:type="dcterms:W3CDTF">2021-03-23T22:28:06Z</dcterms:created>
  <dcterms:modified xsi:type="dcterms:W3CDTF">2022-03-15T02:58:39Z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2018-01-22T00:00:00Z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2021-03-23T00:00:00Z</vt:filetime>
  </property>
</Properties>
</file>