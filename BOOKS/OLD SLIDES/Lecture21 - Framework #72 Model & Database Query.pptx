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</p:sldMasterIdLst>
  <p:notesMasterIdLst>
    <p:notesMasterId r:id="rId20"/>
  </p:notesMasterIdLst>
  <p:sldIdLst>
    <p:sldId id="285" r:id="rId4"/>
    <p:sldId id="286" r:id="rId5"/>
    <p:sldId id="396" r:id="rId6"/>
    <p:sldId id="397" r:id="rId7"/>
    <p:sldId id="383" r:id="rId8"/>
    <p:sldId id="382" r:id="rId9"/>
    <p:sldId id="412" r:id="rId10"/>
    <p:sldId id="406" r:id="rId11"/>
    <p:sldId id="411" r:id="rId12"/>
    <p:sldId id="414" r:id="rId13"/>
    <p:sldId id="407" r:id="rId14"/>
    <p:sldId id="413" r:id="rId15"/>
    <p:sldId id="303" r:id="rId16"/>
    <p:sldId id="304" r:id="rId17"/>
    <p:sldId id="284" r:id="rId18"/>
    <p:sldId id="410" r:id="rId1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41" autoAdjust="0"/>
  </p:normalViewPr>
  <p:slideViewPr>
    <p:cSldViewPr>
      <p:cViewPr varScale="1">
        <p:scale>
          <a:sx n="87" d="100"/>
          <a:sy n="87" d="100"/>
        </p:scale>
        <p:origin x="141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A8E67-C31F-4B3F-AE22-4E6EEE62189F}" type="datetimeFigureOut">
              <a:rPr lang="en-US" smtClean="0"/>
              <a:t>6/28/2021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D6AE2-3021-4755-9483-33FED8558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1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640802-FA98-427B-B9DA-D5CD3C58A5E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9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2843" y="1078991"/>
            <a:ext cx="8066537" cy="3257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1" name="Rounded Rectangle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2" name="Rounded Rectangle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A5911-318A-42B0-BD23-6D9EB7D0CA04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458D9D-7997-48C9-9AC8-3F90B58B8F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43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A82B4-6618-4215-93D9-CEB563386B8B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DC8DC-866E-4B93-B469-7F06B82218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99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F3936-C19B-44C7-9907-C0E7C284152D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50082-0BCC-45F0-8D95-A24D80F2B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85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4A90-AFC1-4E63-8122-57311A38DF42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8D1BD-67A6-4741-9925-0FDB9D002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78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A2782CB-796F-4B39-B3A1-A580BB814B6D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235CFA-2E95-41A8-BAE8-E6B82C409E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0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9DFEC-1725-49C8-B349-7936A7B6C619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C593E-29F5-4DB5-AA21-09B3E1642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68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EACB-F0B1-430E-814E-618E1FB95B3F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2F2B9-77ED-4645-81E1-35508EBB2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97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83054-3FDA-4EA6-BDCD-F6F20A348F07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4040EC-DEFE-48A7-8B41-72679CFEB6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5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B4C38-6B7A-4435-A3AF-075D8A2102F3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5D01F-80C4-4EF3-9C3E-4AB2D853C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92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07E67-5493-4B92-9FD9-CEF01D49F27C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C2162-9904-4CE2-ADF7-C5DB601A18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503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7261E-68CB-4B7F-AB36-DC4916C10FE0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EC959-A47F-459F-8D4B-AA4F723E34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171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902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1"/>
            <a:ext cx="5455919" cy="400148"/>
          </a:xfrm>
        </p:spPr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43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237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1899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63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769" y="484758"/>
            <a:ext cx="445846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426" y="3362909"/>
            <a:ext cx="6645147" cy="202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07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820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fld id="{076F8D71-EA83-45CB-9292-976A9C8DA0C3}" type="datetimeFigureOut">
              <a:rPr lang="en-US"/>
              <a:pPr>
                <a:defRPr/>
              </a:pPr>
              <a:t>6/28/2021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C36EDDF5-661D-4F0D-A8FC-08CDEA6AF9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11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▫"/>
        <a:defRPr sz="2000" kern="1200">
          <a:solidFill>
            <a:srgbClr val="9BBB59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5"/>
            <a:ext cx="72969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0"/>
            <a:ext cx="545591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4151" y="5726336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4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ubber.blogspot.com/2017/11/phpmyadmin-access-denied-user-root-no-password-unable-login-phpmyadmin.html" TargetMode="External"/><Relationship Id="rId7" Type="http://schemas.openxmlformats.org/officeDocument/2006/relationships/hyperlink" Target="https://www.w3schools.com/php/php_mysql_select.asp" TargetMode="External"/><Relationship Id="rId2" Type="http://schemas.openxmlformats.org/officeDocument/2006/relationships/hyperlink" Target="https://blog.templatetoaster.com/xampp-phpmyadm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agowebdev.com/mengubah-password-root-mysql-dengan-phpmyadmin/" TargetMode="External"/><Relationship Id="rId5" Type="http://schemas.openxmlformats.org/officeDocument/2006/relationships/hyperlink" Target="https://skillforge.com/how-to-create-a-database-using-phpmyadmin-xampp/" TargetMode="External"/><Relationship Id="rId4" Type="http://schemas.openxmlformats.org/officeDocument/2006/relationships/hyperlink" Target="https://www.javatpoint.com/creating-mysql-database-with-xam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44" b="-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76600" y="3308350"/>
            <a:ext cx="5867400" cy="1819275"/>
          </a:xfrm>
          <a:prstGeom prst="rect">
            <a:avLst/>
          </a:prstGeom>
          <a:solidFill>
            <a:schemeClr val="dk1">
              <a:alpha val="4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7172" name="Group 8"/>
          <p:cNvGrpSpPr>
            <a:grpSpLocks/>
          </p:cNvGrpSpPr>
          <p:nvPr/>
        </p:nvGrpSpPr>
        <p:grpSpPr bwMode="auto">
          <a:xfrm>
            <a:off x="3428998" y="3429001"/>
            <a:ext cx="5638798" cy="1490376"/>
            <a:chOff x="4966856" y="5954268"/>
            <a:chExt cx="4100945" cy="1258675"/>
          </a:xfrm>
        </p:grpSpPr>
        <p:sp>
          <p:nvSpPr>
            <p:cNvPr id="4" name="Rectangle 3"/>
            <p:cNvSpPr/>
            <p:nvPr/>
          </p:nvSpPr>
          <p:spPr>
            <a:xfrm>
              <a:off x="4966856" y="5954268"/>
              <a:ext cx="4052205" cy="492038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Fakultas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Ilmu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Komputer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178" name="TextBox 5"/>
            <p:cNvSpPr txBox="1">
              <a:spLocks noChangeArrowheads="1"/>
            </p:cNvSpPr>
            <p:nvPr/>
          </p:nvSpPr>
          <p:spPr bwMode="auto">
            <a:xfrm>
              <a:off x="5576457" y="6511136"/>
              <a:ext cx="3491344" cy="701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Learning </a:t>
              </a:r>
              <a:r>
                <a:rPr kumimoji="0" lang="en-US" altLang="en-US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is the process of acquiring new understanding, knowledge, behaviors, skills, values, attitudes, and preferences.</a:t>
              </a:r>
              <a:endPara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0" y="5213325"/>
            <a:ext cx="9144000" cy="158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74" name="Rectangle 1"/>
          <p:cNvSpPr>
            <a:spLocks noChangeArrowheads="1"/>
          </p:cNvSpPr>
          <p:nvPr/>
        </p:nvSpPr>
        <p:spPr bwMode="auto">
          <a:xfrm>
            <a:off x="0" y="5486400"/>
            <a:ext cx="9144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000" b="1" dirty="0" smtClean="0">
                <a:solidFill>
                  <a:srgbClr val="000000"/>
                </a:solidFill>
                <a:latin typeface="+mn-lt"/>
              </a:rPr>
              <a:t>Framework #7-2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4000" b="1" dirty="0" smtClean="0">
                <a:solidFill>
                  <a:srgbClr val="000000"/>
                </a:solidFill>
                <a:latin typeface="+mn-lt"/>
              </a:rPr>
              <a:t>[Model </a:t>
            </a:r>
            <a:r>
              <a:rPr lang="en-US" altLang="en-US" sz="4000" b="1" dirty="0">
                <a:solidFill>
                  <a:srgbClr val="000000"/>
                </a:solidFill>
                <a:latin typeface="+mn-lt"/>
              </a:rPr>
              <a:t>&amp; Database Query]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781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609600" y="4724400"/>
            <a:ext cx="7924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ts val="2388"/>
              </a:spcBef>
              <a:spcAft>
                <a:spcPct val="0"/>
              </a:spcAft>
              <a:defRPr/>
            </a:pPr>
            <a:r>
              <a:rPr lang="en-US" sz="3600" b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Welcome to the Framework Programming </a:t>
            </a:r>
            <a:r>
              <a:rPr lang="en-US" sz="3600" b="1" i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course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1113" y="3789040"/>
            <a:ext cx="9132887" cy="2096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45" name="Picture 2" descr="Teens and Technology – Cavalier Chroni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60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895600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– </a:t>
            </a:r>
            <a:r>
              <a:rPr lang="en-US" sz="4000" dirty="0" smtClean="0">
                <a:solidFill>
                  <a:prstClr val="black"/>
                </a:solidFill>
              </a:rPr>
              <a:t>Create Core Controller Class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12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1 - Create Core Logic Method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1"/>
            <a:ext cx="8839200" cy="53220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46583" y="4495800"/>
            <a:ext cx="4583016" cy="1232971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8558" y="6344794"/>
            <a:ext cx="70480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Model </a:t>
            </a:r>
            <a:r>
              <a:rPr lang="en-US" dirty="0">
                <a:latin typeface="Georgia" panose="02040502050405020303" pitchFamily="18" charset="0"/>
              </a:rPr>
              <a:t>component stores data and its </a:t>
            </a:r>
            <a:r>
              <a:rPr lang="en-US" b="1" i="1" dirty="0">
                <a:latin typeface="Georgia" panose="02040502050405020303" pitchFamily="18" charset="0"/>
              </a:rPr>
              <a:t>related logic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8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2 - </a:t>
            </a:r>
            <a:r>
              <a:rPr lang="en-US" sz="3200" i="1" dirty="0" err="1" smtClean="0">
                <a:solidFill>
                  <a:srgbClr val="1F497D"/>
                </a:solidFill>
                <a:latin typeface="Georgia"/>
              </a:rPr>
              <a:t>Config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a Connection to MySQL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0"/>
            <a:ext cx="8839200" cy="544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0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3 - Create Code Database Connection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14401"/>
            <a:ext cx="88392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1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4 – Manage Core </a:t>
            </a:r>
            <a:r>
              <a:rPr lang="en-US" sz="3200" i="1" dirty="0" err="1" smtClean="0">
                <a:solidFill>
                  <a:srgbClr val="1F497D"/>
                </a:solidFill>
                <a:latin typeface="Georgia"/>
              </a:rPr>
              <a:t>Database.php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 in </a:t>
            </a:r>
            <a:r>
              <a:rPr lang="en-US" sz="3200" i="1" dirty="0" err="1" smtClean="0">
                <a:solidFill>
                  <a:srgbClr val="1F497D"/>
                </a:solidFill>
                <a:latin typeface="Georgia"/>
              </a:rPr>
              <a:t>init.php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4" y="990601"/>
            <a:ext cx="8836446" cy="523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0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895600"/>
            <a:ext cx="762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4000" dirty="0">
                <a:solidFill>
                  <a:prstClr val="black"/>
                </a:solidFill>
                <a:latin typeface="Georgia"/>
              </a:rPr>
              <a:t>2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– Create </a:t>
            </a:r>
            <a:r>
              <a:rPr lang="en-US" sz="4000" dirty="0" smtClean="0">
                <a:solidFill>
                  <a:prstClr val="black"/>
                </a:solidFill>
              </a:rPr>
              <a:t>Model </a:t>
            </a:r>
            <a:r>
              <a:rPr lang="en-US" sz="4000" dirty="0">
                <a:solidFill>
                  <a:prstClr val="black"/>
                </a:solidFill>
              </a:rPr>
              <a:t>component </a:t>
            </a:r>
            <a:r>
              <a:rPr lang="en-US" sz="4000" dirty="0" smtClean="0">
                <a:solidFill>
                  <a:prstClr val="black"/>
                </a:solidFill>
              </a:rPr>
              <a:t>to store </a:t>
            </a:r>
            <a:r>
              <a:rPr lang="en-US" sz="4000" dirty="0">
                <a:solidFill>
                  <a:prstClr val="black"/>
                </a:solidFill>
              </a:rPr>
              <a:t>data and its related </a:t>
            </a:r>
            <a:r>
              <a:rPr lang="en-US" sz="4000" dirty="0" smtClean="0">
                <a:solidFill>
                  <a:prstClr val="black"/>
                </a:solidFill>
              </a:rPr>
              <a:t>logic.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43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1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– Create Model Component (</a:t>
            </a:r>
            <a:r>
              <a:rPr lang="en-US" sz="3200" i="1" dirty="0" err="1" smtClean="0">
                <a:solidFill>
                  <a:srgbClr val="1F497D"/>
                </a:solidFill>
                <a:latin typeface="Georgia"/>
              </a:rPr>
              <a:t>Lecturer_model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)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183" y="6312665"/>
            <a:ext cx="8098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Create model component with </a:t>
            </a:r>
            <a:r>
              <a:rPr lang="en-US" b="1" i="1" dirty="0" smtClean="0">
                <a:latin typeface="Georgia" panose="02040502050405020303" pitchFamily="18" charset="0"/>
              </a:rPr>
              <a:t>related</a:t>
            </a:r>
            <a:r>
              <a:rPr lang="en-US" dirty="0" smtClean="0">
                <a:latin typeface="Georgia" panose="02040502050405020303" pitchFamily="18" charset="0"/>
              </a:rPr>
              <a:t> </a:t>
            </a:r>
            <a:r>
              <a:rPr lang="en-US" b="1" i="1" dirty="0" smtClean="0">
                <a:latin typeface="Georgia" panose="02040502050405020303" pitchFamily="18" charset="0"/>
              </a:rPr>
              <a:t>logic</a:t>
            </a:r>
            <a:r>
              <a:rPr lang="en-US" dirty="0" smtClean="0">
                <a:latin typeface="Georgia" panose="02040502050405020303" pitchFamily="18" charset="0"/>
              </a:rPr>
              <a:t> and get the data from database.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1"/>
            <a:ext cx="8839200" cy="524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0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2 – How to Read the </a:t>
            </a:r>
            <a:r>
              <a:rPr lang="en-US" sz="3200" i="1" dirty="0" smtClean="0">
                <a:solidFill>
                  <a:srgbClr val="1F497D"/>
                </a:solidFill>
                <a:latin typeface="Georgia"/>
              </a:rPr>
              <a:t>data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 from Controller?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1"/>
            <a:ext cx="8839199" cy="5715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77099" y="3107676"/>
            <a:ext cx="4790502" cy="285520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2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3 – Modify Code in /view/home/</a:t>
            </a:r>
            <a:r>
              <a:rPr lang="en-US" sz="3200" dirty="0" err="1" smtClean="0">
                <a:solidFill>
                  <a:srgbClr val="1F497D"/>
                </a:solidFill>
                <a:latin typeface="Georgia"/>
              </a:rPr>
              <a:t>index.php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1"/>
            <a:ext cx="8839200" cy="50437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77946" y="2512764"/>
            <a:ext cx="5118253" cy="1971101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2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smtClean="0">
                <a:solidFill>
                  <a:srgbClr val="1F497D"/>
                </a:solidFill>
                <a:latin typeface="Georgia"/>
              </a:rPr>
              <a:t>4 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– Testing View Data </a:t>
            </a:r>
            <a:r>
              <a:rPr lang="en-US" sz="3200" i="1" dirty="0" smtClean="0">
                <a:solidFill>
                  <a:srgbClr val="1F497D"/>
                </a:solidFill>
                <a:latin typeface="Georgia"/>
              </a:rPr>
              <a:t>from</a:t>
            </a: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 Database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2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86200"/>
            <a:ext cx="914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exercise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 students</a:t>
            </a:r>
          </a:p>
        </p:txBody>
      </p:sp>
      <p:pic>
        <p:nvPicPr>
          <p:cNvPr id="6148" name="Picture 4" descr="Clipboard checklist clipart letters example gif - Clipart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143001"/>
            <a:ext cx="1752600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41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Latihan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untuk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Students</a:t>
            </a:r>
            <a:endParaRPr kumimoji="0" lang="en-US" sz="40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776" y="1167211"/>
            <a:ext cx="8865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directory	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C:\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xampp\htdocs\lecture21\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file		: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_.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php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2194560"/>
            <a:ext cx="8991600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2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Buat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semua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contoh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yang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sudah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di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pelajari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sebelumnya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di </a:t>
            </a:r>
            <a:r>
              <a:rPr kumimoji="0" lang="en-US" sz="144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lecture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ini</a:t>
            </a:r>
            <a:r>
              <a:rPr kumimoji="0" lang="en-US" sz="144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  <a:endParaRPr kumimoji="0" lang="en-US" sz="14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90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971800"/>
            <a:ext cx="5530215" cy="1035745"/>
          </a:xfrm>
          <a:prstGeom prst="wedgeRoundRectCallout">
            <a:avLst>
              <a:gd name="adj1" fmla="val 51225"/>
              <a:gd name="adj2" fmla="val 13244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30859C"/>
                </a:solidFill>
              </a:rPr>
              <a:t>THANK</a:t>
            </a:r>
            <a:r>
              <a:rPr sz="6000" spc="-355" dirty="0">
                <a:solidFill>
                  <a:srgbClr val="30859C"/>
                </a:solidFill>
              </a:rPr>
              <a:t> </a:t>
            </a:r>
            <a:r>
              <a:rPr sz="6000" spc="-5" dirty="0" smtClean="0">
                <a:solidFill>
                  <a:srgbClr val="30859C"/>
                </a:solidFill>
              </a:rPr>
              <a:t>YOU</a:t>
            </a:r>
            <a:endParaRPr sz="6000" dirty="0"/>
          </a:p>
        </p:txBody>
      </p:sp>
      <p:pic>
        <p:nvPicPr>
          <p:cNvPr id="3" name="Picture 2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15" y="4476896"/>
            <a:ext cx="1719273" cy="213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03914" y="76200"/>
            <a:ext cx="802197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all" spc="100" normalizeH="0" baseline="0" noProof="0" dirty="0" smtClean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Tw Cen MT Condensed" panose="020B0606020104020203"/>
                <a:ea typeface="+mj-ea"/>
                <a:cs typeface="+mj-cs"/>
              </a:rPr>
              <a:t>END PRESENTATION</a:t>
            </a:r>
            <a:endParaRPr kumimoji="0" lang="en-US" sz="5000" b="0" i="0" u="none" strike="noStrike" kern="1200" cap="all" spc="100" normalizeH="0" baseline="0" noProof="0" dirty="0">
              <a:ln>
                <a:noFill/>
              </a:ln>
              <a:solidFill>
                <a:sysClr val="windowText" lastClr="000000">
                  <a:lumMod val="95000"/>
                  <a:lumOff val="5000"/>
                </a:sysClr>
              </a:solidFill>
              <a:effectLst/>
              <a:uLnTx/>
              <a:uFillTx/>
              <a:latin typeface="Tw Cen MT Condensed" panose="020B0606020104020203"/>
              <a:ea typeface="+mj-ea"/>
              <a:cs typeface="+mj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903913" y="1186434"/>
            <a:ext cx="3041667" cy="670501"/>
            <a:chOff x="1024128" y="2917984"/>
            <a:chExt cx="3041667" cy="670501"/>
          </a:xfrm>
        </p:grpSpPr>
        <p:sp>
          <p:nvSpPr>
            <p:cNvPr id="6" name="Rectangle 5"/>
            <p:cNvSpPr/>
            <p:nvPr/>
          </p:nvSpPr>
          <p:spPr>
            <a:xfrm>
              <a:off x="1024128" y="3188375"/>
              <a:ext cx="22528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Instructor: S – W </a:t>
              </a:r>
              <a:r>
                <a:rPr lang="en-US" sz="2000" dirty="0">
                  <a:solidFill>
                    <a:prstClr val="black"/>
                  </a:solidFill>
                  <a:latin typeface="Tw Cen MT" panose="020B0602020104020603"/>
                </a:rPr>
                <a:t>–</a:t>
              </a:r>
              <a:r>
                <a:rPr lang="en-US" sz="2000" dirty="0" smtClean="0">
                  <a:solidFill>
                    <a:prstClr val="black"/>
                  </a:solidFill>
                  <a:latin typeface="Tw Cen MT" panose="020B0602020104020603"/>
                </a:rPr>
                <a:t> 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24128" y="2917984"/>
              <a:ext cx="30416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>
                  <a:solidFill>
                    <a:srgbClr val="FF0000"/>
                  </a:solidFill>
                  <a:latin typeface="Tw Cen MT" panose="020B0602020104020603"/>
                </a:rPr>
                <a:t>Thank you for your attention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470335" y="540135"/>
            <a:ext cx="304599" cy="1316800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smtClean="0">
                <a:solidFill>
                  <a:srgbClr val="1F497D"/>
                </a:solidFill>
                <a:latin typeface="Georgia"/>
              </a:rPr>
              <a:t>References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0564" y="990600"/>
            <a:ext cx="8839200" cy="4416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XAMPP </a:t>
            </a:r>
            <a:r>
              <a:rPr lang="en-US" b="1" dirty="0" err="1">
                <a:latin typeface="Georgia" panose="02040502050405020303" pitchFamily="18" charset="0"/>
              </a:rPr>
              <a:t>phpMyAdmin</a:t>
            </a:r>
            <a:r>
              <a:rPr lang="en-US" b="1" dirty="0">
                <a:latin typeface="Georgia" panose="02040502050405020303" pitchFamily="18" charset="0"/>
              </a:rPr>
              <a:t>: How to Create Database and Tables</a:t>
            </a:r>
          </a:p>
          <a:p>
            <a:r>
              <a:rPr lang="en-US" sz="1200" dirty="0">
                <a:latin typeface="Georgia" panose="02040502050405020303" pitchFamily="18" charset="0"/>
                <a:hlinkClick r:id="rId2"/>
              </a:rPr>
              <a:t>https://blog.templatetoaster.com/xampp-phpmyadmin</a:t>
            </a:r>
            <a:r>
              <a:rPr lang="en-US" sz="1200" dirty="0" smtClean="0">
                <a:latin typeface="Georgia" panose="02040502050405020303" pitchFamily="18" charset="0"/>
                <a:hlinkClick r:id="rId2"/>
              </a:rPr>
              <a:t>/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Unable to login to </a:t>
            </a:r>
            <a:r>
              <a:rPr lang="en-US" b="1" dirty="0" err="1">
                <a:latin typeface="Georgia" panose="02040502050405020303" pitchFamily="18" charset="0"/>
              </a:rPr>
              <a:t>phpMyAdmin</a:t>
            </a:r>
            <a:r>
              <a:rPr lang="en-US" b="1" dirty="0">
                <a:latin typeface="Georgia" panose="02040502050405020303" pitchFamily="18" charset="0"/>
              </a:rPr>
              <a:t> in XAMPP</a:t>
            </a:r>
          </a:p>
          <a:p>
            <a:r>
              <a:rPr lang="en-US" sz="1100" dirty="0">
                <a:latin typeface="Georgia" panose="02040502050405020303" pitchFamily="18" charset="0"/>
                <a:hlinkClick r:id="rId3"/>
              </a:rPr>
              <a:t>https://</a:t>
            </a:r>
            <a:r>
              <a:rPr lang="en-US" sz="1100" dirty="0" smtClean="0">
                <a:latin typeface="Georgia" panose="02040502050405020303" pitchFamily="18" charset="0"/>
                <a:hlinkClick r:id="rId3"/>
              </a:rPr>
              <a:t>techubber.blogspot.com/2017/11/phpmyadmin-access-denied-user-root-no-password-unable-login-phpmyadmin.html</a:t>
            </a:r>
            <a:endParaRPr lang="en-US" sz="1100" dirty="0" smtClean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Creating MySQL Database with XAMPP</a:t>
            </a:r>
          </a:p>
          <a:p>
            <a:r>
              <a:rPr lang="en-US" sz="1200" dirty="0">
                <a:latin typeface="Georgia" panose="02040502050405020303" pitchFamily="18" charset="0"/>
                <a:hlinkClick r:id="rId4"/>
              </a:rPr>
              <a:t>https://</a:t>
            </a:r>
            <a:r>
              <a:rPr lang="en-US" sz="1200" dirty="0" smtClean="0">
                <a:latin typeface="Georgia" panose="02040502050405020303" pitchFamily="18" charset="0"/>
                <a:hlinkClick r:id="rId4"/>
              </a:rPr>
              <a:t>www.javatpoint.com/creating-mysql-database-with-xampp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How to create a database using </a:t>
            </a:r>
            <a:r>
              <a:rPr lang="en-US" b="1" dirty="0" err="1">
                <a:latin typeface="Georgia" panose="02040502050405020303" pitchFamily="18" charset="0"/>
              </a:rPr>
              <a:t>phpMyAdmin</a:t>
            </a:r>
            <a:r>
              <a:rPr lang="en-US" b="1" dirty="0">
                <a:latin typeface="Georgia" panose="02040502050405020303" pitchFamily="18" charset="0"/>
              </a:rPr>
              <a:t> and XAMPP</a:t>
            </a:r>
          </a:p>
          <a:p>
            <a:r>
              <a:rPr lang="en-US" sz="1200" dirty="0">
                <a:latin typeface="Georgia" panose="02040502050405020303" pitchFamily="18" charset="0"/>
                <a:hlinkClick r:id="rId5"/>
              </a:rPr>
              <a:t>https://skillforge.com/how-to-create-a-database-using-phpmyadmin-xampp</a:t>
            </a:r>
            <a:r>
              <a:rPr lang="en-US" sz="1200" dirty="0" smtClean="0">
                <a:latin typeface="Georgia" panose="02040502050405020303" pitchFamily="18" charset="0"/>
                <a:hlinkClick r:id="rId5"/>
              </a:rPr>
              <a:t>/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 err="1">
                <a:latin typeface="Georgia" panose="02040502050405020303" pitchFamily="18" charset="0"/>
              </a:rPr>
              <a:t>Mengubah</a:t>
            </a:r>
            <a:r>
              <a:rPr lang="en-US" b="1" dirty="0">
                <a:latin typeface="Georgia" panose="02040502050405020303" pitchFamily="18" charset="0"/>
              </a:rPr>
              <a:t> Password Root </a:t>
            </a:r>
            <a:r>
              <a:rPr lang="en-US" b="1" dirty="0" err="1">
                <a:latin typeface="Georgia" panose="02040502050405020303" pitchFamily="18" charset="0"/>
              </a:rPr>
              <a:t>Pada</a:t>
            </a:r>
            <a:r>
              <a:rPr lang="en-US" b="1" dirty="0">
                <a:latin typeface="Georgia" panose="02040502050405020303" pitchFamily="18" charset="0"/>
              </a:rPr>
              <a:t> </a:t>
            </a:r>
            <a:r>
              <a:rPr lang="en-US" b="1" dirty="0" err="1">
                <a:latin typeface="Georgia" panose="02040502050405020303" pitchFamily="18" charset="0"/>
              </a:rPr>
              <a:t>phpMyAdmin</a:t>
            </a:r>
            <a:endParaRPr lang="en-US" b="1" dirty="0">
              <a:latin typeface="Georgia" panose="02040502050405020303" pitchFamily="18" charset="0"/>
            </a:endParaRPr>
          </a:p>
          <a:p>
            <a:r>
              <a:rPr lang="en-US" sz="1200" dirty="0">
                <a:latin typeface="Georgia" panose="02040502050405020303" pitchFamily="18" charset="0"/>
                <a:hlinkClick r:id="rId6"/>
              </a:rPr>
              <a:t>https://jagowebdev.com/mengubah-password-root-mysql-dengan-phpmyadmin</a:t>
            </a:r>
            <a:r>
              <a:rPr lang="en-US" sz="1200" dirty="0" smtClean="0">
                <a:latin typeface="Georgia" panose="02040502050405020303" pitchFamily="18" charset="0"/>
                <a:hlinkClick r:id="rId6"/>
              </a:rPr>
              <a:t>/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PHP MySQL Database</a:t>
            </a:r>
          </a:p>
          <a:p>
            <a:r>
              <a:rPr lang="en-US" sz="1200" dirty="0">
                <a:latin typeface="Georgia" panose="02040502050405020303" pitchFamily="18" charset="0"/>
                <a:hlinkClick r:id="rId7"/>
              </a:rPr>
              <a:t>https://</a:t>
            </a:r>
            <a:r>
              <a:rPr lang="en-US" sz="1200" dirty="0" smtClean="0">
                <a:latin typeface="Georgia" panose="02040502050405020303" pitchFamily="18" charset="0"/>
                <a:hlinkClick r:id="rId7"/>
              </a:rPr>
              <a:t>www.w3schools.com/php/php_mysql_select.asp</a:t>
            </a:r>
            <a:endParaRPr lang="en-US" sz="1200" dirty="0" smtClean="0">
              <a:latin typeface="Georgia" panose="02040502050405020303" pitchFamily="18" charset="0"/>
            </a:endParaRPr>
          </a:p>
          <a:p>
            <a:endParaRPr lang="en-US" sz="1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79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rb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1928</TotalTime>
  <Words>250</Words>
  <Application>Microsoft Office PowerPoint</Application>
  <PresentationFormat>On-screen Show (4:3)</PresentationFormat>
  <Paragraphs>45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Bookman Uralic</vt:lpstr>
      <vt:lpstr>Carlito</vt:lpstr>
      <vt:lpstr>Arial</vt:lpstr>
      <vt:lpstr>Calibri</vt:lpstr>
      <vt:lpstr>Georgia</vt:lpstr>
      <vt:lpstr>Tahoma</vt:lpstr>
      <vt:lpstr>Times New Roman</vt:lpstr>
      <vt:lpstr>Trebuchet MS</vt:lpstr>
      <vt:lpstr>Tw Cen MT</vt:lpstr>
      <vt:lpstr>Tw Cen MT Condensed</vt:lpstr>
      <vt:lpstr>Wingdings 2</vt:lpstr>
      <vt:lpstr>Office Theme</vt:lpstr>
      <vt:lpstr>Urban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NL</dc:creator>
  <cp:lastModifiedBy>NL</cp:lastModifiedBy>
  <cp:revision>466</cp:revision>
  <dcterms:created xsi:type="dcterms:W3CDTF">2021-03-23T22:28:06Z</dcterms:created>
  <dcterms:modified xsi:type="dcterms:W3CDTF">2021-06-28T02:05:51Z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2021-03-23T00:00:00Z</vt:filetime>
  </property>
</Properties>
</file>