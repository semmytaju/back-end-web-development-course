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  <p:sldMasterId id="2147483678" r:id="rId3"/>
  </p:sldMasterIdLst>
  <p:notesMasterIdLst>
    <p:notesMasterId r:id="rId56"/>
  </p:notesMasterIdLst>
  <p:sldIdLst>
    <p:sldId id="285" r:id="rId4"/>
    <p:sldId id="286" r:id="rId5"/>
    <p:sldId id="339" r:id="rId6"/>
    <p:sldId id="340" r:id="rId7"/>
    <p:sldId id="341" r:id="rId8"/>
    <p:sldId id="302" r:id="rId9"/>
    <p:sldId id="305" r:id="rId10"/>
    <p:sldId id="257" r:id="rId11"/>
    <p:sldId id="306" r:id="rId12"/>
    <p:sldId id="258" r:id="rId13"/>
    <p:sldId id="296" r:id="rId14"/>
    <p:sldId id="314" r:id="rId15"/>
    <p:sldId id="315" r:id="rId16"/>
    <p:sldId id="313" r:id="rId17"/>
    <p:sldId id="316" r:id="rId18"/>
    <p:sldId id="317" r:id="rId19"/>
    <p:sldId id="318" r:id="rId20"/>
    <p:sldId id="319" r:id="rId21"/>
    <p:sldId id="320" r:id="rId22"/>
    <p:sldId id="321" r:id="rId23"/>
    <p:sldId id="322" r:id="rId24"/>
    <p:sldId id="323" r:id="rId25"/>
    <p:sldId id="324" r:id="rId26"/>
    <p:sldId id="325" r:id="rId27"/>
    <p:sldId id="326" r:id="rId28"/>
    <p:sldId id="327" r:id="rId29"/>
    <p:sldId id="312" r:id="rId30"/>
    <p:sldId id="336" r:id="rId31"/>
    <p:sldId id="337" r:id="rId32"/>
    <p:sldId id="338" r:id="rId33"/>
    <p:sldId id="311" r:id="rId34"/>
    <p:sldId id="328" r:id="rId35"/>
    <p:sldId id="329" r:id="rId36"/>
    <p:sldId id="310" r:id="rId37"/>
    <p:sldId id="333" r:id="rId38"/>
    <p:sldId id="332" r:id="rId39"/>
    <p:sldId id="331" r:id="rId40"/>
    <p:sldId id="330" r:id="rId41"/>
    <p:sldId id="345" r:id="rId42"/>
    <p:sldId id="344" r:id="rId43"/>
    <p:sldId id="343" r:id="rId44"/>
    <p:sldId id="342" r:id="rId45"/>
    <p:sldId id="346" r:id="rId46"/>
    <p:sldId id="347" r:id="rId47"/>
    <p:sldId id="334" r:id="rId48"/>
    <p:sldId id="348" r:id="rId49"/>
    <p:sldId id="335" r:id="rId50"/>
    <p:sldId id="349" r:id="rId51"/>
    <p:sldId id="350" r:id="rId52"/>
    <p:sldId id="294" r:id="rId53"/>
    <p:sldId id="307" r:id="rId54"/>
    <p:sldId id="284" r:id="rId55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90" autoAdjust="0"/>
    <p:restoredTop sz="95441" autoAdjust="0"/>
  </p:normalViewPr>
  <p:slideViewPr>
    <p:cSldViewPr>
      <p:cViewPr varScale="1">
        <p:scale>
          <a:sx n="83" d="100"/>
          <a:sy n="83" d="100"/>
        </p:scale>
        <p:origin x="1614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viewProps" Target="viewProps.xml"/><Relationship Id="rId5" Type="http://schemas.openxmlformats.org/officeDocument/2006/relationships/slide" Target="slides/slide2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theme" Target="theme/theme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presProps" Target="presProps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4A8E67-C31F-4B3F-AE22-4E6EEE62189F}" type="datetimeFigureOut">
              <a:rPr lang="en-US" smtClean="0"/>
              <a:t>6/22/2021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6D6AE2-3021-4755-9483-33FED85582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410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r" defTabSz="9318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5640802-FA98-427B-B9DA-D5CD3C58A5EC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pPr marL="0" marR="0" lvl="0" indent="0" algn="r" defTabSz="9318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19908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00AF5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5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00AF5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00AF5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72843" y="1078991"/>
            <a:ext cx="8066537" cy="32575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 flipV="1">
            <a:off x="5410200" y="3810000"/>
            <a:ext cx="3733800" cy="904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 flipV="1">
            <a:off x="5410200" y="3897313"/>
            <a:ext cx="3733800" cy="19208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 flipV="1">
            <a:off x="5410200" y="4114800"/>
            <a:ext cx="3733800" cy="9525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5410200" y="4164013"/>
            <a:ext cx="1965325" cy="19050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Rectangle 9"/>
          <p:cNvSpPr/>
          <p:nvPr/>
        </p:nvSpPr>
        <p:spPr>
          <a:xfrm flipV="1">
            <a:off x="5410200" y="4198938"/>
            <a:ext cx="1965325" cy="9525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11" name="Rounded Rectangle 10"/>
          <p:cNvSpPr/>
          <p:nvPr/>
        </p:nvSpPr>
        <p:spPr bwMode="white">
          <a:xfrm>
            <a:off x="5410200" y="3962400"/>
            <a:ext cx="3063875" cy="26988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12" name="Rounded Rectangle 11"/>
          <p:cNvSpPr/>
          <p:nvPr/>
        </p:nvSpPr>
        <p:spPr bwMode="white">
          <a:xfrm>
            <a:off x="7377113" y="4060825"/>
            <a:ext cx="1600200" cy="36513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0" y="3649663"/>
            <a:ext cx="9144000" cy="24447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0" y="3675063"/>
            <a:ext cx="9144000" cy="1412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Rectangle 14"/>
          <p:cNvSpPr/>
          <p:nvPr/>
        </p:nvSpPr>
        <p:spPr>
          <a:xfrm flipV="1">
            <a:off x="6413500" y="3643313"/>
            <a:ext cx="2730500" cy="2476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9144000" cy="370205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7" name="Date Placeholder 27"/>
          <p:cNvSpPr>
            <a:spLocks noGrp="1"/>
          </p:cNvSpPr>
          <p:nvPr>
            <p:ph type="dt" sz="half" idx="10"/>
          </p:nvPr>
        </p:nvSpPr>
        <p:spPr>
          <a:xfrm>
            <a:off x="6705600" y="4206875"/>
            <a:ext cx="960438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7A5911-318A-42B0-BD23-6D9EB7D0CA04}" type="datetimeFigureOut">
              <a:rPr lang="en-US"/>
              <a:pPr>
                <a:defRPr/>
              </a:pPr>
              <a:t>6/22/2021</a:t>
            </a:fld>
            <a:endParaRPr lang="en-US"/>
          </a:p>
        </p:txBody>
      </p:sp>
      <p:sp>
        <p:nvSpPr>
          <p:cNvPr id="18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20088" y="1588"/>
            <a:ext cx="747712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4458D9D-7997-48C9-9AC8-3F90B58B8F5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44431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4A82B4-6618-4215-93D9-CEB563386B8B}" type="datetimeFigureOut">
              <a:rPr lang="en-US"/>
              <a:pPr>
                <a:defRPr/>
              </a:pPr>
              <a:t>6/22/2021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7DC8DC-866E-4B93-B469-7F06B822183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62998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CF3936-C19B-44C7-9907-C0E7C284152D}" type="datetimeFigureOut">
              <a:rPr lang="en-US"/>
              <a:pPr>
                <a:defRPr/>
              </a:pPr>
              <a:t>6/22/2021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D50082-0BCC-45F0-8D95-A24D80F2B49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5859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314A90-AFC1-4E63-8122-57311A38DF42}" type="datetimeFigureOut">
              <a:rPr lang="en-US"/>
              <a:pPr>
                <a:defRPr/>
              </a:pPr>
              <a:t>6/22/2021</a:t>
            </a:fld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78D1BD-67A6-4741-9925-0FDB9D00201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62786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/>
          <a:lstStyle>
            <a:lvl1pPr>
              <a:defRPr sz="4000" b="0" i="0" cap="none"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7A2782CB-796F-4B39-B3A1-A580BB814B6D}" type="datetimeFigureOut">
              <a:rPr lang="en-US"/>
              <a:pPr>
                <a:defRPr/>
              </a:pPr>
              <a:t>6/22/2021</a:t>
            </a:fld>
            <a:endParaRPr lang="en-US"/>
          </a:p>
        </p:txBody>
      </p:sp>
      <p:sp>
        <p:nvSpPr>
          <p:cNvPr id="8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2235CFA-2E95-41A8-BAE8-E6B82C409E5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706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83363" y="612775"/>
            <a:ext cx="957262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89DFEC-1725-49C8-B349-7936A7B6C619}" type="datetimeFigureOut">
              <a:rPr lang="en-US"/>
              <a:pPr>
                <a:defRPr/>
              </a:pPr>
              <a:t>6/22/2021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7C593E-29F5-4DB5-AA21-09B3E16427D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386860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C4EACB-F0B1-430E-814E-618E1FB95B3F}" type="datetimeFigureOut">
              <a:rPr lang="en-US"/>
              <a:pPr>
                <a:defRPr/>
              </a:pPr>
              <a:t>6/22/2021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62F2B9-77ED-4645-81E1-35508EBB26E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49780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F83054-3FDA-4EA6-BDCD-F6F20A348F07}" type="datetimeFigureOut">
              <a:rPr lang="en-US"/>
              <a:pPr>
                <a:defRPr/>
              </a:pPr>
              <a:t>6/22/2021</a:t>
            </a:fld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4040EC-DEFE-48A7-8B41-72679CFEB6E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0578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3B4C38-6B7A-4435-A3AF-075D8A2102F3}" type="datetimeFigureOut">
              <a:rPr lang="en-US"/>
              <a:pPr>
                <a:defRPr/>
              </a:pPr>
              <a:t>6/22/2021</a:t>
            </a:fld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95D01F-80C4-4EF3-9C3E-4AB2D853C16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79253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F07E67-5493-4B92-9FD9-CEF01D49F27C}" type="datetimeFigureOut">
              <a:rPr lang="en-US"/>
              <a:pPr>
                <a:defRPr/>
              </a:pPr>
              <a:t>6/22/2021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CC2162-9904-4CE2-ADF7-C5DB601A180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25030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37261E-68CB-4B7F-AB36-DC4916C10FE0}" type="datetimeFigureOut">
              <a:rPr lang="en-US"/>
              <a:pPr>
                <a:defRPr/>
              </a:pPr>
              <a:t>6/22/2021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2EC959-A47F-459F-8D4B-AA4F723E346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051712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400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149026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23545" y="3648456"/>
            <a:ext cx="7296911" cy="492481"/>
          </a:xfrm>
        </p:spPr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Bookman Uralic"/>
                <a:cs typeface="Bookman Ural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44041" y="2828671"/>
            <a:ext cx="5455919" cy="400148"/>
          </a:xfrm>
        </p:spPr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302435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23545" y="3648456"/>
            <a:ext cx="7296911" cy="492481"/>
          </a:xfrm>
        </p:spPr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Bookman Uralic"/>
                <a:cs typeface="Bookman Ural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00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00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802377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23545" y="3648456"/>
            <a:ext cx="7296911" cy="492481"/>
          </a:xfrm>
        </p:spPr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Bookman Uralic"/>
                <a:cs typeface="Bookman Ural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418997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6634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42769" y="484758"/>
            <a:ext cx="4458461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00AF5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49426" y="3362909"/>
            <a:ext cx="6645147" cy="20218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0" y="366713"/>
            <a:ext cx="9144000" cy="8413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0" y="0"/>
            <a:ext cx="9144000" cy="31115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0" y="307975"/>
            <a:ext cx="9144000" cy="92075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1" name="Rectangle 30"/>
          <p:cNvSpPr/>
          <p:nvPr/>
        </p:nvSpPr>
        <p:spPr>
          <a:xfrm flipV="1">
            <a:off x="5410200" y="360363"/>
            <a:ext cx="3733800" cy="904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 flipV="1">
            <a:off x="5410200" y="439738"/>
            <a:ext cx="3733800" cy="18097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5407025" y="496888"/>
            <a:ext cx="3063875" cy="28575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7373938" y="588963"/>
            <a:ext cx="1600200" cy="3651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5" name="Rectangle 34"/>
          <p:cNvSpPr/>
          <p:nvPr/>
        </p:nvSpPr>
        <p:spPr bwMode="invGray">
          <a:xfrm>
            <a:off x="9085263" y="-1588"/>
            <a:ext cx="57150" cy="620713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9043988" y="-1588"/>
            <a:ext cx="28575" cy="620713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9024938" y="-1588"/>
            <a:ext cx="9525" cy="620713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8" name="Rectangle 37"/>
          <p:cNvSpPr/>
          <p:nvPr/>
        </p:nvSpPr>
        <p:spPr bwMode="invGray">
          <a:xfrm>
            <a:off x="8975725" y="-1588"/>
            <a:ext cx="26988" cy="620713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9" name="Rectangle 38"/>
          <p:cNvSpPr/>
          <p:nvPr/>
        </p:nvSpPr>
        <p:spPr bwMode="invGray">
          <a:xfrm>
            <a:off x="8915400" y="0"/>
            <a:ext cx="55563" cy="585788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0" name="Rectangle 39"/>
          <p:cNvSpPr/>
          <p:nvPr/>
        </p:nvSpPr>
        <p:spPr bwMode="invGray">
          <a:xfrm>
            <a:off x="8874125" y="0"/>
            <a:ext cx="7938" cy="585788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207" name="Title Placeholder 21"/>
          <p:cNvSpPr>
            <a:spLocks noGrp="1"/>
          </p:cNvSpPr>
          <p:nvPr>
            <p:ph type="title"/>
          </p:nvPr>
        </p:nvSpPr>
        <p:spPr bwMode="auto"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8208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457200" y="2249488"/>
            <a:ext cx="8229600" cy="432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586538" y="612775"/>
            <a:ext cx="957262" cy="457200"/>
          </a:xfrm>
          <a:prstGeom prst="rect">
            <a:avLst/>
          </a:prstGeom>
        </p:spPr>
        <p:txBody>
          <a:bodyPr vert="horz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800">
                <a:solidFill>
                  <a:schemeClr val="accent2"/>
                </a:solidFill>
                <a:latin typeface="+mn-lt"/>
              </a:defRPr>
            </a:lvl1pPr>
          </a:lstStyle>
          <a:p>
            <a:pPr>
              <a:defRPr/>
            </a:pPr>
            <a:fld id="{076F8D71-EA83-45CB-9292-976A9C8DA0C3}" type="datetimeFigureOut">
              <a:rPr lang="en-US"/>
              <a:pPr>
                <a:defRPr/>
              </a:pPr>
              <a:t>6/22/2021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257800" y="612775"/>
            <a:ext cx="1325563" cy="457200"/>
          </a:xfrm>
          <a:prstGeom prst="rect">
            <a:avLst/>
          </a:prstGeom>
        </p:spPr>
        <p:txBody>
          <a:bodyPr vert="horz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800">
                <a:solidFill>
                  <a:schemeClr val="accent2"/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74038" y="1588"/>
            <a:ext cx="762000" cy="36671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>
                <a:solidFill>
                  <a:srgbClr val="FFFFFF"/>
                </a:solidFill>
                <a:latin typeface="Georgia" panose="02040502050405020303" pitchFamily="18" charset="0"/>
              </a:defRPr>
            </a:lvl1pPr>
          </a:lstStyle>
          <a:p>
            <a:fld id="{C36EDDF5-661D-4F0D-A8FC-08CDEA6AF9C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3112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9pPr>
    </p:titleStyle>
    <p:bodyStyle>
      <a:lvl1pPr marL="365125" indent="-255588" algn="l" rtl="0" eaLnBrk="0" fontAlgn="base" hangingPunct="0">
        <a:spcBef>
          <a:spcPts val="300"/>
        </a:spcBef>
        <a:spcAft>
          <a:spcPct val="0"/>
        </a:spcAft>
        <a:buClr>
          <a:srgbClr val="9BBB59"/>
        </a:buClr>
        <a:buFont typeface="Georgia" panose="02040502050405020303" pitchFamily="18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7225" indent="-246063" algn="l" rtl="0" eaLnBrk="0" fontAlgn="base" hangingPunct="0">
        <a:spcBef>
          <a:spcPts val="300"/>
        </a:spcBef>
        <a:spcAft>
          <a:spcPct val="0"/>
        </a:spcAft>
        <a:buClr>
          <a:schemeClr val="accent2"/>
        </a:buClr>
        <a:buFont typeface="Georgia" panose="02040502050405020303" pitchFamily="18" charset="0"/>
        <a:buChar char="▫"/>
        <a:defRPr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2338" indent="-219075" algn="l" rtl="0" eaLnBrk="0" fontAlgn="base" hangingPunct="0">
        <a:spcBef>
          <a:spcPts val="300"/>
        </a:spcBef>
        <a:spcAft>
          <a:spcPct val="0"/>
        </a:spcAft>
        <a:buClr>
          <a:schemeClr val="accent1"/>
        </a:buClr>
        <a:buFont typeface="Wingdings 2" panose="05020102010507070707" pitchFamily="18" charset="2"/>
        <a:buChar char=""/>
        <a:defRPr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13" indent="-200025" algn="l" rtl="0" eaLnBrk="0" fontAlgn="base" hangingPunct="0">
        <a:spcBef>
          <a:spcPts val="300"/>
        </a:spcBef>
        <a:spcAft>
          <a:spcPct val="0"/>
        </a:spcAft>
        <a:buClr>
          <a:schemeClr val="accent1"/>
        </a:buClr>
        <a:buFont typeface="Wingdings 2" panose="05020102010507070707" pitchFamily="18" charset="2"/>
        <a:buChar char=""/>
        <a:defRPr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063" indent="-182563" algn="l" rtl="0" eaLnBrk="0" fontAlgn="base" hangingPunct="0">
        <a:spcBef>
          <a:spcPts val="300"/>
        </a:spcBef>
        <a:spcAft>
          <a:spcPct val="0"/>
        </a:spcAft>
        <a:buClr>
          <a:srgbClr val="9BBB59"/>
        </a:buClr>
        <a:buFont typeface="Georgia" panose="02040502050405020303" pitchFamily="18" charset="0"/>
        <a:buChar char="▫"/>
        <a:defRPr sz="2000" kern="1200">
          <a:solidFill>
            <a:srgbClr val="9BBB59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23545" y="3648455"/>
            <a:ext cx="7296911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Bookman Uralic"/>
                <a:cs typeface="Bookman Ural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44041" y="2828670"/>
            <a:ext cx="5455919" cy="400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4151" y="5726336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71047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196">
        <a:defRPr>
          <a:latin typeface="+mn-lt"/>
          <a:ea typeface="+mn-ea"/>
          <a:cs typeface="+mn-cs"/>
        </a:defRPr>
      </a:lvl2pPr>
      <a:lvl3pPr marL="914391">
        <a:defRPr>
          <a:latin typeface="+mn-lt"/>
          <a:ea typeface="+mn-ea"/>
          <a:cs typeface="+mn-cs"/>
        </a:defRPr>
      </a:lvl3pPr>
      <a:lvl4pPr marL="1371587">
        <a:defRPr>
          <a:latin typeface="+mn-lt"/>
          <a:ea typeface="+mn-ea"/>
          <a:cs typeface="+mn-cs"/>
        </a:defRPr>
      </a:lvl4pPr>
      <a:lvl5pPr marL="1828782">
        <a:defRPr>
          <a:latin typeface="+mn-lt"/>
          <a:ea typeface="+mn-ea"/>
          <a:cs typeface="+mn-cs"/>
        </a:defRPr>
      </a:lvl5pPr>
      <a:lvl6pPr marL="2285978">
        <a:defRPr>
          <a:latin typeface="+mn-lt"/>
          <a:ea typeface="+mn-ea"/>
          <a:cs typeface="+mn-cs"/>
        </a:defRPr>
      </a:lvl6pPr>
      <a:lvl7pPr marL="2743173">
        <a:defRPr>
          <a:latin typeface="+mn-lt"/>
          <a:ea typeface="+mn-ea"/>
          <a:cs typeface="+mn-cs"/>
        </a:defRPr>
      </a:lvl7pPr>
      <a:lvl8pPr marL="3200368">
        <a:defRPr>
          <a:latin typeface="+mn-lt"/>
          <a:ea typeface="+mn-ea"/>
          <a:cs typeface="+mn-cs"/>
        </a:defRPr>
      </a:lvl8pPr>
      <a:lvl9pPr marL="3657563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196">
        <a:defRPr>
          <a:latin typeface="+mn-lt"/>
          <a:ea typeface="+mn-ea"/>
          <a:cs typeface="+mn-cs"/>
        </a:defRPr>
      </a:lvl2pPr>
      <a:lvl3pPr marL="914391">
        <a:defRPr>
          <a:latin typeface="+mn-lt"/>
          <a:ea typeface="+mn-ea"/>
          <a:cs typeface="+mn-cs"/>
        </a:defRPr>
      </a:lvl3pPr>
      <a:lvl4pPr marL="1371587">
        <a:defRPr>
          <a:latin typeface="+mn-lt"/>
          <a:ea typeface="+mn-ea"/>
          <a:cs typeface="+mn-cs"/>
        </a:defRPr>
      </a:lvl4pPr>
      <a:lvl5pPr marL="1828782">
        <a:defRPr>
          <a:latin typeface="+mn-lt"/>
          <a:ea typeface="+mn-ea"/>
          <a:cs typeface="+mn-cs"/>
        </a:defRPr>
      </a:lvl5pPr>
      <a:lvl6pPr marL="2285978">
        <a:defRPr>
          <a:latin typeface="+mn-lt"/>
          <a:ea typeface="+mn-ea"/>
          <a:cs typeface="+mn-cs"/>
        </a:defRPr>
      </a:lvl6pPr>
      <a:lvl7pPr marL="2743173">
        <a:defRPr>
          <a:latin typeface="+mn-lt"/>
          <a:ea typeface="+mn-ea"/>
          <a:cs typeface="+mn-cs"/>
        </a:defRPr>
      </a:lvl7pPr>
      <a:lvl8pPr marL="3200368">
        <a:defRPr>
          <a:latin typeface="+mn-lt"/>
          <a:ea typeface="+mn-ea"/>
          <a:cs typeface="+mn-cs"/>
        </a:defRPr>
      </a:lvl8pPr>
      <a:lvl9pPr marL="3657563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k-MWeAWEta8" TargetMode="External"/><Relationship Id="rId7" Type="http://schemas.openxmlformats.org/officeDocument/2006/relationships/image" Target="../media/image12.png"/><Relationship Id="rId2" Type="http://schemas.openxmlformats.org/officeDocument/2006/relationships/hyperlink" Target="https://www.youtube.com/watch?v=g6ln1dAt-RI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hyperlink" Target="https://www.activestate.com/resources/quick-reads/how-to-install-tkinter-in-windows/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6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8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hyperlink" Target="https://python-textbok.readthedocs.io/en/1.0/Introduction_to_GUI_Programming.html" TargetMode="External"/><Relationship Id="rId3" Type="http://schemas.openxmlformats.org/officeDocument/2006/relationships/hyperlink" Target="https://www.tutorialspoint.com/how-to-install-tkinter-in-python" TargetMode="External"/><Relationship Id="rId7" Type="http://schemas.openxmlformats.org/officeDocument/2006/relationships/hyperlink" Target="https://www.geeksforgeeks.org/python-tkinter-tutorial/" TargetMode="External"/><Relationship Id="rId2" Type="http://schemas.openxmlformats.org/officeDocument/2006/relationships/hyperlink" Target="https://www.activestate.com/resources/quick-reads/how-to-install-tkinter-in-windows/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www.datacamp.com/community/tutorials/gui-tkinter-python" TargetMode="External"/><Relationship Id="rId11" Type="http://schemas.openxmlformats.org/officeDocument/2006/relationships/hyperlink" Target="https://www.geeksforgeeks.org/python-gui-tkinter/" TargetMode="External"/><Relationship Id="rId5" Type="http://schemas.openxmlformats.org/officeDocument/2006/relationships/hyperlink" Target="https://www.tutorialspoint.com/python/python_gui_programming.htm" TargetMode="External"/><Relationship Id="rId10" Type="http://schemas.openxmlformats.org/officeDocument/2006/relationships/hyperlink" Target="https://likegeeks.com/python-gui-examples-tkinter-tutorial/" TargetMode="External"/><Relationship Id="rId4" Type="http://schemas.openxmlformats.org/officeDocument/2006/relationships/hyperlink" Target="https://realpython.com/python-gui-tkinter/" TargetMode="External"/><Relationship Id="rId9" Type="http://schemas.openxmlformats.org/officeDocument/2006/relationships/hyperlink" Target="https://www.tutorialsteacher.com/python/create-gui-using-tkinter-python" TargetMode="Externa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hyperlink" Target="https://phoenixnap.com/kb/install-flask" TargetMode="External"/><Relationship Id="rId13" Type="http://schemas.openxmlformats.org/officeDocument/2006/relationships/hyperlink" Target="https://www.freecodecamp.org/news/how-to-build-a-web-application-using-flask-and-deploy-it-to-the-cloud-3551c985e492/" TargetMode="External"/><Relationship Id="rId3" Type="http://schemas.openxmlformats.org/officeDocument/2006/relationships/hyperlink" Target="https://blog.miguelgrinberg.com/post/the-flask-mega-tutorial-part-i-hello-world" TargetMode="External"/><Relationship Id="rId7" Type="http://schemas.openxmlformats.org/officeDocument/2006/relationships/hyperlink" Target="https://www.osradar.com/how-to-install-flask-in-windows-10/" TargetMode="External"/><Relationship Id="rId12" Type="http://schemas.openxmlformats.org/officeDocument/2006/relationships/hyperlink" Target="https://www.javatpoint.com/flask-tutorial" TargetMode="External"/><Relationship Id="rId2" Type="http://schemas.openxmlformats.org/officeDocument/2006/relationships/hyperlink" Target="https://www.softwaretestinghelp.com/python-flask-tutorial/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dev.to/sahilrajput/install-flask-and-create-your-first-web-application-2dba" TargetMode="External"/><Relationship Id="rId11" Type="http://schemas.openxmlformats.org/officeDocument/2006/relationships/hyperlink" Target="https://www.tutorialspoint.com/flask/flask_overview.htm" TargetMode="External"/><Relationship Id="rId5" Type="http://schemas.openxmlformats.org/officeDocument/2006/relationships/hyperlink" Target="https://timmyreilly.azurewebsites.net/python-flask-windows-development-environment-setup/" TargetMode="External"/><Relationship Id="rId10" Type="http://schemas.openxmlformats.org/officeDocument/2006/relationships/hyperlink" Target="https://realpython.com/tutorials/flask/" TargetMode="External"/><Relationship Id="rId4" Type="http://schemas.openxmlformats.org/officeDocument/2006/relationships/hyperlink" Target="https://www.fullstackpython.com/flask.html" TargetMode="External"/><Relationship Id="rId9" Type="http://schemas.openxmlformats.org/officeDocument/2006/relationships/hyperlink" Target="https://www.digitalocean.com/community/tutorials/how-to-make-a-web-application-using-flask-in-python-3" TargetMode="Externa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444" b="-2"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/>
        </p:nvSpPr>
        <p:spPr>
          <a:xfrm>
            <a:off x="3276600" y="3308350"/>
            <a:ext cx="5867400" cy="1819275"/>
          </a:xfrm>
          <a:prstGeom prst="rect">
            <a:avLst/>
          </a:prstGeom>
          <a:solidFill>
            <a:schemeClr val="dk1">
              <a:alpha val="42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grpSp>
        <p:nvGrpSpPr>
          <p:cNvPr id="7172" name="Group 8"/>
          <p:cNvGrpSpPr>
            <a:grpSpLocks/>
          </p:cNvGrpSpPr>
          <p:nvPr/>
        </p:nvGrpSpPr>
        <p:grpSpPr bwMode="auto">
          <a:xfrm>
            <a:off x="3428998" y="3429001"/>
            <a:ext cx="5638798" cy="1490376"/>
            <a:chOff x="4966856" y="5954268"/>
            <a:chExt cx="4100945" cy="1258675"/>
          </a:xfrm>
        </p:grpSpPr>
        <p:sp>
          <p:nvSpPr>
            <p:cNvPr id="4" name="Rectangle 3"/>
            <p:cNvSpPr/>
            <p:nvPr/>
          </p:nvSpPr>
          <p:spPr>
            <a:xfrm>
              <a:off x="4966856" y="5954268"/>
              <a:ext cx="4052205" cy="492038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Fakultas</a:t>
              </a:r>
              <a:r>
                <a:rPr kumimoji="0" 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 </a:t>
              </a:r>
              <a:r>
                <a:rPr kumimoji="0" lang="en-US" sz="4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Ilmu</a:t>
              </a:r>
              <a:r>
                <a:rPr kumimoji="0" 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 </a:t>
              </a:r>
              <a:r>
                <a:rPr kumimoji="0" lang="en-US" sz="4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Komputer</a:t>
              </a:r>
              <a:endPara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7178" name="TextBox 5"/>
            <p:cNvSpPr txBox="1">
              <a:spLocks noChangeArrowheads="1"/>
            </p:cNvSpPr>
            <p:nvPr/>
          </p:nvSpPr>
          <p:spPr bwMode="auto">
            <a:xfrm>
              <a:off x="5576457" y="6511136"/>
              <a:ext cx="3491344" cy="7018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1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Learning </a:t>
              </a:r>
              <a:r>
                <a:rPr kumimoji="0" lang="en-US" altLang="en-US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is the process of acquiring new understanding, knowledge, behaviors, skills, values, attitudes, and preferences.</a:t>
              </a:r>
              <a:endParaRPr kumimoji="0" lang="en-US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cxnSp>
        <p:nvCxnSpPr>
          <p:cNvPr id="14" name="Straight Connector 13"/>
          <p:cNvCxnSpPr/>
          <p:nvPr/>
        </p:nvCxnSpPr>
        <p:spPr>
          <a:xfrm>
            <a:off x="0" y="5213325"/>
            <a:ext cx="9144000" cy="15875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174" name="Rectangle 1"/>
          <p:cNvSpPr>
            <a:spLocks noChangeArrowheads="1"/>
          </p:cNvSpPr>
          <p:nvPr/>
        </p:nvSpPr>
        <p:spPr bwMode="auto">
          <a:xfrm>
            <a:off x="23446" y="5599093"/>
            <a:ext cx="91440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4000" b="1" dirty="0" smtClean="0">
                <a:solidFill>
                  <a:srgbClr val="000000"/>
                </a:solidFill>
                <a:latin typeface="+mn-lt"/>
              </a:rPr>
              <a:t>Special </a:t>
            </a:r>
            <a:r>
              <a:rPr lang="en-US" altLang="en-US" sz="4000" b="1" dirty="0">
                <a:solidFill>
                  <a:srgbClr val="000000"/>
                </a:solidFill>
                <a:latin typeface="+mn-lt"/>
              </a:rPr>
              <a:t>Case </a:t>
            </a:r>
            <a:endParaRPr lang="en-US" altLang="en-US" sz="4000" b="1" dirty="0" smtClean="0">
              <a:solidFill>
                <a:srgbClr val="000000"/>
              </a:solidFill>
              <a:latin typeface="+mn-lt"/>
            </a:endParaRPr>
          </a:p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2000" b="1" dirty="0" smtClean="0">
                <a:solidFill>
                  <a:srgbClr val="000000"/>
                </a:solidFill>
                <a:latin typeface="+mn-lt"/>
              </a:rPr>
              <a:t>[</a:t>
            </a:r>
            <a:r>
              <a:rPr lang="en-US" altLang="en-US" sz="2000" b="1" i="1" dirty="0">
                <a:solidFill>
                  <a:srgbClr val="000000"/>
                </a:solidFill>
                <a:latin typeface="+mn-lt"/>
              </a:rPr>
              <a:t>Python </a:t>
            </a:r>
            <a:r>
              <a:rPr lang="en-US" altLang="en-US" sz="2000" b="1" i="1" dirty="0" err="1" smtClean="0">
                <a:solidFill>
                  <a:srgbClr val="000000"/>
                </a:solidFill>
                <a:latin typeface="+mn-lt"/>
              </a:rPr>
              <a:t>Tkinter</a:t>
            </a:r>
            <a:r>
              <a:rPr lang="en-US" altLang="en-US" sz="2000" b="1" i="1" dirty="0" smtClean="0">
                <a:solidFill>
                  <a:srgbClr val="000000"/>
                </a:solidFill>
                <a:latin typeface="+mn-lt"/>
              </a:rPr>
              <a:t> &amp; </a:t>
            </a:r>
            <a:r>
              <a:rPr lang="en-US" altLang="en-US" sz="2000" b="1" i="1" dirty="0">
                <a:solidFill>
                  <a:srgbClr val="000000"/>
                </a:solidFill>
                <a:latin typeface="+mn-lt"/>
              </a:rPr>
              <a:t>Flask </a:t>
            </a:r>
            <a:r>
              <a:rPr lang="en-US" altLang="en-US" sz="2000" b="1" i="1" dirty="0" smtClean="0">
                <a:solidFill>
                  <a:srgbClr val="000000"/>
                </a:solidFill>
                <a:latin typeface="+mn-lt"/>
              </a:rPr>
              <a:t>Frameworks</a:t>
            </a:r>
            <a:r>
              <a:rPr lang="en-US" altLang="en-US" sz="2000" b="1" dirty="0" smtClean="0">
                <a:solidFill>
                  <a:srgbClr val="000000"/>
                </a:solidFill>
                <a:latin typeface="+mn-lt"/>
              </a:rPr>
              <a:t>]</a:t>
            </a:r>
            <a:endParaRPr kumimoji="0" lang="en-US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67810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8"/>
          <p:cNvSpPr>
            <a:spLocks noChangeArrowheads="1"/>
          </p:cNvSpPr>
          <p:nvPr/>
        </p:nvSpPr>
        <p:spPr bwMode="auto">
          <a:xfrm>
            <a:off x="609600" y="4572000"/>
            <a:ext cx="7924800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27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lvl="0" algn="ctr" fontAlgn="base">
              <a:spcBef>
                <a:spcPts val="2388"/>
              </a:spcBef>
              <a:spcAft>
                <a:spcPct val="0"/>
              </a:spcAft>
              <a:defRPr/>
            </a:pPr>
            <a:r>
              <a:rPr lang="en-US" sz="3600" b="1" dirty="0">
                <a:solidFill>
                  <a:srgbClr val="1F497D">
                    <a:satMod val="200000"/>
                  </a:srgbClr>
                </a:solidFill>
                <a:latin typeface="+mn-lt"/>
              </a:rPr>
              <a:t>Graphical User </a:t>
            </a:r>
            <a:r>
              <a:rPr lang="en-US" sz="3600" b="1" dirty="0" smtClean="0">
                <a:solidFill>
                  <a:srgbClr val="1F497D">
                    <a:satMod val="200000"/>
                  </a:srgbClr>
                </a:solidFill>
                <a:latin typeface="+mn-lt"/>
              </a:rPr>
              <a:t>Interfaces </a:t>
            </a:r>
            <a:r>
              <a:rPr lang="en-US" sz="3600" b="1" dirty="0">
                <a:solidFill>
                  <a:srgbClr val="1F497D">
                    <a:satMod val="200000"/>
                  </a:srgbClr>
                </a:solidFill>
                <a:latin typeface="+mn-lt"/>
              </a:rPr>
              <a:t>(GUIs</a:t>
            </a:r>
            <a:r>
              <a:rPr lang="en-US" sz="3600" b="1" dirty="0" smtClean="0">
                <a:solidFill>
                  <a:srgbClr val="1F497D">
                    <a:satMod val="200000"/>
                  </a:srgbClr>
                </a:solidFill>
                <a:latin typeface="+mn-lt"/>
              </a:rPr>
              <a:t>) and Framework Programming </a:t>
            </a:r>
            <a:r>
              <a:rPr lang="en-US" sz="3600" b="1" i="1" dirty="0" smtClean="0">
                <a:solidFill>
                  <a:srgbClr val="1F497D">
                    <a:satMod val="200000"/>
                  </a:srgbClr>
                </a:solidFill>
                <a:latin typeface="+mn-lt"/>
              </a:rPr>
              <a:t>with</a:t>
            </a:r>
            <a:r>
              <a:rPr lang="en-US" sz="3600" b="1" dirty="0" smtClean="0">
                <a:solidFill>
                  <a:srgbClr val="1F497D">
                    <a:satMod val="200000"/>
                  </a:srgbClr>
                </a:solidFill>
                <a:latin typeface="+mn-lt"/>
              </a:rPr>
              <a:t> Python</a:t>
            </a:r>
            <a:endParaRPr lang="en-US" sz="3600" b="1" i="1" dirty="0">
              <a:solidFill>
                <a:srgbClr val="1F497D">
                  <a:satMod val="200000"/>
                </a:srgbClr>
              </a:solidFill>
              <a:latin typeface="+mn-lt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11113" y="3789040"/>
            <a:ext cx="9132887" cy="2096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245" name="Picture 2" descr="Teens and Technology – Cavalier Chronic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3703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2604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9144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Framework </a:t>
            </a: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Programming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676400" y="1234807"/>
            <a:ext cx="7315200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</a:rPr>
              <a:t>A </a:t>
            </a:r>
            <a:r>
              <a:rPr kumimoji="0" lang="en-US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</a:rPr>
              <a:t>programming framework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</a:rPr>
              <a:t>is a prepackaged set of solutions that solves common development problems.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</a:rPr>
              <a:t>Why do people use frameworks? 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</a:rPr>
              <a:t>I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</a:rPr>
              <a:t>can say that the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</a:rPr>
              <a:t>No. 1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</a:rPr>
              <a:t>reason for using a framework is probably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 panose="02040502050405020303" pitchFamily="18" charset="0"/>
              </a:rPr>
              <a:t>saving time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</a:rPr>
              <a:t>. But as you’ll soon see, there are several other benefits you can get by leveraging frameworks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200" dirty="0" smtClean="0">
              <a:latin typeface="Georgia" panose="02040502050405020303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 smtClean="0">
                <a:latin typeface="Georgia" panose="02040502050405020303" pitchFamily="18" charset="0"/>
              </a:rPr>
              <a:t>Web </a:t>
            </a:r>
            <a:r>
              <a:rPr lang="en-US" sz="2200" b="1" i="1" dirty="0">
                <a:latin typeface="Georgia" panose="02040502050405020303" pitchFamily="18" charset="0"/>
              </a:rPr>
              <a:t>Application Framework </a:t>
            </a:r>
            <a:r>
              <a:rPr lang="en-US" sz="2200" dirty="0">
                <a:latin typeface="Georgia" panose="02040502050405020303" pitchFamily="18" charset="0"/>
              </a:rPr>
              <a:t>or simply Web Framework represents a collection of libraries and modules that enables a web application developer to write applications without having to bother about low-level details such as protocols, thread management etc</a:t>
            </a:r>
            <a:r>
              <a:rPr lang="en-US" sz="2200" dirty="0" smtClean="0">
                <a:latin typeface="Georgia" panose="02040502050405020303" pitchFamily="18" charset="0"/>
              </a:rPr>
              <a:t>.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</a:endParaRPr>
          </a:p>
        </p:txBody>
      </p:sp>
      <p:pic>
        <p:nvPicPr>
          <p:cNvPr id="1026" name="Picture 2" descr="Free Icon | Smart tv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234807"/>
            <a:ext cx="1337538" cy="1337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9864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6800" y="5378825"/>
            <a:ext cx="6781800" cy="1354217"/>
          </a:xfrm>
        </p:spPr>
        <p:txBody>
          <a:bodyPr/>
          <a:lstStyle/>
          <a:p>
            <a:pPr algn="ctr"/>
            <a:r>
              <a:rPr lang="en-US" dirty="0" smtClean="0"/>
              <a:t>What do you </a:t>
            </a:r>
            <a:r>
              <a:rPr lang="en-US" i="1" dirty="0" smtClean="0"/>
              <a:t>think</a:t>
            </a:r>
            <a:r>
              <a:rPr lang="en-US" dirty="0" smtClean="0"/>
              <a:t> about Framework Programming?</a:t>
            </a:r>
            <a:endParaRPr lang="en-US" dirty="0"/>
          </a:p>
        </p:txBody>
      </p:sp>
      <p:pic>
        <p:nvPicPr>
          <p:cNvPr id="1026" name="Picture 2" descr="√ 12 Framework untuk Pengembangan Web Terbaik 202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378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4996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9144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Framework MVC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371600"/>
            <a:ext cx="8839200" cy="3612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001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200400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1 - </a:t>
            </a:r>
            <a:r>
              <a:rPr lang="en-US" sz="4000" noProof="0" dirty="0" smtClean="0">
                <a:solidFill>
                  <a:prstClr val="black"/>
                </a:solidFill>
              </a:rPr>
              <a:t>I</a:t>
            </a:r>
            <a:r>
              <a:rPr lang="en-US" sz="4000" dirty="0" err="1" smtClean="0">
                <a:solidFill>
                  <a:prstClr val="black"/>
                </a:solidFill>
              </a:rPr>
              <a:t>nstall</a:t>
            </a:r>
            <a:r>
              <a:rPr lang="en-US" sz="4000" dirty="0" smtClean="0">
                <a:solidFill>
                  <a:prstClr val="black"/>
                </a:solidFill>
              </a:rPr>
              <a:t> </a:t>
            </a:r>
            <a:r>
              <a:rPr lang="en-US" sz="4000" b="1" dirty="0" err="1" smtClean="0">
                <a:solidFill>
                  <a:prstClr val="black"/>
                </a:solidFill>
              </a:rPr>
              <a:t>Tkinter</a:t>
            </a:r>
            <a:r>
              <a:rPr lang="en-US" sz="4000" dirty="0" smtClean="0">
                <a:solidFill>
                  <a:prstClr val="black"/>
                </a:solidFill>
              </a:rPr>
              <a:t> </a:t>
            </a:r>
            <a:r>
              <a:rPr lang="en-US" sz="4000" i="1" dirty="0" smtClean="0">
                <a:solidFill>
                  <a:prstClr val="black"/>
                </a:solidFill>
              </a:rPr>
              <a:t>on</a:t>
            </a:r>
            <a:r>
              <a:rPr lang="en-US" sz="4000" dirty="0" smtClean="0">
                <a:solidFill>
                  <a:prstClr val="black"/>
                </a:solidFill>
              </a:rPr>
              <a:t> Windows</a:t>
            </a:r>
          </a:p>
          <a:p>
            <a:pPr lvl="0" algn="ctr">
              <a:defRPr/>
            </a:pPr>
            <a:r>
              <a:rPr lang="en-US" sz="3000" b="1" dirty="0" smtClean="0">
                <a:solidFill>
                  <a:prstClr val="black"/>
                </a:solidFill>
              </a:rPr>
              <a:t>[Graphical </a:t>
            </a:r>
            <a:r>
              <a:rPr lang="en-US" sz="3000" b="1" dirty="0">
                <a:solidFill>
                  <a:prstClr val="black"/>
                </a:solidFill>
              </a:rPr>
              <a:t>User </a:t>
            </a:r>
            <a:r>
              <a:rPr lang="en-US" sz="3000" b="1" dirty="0" smtClean="0">
                <a:solidFill>
                  <a:prstClr val="black"/>
                </a:solidFill>
              </a:rPr>
              <a:t>Interfaces </a:t>
            </a:r>
            <a:r>
              <a:rPr lang="en-US" sz="3000" b="1" dirty="0">
                <a:solidFill>
                  <a:prstClr val="black"/>
                </a:solidFill>
              </a:rPr>
              <a:t>(GUIs</a:t>
            </a:r>
            <a:r>
              <a:rPr lang="en-US" sz="3000" b="1" dirty="0" smtClean="0">
                <a:solidFill>
                  <a:prstClr val="black"/>
                </a:solidFill>
              </a:rPr>
              <a:t>)]</a:t>
            </a: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</a:endParaRPr>
          </a:p>
        </p:txBody>
      </p:sp>
      <p:pic>
        <p:nvPicPr>
          <p:cNvPr id="3074" name="Picture 2" descr="Fresh Green Leaves Header On White Background Stock Photo, Picture And  Royalty Free Image. Image 78250847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312"/>
          <a:stretch/>
        </p:blipFill>
        <p:spPr bwMode="auto">
          <a:xfrm>
            <a:off x="0" y="0"/>
            <a:ext cx="91440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Fresh Green Leaves Header On White Background Stock Photo, Picture And  Royalty Free Image. Image 78250847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312"/>
          <a:stretch/>
        </p:blipFill>
        <p:spPr bwMode="auto">
          <a:xfrm rot="10800000">
            <a:off x="0" y="4419600"/>
            <a:ext cx="91440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4977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Quick Read - How To Install Tkinter on Windows Cov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480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152400" y="5257800"/>
            <a:ext cx="88392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200" dirty="0" err="1"/>
              <a:t>Tkinter</a:t>
            </a:r>
            <a:r>
              <a:rPr lang="en-US" sz="2200" dirty="0"/>
              <a:t> is </a:t>
            </a:r>
            <a:r>
              <a:rPr lang="en-US" sz="2200" dirty="0" smtClean="0"/>
              <a:t>a </a:t>
            </a:r>
            <a:r>
              <a:rPr lang="en-US" sz="2200" b="1" i="1" dirty="0" smtClean="0"/>
              <a:t>package</a:t>
            </a:r>
            <a:r>
              <a:rPr lang="en-US" sz="2200" dirty="0" smtClean="0"/>
              <a:t> in </a:t>
            </a:r>
            <a:r>
              <a:rPr lang="en-US" sz="2200" dirty="0"/>
              <a:t>Python to create Graphical User interfaces (GUIs). Installing </a:t>
            </a:r>
            <a:r>
              <a:rPr lang="en-US" sz="2200" dirty="0" err="1"/>
              <a:t>Tkinter</a:t>
            </a:r>
            <a:r>
              <a:rPr lang="en-US" sz="2200" dirty="0"/>
              <a:t> on Windows is as simple as installing Python 3.x since </a:t>
            </a:r>
            <a:r>
              <a:rPr lang="en-US" sz="2200" dirty="0" err="1"/>
              <a:t>Tkinter</a:t>
            </a:r>
            <a:r>
              <a:rPr lang="en-US" sz="2200" dirty="0"/>
              <a:t> is included in the </a:t>
            </a:r>
            <a:r>
              <a:rPr lang="en-US" sz="2200" b="1" dirty="0"/>
              <a:t>Python 3 core</a:t>
            </a:r>
            <a:r>
              <a:rPr lang="en-US" sz="2200" dirty="0"/>
              <a:t>.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76200" y="4953000"/>
            <a:ext cx="8991600" cy="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1386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9144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dirty="0" smtClean="0">
                <a:solidFill>
                  <a:srgbClr val="1F497D"/>
                </a:solidFill>
                <a:latin typeface="Georgia"/>
              </a:rPr>
              <a:t>What is </a:t>
            </a:r>
            <a:r>
              <a:rPr lang="en-US" dirty="0" err="1" smtClean="0">
                <a:solidFill>
                  <a:srgbClr val="1F497D"/>
                </a:solidFill>
                <a:latin typeface="Georgia"/>
              </a:rPr>
              <a:t>Tkinter</a:t>
            </a:r>
            <a:r>
              <a:rPr lang="en-US" dirty="0" smtClean="0">
                <a:solidFill>
                  <a:srgbClr val="1F497D"/>
                </a:solidFill>
                <a:latin typeface="Georgia"/>
              </a:rPr>
              <a:t> </a:t>
            </a:r>
            <a:r>
              <a:rPr lang="en-US" dirty="0">
                <a:solidFill>
                  <a:srgbClr val="1F497D"/>
                </a:solidFill>
                <a:latin typeface="Georgia"/>
              </a:rPr>
              <a:t>in Python?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0593" y="1235725"/>
            <a:ext cx="85344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1963" indent="-461963">
              <a:buFont typeface="Wingdings" panose="05000000000000000000" pitchFamily="2" charset="2"/>
              <a:buChar char="q"/>
            </a:pPr>
            <a:r>
              <a:rPr lang="en-US" sz="2400" dirty="0">
                <a:latin typeface="Georgia" panose="02040502050405020303" pitchFamily="18" charset="0"/>
              </a:rPr>
              <a:t>Python has a lot of </a:t>
            </a:r>
            <a:r>
              <a:rPr lang="en-US" sz="2400" b="1" dirty="0">
                <a:latin typeface="Georgia" panose="02040502050405020303" pitchFamily="18" charset="0"/>
              </a:rPr>
              <a:t>GUI </a:t>
            </a:r>
            <a:r>
              <a:rPr lang="en-US" sz="2400" b="1" dirty="0" smtClean="0">
                <a:latin typeface="Georgia" panose="02040502050405020303" pitchFamily="18" charset="0"/>
              </a:rPr>
              <a:t>Frameworks</a:t>
            </a:r>
            <a:r>
              <a:rPr lang="en-US" sz="2400" dirty="0">
                <a:latin typeface="Georgia" panose="02040502050405020303" pitchFamily="18" charset="0"/>
              </a:rPr>
              <a:t>, but </a:t>
            </a:r>
            <a:r>
              <a:rPr lang="en-US" sz="2400" dirty="0" err="1">
                <a:latin typeface="Georgia" panose="02040502050405020303" pitchFamily="18" charset="0"/>
              </a:rPr>
              <a:t>Tkinter</a:t>
            </a:r>
            <a:r>
              <a:rPr lang="en-US" sz="2400" dirty="0">
                <a:latin typeface="Georgia" panose="02040502050405020303" pitchFamily="18" charset="0"/>
              </a:rPr>
              <a:t> is the only framework that’s built into the </a:t>
            </a:r>
            <a:r>
              <a:rPr lang="en-US" sz="2400" b="1" i="1" dirty="0">
                <a:latin typeface="Georgia" panose="02040502050405020303" pitchFamily="18" charset="0"/>
              </a:rPr>
              <a:t>Python standard library</a:t>
            </a:r>
            <a:r>
              <a:rPr lang="en-US" sz="2400" dirty="0">
                <a:latin typeface="Georgia" panose="02040502050405020303" pitchFamily="18" charset="0"/>
              </a:rPr>
              <a:t>. </a:t>
            </a:r>
            <a:endParaRPr lang="en-US" sz="2400" dirty="0" smtClean="0">
              <a:latin typeface="Georgia" panose="02040502050405020303" pitchFamily="18" charset="0"/>
            </a:endParaRPr>
          </a:p>
          <a:p>
            <a:pPr marL="461963" indent="-461963">
              <a:buFont typeface="Wingdings" panose="05000000000000000000" pitchFamily="2" charset="2"/>
              <a:buChar char="q"/>
            </a:pPr>
            <a:endParaRPr lang="en-US" sz="2400" dirty="0">
              <a:latin typeface="Georgia" panose="02040502050405020303" pitchFamily="18" charset="0"/>
            </a:endParaRPr>
          </a:p>
          <a:p>
            <a:pPr marL="461963" indent="-461963">
              <a:buFont typeface="Wingdings" panose="05000000000000000000" pitchFamily="2" charset="2"/>
              <a:buChar char="q"/>
            </a:pPr>
            <a:r>
              <a:rPr lang="en-US" sz="2400" dirty="0" err="1" smtClean="0">
                <a:latin typeface="Georgia" panose="02040502050405020303" pitchFamily="18" charset="0"/>
              </a:rPr>
              <a:t>Tkinter</a:t>
            </a:r>
            <a:r>
              <a:rPr lang="en-US" sz="2400" dirty="0" smtClean="0">
                <a:latin typeface="Georgia" panose="02040502050405020303" pitchFamily="18" charset="0"/>
              </a:rPr>
              <a:t> </a:t>
            </a:r>
            <a:r>
              <a:rPr lang="en-US" sz="2400" dirty="0">
                <a:latin typeface="Georgia" panose="02040502050405020303" pitchFamily="18" charset="0"/>
              </a:rPr>
              <a:t>has several strengths. It’s cross-platform, so the same code works on Windows, </a:t>
            </a:r>
            <a:r>
              <a:rPr lang="en-US" sz="2400" dirty="0" err="1">
                <a:latin typeface="Georgia" panose="02040502050405020303" pitchFamily="18" charset="0"/>
              </a:rPr>
              <a:t>macOS</a:t>
            </a:r>
            <a:r>
              <a:rPr lang="en-US" sz="2400" dirty="0">
                <a:latin typeface="Georgia" panose="02040502050405020303" pitchFamily="18" charset="0"/>
              </a:rPr>
              <a:t>, and Linux. </a:t>
            </a:r>
            <a:endParaRPr lang="en-US" sz="2400" dirty="0" smtClean="0">
              <a:latin typeface="Georgia" panose="02040502050405020303" pitchFamily="18" charset="0"/>
            </a:endParaRPr>
          </a:p>
          <a:p>
            <a:pPr marL="461963" indent="-461963">
              <a:buFont typeface="Wingdings" panose="05000000000000000000" pitchFamily="2" charset="2"/>
              <a:buChar char="q"/>
            </a:pPr>
            <a:endParaRPr lang="en-US" sz="2400" dirty="0">
              <a:latin typeface="Georgia" panose="02040502050405020303" pitchFamily="18" charset="0"/>
            </a:endParaRPr>
          </a:p>
          <a:p>
            <a:pPr marL="461963" indent="-461963">
              <a:buFont typeface="Wingdings" panose="05000000000000000000" pitchFamily="2" charset="2"/>
              <a:buChar char="q"/>
            </a:pPr>
            <a:r>
              <a:rPr lang="en-US" sz="2400" dirty="0" smtClean="0">
                <a:latin typeface="Georgia" panose="02040502050405020303" pitchFamily="18" charset="0"/>
              </a:rPr>
              <a:t>Visual </a:t>
            </a:r>
            <a:r>
              <a:rPr lang="en-US" sz="2400" dirty="0">
                <a:latin typeface="Georgia" panose="02040502050405020303" pitchFamily="18" charset="0"/>
              </a:rPr>
              <a:t>elements are rendered using native operating system elements, so applications built with </a:t>
            </a:r>
            <a:r>
              <a:rPr lang="en-US" sz="2400" dirty="0" err="1">
                <a:latin typeface="Georgia" panose="02040502050405020303" pitchFamily="18" charset="0"/>
              </a:rPr>
              <a:t>Tkinter</a:t>
            </a:r>
            <a:r>
              <a:rPr lang="en-US" sz="2400" dirty="0">
                <a:latin typeface="Georgia" panose="02040502050405020303" pitchFamily="18" charset="0"/>
              </a:rPr>
              <a:t> look like they belong on the platform where they’re run.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9144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3200" dirty="0" smtClean="0">
                <a:solidFill>
                  <a:srgbClr val="1F497D"/>
                </a:solidFill>
                <a:latin typeface="Georgia"/>
              </a:rPr>
              <a:t>Take Advantage </a:t>
            </a:r>
            <a:r>
              <a:rPr lang="en-US" sz="3200" dirty="0">
                <a:solidFill>
                  <a:srgbClr val="1F497D"/>
                </a:solidFill>
                <a:latin typeface="Georgia"/>
              </a:rPr>
              <a:t>of </a:t>
            </a:r>
            <a:r>
              <a:rPr lang="en-US" sz="3200" dirty="0" smtClean="0">
                <a:solidFill>
                  <a:srgbClr val="1F497D"/>
                </a:solidFill>
                <a:latin typeface="Georgia"/>
              </a:rPr>
              <a:t>Latest Version </a:t>
            </a:r>
            <a:r>
              <a:rPr lang="en-US" sz="3200" dirty="0">
                <a:solidFill>
                  <a:srgbClr val="1F497D"/>
                </a:solidFill>
                <a:latin typeface="Georgia"/>
              </a:rPr>
              <a:t>of </a:t>
            </a:r>
            <a:r>
              <a:rPr lang="en-US" sz="3200" dirty="0" err="1">
                <a:solidFill>
                  <a:srgbClr val="1F497D"/>
                </a:solidFill>
                <a:latin typeface="Georgia"/>
              </a:rPr>
              <a:t>Tkinter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1214" y="1284383"/>
            <a:ext cx="8960385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96875" indent="-396875">
              <a:buFont typeface="Wingdings" panose="05000000000000000000" pitchFamily="2" charset="2"/>
              <a:buChar char="q"/>
            </a:pPr>
            <a:r>
              <a:rPr lang="en-US" sz="2400" dirty="0" smtClean="0">
                <a:latin typeface="Georgia" panose="02040502050405020303" pitchFamily="18" charset="0"/>
              </a:rPr>
              <a:t>Need </a:t>
            </a:r>
            <a:r>
              <a:rPr lang="en-US" sz="2400" dirty="0">
                <a:latin typeface="Georgia" panose="02040502050405020303" pitchFamily="18" charset="0"/>
              </a:rPr>
              <a:t>to install a version of Python that supports </a:t>
            </a:r>
            <a:r>
              <a:rPr lang="en-US" sz="2400" dirty="0" err="1">
                <a:latin typeface="Georgia" panose="02040502050405020303" pitchFamily="18" charset="0"/>
              </a:rPr>
              <a:t>Tcl</a:t>
            </a:r>
            <a:r>
              <a:rPr lang="en-US" sz="2400" dirty="0">
                <a:latin typeface="Georgia" panose="02040502050405020303" pitchFamily="18" charset="0"/>
              </a:rPr>
              <a:t>/</a:t>
            </a:r>
            <a:r>
              <a:rPr lang="en-US" sz="2400" dirty="0" err="1">
                <a:latin typeface="Georgia" panose="02040502050405020303" pitchFamily="18" charset="0"/>
              </a:rPr>
              <a:t>Tk</a:t>
            </a:r>
            <a:r>
              <a:rPr lang="en-US" sz="2400" dirty="0">
                <a:latin typeface="Georgia" panose="02040502050405020303" pitchFamily="18" charset="0"/>
              </a:rPr>
              <a:t> 8.5 or greater, as well as </a:t>
            </a:r>
            <a:r>
              <a:rPr lang="en-US" sz="2400" dirty="0" err="1">
                <a:latin typeface="Georgia" panose="02040502050405020303" pitchFamily="18" charset="0"/>
              </a:rPr>
              <a:t>Ttk</a:t>
            </a:r>
            <a:r>
              <a:rPr lang="en-US" sz="2400" dirty="0">
                <a:latin typeface="Georgia" panose="02040502050405020303" pitchFamily="18" charset="0"/>
              </a:rPr>
              <a:t> (</a:t>
            </a:r>
            <a:r>
              <a:rPr lang="en-US" sz="2400" i="1" dirty="0">
                <a:latin typeface="Georgia" panose="02040502050405020303" pitchFamily="18" charset="0"/>
              </a:rPr>
              <a:t>Tile extension integrated into </a:t>
            </a:r>
            <a:r>
              <a:rPr lang="en-US" sz="2400" i="1" dirty="0" err="1">
                <a:latin typeface="Georgia" panose="02040502050405020303" pitchFamily="18" charset="0"/>
              </a:rPr>
              <a:t>Tk</a:t>
            </a:r>
            <a:r>
              <a:rPr lang="en-US" sz="2400" dirty="0">
                <a:latin typeface="Georgia" panose="02040502050405020303" pitchFamily="18" charset="0"/>
              </a:rPr>
              <a:t>), which is required in order to run the current </a:t>
            </a:r>
            <a:r>
              <a:rPr lang="en-US" sz="2400" dirty="0" err="1">
                <a:latin typeface="Georgia" panose="02040502050405020303" pitchFamily="18" charset="0"/>
              </a:rPr>
              <a:t>Tk</a:t>
            </a:r>
            <a:r>
              <a:rPr lang="en-US" sz="2400" dirty="0">
                <a:latin typeface="Georgia" panose="02040502050405020303" pitchFamily="18" charset="0"/>
              </a:rPr>
              <a:t> widget set. </a:t>
            </a:r>
            <a:endParaRPr lang="en-US" sz="2400" dirty="0" smtClean="0">
              <a:latin typeface="Georgia" panose="02040502050405020303" pitchFamily="18" charset="0"/>
            </a:endParaRPr>
          </a:p>
          <a:p>
            <a:pPr marL="396875" indent="-396875">
              <a:buFont typeface="Wingdings" panose="05000000000000000000" pitchFamily="2" charset="2"/>
              <a:buChar char="q"/>
            </a:pPr>
            <a:endParaRPr lang="en-US" sz="2400" dirty="0">
              <a:latin typeface="Georgia" panose="02040502050405020303" pitchFamily="18" charset="0"/>
            </a:endParaRPr>
          </a:p>
          <a:p>
            <a:pPr marL="396875" indent="-396875">
              <a:buFont typeface="Wingdings" panose="05000000000000000000" pitchFamily="2" charset="2"/>
              <a:buChar char="q"/>
            </a:pPr>
            <a:r>
              <a:rPr lang="en-US" sz="2400" dirty="0">
                <a:latin typeface="Georgia" panose="02040502050405020303" pitchFamily="18" charset="0"/>
              </a:rPr>
              <a:t>Python 3.7 or greater for Windows comes </a:t>
            </a:r>
            <a:r>
              <a:rPr lang="en-US" sz="2400" dirty="0" smtClean="0">
                <a:latin typeface="Georgia" panose="02040502050405020303" pitchFamily="18" charset="0"/>
              </a:rPr>
              <a:t>full packages </a:t>
            </a:r>
            <a:r>
              <a:rPr lang="en-US" sz="2400" dirty="0">
                <a:latin typeface="Georgia" panose="02040502050405020303" pitchFamily="18" charset="0"/>
              </a:rPr>
              <a:t>to run </a:t>
            </a:r>
            <a:r>
              <a:rPr lang="en-US" sz="2400" dirty="0" err="1">
                <a:latin typeface="Georgia" panose="02040502050405020303" pitchFamily="18" charset="0"/>
              </a:rPr>
              <a:t>Tk</a:t>
            </a:r>
            <a:r>
              <a:rPr lang="en-US" sz="2400" dirty="0">
                <a:latin typeface="Georgia" panose="02040502050405020303" pitchFamily="18" charset="0"/>
              </a:rPr>
              <a:t> fully configured out-of-the-box. </a:t>
            </a:r>
            <a:endParaRPr lang="en-US" sz="2400" dirty="0" smtClean="0">
              <a:latin typeface="Georgia" panose="02040502050405020303" pitchFamily="18" charset="0"/>
            </a:endParaRPr>
          </a:p>
          <a:p>
            <a:pPr marL="396875" indent="-396875">
              <a:buFont typeface="Wingdings" panose="05000000000000000000" pitchFamily="2" charset="2"/>
              <a:buChar char="q"/>
            </a:pPr>
            <a:endParaRPr lang="en-US" sz="2400" dirty="0">
              <a:latin typeface="Georgia" panose="02040502050405020303" pitchFamily="18" charset="0"/>
            </a:endParaRPr>
          </a:p>
          <a:p>
            <a:pPr marL="396875" indent="-396875">
              <a:buFont typeface="Wingdings" panose="05000000000000000000" pitchFamily="2" charset="2"/>
              <a:buChar char="q"/>
            </a:pPr>
            <a:r>
              <a:rPr lang="en-US" sz="2400" dirty="0">
                <a:latin typeface="Georgia" panose="02040502050405020303" pitchFamily="18" charset="0"/>
              </a:rPr>
              <a:t>If you have </a:t>
            </a:r>
            <a:r>
              <a:rPr lang="en-US" sz="2400" b="1" i="1" dirty="0">
                <a:latin typeface="Georgia" panose="02040502050405020303" pitchFamily="18" charset="0"/>
              </a:rPr>
              <a:t>Python 3.6 </a:t>
            </a:r>
            <a:r>
              <a:rPr lang="en-US" sz="2400" dirty="0">
                <a:latin typeface="Georgia" panose="02040502050405020303" pitchFamily="18" charset="0"/>
              </a:rPr>
              <a:t>or an earlier version, you can simply upgrade to a newer Python version that includes the latest version of </a:t>
            </a:r>
            <a:r>
              <a:rPr lang="en-US" sz="2400" dirty="0" err="1">
                <a:latin typeface="Georgia" panose="02040502050405020303" pitchFamily="18" charset="0"/>
              </a:rPr>
              <a:t>Tkinter</a:t>
            </a:r>
            <a:r>
              <a:rPr lang="en-US" sz="2400" dirty="0">
                <a:latin typeface="Georgia" panose="02040502050405020303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070305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6858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3200" noProof="0" dirty="0" smtClean="0">
                <a:solidFill>
                  <a:srgbClr val="1F497D"/>
                </a:solidFill>
                <a:latin typeface="Georgia"/>
              </a:rPr>
              <a:t>Follow these steps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52400" y="1066800"/>
            <a:ext cx="8763000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arenR"/>
            </a:pPr>
            <a:r>
              <a:rPr lang="en-US" dirty="0" smtClean="0">
                <a:latin typeface="Georgia" panose="02040502050405020303" pitchFamily="18" charset="0"/>
              </a:rPr>
              <a:t>Install </a:t>
            </a:r>
            <a:r>
              <a:rPr lang="en-US" dirty="0">
                <a:latin typeface="Georgia" panose="02040502050405020303" pitchFamily="18" charset="0"/>
              </a:rPr>
              <a:t>Anaconda Python, </a:t>
            </a:r>
            <a:r>
              <a:rPr lang="en-US" dirty="0" err="1">
                <a:latin typeface="Georgia" panose="02040502050405020303" pitchFamily="18" charset="0"/>
              </a:rPr>
              <a:t>Jupyter</a:t>
            </a:r>
            <a:r>
              <a:rPr lang="en-US" dirty="0">
                <a:latin typeface="Georgia" panose="02040502050405020303" pitchFamily="18" charset="0"/>
              </a:rPr>
              <a:t> Notebook And </a:t>
            </a:r>
            <a:r>
              <a:rPr lang="en-US" dirty="0" err="1">
                <a:latin typeface="Georgia" panose="02040502050405020303" pitchFamily="18" charset="0"/>
              </a:rPr>
              <a:t>Spyder</a:t>
            </a:r>
            <a:r>
              <a:rPr lang="en-US" dirty="0">
                <a:latin typeface="Georgia" panose="02040502050405020303" pitchFamily="18" charset="0"/>
              </a:rPr>
              <a:t> on Windows 10</a:t>
            </a:r>
            <a:br>
              <a:rPr lang="en-US" dirty="0">
                <a:latin typeface="Georgia" panose="02040502050405020303" pitchFamily="18" charset="0"/>
              </a:rPr>
            </a:br>
            <a:r>
              <a:rPr lang="en-US" sz="1400" dirty="0">
                <a:latin typeface="Georgia" panose="02040502050405020303" pitchFamily="18" charset="0"/>
                <a:hlinkClick r:id="rId2"/>
              </a:rPr>
              <a:t>https://</a:t>
            </a:r>
            <a:r>
              <a:rPr lang="en-US" sz="1400" dirty="0" smtClean="0">
                <a:latin typeface="Georgia" panose="02040502050405020303" pitchFamily="18" charset="0"/>
                <a:hlinkClick r:id="rId2"/>
              </a:rPr>
              <a:t>www.youtube.com/watch?v=g6ln1dAt-RI</a:t>
            </a:r>
            <a:endParaRPr lang="en-US" sz="1400" dirty="0" smtClean="0">
              <a:latin typeface="Georgia" panose="02040502050405020303" pitchFamily="18" charset="0"/>
            </a:endParaRPr>
          </a:p>
          <a:p>
            <a:pPr marL="342900" indent="-342900">
              <a:buFont typeface="+mj-lt"/>
              <a:buAutoNum type="arabicParenR"/>
            </a:pPr>
            <a:endParaRPr lang="en-US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pPr marL="342900" indent="-342900">
              <a:buFont typeface="+mj-lt"/>
              <a:buAutoNum type="arabicParenR"/>
            </a:pPr>
            <a:r>
              <a:rPr lang="en-US" dirty="0" err="1" smtClean="0">
                <a:solidFill>
                  <a:srgbClr val="000000"/>
                </a:solidFill>
                <a:latin typeface="Georgia" panose="02040502050405020303" pitchFamily="18" charset="0"/>
              </a:rPr>
              <a:t>Conda</a:t>
            </a:r>
            <a:r>
              <a:rPr lang="en-US" dirty="0" smtClean="0">
                <a:solidFill>
                  <a:srgbClr val="000000"/>
                </a:solidFill>
                <a:latin typeface="Georgia" panose="02040502050405020303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create new python environment </a:t>
            </a:r>
            <a:b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</a:br>
            <a:r>
              <a:rPr lang="en-US" sz="1400" dirty="0">
                <a:solidFill>
                  <a:srgbClr val="000000"/>
                </a:solidFill>
                <a:latin typeface="Georgia" panose="02040502050405020303" pitchFamily="18" charset="0"/>
                <a:hlinkClick r:id="rId3"/>
              </a:rPr>
              <a:t>https://</a:t>
            </a:r>
            <a:r>
              <a:rPr lang="en-US" sz="1400" dirty="0" smtClean="0">
                <a:solidFill>
                  <a:srgbClr val="000000"/>
                </a:solidFill>
                <a:latin typeface="Georgia" panose="02040502050405020303" pitchFamily="18" charset="0"/>
                <a:hlinkClick r:id="rId3"/>
              </a:rPr>
              <a:t>www.youtube.com/watch?v=k-MWeAWEta8</a:t>
            </a:r>
            <a:r>
              <a:rPr lang="en-US" sz="1400" dirty="0">
                <a:solidFill>
                  <a:srgbClr val="000000"/>
                </a:solidFill>
                <a:latin typeface="Georgia" panose="02040502050405020303" pitchFamily="18" charset="0"/>
              </a:rPr>
              <a:t/>
            </a:r>
            <a:br>
              <a:rPr lang="en-US" sz="1400" dirty="0">
                <a:solidFill>
                  <a:srgbClr val="000000"/>
                </a:solidFill>
                <a:latin typeface="Georgia" panose="02040502050405020303" pitchFamily="18" charset="0"/>
              </a:rPr>
            </a:br>
            <a:r>
              <a:rPr lang="en-US" sz="1400" dirty="0">
                <a:solidFill>
                  <a:srgbClr val="000000"/>
                </a:solidFill>
                <a:latin typeface="Georgia" panose="02040502050405020303" pitchFamily="18" charset="0"/>
                <a:hlinkClick r:id="rId4"/>
              </a:rPr>
              <a:t>https://www.activestate.com/resources/quick-reads/how-to-install-tkinter-in-windows</a:t>
            </a:r>
            <a:r>
              <a:rPr lang="en-US" sz="1400" dirty="0" smtClean="0">
                <a:solidFill>
                  <a:srgbClr val="000000"/>
                </a:solidFill>
                <a:latin typeface="Georgia" panose="02040502050405020303" pitchFamily="18" charset="0"/>
                <a:hlinkClick r:id="rId4"/>
              </a:rPr>
              <a:t>/</a:t>
            </a:r>
            <a:endParaRPr lang="en-US" sz="1400" dirty="0" smtClean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pPr marL="342900" indent="-342900">
              <a:buFont typeface="+mj-lt"/>
              <a:buAutoNum type="arabicParenR"/>
            </a:pPr>
            <a:endParaRPr lang="en-US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pPr marL="342900" indent="-342900">
              <a:buFont typeface="+mj-lt"/>
              <a:buAutoNum type="arabicParenR"/>
            </a:pPr>
            <a:r>
              <a:rPr lang="en-US" dirty="0" smtClean="0">
                <a:solidFill>
                  <a:srgbClr val="000000"/>
                </a:solidFill>
                <a:latin typeface="Georgia" panose="02040502050405020303" pitchFamily="18" charset="0"/>
              </a:rPr>
              <a:t>Activate </a:t>
            </a: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the new environment that has Python 3.8</a:t>
            </a:r>
            <a:b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</a:b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$ </a:t>
            </a:r>
            <a:r>
              <a:rPr lang="en-US" i="1" dirty="0" err="1" smtClean="0">
                <a:solidFill>
                  <a:srgbClr val="000000"/>
                </a:solidFill>
                <a:latin typeface="Georgia" panose="02040502050405020303" pitchFamily="18" charset="0"/>
              </a:rPr>
              <a:t>conda</a:t>
            </a:r>
            <a:r>
              <a:rPr lang="en-US" i="1" dirty="0" smtClean="0">
                <a:solidFill>
                  <a:srgbClr val="000000"/>
                </a:solidFill>
                <a:latin typeface="Georgia" panose="02040502050405020303" pitchFamily="18" charset="0"/>
              </a:rPr>
              <a:t> activate </a:t>
            </a:r>
            <a:r>
              <a:rPr lang="en-US" i="1" dirty="0">
                <a:solidFill>
                  <a:srgbClr val="000000"/>
                </a:solidFill>
                <a:latin typeface="Georgia" panose="02040502050405020303" pitchFamily="18" charset="0"/>
              </a:rPr>
              <a:t>&lt;</a:t>
            </a:r>
            <a:r>
              <a:rPr lang="en-US" i="1" dirty="0" err="1">
                <a:solidFill>
                  <a:srgbClr val="000000"/>
                </a:solidFill>
                <a:latin typeface="Georgia" panose="02040502050405020303" pitchFamily="18" charset="0"/>
              </a:rPr>
              <a:t>env_name</a:t>
            </a:r>
            <a:r>
              <a:rPr lang="en-US" i="1" dirty="0">
                <a:solidFill>
                  <a:srgbClr val="000000"/>
                </a:solidFill>
                <a:latin typeface="Georgia" panose="02040502050405020303" pitchFamily="18" charset="0"/>
              </a:rPr>
              <a:t>&gt;</a:t>
            </a:r>
            <a:endParaRPr lang="en-US" i="1" dirty="0" smtClean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pPr marL="342900" indent="-342900">
              <a:buFont typeface="+mj-lt"/>
              <a:buAutoNum type="arabicParenR"/>
            </a:pPr>
            <a:endParaRPr lang="en-US" dirty="0" smtClean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pPr marL="342900" indent="-342900">
              <a:buFont typeface="+mj-lt"/>
              <a:buAutoNum type="arabicParenR"/>
            </a:pPr>
            <a:r>
              <a:rPr lang="en-US" dirty="0" smtClean="0">
                <a:solidFill>
                  <a:srgbClr val="000000"/>
                </a:solidFill>
                <a:latin typeface="Georgia" panose="02040502050405020303" pitchFamily="18" charset="0"/>
              </a:rPr>
              <a:t>Check </a:t>
            </a: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Python version</a:t>
            </a:r>
            <a:b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</a:b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$ </a:t>
            </a:r>
            <a:r>
              <a:rPr lang="en-US" i="1" dirty="0">
                <a:solidFill>
                  <a:srgbClr val="000000"/>
                </a:solidFill>
                <a:latin typeface="Georgia" panose="02040502050405020303" pitchFamily="18" charset="0"/>
              </a:rPr>
              <a:t>python --version</a:t>
            </a:r>
            <a:endParaRPr lang="en-US" i="1" dirty="0" smtClean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pPr marL="342900" indent="-342900">
              <a:buFont typeface="+mj-lt"/>
              <a:buAutoNum type="arabicParenR"/>
            </a:pPr>
            <a:endParaRPr lang="en-US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pPr marL="342900" indent="-342900">
              <a:buFont typeface="+mj-lt"/>
              <a:buAutoNum type="arabicParenR"/>
            </a:pP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Install </a:t>
            </a:r>
            <a:r>
              <a:rPr lang="en-US" dirty="0" err="1" smtClean="0">
                <a:solidFill>
                  <a:srgbClr val="000000"/>
                </a:solidFill>
                <a:latin typeface="Georgia" panose="02040502050405020303" pitchFamily="18" charset="0"/>
              </a:rPr>
              <a:t>Tkinter</a:t>
            </a:r>
            <a:r>
              <a:rPr lang="en-US" dirty="0" smtClean="0">
                <a:solidFill>
                  <a:srgbClr val="000000"/>
                </a:solidFill>
                <a:latin typeface="Georgia" panose="02040502050405020303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on windows</a:t>
            </a:r>
            <a:b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</a:b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$ </a:t>
            </a:r>
            <a:r>
              <a:rPr lang="en-US" i="1" dirty="0">
                <a:solidFill>
                  <a:srgbClr val="000000"/>
                </a:solidFill>
                <a:latin typeface="Georgia" panose="02040502050405020303" pitchFamily="18" charset="0"/>
              </a:rPr>
              <a:t>pip install </a:t>
            </a:r>
            <a:r>
              <a:rPr lang="en-US" i="1" dirty="0" err="1">
                <a:solidFill>
                  <a:srgbClr val="000000"/>
                </a:solidFill>
                <a:latin typeface="Georgia" panose="02040502050405020303" pitchFamily="18" charset="0"/>
              </a:rPr>
              <a:t>tk</a:t>
            </a:r>
            <a:endParaRPr lang="en-US" i="1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pPr marL="342900" indent="-342900">
              <a:buFont typeface="+mj-lt"/>
              <a:buAutoNum type="arabicParenR"/>
            </a:pPr>
            <a:endParaRPr lang="en-US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pPr marL="342900" indent="-342900">
              <a:buFont typeface="+mj-lt"/>
              <a:buAutoNum type="arabicParenR"/>
            </a:pP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Verify </a:t>
            </a:r>
            <a:r>
              <a:rPr lang="en-US" dirty="0" err="1" smtClean="0">
                <a:solidFill>
                  <a:srgbClr val="000000"/>
                </a:solidFill>
                <a:latin typeface="Georgia" panose="02040502050405020303" pitchFamily="18" charset="0"/>
              </a:rPr>
              <a:t>tkinter</a:t>
            </a:r>
            <a:r>
              <a:rPr lang="en-US" dirty="0" smtClean="0">
                <a:solidFill>
                  <a:srgbClr val="000000"/>
                </a:solidFill>
                <a:latin typeface="Georgia" panose="02040502050405020303" pitchFamily="18" charset="0"/>
              </a:rPr>
              <a:t> installation</a:t>
            </a:r>
          </a:p>
          <a:p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</a:br>
            <a:endParaRPr lang="en-US" dirty="0">
              <a:latin typeface="Georgia" panose="02040502050405020303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467" y="5650397"/>
            <a:ext cx="4311268" cy="96520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929" y="3733800"/>
            <a:ext cx="5561671" cy="30003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0" y="4987956"/>
            <a:ext cx="2392840" cy="16276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6858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3200" dirty="0">
                <a:solidFill>
                  <a:srgbClr val="1F497D"/>
                </a:solidFill>
                <a:latin typeface="Georgia"/>
              </a:rPr>
              <a:t>Working With </a:t>
            </a:r>
            <a:r>
              <a:rPr lang="en-US" sz="3200" dirty="0" err="1">
                <a:solidFill>
                  <a:srgbClr val="1F497D"/>
                </a:solidFill>
                <a:latin typeface="Georgia"/>
              </a:rPr>
              <a:t>Tkinter</a:t>
            </a:r>
            <a:r>
              <a:rPr lang="en-US" sz="3200" dirty="0">
                <a:solidFill>
                  <a:srgbClr val="1F497D"/>
                </a:solidFill>
                <a:latin typeface="Georgia"/>
              </a:rPr>
              <a:t> Widgets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778" y="1066800"/>
            <a:ext cx="6066622" cy="3118947"/>
          </a:xfrm>
          <a:prstGeom prst="rect">
            <a:avLst/>
          </a:prstGeom>
        </p:spPr>
      </p:pic>
      <p:sp>
        <p:nvSpPr>
          <p:cNvPr id="3" name="Right Brace 2"/>
          <p:cNvSpPr/>
          <p:nvPr/>
        </p:nvSpPr>
        <p:spPr>
          <a:xfrm>
            <a:off x="6400800" y="1066800"/>
            <a:ext cx="152400" cy="3124200"/>
          </a:xfrm>
          <a:prstGeom prst="righ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705601" y="2256941"/>
            <a:ext cx="16764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222222"/>
                </a:solidFill>
                <a:latin typeface="Georgia" panose="02040502050405020303" pitchFamily="18" charset="0"/>
              </a:rPr>
              <a:t>Some </a:t>
            </a:r>
            <a:r>
              <a:rPr lang="en-US" dirty="0">
                <a:solidFill>
                  <a:srgbClr val="222222"/>
                </a:solidFill>
                <a:latin typeface="Georgia" panose="02040502050405020303" pitchFamily="18" charset="0"/>
              </a:rPr>
              <a:t>of the widgets available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2400" y="4876800"/>
            <a:ext cx="8752901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>
                <a:latin typeface="Georgia" panose="02040502050405020303" pitchFamily="18" charset="0"/>
              </a:rPr>
              <a:t>Widgets are the bread and butter of the Python GUI framework </a:t>
            </a:r>
            <a:r>
              <a:rPr lang="en-US" sz="2800" dirty="0" err="1">
                <a:latin typeface="Georgia" panose="02040502050405020303" pitchFamily="18" charset="0"/>
              </a:rPr>
              <a:t>Tkinter</a:t>
            </a:r>
            <a:r>
              <a:rPr lang="en-US" sz="2800" dirty="0">
                <a:latin typeface="Georgia" panose="02040502050405020303" pitchFamily="18" charset="0"/>
              </a:rPr>
              <a:t>. They are the elements through which users interact with your program. Each widget in </a:t>
            </a:r>
            <a:r>
              <a:rPr lang="en-US" sz="2800" dirty="0" err="1">
                <a:latin typeface="Georgia" panose="02040502050405020303" pitchFamily="18" charset="0"/>
              </a:rPr>
              <a:t>Tkinter</a:t>
            </a:r>
            <a:r>
              <a:rPr lang="en-US" sz="2800" dirty="0">
                <a:latin typeface="Georgia" panose="02040502050405020303" pitchFamily="18" charset="0"/>
              </a:rPr>
              <a:t> is defined by a class.</a:t>
            </a:r>
          </a:p>
        </p:txBody>
      </p:sp>
    </p:spTree>
    <p:extLst>
      <p:ext uri="{BB962C8B-B14F-4D97-AF65-F5344CB8AC3E}">
        <p14:creationId xmlns:p14="http://schemas.microsoft.com/office/powerpoint/2010/main" val="4263433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886200"/>
            <a:ext cx="9143999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3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(#1) exercise 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for </a:t>
            </a: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students</a:t>
            </a:r>
          </a:p>
          <a:p>
            <a:pPr marL="0" marR="0" lvl="0" indent="0" algn="ctr" defTabSz="9143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400" b="1" dirty="0" smtClean="0">
                <a:solidFill>
                  <a:prstClr val="black"/>
                </a:solidFill>
                <a:latin typeface="Georgia" panose="02040502050405020303" pitchFamily="18" charset="0"/>
              </a:rPr>
              <a:t>[GUI Framework]</a:t>
            </a: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</a:endParaRPr>
          </a:p>
        </p:txBody>
      </p:sp>
      <p:pic>
        <p:nvPicPr>
          <p:cNvPr id="6148" name="Picture 4" descr="Clipboard checklist clipart letters example gif - Clipartix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1" y="1143001"/>
            <a:ext cx="1752600" cy="2609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5554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1" y="1970175"/>
            <a:ext cx="6819635" cy="4430625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/>
        </p:nvSpPr>
        <p:spPr bwMode="auto">
          <a:xfrm>
            <a:off x="152401" y="152400"/>
            <a:ext cx="8839200" cy="9144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4391">
              <a:defRPr/>
            </a:pPr>
            <a:r>
              <a:rPr lang="en-US" dirty="0">
                <a:solidFill>
                  <a:srgbClr val="1F497D"/>
                </a:solidFill>
                <a:latin typeface="Georgia"/>
              </a:rPr>
              <a:t>E</a:t>
            </a:r>
            <a:r>
              <a:rPr lang="en-US" dirty="0" smtClean="0">
                <a:solidFill>
                  <a:srgbClr val="1F497D"/>
                </a:solidFill>
                <a:latin typeface="Georgia"/>
              </a:rPr>
              <a:t>xercise #1</a:t>
            </a:r>
            <a:endParaRPr kumimoji="0" lang="en-US" sz="4000" b="0" i="1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2401" y="1182469"/>
            <a:ext cx="8839199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>
                <a:latin typeface="Bahnschrift" panose="020B0502040204020203" pitchFamily="34" charset="0"/>
              </a:rPr>
              <a:t>File   : </a:t>
            </a:r>
            <a:r>
              <a:rPr lang="en-US" i="1" dirty="0" smtClean="0">
                <a:latin typeface="Georgia" panose="02040502050405020303" pitchFamily="18" charset="0"/>
              </a:rPr>
              <a:t>demo_1.py</a:t>
            </a:r>
          </a:p>
          <a:p>
            <a:r>
              <a:rPr lang="en-US" b="1" dirty="0" err="1" smtClean="0">
                <a:latin typeface="Bahnschrift" panose="020B0502040204020203" pitchFamily="34" charset="0"/>
              </a:rPr>
              <a:t>Desc</a:t>
            </a:r>
            <a:r>
              <a:rPr lang="en-US" b="1" dirty="0" smtClean="0">
                <a:latin typeface="Bahnschrift" panose="020B0502040204020203" pitchFamily="34" charset="0"/>
              </a:rPr>
              <a:t> : </a:t>
            </a:r>
            <a:r>
              <a:rPr lang="en-US" dirty="0" smtClean="0">
                <a:latin typeface="Bahnschrift" panose="020B0502040204020203" pitchFamily="34" charset="0"/>
              </a:rPr>
              <a:t>Display/create </a:t>
            </a:r>
            <a:r>
              <a:rPr lang="en-US" dirty="0">
                <a:latin typeface="Bahnschrift" panose="020B0502040204020203" pitchFamily="34" charset="0"/>
              </a:rPr>
              <a:t>first GUI </a:t>
            </a:r>
            <a:r>
              <a:rPr lang="en-US" dirty="0" smtClean="0">
                <a:latin typeface="Bahnschrift" panose="020B0502040204020203" pitchFamily="34" charset="0"/>
              </a:rPr>
              <a:t>application with python</a:t>
            </a:r>
            <a:endParaRPr lang="en-US" dirty="0">
              <a:latin typeface="Bahnschrift" panose="020B0502040204020203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3636" y="4267200"/>
            <a:ext cx="3197963" cy="24479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23463" y="3968827"/>
            <a:ext cx="17700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b="1" dirty="0" smtClean="0">
                <a:latin typeface="Georgia" panose="02040502050405020303" pitchFamily="18" charset="0"/>
              </a:rPr>
              <a:t>Output Program:</a:t>
            </a:r>
            <a:endParaRPr lang="en-US" sz="1400" b="1" dirty="0">
              <a:latin typeface="Georgia" panose="02040502050405020303" pitchFamily="18" charset="0"/>
            </a:endParaRPr>
          </a:p>
        </p:txBody>
      </p:sp>
      <p:sp>
        <p:nvSpPr>
          <p:cNvPr id="10" name="Rounded Rectangular Callout 9"/>
          <p:cNvSpPr/>
          <p:nvPr/>
        </p:nvSpPr>
        <p:spPr>
          <a:xfrm>
            <a:off x="1983373" y="5171773"/>
            <a:ext cx="3581400" cy="1532334"/>
          </a:xfrm>
          <a:prstGeom prst="wedgeRoundRectCallout">
            <a:avLst>
              <a:gd name="adj1" fmla="val -85740"/>
              <a:gd name="adj2" fmla="val 17924"/>
              <a:gd name="adj3" fmla="val 16667"/>
            </a:avLst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 smtClean="0">
                <a:latin typeface="Georgia" panose="02040502050405020303" pitchFamily="18" charset="0"/>
              </a:rPr>
              <a:t>Last </a:t>
            </a:r>
            <a:r>
              <a:rPr lang="en-US" sz="1400" dirty="0">
                <a:latin typeface="Georgia" panose="02040502050405020303" pitchFamily="18" charset="0"/>
              </a:rPr>
              <a:t>line which calls the </a:t>
            </a:r>
            <a:r>
              <a:rPr lang="en-US" sz="1400" b="1" i="1" dirty="0" err="1">
                <a:latin typeface="Georgia" panose="02040502050405020303" pitchFamily="18" charset="0"/>
              </a:rPr>
              <a:t>mainloop</a:t>
            </a:r>
            <a:r>
              <a:rPr lang="en-US" sz="1400" b="1" i="1" dirty="0">
                <a:latin typeface="Georgia" panose="02040502050405020303" pitchFamily="18" charset="0"/>
              </a:rPr>
              <a:t> function</a:t>
            </a:r>
            <a:r>
              <a:rPr lang="en-US" sz="1400" dirty="0">
                <a:latin typeface="Georgia" panose="02040502050405020303" pitchFamily="18" charset="0"/>
              </a:rPr>
              <a:t>, this function calls the endless loop of the window, so the window will wait for any user interaction till we close </a:t>
            </a:r>
            <a:r>
              <a:rPr lang="en-US" sz="1400" dirty="0" smtClean="0">
                <a:latin typeface="Georgia" panose="02040502050405020303" pitchFamily="18" charset="0"/>
              </a:rPr>
              <a:t>it. If </a:t>
            </a:r>
            <a:r>
              <a:rPr lang="en-US" sz="1400" dirty="0">
                <a:latin typeface="Georgia" panose="02040502050405020303" pitchFamily="18" charset="0"/>
              </a:rPr>
              <a:t>you forget to call the </a:t>
            </a:r>
            <a:r>
              <a:rPr lang="en-US" sz="1400" dirty="0" err="1">
                <a:latin typeface="Georgia" panose="02040502050405020303" pitchFamily="18" charset="0"/>
              </a:rPr>
              <a:t>mainloop</a:t>
            </a:r>
            <a:r>
              <a:rPr lang="en-US" sz="1400" dirty="0">
                <a:latin typeface="Georgia" panose="02040502050405020303" pitchFamily="18" charset="0"/>
              </a:rPr>
              <a:t> function, nothing will appear to the user.</a:t>
            </a:r>
          </a:p>
        </p:txBody>
      </p:sp>
      <p:pic>
        <p:nvPicPr>
          <p:cNvPr id="11" name="Picture 10" descr="Download Free png Photography Person Clip art - thinking clipart png  download - 645 ... - DLPNG.com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669" y="5672107"/>
            <a:ext cx="840932" cy="1043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0956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6858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3200" b="1" dirty="0" smtClean="0">
                <a:solidFill>
                  <a:srgbClr val="1F497D"/>
                </a:solidFill>
                <a:latin typeface="Georgia"/>
              </a:rPr>
              <a:t>Remember:</a:t>
            </a:r>
            <a:r>
              <a:rPr lang="en-US" sz="3200" dirty="0" smtClean="0">
                <a:solidFill>
                  <a:srgbClr val="1F497D"/>
                </a:solidFill>
                <a:latin typeface="Georgia"/>
              </a:rPr>
              <a:t> “</a:t>
            </a:r>
            <a:r>
              <a:rPr lang="en-US" sz="3200" i="1" dirty="0" smtClean="0">
                <a:solidFill>
                  <a:srgbClr val="1F497D"/>
                </a:solidFill>
                <a:latin typeface="Georgia"/>
              </a:rPr>
              <a:t>two </a:t>
            </a:r>
            <a:r>
              <a:rPr lang="en-US" sz="3200" i="1" dirty="0">
                <a:solidFill>
                  <a:srgbClr val="1F497D"/>
                </a:solidFill>
                <a:latin typeface="Georgia"/>
              </a:rPr>
              <a:t>main </a:t>
            </a:r>
            <a:r>
              <a:rPr lang="en-US" sz="3200" i="1" dirty="0" smtClean="0">
                <a:solidFill>
                  <a:srgbClr val="1F497D"/>
                </a:solidFill>
                <a:latin typeface="Georgia"/>
              </a:rPr>
              <a:t>methods</a:t>
            </a:r>
            <a:r>
              <a:rPr lang="en-US" sz="3200" dirty="0" smtClean="0">
                <a:solidFill>
                  <a:srgbClr val="1F497D"/>
                </a:solidFill>
                <a:latin typeface="Georgia"/>
              </a:rPr>
              <a:t>”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5084" y="990600"/>
            <a:ext cx="8991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Georgia" panose="02040502050405020303" pitchFamily="18" charset="0"/>
              </a:rPr>
              <a:t>Users need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Georgia" panose="02040502050405020303" pitchFamily="18" charset="0"/>
              </a:rPr>
              <a:t>to remember while creating the Python application with GUI.</a:t>
            </a:r>
          </a:p>
        </p:txBody>
      </p:sp>
      <p:sp>
        <p:nvSpPr>
          <p:cNvPr id="5" name="Rectangle 4"/>
          <p:cNvSpPr/>
          <p:nvPr/>
        </p:nvSpPr>
        <p:spPr>
          <a:xfrm>
            <a:off x="21116" y="5715000"/>
            <a:ext cx="891264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Georgia" panose="02040502050405020303" pitchFamily="18" charset="0"/>
              </a:rPr>
              <a:t>Importing </a:t>
            </a:r>
            <a:r>
              <a:rPr lang="en-US" sz="2000" dirty="0" err="1">
                <a:latin typeface="Georgia" panose="02040502050405020303" pitchFamily="18" charset="0"/>
              </a:rPr>
              <a:t>tkinter</a:t>
            </a:r>
            <a:r>
              <a:rPr lang="en-US" sz="2000" dirty="0">
                <a:latin typeface="Georgia" panose="02040502050405020303" pitchFamily="18" charset="0"/>
              </a:rPr>
              <a:t> is same as importing any other module in the Python code. Note that the name of the module in Python 2.x is ‘</a:t>
            </a:r>
            <a:r>
              <a:rPr lang="en-US" sz="2000" b="1" i="1" dirty="0" err="1">
                <a:latin typeface="Georgia" panose="02040502050405020303" pitchFamily="18" charset="0"/>
              </a:rPr>
              <a:t>Tkinter</a:t>
            </a:r>
            <a:r>
              <a:rPr lang="en-US" sz="2000" dirty="0">
                <a:latin typeface="Georgia" panose="02040502050405020303" pitchFamily="18" charset="0"/>
              </a:rPr>
              <a:t>’ and in Python 3.x it is ‘</a:t>
            </a:r>
            <a:r>
              <a:rPr lang="en-US" sz="2000" b="1" i="1" dirty="0" err="1">
                <a:latin typeface="Georgia" panose="02040502050405020303" pitchFamily="18" charset="0"/>
              </a:rPr>
              <a:t>tkinter</a:t>
            </a:r>
            <a:r>
              <a:rPr lang="en-US" sz="2000" dirty="0">
                <a:latin typeface="Georgia" panose="02040502050405020303" pitchFamily="18" charset="0"/>
              </a:rPr>
              <a:t>’.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359932"/>
            <a:ext cx="7391400" cy="4357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388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1" y="1945387"/>
            <a:ext cx="6857789" cy="4455413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/>
        </p:nvSpPr>
        <p:spPr bwMode="auto">
          <a:xfrm>
            <a:off x="152401" y="152400"/>
            <a:ext cx="8839200" cy="9144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4391">
              <a:defRPr/>
            </a:pPr>
            <a:r>
              <a:rPr lang="en-US" dirty="0">
                <a:solidFill>
                  <a:srgbClr val="1F497D"/>
                </a:solidFill>
                <a:latin typeface="Georgia"/>
              </a:rPr>
              <a:t>E</a:t>
            </a:r>
            <a:r>
              <a:rPr lang="en-US" dirty="0" smtClean="0">
                <a:solidFill>
                  <a:srgbClr val="1F497D"/>
                </a:solidFill>
                <a:latin typeface="Georgia"/>
              </a:rPr>
              <a:t>xercise #2</a:t>
            </a:r>
            <a:endParaRPr kumimoji="0" lang="en-US" sz="4000" b="0" i="1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2401" y="1182469"/>
            <a:ext cx="8839199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>
                <a:latin typeface="Bahnschrift" panose="020B0502040204020203" pitchFamily="34" charset="0"/>
              </a:rPr>
              <a:t>File   : </a:t>
            </a:r>
            <a:r>
              <a:rPr lang="en-US" i="1" dirty="0" smtClean="0">
                <a:latin typeface="Georgia" panose="02040502050405020303" pitchFamily="18" charset="0"/>
              </a:rPr>
              <a:t>demo_2.py</a:t>
            </a:r>
          </a:p>
          <a:p>
            <a:r>
              <a:rPr lang="en-US" b="1" dirty="0" err="1" smtClean="0">
                <a:latin typeface="Bahnschrift" panose="020B0502040204020203" pitchFamily="34" charset="0"/>
              </a:rPr>
              <a:t>Desc</a:t>
            </a:r>
            <a:r>
              <a:rPr lang="en-US" b="1" dirty="0" smtClean="0">
                <a:latin typeface="Bahnschrift" panose="020B0502040204020203" pitchFamily="34" charset="0"/>
              </a:rPr>
              <a:t> : </a:t>
            </a:r>
            <a:r>
              <a:rPr lang="en-US" dirty="0">
                <a:latin typeface="Bahnschrift" panose="020B0502040204020203" pitchFamily="34" charset="0"/>
              </a:rPr>
              <a:t>Create a label widget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3463" y="3968827"/>
            <a:ext cx="17700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b="1" dirty="0" smtClean="0">
                <a:latin typeface="Georgia" panose="02040502050405020303" pitchFamily="18" charset="0"/>
              </a:rPr>
              <a:t>Output Program:</a:t>
            </a:r>
            <a:endParaRPr lang="en-US" sz="1400" b="1" dirty="0">
              <a:latin typeface="Georgia" panose="02040502050405020303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4444" y="4314142"/>
            <a:ext cx="4316581" cy="2391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933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1" y="1944469"/>
            <a:ext cx="6934199" cy="4505055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/>
        </p:nvSpPr>
        <p:spPr bwMode="auto">
          <a:xfrm>
            <a:off x="152401" y="152400"/>
            <a:ext cx="8839200" cy="9144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4391">
              <a:defRPr/>
            </a:pPr>
            <a:r>
              <a:rPr lang="en-US" dirty="0">
                <a:solidFill>
                  <a:srgbClr val="1F497D"/>
                </a:solidFill>
                <a:latin typeface="Georgia"/>
              </a:rPr>
              <a:t>E</a:t>
            </a:r>
            <a:r>
              <a:rPr lang="en-US" dirty="0" smtClean="0">
                <a:solidFill>
                  <a:srgbClr val="1F497D"/>
                </a:solidFill>
                <a:latin typeface="Georgia"/>
              </a:rPr>
              <a:t>xercise #3</a:t>
            </a:r>
            <a:endParaRPr kumimoji="0" lang="en-US" sz="4000" b="0" i="1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2401" y="1182469"/>
            <a:ext cx="8839199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>
                <a:latin typeface="Bahnschrift" panose="020B0502040204020203" pitchFamily="34" charset="0"/>
              </a:rPr>
              <a:t>File   : </a:t>
            </a:r>
            <a:r>
              <a:rPr lang="en-US" i="1" dirty="0" smtClean="0">
                <a:latin typeface="Georgia" panose="02040502050405020303" pitchFamily="18" charset="0"/>
              </a:rPr>
              <a:t>demo_3.py</a:t>
            </a:r>
          </a:p>
          <a:p>
            <a:r>
              <a:rPr lang="en-US" b="1" dirty="0" err="1" smtClean="0">
                <a:latin typeface="Bahnschrift" panose="020B0502040204020203" pitchFamily="34" charset="0"/>
              </a:rPr>
              <a:t>Desc</a:t>
            </a:r>
            <a:r>
              <a:rPr lang="en-US" b="1" dirty="0" smtClean="0">
                <a:latin typeface="Bahnschrift" panose="020B0502040204020203" pitchFamily="34" charset="0"/>
              </a:rPr>
              <a:t> : </a:t>
            </a:r>
            <a:r>
              <a:rPr lang="en-US" dirty="0" smtClean="0">
                <a:latin typeface="Bahnschrift" panose="020B0502040204020203" pitchFamily="34" charset="0"/>
              </a:rPr>
              <a:t>Create a button and add </a:t>
            </a:r>
            <a:r>
              <a:rPr lang="en-US" dirty="0">
                <a:latin typeface="Bahnschrift" panose="020B0502040204020203" pitchFamily="34" charset="0"/>
              </a:rPr>
              <a:t>a button widget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3463" y="3968827"/>
            <a:ext cx="17700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b="1" dirty="0" smtClean="0">
                <a:latin typeface="Georgia" panose="02040502050405020303" pitchFamily="18" charset="0"/>
              </a:rPr>
              <a:t>Output Program:</a:t>
            </a:r>
            <a:endParaRPr lang="en-US" sz="1400" b="1" dirty="0">
              <a:latin typeface="Georgia" panose="02040502050405020303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3742" y="4295884"/>
            <a:ext cx="3656121" cy="2409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066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1" y="152400"/>
            <a:ext cx="8839200" cy="9144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4391">
              <a:defRPr/>
            </a:pPr>
            <a:r>
              <a:rPr lang="en-US" dirty="0">
                <a:solidFill>
                  <a:srgbClr val="1F497D"/>
                </a:solidFill>
                <a:latin typeface="Georgia"/>
              </a:rPr>
              <a:t>E</a:t>
            </a:r>
            <a:r>
              <a:rPr lang="en-US" dirty="0" smtClean="0">
                <a:solidFill>
                  <a:srgbClr val="1F497D"/>
                </a:solidFill>
                <a:latin typeface="Georgia"/>
              </a:rPr>
              <a:t>xercise #4</a:t>
            </a:r>
            <a:endParaRPr kumimoji="0" lang="en-US" sz="4000" b="0" i="1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2401" y="1182469"/>
            <a:ext cx="8839199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>
                <a:latin typeface="Bahnschrift" panose="020B0502040204020203" pitchFamily="34" charset="0"/>
              </a:rPr>
              <a:t>File   : </a:t>
            </a:r>
            <a:r>
              <a:rPr lang="en-US" i="1" dirty="0" smtClean="0">
                <a:latin typeface="Georgia" panose="02040502050405020303" pitchFamily="18" charset="0"/>
              </a:rPr>
              <a:t>demo_4.py</a:t>
            </a:r>
          </a:p>
          <a:p>
            <a:r>
              <a:rPr lang="en-US" b="1" dirty="0" err="1" smtClean="0">
                <a:latin typeface="Bahnschrift" panose="020B0502040204020203" pitchFamily="34" charset="0"/>
              </a:rPr>
              <a:t>Desc</a:t>
            </a:r>
            <a:r>
              <a:rPr lang="en-US" b="1" dirty="0" smtClean="0">
                <a:latin typeface="Bahnschrift" panose="020B0502040204020203" pitchFamily="34" charset="0"/>
              </a:rPr>
              <a:t> : </a:t>
            </a:r>
            <a:r>
              <a:rPr lang="en-US" dirty="0">
                <a:latin typeface="Bahnschrift" panose="020B0502040204020203" pitchFamily="34" charset="0"/>
              </a:rPr>
              <a:t>How to center a window on the screen in </a:t>
            </a:r>
            <a:r>
              <a:rPr lang="en-US" dirty="0" err="1">
                <a:latin typeface="Bahnschrift" panose="020B0502040204020203" pitchFamily="34" charset="0"/>
              </a:rPr>
              <a:t>Tkinter</a:t>
            </a:r>
            <a:r>
              <a:rPr lang="en-US" dirty="0">
                <a:latin typeface="Bahnschrift" panose="020B0502040204020203" pitchFamily="34" charset="0"/>
              </a:rPr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3463" y="3968827"/>
            <a:ext cx="17700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b="1" dirty="0" smtClean="0">
                <a:latin typeface="Georgia" panose="02040502050405020303" pitchFamily="18" charset="0"/>
              </a:rPr>
              <a:t>Output Program:</a:t>
            </a:r>
            <a:endParaRPr lang="en-US" sz="1400" b="1" dirty="0">
              <a:latin typeface="Georgia" panose="02040502050405020303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1" y="1944470"/>
            <a:ext cx="5943599" cy="386147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1134" y="4302310"/>
            <a:ext cx="4380465" cy="240329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4266" y="5827693"/>
            <a:ext cx="454686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In order to place a </a:t>
            </a:r>
            <a:r>
              <a:rPr lang="en-US" sz="1400" dirty="0" err="1">
                <a:latin typeface="Georgia" panose="02040502050405020303" pitchFamily="18" charset="0"/>
              </a:rPr>
              <a:t>tkinter</a:t>
            </a:r>
            <a:r>
              <a:rPr lang="en-US" sz="1400" dirty="0">
                <a:latin typeface="Georgia" panose="02040502050405020303" pitchFamily="18" charset="0"/>
              </a:rPr>
              <a:t> window at the center of the screen, we can use the </a:t>
            </a:r>
            <a:r>
              <a:rPr lang="en-US" sz="1400" dirty="0" err="1">
                <a:latin typeface="Georgia" panose="02040502050405020303" pitchFamily="18" charset="0"/>
              </a:rPr>
              <a:t>PlaceWindow</a:t>
            </a:r>
            <a:r>
              <a:rPr lang="en-US" sz="1400" dirty="0">
                <a:latin typeface="Georgia" panose="02040502050405020303" pitchFamily="18" charset="0"/>
              </a:rPr>
              <a:t> method in which we can pass the </a:t>
            </a:r>
            <a:r>
              <a:rPr lang="en-US" sz="1400" dirty="0" err="1">
                <a:latin typeface="Georgia" panose="02040502050405020303" pitchFamily="18" charset="0"/>
              </a:rPr>
              <a:t>toplevel</a:t>
            </a:r>
            <a:r>
              <a:rPr lang="en-US" sz="1400" dirty="0">
                <a:latin typeface="Georgia" panose="02040502050405020303" pitchFamily="18" charset="0"/>
              </a:rPr>
              <a:t> window as an argument and add it into the center.</a:t>
            </a:r>
          </a:p>
        </p:txBody>
      </p:sp>
    </p:spTree>
    <p:extLst>
      <p:ext uri="{BB962C8B-B14F-4D97-AF65-F5344CB8AC3E}">
        <p14:creationId xmlns:p14="http://schemas.microsoft.com/office/powerpoint/2010/main" val="3944360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1" y="1944469"/>
            <a:ext cx="5638799" cy="3663451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/>
        </p:nvSpPr>
        <p:spPr bwMode="auto">
          <a:xfrm>
            <a:off x="152401" y="152400"/>
            <a:ext cx="8839200" cy="9144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4391">
              <a:defRPr/>
            </a:pPr>
            <a:r>
              <a:rPr lang="en-US" dirty="0">
                <a:solidFill>
                  <a:srgbClr val="1F497D"/>
                </a:solidFill>
                <a:latin typeface="Georgia"/>
              </a:rPr>
              <a:t>E</a:t>
            </a:r>
            <a:r>
              <a:rPr lang="en-US" dirty="0" smtClean="0">
                <a:solidFill>
                  <a:srgbClr val="1F497D"/>
                </a:solidFill>
                <a:latin typeface="Georgia"/>
              </a:rPr>
              <a:t>xercise #5</a:t>
            </a:r>
            <a:endParaRPr kumimoji="0" lang="en-US" sz="4000" b="0" i="1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2401" y="1182469"/>
            <a:ext cx="8839199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>
                <a:latin typeface="Bahnschrift" panose="020B0502040204020203" pitchFamily="34" charset="0"/>
              </a:rPr>
              <a:t>File   : </a:t>
            </a:r>
            <a:r>
              <a:rPr lang="en-US" i="1" dirty="0" smtClean="0">
                <a:latin typeface="Georgia" panose="02040502050405020303" pitchFamily="18" charset="0"/>
              </a:rPr>
              <a:t>demo_5.py</a:t>
            </a:r>
          </a:p>
          <a:p>
            <a:r>
              <a:rPr lang="en-US" b="1" dirty="0" err="1" smtClean="0">
                <a:latin typeface="Bahnschrift" panose="020B0502040204020203" pitchFamily="34" charset="0"/>
              </a:rPr>
              <a:t>Desc</a:t>
            </a:r>
            <a:r>
              <a:rPr lang="en-US" b="1" dirty="0" smtClean="0">
                <a:latin typeface="Bahnschrift" panose="020B0502040204020203" pitchFamily="34" charset="0"/>
              </a:rPr>
              <a:t> : </a:t>
            </a:r>
            <a:r>
              <a:rPr lang="en-US" dirty="0">
                <a:latin typeface="Bahnschrift" panose="020B0502040204020203" pitchFamily="34" charset="0"/>
              </a:rPr>
              <a:t>Change button foreground and background colors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3463" y="3968827"/>
            <a:ext cx="17700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b="1" dirty="0" smtClean="0">
                <a:latin typeface="Georgia" panose="02040502050405020303" pitchFamily="18" charset="0"/>
              </a:rPr>
              <a:t>Output Program:</a:t>
            </a:r>
            <a:endParaRPr lang="en-US" sz="1400" b="1" dirty="0">
              <a:latin typeface="Georgia" panose="02040502050405020303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7964" y="4276604"/>
            <a:ext cx="3685373" cy="242899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7846" y="5638800"/>
            <a:ext cx="5486399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 smtClean="0">
                <a:latin typeface="Georgia" panose="02040502050405020303" pitchFamily="18" charset="0"/>
              </a:rPr>
              <a:t>Set </a:t>
            </a:r>
            <a:r>
              <a:rPr lang="en-US" sz="1000" dirty="0">
                <a:latin typeface="Georgia" panose="02040502050405020303" pitchFamily="18" charset="0"/>
              </a:rPr>
              <a:t>the following important properties to customize a button:</a:t>
            </a:r>
          </a:p>
          <a:p>
            <a:pPr marL="231775" indent="-231775">
              <a:buFont typeface="+mj-lt"/>
              <a:buAutoNum type="arabicParenR"/>
            </a:pPr>
            <a:r>
              <a:rPr lang="en-US" sz="1000" b="1" dirty="0" smtClean="0">
                <a:latin typeface="Georgia" panose="02040502050405020303" pitchFamily="18" charset="0"/>
              </a:rPr>
              <a:t>text</a:t>
            </a:r>
            <a:r>
              <a:rPr lang="en-US" sz="1000" dirty="0" smtClean="0">
                <a:latin typeface="Georgia" panose="02040502050405020303" pitchFamily="18" charset="0"/>
              </a:rPr>
              <a:t> </a:t>
            </a:r>
            <a:r>
              <a:rPr lang="en-US" sz="1000" dirty="0">
                <a:latin typeface="Georgia" panose="02040502050405020303" pitchFamily="18" charset="0"/>
              </a:rPr>
              <a:t>: caption of the button</a:t>
            </a:r>
          </a:p>
          <a:p>
            <a:pPr marL="231775" indent="-231775">
              <a:buFont typeface="+mj-lt"/>
              <a:buAutoNum type="arabicParenR"/>
            </a:pPr>
            <a:r>
              <a:rPr lang="en-US" sz="1000" b="1" dirty="0" err="1">
                <a:latin typeface="Georgia" panose="02040502050405020303" pitchFamily="18" charset="0"/>
              </a:rPr>
              <a:t>bg</a:t>
            </a:r>
            <a:r>
              <a:rPr lang="en-US" sz="1000" dirty="0">
                <a:latin typeface="Georgia" panose="02040502050405020303" pitchFamily="18" charset="0"/>
              </a:rPr>
              <a:t> : background </a:t>
            </a:r>
            <a:r>
              <a:rPr lang="en-US" sz="1000" dirty="0" err="1">
                <a:latin typeface="Georgia" panose="02040502050405020303" pitchFamily="18" charset="0"/>
              </a:rPr>
              <a:t>colour</a:t>
            </a:r>
            <a:endParaRPr lang="en-US" sz="1000" dirty="0">
              <a:latin typeface="Georgia" panose="02040502050405020303" pitchFamily="18" charset="0"/>
            </a:endParaRPr>
          </a:p>
          <a:p>
            <a:pPr marL="231775" indent="-231775">
              <a:buFont typeface="+mj-lt"/>
              <a:buAutoNum type="arabicParenR"/>
            </a:pPr>
            <a:r>
              <a:rPr lang="en-US" sz="1000" b="1" dirty="0" err="1">
                <a:latin typeface="Georgia" panose="02040502050405020303" pitchFamily="18" charset="0"/>
              </a:rPr>
              <a:t>fg</a:t>
            </a:r>
            <a:r>
              <a:rPr lang="en-US" sz="1000" dirty="0">
                <a:latin typeface="Georgia" panose="02040502050405020303" pitchFamily="18" charset="0"/>
              </a:rPr>
              <a:t> : foreground </a:t>
            </a:r>
            <a:r>
              <a:rPr lang="en-US" sz="1000" dirty="0" err="1">
                <a:latin typeface="Georgia" panose="02040502050405020303" pitchFamily="18" charset="0"/>
              </a:rPr>
              <a:t>colour</a:t>
            </a:r>
            <a:endParaRPr lang="en-US" sz="1000" dirty="0">
              <a:latin typeface="Georgia" panose="02040502050405020303" pitchFamily="18" charset="0"/>
            </a:endParaRPr>
          </a:p>
          <a:p>
            <a:pPr marL="231775" indent="-231775">
              <a:buFont typeface="+mj-lt"/>
              <a:buAutoNum type="arabicParenR"/>
            </a:pPr>
            <a:r>
              <a:rPr lang="en-US" sz="1000" b="1" dirty="0">
                <a:latin typeface="Georgia" panose="02040502050405020303" pitchFamily="18" charset="0"/>
              </a:rPr>
              <a:t>font</a:t>
            </a:r>
            <a:r>
              <a:rPr lang="en-US" sz="1000" dirty="0">
                <a:latin typeface="Georgia" panose="02040502050405020303" pitchFamily="18" charset="0"/>
              </a:rPr>
              <a:t> : font name and size</a:t>
            </a:r>
          </a:p>
          <a:p>
            <a:pPr marL="231775" indent="-231775">
              <a:buFont typeface="+mj-lt"/>
              <a:buAutoNum type="arabicParenR"/>
            </a:pPr>
            <a:r>
              <a:rPr lang="en-US" sz="1000" b="1" dirty="0">
                <a:latin typeface="Georgia" panose="02040502050405020303" pitchFamily="18" charset="0"/>
              </a:rPr>
              <a:t>image</a:t>
            </a:r>
            <a:r>
              <a:rPr lang="en-US" sz="1000" dirty="0">
                <a:latin typeface="Georgia" panose="02040502050405020303" pitchFamily="18" charset="0"/>
              </a:rPr>
              <a:t> : to be displayed instead of text</a:t>
            </a:r>
          </a:p>
          <a:p>
            <a:pPr marL="231775" indent="-231775">
              <a:buFont typeface="+mj-lt"/>
              <a:buAutoNum type="arabicParenR"/>
            </a:pPr>
            <a:r>
              <a:rPr lang="en-US" sz="1000" b="1" dirty="0">
                <a:latin typeface="Georgia" panose="02040502050405020303" pitchFamily="18" charset="0"/>
              </a:rPr>
              <a:t>command</a:t>
            </a:r>
            <a:r>
              <a:rPr lang="en-US" sz="1000" dirty="0">
                <a:latin typeface="Georgia" panose="02040502050405020303" pitchFamily="18" charset="0"/>
              </a:rPr>
              <a:t> : function to be called when clicked</a:t>
            </a:r>
          </a:p>
        </p:txBody>
      </p:sp>
    </p:spTree>
    <p:extLst>
      <p:ext uri="{BB962C8B-B14F-4D97-AF65-F5344CB8AC3E}">
        <p14:creationId xmlns:p14="http://schemas.microsoft.com/office/powerpoint/2010/main" val="2667337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1" y="152400"/>
            <a:ext cx="8839200" cy="9144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4391">
              <a:defRPr/>
            </a:pPr>
            <a:r>
              <a:rPr lang="en-US" dirty="0">
                <a:solidFill>
                  <a:srgbClr val="1F497D"/>
                </a:solidFill>
                <a:latin typeface="Georgia"/>
              </a:rPr>
              <a:t>E</a:t>
            </a:r>
            <a:r>
              <a:rPr lang="en-US" dirty="0" smtClean="0">
                <a:solidFill>
                  <a:srgbClr val="1F497D"/>
                </a:solidFill>
                <a:latin typeface="Georgia"/>
              </a:rPr>
              <a:t>xercise #6</a:t>
            </a:r>
            <a:endParaRPr kumimoji="0" lang="en-US" sz="4000" b="0" i="1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2401" y="1182469"/>
            <a:ext cx="8839199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>
                <a:latin typeface="Bahnschrift" panose="020B0502040204020203" pitchFamily="34" charset="0"/>
              </a:rPr>
              <a:t>File   : </a:t>
            </a:r>
            <a:r>
              <a:rPr lang="en-US" i="1" dirty="0" smtClean="0">
                <a:latin typeface="Georgia" panose="02040502050405020303" pitchFamily="18" charset="0"/>
              </a:rPr>
              <a:t>demo_6.py</a:t>
            </a:r>
          </a:p>
          <a:p>
            <a:r>
              <a:rPr lang="en-US" b="1" dirty="0" err="1" smtClean="0">
                <a:latin typeface="Bahnschrift" panose="020B0502040204020203" pitchFamily="34" charset="0"/>
              </a:rPr>
              <a:t>Desc</a:t>
            </a:r>
            <a:r>
              <a:rPr lang="en-US" b="1" dirty="0" smtClean="0">
                <a:latin typeface="Bahnschrift" panose="020B0502040204020203" pitchFamily="34" charset="0"/>
              </a:rPr>
              <a:t> : </a:t>
            </a:r>
            <a:r>
              <a:rPr lang="en-US" dirty="0">
                <a:latin typeface="Bahnschrift" panose="020B0502040204020203" pitchFamily="34" charset="0"/>
              </a:rPr>
              <a:t>Handle button click event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3463" y="3968827"/>
            <a:ext cx="17700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b="1" dirty="0" smtClean="0">
                <a:latin typeface="Georgia" panose="02040502050405020303" pitchFamily="18" charset="0"/>
              </a:rPr>
              <a:t>Output Program:</a:t>
            </a:r>
            <a:endParaRPr lang="en-US" sz="1400" b="1" dirty="0">
              <a:latin typeface="Georgia" panose="02040502050405020303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1" y="1944469"/>
            <a:ext cx="6507340" cy="42277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0" y="4312408"/>
            <a:ext cx="3657600" cy="241069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0834" y="6172200"/>
            <a:ext cx="517696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Georgia" panose="02040502050405020303" pitchFamily="18" charset="0"/>
              </a:rPr>
              <a:t>Write a </a:t>
            </a:r>
            <a:r>
              <a:rPr lang="en-US" dirty="0">
                <a:latin typeface="Georgia" panose="02040502050405020303" pitchFamily="18" charset="0"/>
              </a:rPr>
              <a:t>function that we need to execute when the button is </a:t>
            </a:r>
            <a:r>
              <a:rPr lang="en-US" dirty="0" smtClean="0">
                <a:latin typeface="Georgia" panose="02040502050405020303" pitchFamily="18" charset="0"/>
              </a:rPr>
              <a:t>clicked.</a:t>
            </a:r>
            <a:endParaRPr lang="en-US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9837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1" y="152400"/>
            <a:ext cx="8839200" cy="9144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4391">
              <a:defRPr/>
            </a:pPr>
            <a:r>
              <a:rPr lang="en-US" dirty="0">
                <a:solidFill>
                  <a:srgbClr val="1F497D"/>
                </a:solidFill>
                <a:latin typeface="Georgia"/>
              </a:rPr>
              <a:t>E</a:t>
            </a:r>
            <a:r>
              <a:rPr lang="en-US" dirty="0" smtClean="0">
                <a:solidFill>
                  <a:srgbClr val="1F497D"/>
                </a:solidFill>
                <a:latin typeface="Georgia"/>
              </a:rPr>
              <a:t>xercise #7</a:t>
            </a:r>
            <a:endParaRPr kumimoji="0" lang="en-US" sz="4000" b="0" i="1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2401" y="1182469"/>
            <a:ext cx="8839199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>
                <a:latin typeface="Bahnschrift" panose="020B0502040204020203" pitchFamily="34" charset="0"/>
              </a:rPr>
              <a:t>File   : </a:t>
            </a:r>
            <a:r>
              <a:rPr lang="en-US" i="1" dirty="0" smtClean="0">
                <a:latin typeface="Georgia" panose="02040502050405020303" pitchFamily="18" charset="0"/>
              </a:rPr>
              <a:t>demo_7.py</a:t>
            </a:r>
          </a:p>
          <a:p>
            <a:r>
              <a:rPr lang="en-US" b="1" dirty="0" err="1" smtClean="0">
                <a:latin typeface="Bahnschrift" panose="020B0502040204020203" pitchFamily="34" charset="0"/>
              </a:rPr>
              <a:t>Desc</a:t>
            </a:r>
            <a:r>
              <a:rPr lang="en-US" b="1" dirty="0" smtClean="0">
                <a:latin typeface="Bahnschrift" panose="020B0502040204020203" pitchFamily="34" charset="0"/>
              </a:rPr>
              <a:t> : </a:t>
            </a:r>
            <a:r>
              <a:rPr lang="en-US" dirty="0" smtClean="0">
                <a:latin typeface="Bahnschrift" panose="020B0502040204020203" pitchFamily="34" charset="0"/>
              </a:rPr>
              <a:t>Get/handle </a:t>
            </a:r>
            <a:r>
              <a:rPr lang="en-US" dirty="0">
                <a:latin typeface="Bahnschrift" panose="020B0502040204020203" pitchFamily="34" charset="0"/>
              </a:rPr>
              <a:t>user input </a:t>
            </a:r>
            <a:r>
              <a:rPr lang="en-US" dirty="0" smtClean="0">
                <a:latin typeface="Bahnschrift" panose="020B0502040204020203" pitchFamily="34" charset="0"/>
              </a:rPr>
              <a:t>“text” using </a:t>
            </a:r>
            <a:r>
              <a:rPr lang="en-US" dirty="0">
                <a:latin typeface="Bahnschrift" panose="020B0502040204020203" pitchFamily="34" charset="0"/>
              </a:rPr>
              <a:t>Entry class (</a:t>
            </a:r>
            <a:r>
              <a:rPr lang="en-US" dirty="0" err="1">
                <a:latin typeface="Bahnschrift" panose="020B0502040204020203" pitchFamily="34" charset="0"/>
              </a:rPr>
              <a:t>Tkinter</a:t>
            </a:r>
            <a:r>
              <a:rPr lang="en-US" dirty="0">
                <a:latin typeface="Bahnschrift" panose="020B0502040204020203" pitchFamily="34" charset="0"/>
              </a:rPr>
              <a:t> textbox</a:t>
            </a:r>
            <a:r>
              <a:rPr lang="en-US" dirty="0" smtClean="0">
                <a:latin typeface="Bahnschrift" panose="020B0502040204020203" pitchFamily="34" charset="0"/>
              </a:rPr>
              <a:t>) or </a:t>
            </a:r>
            <a:r>
              <a:rPr lang="en-US" b="1" dirty="0" err="1" smtClean="0">
                <a:latin typeface="Bahnschrift" panose="020B0502040204020203" pitchFamily="34" charset="0"/>
              </a:rPr>
              <a:t>textfield</a:t>
            </a:r>
            <a:r>
              <a:rPr lang="en-US" b="1" dirty="0" smtClean="0">
                <a:latin typeface="Bahnschrift" panose="020B0502040204020203" pitchFamily="34" charset="0"/>
              </a:rPr>
              <a:t>.</a:t>
            </a:r>
            <a:r>
              <a:rPr lang="en-US" dirty="0" smtClean="0">
                <a:latin typeface="Bahnschrift" panose="020B0502040204020203" pitchFamily="34" charset="0"/>
              </a:rPr>
              <a:t> </a:t>
            </a:r>
            <a:endParaRPr lang="en-US" dirty="0">
              <a:latin typeface="Bahnschrift" panose="020B0502040204020203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23463" y="3968827"/>
            <a:ext cx="17700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b="1" dirty="0" smtClean="0">
                <a:latin typeface="Georgia" panose="02040502050405020303" pitchFamily="18" charset="0"/>
              </a:rPr>
              <a:t>Output Program:</a:t>
            </a:r>
            <a:endParaRPr lang="en-US" sz="1400" b="1" dirty="0">
              <a:latin typeface="Georgia" panose="02040502050405020303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1" y="1944470"/>
            <a:ext cx="6095999" cy="396048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4276604"/>
            <a:ext cx="3733800" cy="246091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3671" y="5942933"/>
            <a:ext cx="515222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Georgia" panose="02040502050405020303" pitchFamily="18" charset="0"/>
              </a:rPr>
              <a:t>If you click the button and there is a text on the entry widget, it will show “</a:t>
            </a:r>
            <a:r>
              <a:rPr lang="en-US" sz="1600" i="1" dirty="0">
                <a:latin typeface="Georgia" panose="02040502050405020303" pitchFamily="18" charset="0"/>
              </a:rPr>
              <a:t>Welcome to</a:t>
            </a:r>
            <a:r>
              <a:rPr lang="en-US" sz="1600" dirty="0">
                <a:latin typeface="Georgia" panose="02040502050405020303" pitchFamily="18" charset="0"/>
              </a:rPr>
              <a:t>” concatenated with the entered </a:t>
            </a:r>
            <a:r>
              <a:rPr lang="en-US" sz="1600" i="1" dirty="0">
                <a:latin typeface="Georgia" panose="02040502050405020303" pitchFamily="18" charset="0"/>
              </a:rPr>
              <a:t>text</a:t>
            </a:r>
            <a:r>
              <a:rPr lang="en-US" sz="1600" dirty="0">
                <a:latin typeface="Georgia" panose="02040502050405020303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17067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1" y="152400"/>
            <a:ext cx="8839200" cy="9144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4391">
              <a:defRPr/>
            </a:pPr>
            <a:r>
              <a:rPr lang="en-US" dirty="0">
                <a:solidFill>
                  <a:srgbClr val="1F497D"/>
                </a:solidFill>
                <a:latin typeface="Georgia"/>
              </a:rPr>
              <a:t>E</a:t>
            </a:r>
            <a:r>
              <a:rPr lang="en-US" dirty="0" smtClean="0">
                <a:solidFill>
                  <a:srgbClr val="1F497D"/>
                </a:solidFill>
                <a:latin typeface="Georgia"/>
              </a:rPr>
              <a:t>xercise #8</a:t>
            </a:r>
            <a:endParaRPr kumimoji="0" lang="en-US" sz="4000" b="0" i="1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2401" y="1182469"/>
            <a:ext cx="8839199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>
                <a:latin typeface="Bahnschrift" panose="020B0502040204020203" pitchFamily="34" charset="0"/>
              </a:rPr>
              <a:t>File   : </a:t>
            </a:r>
            <a:r>
              <a:rPr lang="en-US" i="1" dirty="0" smtClean="0">
                <a:latin typeface="Georgia" panose="02040502050405020303" pitchFamily="18" charset="0"/>
              </a:rPr>
              <a:t>demo_8.py</a:t>
            </a:r>
          </a:p>
          <a:p>
            <a:r>
              <a:rPr lang="en-US" b="1" dirty="0" err="1" smtClean="0">
                <a:latin typeface="Bahnschrift" panose="020B0502040204020203" pitchFamily="34" charset="0"/>
              </a:rPr>
              <a:t>Desc</a:t>
            </a:r>
            <a:r>
              <a:rPr lang="en-US" b="1" dirty="0" smtClean="0">
                <a:latin typeface="Bahnschrift" panose="020B0502040204020203" pitchFamily="34" charset="0"/>
              </a:rPr>
              <a:t> : </a:t>
            </a:r>
            <a:r>
              <a:rPr lang="en-US" dirty="0">
                <a:latin typeface="Bahnschrift" panose="020B0502040204020203" pitchFamily="34" charset="0"/>
              </a:rPr>
              <a:t>Add a </a:t>
            </a:r>
            <a:r>
              <a:rPr lang="en-US" dirty="0" err="1">
                <a:latin typeface="Bahnschrift" panose="020B0502040204020203" pitchFamily="34" charset="0"/>
              </a:rPr>
              <a:t>combobox</a:t>
            </a:r>
            <a:r>
              <a:rPr lang="en-US" dirty="0">
                <a:latin typeface="Bahnschrift" panose="020B0502040204020203" pitchFamily="34" charset="0"/>
              </a:rPr>
              <a:t> widget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3463" y="3968827"/>
            <a:ext cx="17700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b="1" dirty="0" smtClean="0">
                <a:latin typeface="Georgia" panose="02040502050405020303" pitchFamily="18" charset="0"/>
              </a:rPr>
              <a:t>Output Program:</a:t>
            </a:r>
            <a:endParaRPr lang="en-US" sz="1400" b="1" dirty="0">
              <a:latin typeface="Georgia" panose="02040502050405020303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1" y="1944469"/>
            <a:ext cx="6741915" cy="4380131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4282112"/>
            <a:ext cx="3742063" cy="2466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588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1" y="152400"/>
            <a:ext cx="8839200" cy="9144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4391">
              <a:defRPr/>
            </a:pPr>
            <a:r>
              <a:rPr lang="en-US" dirty="0">
                <a:solidFill>
                  <a:srgbClr val="1F497D"/>
                </a:solidFill>
                <a:latin typeface="Georgia"/>
              </a:rPr>
              <a:t>E</a:t>
            </a:r>
            <a:r>
              <a:rPr lang="en-US" dirty="0" smtClean="0">
                <a:solidFill>
                  <a:srgbClr val="1F497D"/>
                </a:solidFill>
                <a:latin typeface="Georgia"/>
              </a:rPr>
              <a:t>xercise #9</a:t>
            </a:r>
            <a:endParaRPr kumimoji="0" lang="en-US" sz="4000" b="0" i="1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2401" y="1182469"/>
            <a:ext cx="8839199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>
                <a:latin typeface="Bahnschrift" panose="020B0502040204020203" pitchFamily="34" charset="0"/>
              </a:rPr>
              <a:t>File   : </a:t>
            </a:r>
            <a:r>
              <a:rPr lang="en-US" i="1" dirty="0" smtClean="0">
                <a:latin typeface="Georgia" panose="02040502050405020303" pitchFamily="18" charset="0"/>
              </a:rPr>
              <a:t>demo_9.py</a:t>
            </a:r>
          </a:p>
          <a:p>
            <a:r>
              <a:rPr lang="en-US" b="1" dirty="0" err="1" smtClean="0">
                <a:latin typeface="Bahnschrift" panose="020B0502040204020203" pitchFamily="34" charset="0"/>
              </a:rPr>
              <a:t>Desc</a:t>
            </a:r>
            <a:r>
              <a:rPr lang="en-US" b="1" dirty="0" smtClean="0">
                <a:latin typeface="Bahnschrift" panose="020B0502040204020203" pitchFamily="34" charset="0"/>
              </a:rPr>
              <a:t> : </a:t>
            </a:r>
            <a:r>
              <a:rPr lang="en-US" dirty="0">
                <a:latin typeface="Bahnschrift" panose="020B0502040204020203" pitchFamily="34" charset="0"/>
              </a:rPr>
              <a:t>Add a </a:t>
            </a:r>
            <a:r>
              <a:rPr lang="en-US" dirty="0" err="1">
                <a:latin typeface="Bahnschrift" panose="020B0502040204020203" pitchFamily="34" charset="0"/>
              </a:rPr>
              <a:t>Checkbutton</a:t>
            </a:r>
            <a:r>
              <a:rPr lang="en-US" dirty="0">
                <a:latin typeface="Bahnschrift" panose="020B0502040204020203" pitchFamily="34" charset="0"/>
              </a:rPr>
              <a:t> widget (</a:t>
            </a:r>
            <a:r>
              <a:rPr lang="en-US" dirty="0" err="1">
                <a:latin typeface="Bahnschrift" panose="020B0502040204020203" pitchFamily="34" charset="0"/>
              </a:rPr>
              <a:t>Tkinter</a:t>
            </a:r>
            <a:r>
              <a:rPr lang="en-US" dirty="0">
                <a:latin typeface="Bahnschrift" panose="020B0502040204020203" pitchFamily="34" charset="0"/>
              </a:rPr>
              <a:t> checkbox)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3463" y="3968827"/>
            <a:ext cx="17700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b="1" dirty="0" smtClean="0">
                <a:latin typeface="Georgia" panose="02040502050405020303" pitchFamily="18" charset="0"/>
              </a:rPr>
              <a:t>Output Program:</a:t>
            </a:r>
            <a:endParaRPr lang="en-US" sz="1400" b="1" dirty="0">
              <a:latin typeface="Georgia" panose="02040502050405020303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944469"/>
            <a:ext cx="6934199" cy="450505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4276604"/>
            <a:ext cx="3729210" cy="2457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571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1" y="152400"/>
            <a:ext cx="8839200" cy="9144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4391">
              <a:defRPr/>
            </a:pPr>
            <a:r>
              <a:rPr lang="en-US" dirty="0">
                <a:solidFill>
                  <a:srgbClr val="1F497D"/>
                </a:solidFill>
                <a:latin typeface="Georgia"/>
              </a:rPr>
              <a:t>E</a:t>
            </a:r>
            <a:r>
              <a:rPr lang="en-US" dirty="0" smtClean="0">
                <a:solidFill>
                  <a:srgbClr val="1F497D"/>
                </a:solidFill>
                <a:latin typeface="Georgia"/>
              </a:rPr>
              <a:t>xercise #10</a:t>
            </a:r>
            <a:endParaRPr kumimoji="0" lang="en-US" sz="4000" b="0" i="1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2401" y="1182469"/>
            <a:ext cx="8839199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>
                <a:latin typeface="Bahnschrift" panose="020B0502040204020203" pitchFamily="34" charset="0"/>
              </a:rPr>
              <a:t>File   : </a:t>
            </a:r>
            <a:r>
              <a:rPr lang="en-US" i="1" dirty="0" smtClean="0">
                <a:latin typeface="Georgia" panose="02040502050405020303" pitchFamily="18" charset="0"/>
              </a:rPr>
              <a:t>demo_10.py</a:t>
            </a:r>
          </a:p>
          <a:p>
            <a:r>
              <a:rPr lang="en-US" b="1" dirty="0" err="1" smtClean="0">
                <a:latin typeface="Bahnschrift" panose="020B0502040204020203" pitchFamily="34" charset="0"/>
              </a:rPr>
              <a:t>Desc</a:t>
            </a:r>
            <a:r>
              <a:rPr lang="en-US" b="1" dirty="0" smtClean="0">
                <a:latin typeface="Bahnschrift" panose="020B0502040204020203" pitchFamily="34" charset="0"/>
              </a:rPr>
              <a:t> : </a:t>
            </a:r>
            <a:r>
              <a:rPr lang="en-US" dirty="0">
                <a:latin typeface="Bahnschrift" panose="020B0502040204020203" pitchFamily="34" charset="0"/>
              </a:rPr>
              <a:t>Add radio buttons widgets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3463" y="3968827"/>
            <a:ext cx="17700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b="1" dirty="0" smtClean="0">
                <a:latin typeface="Georgia" panose="02040502050405020303" pitchFamily="18" charset="0"/>
              </a:rPr>
              <a:t>Output Program:</a:t>
            </a:r>
            <a:endParaRPr lang="en-US" sz="1400" b="1" dirty="0">
              <a:latin typeface="Georgia" panose="02040502050405020303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1" y="1957323"/>
            <a:ext cx="7057228" cy="458498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0024" y="4267200"/>
            <a:ext cx="3699641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626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1" y="152400"/>
            <a:ext cx="8839200" cy="9144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4391">
              <a:defRPr/>
            </a:pPr>
            <a:r>
              <a:rPr lang="en-US" dirty="0">
                <a:solidFill>
                  <a:srgbClr val="1F497D"/>
                </a:solidFill>
                <a:latin typeface="Georgia"/>
              </a:rPr>
              <a:t>E</a:t>
            </a:r>
            <a:r>
              <a:rPr lang="en-US" dirty="0" smtClean="0">
                <a:solidFill>
                  <a:srgbClr val="1F497D"/>
                </a:solidFill>
                <a:latin typeface="Georgia"/>
              </a:rPr>
              <a:t>xercise #11</a:t>
            </a:r>
            <a:endParaRPr kumimoji="0" lang="en-US" sz="4000" b="0" i="1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2401" y="1182469"/>
            <a:ext cx="8839199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>
                <a:latin typeface="Bahnschrift" panose="020B0502040204020203" pitchFamily="34" charset="0"/>
              </a:rPr>
              <a:t>File   : </a:t>
            </a:r>
            <a:r>
              <a:rPr lang="en-US" i="1" dirty="0" smtClean="0">
                <a:latin typeface="Georgia" panose="02040502050405020303" pitchFamily="18" charset="0"/>
              </a:rPr>
              <a:t>demo_11.py</a:t>
            </a:r>
          </a:p>
          <a:p>
            <a:r>
              <a:rPr lang="en-US" b="1" dirty="0" err="1" smtClean="0">
                <a:latin typeface="Bahnschrift" panose="020B0502040204020203" pitchFamily="34" charset="0"/>
              </a:rPr>
              <a:t>Desc</a:t>
            </a:r>
            <a:r>
              <a:rPr lang="en-US" b="1" dirty="0" smtClean="0">
                <a:latin typeface="Bahnschrift" panose="020B0502040204020203" pitchFamily="34" charset="0"/>
              </a:rPr>
              <a:t> : </a:t>
            </a:r>
            <a:r>
              <a:rPr lang="en-US" dirty="0">
                <a:latin typeface="Bahnschrift" panose="020B0502040204020203" pitchFamily="34" charset="0"/>
              </a:rPr>
              <a:t>Get radio button value (selected radio button)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3463" y="3968827"/>
            <a:ext cx="17700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b="1" dirty="0" smtClean="0">
                <a:latin typeface="Georgia" panose="02040502050405020303" pitchFamily="18" charset="0"/>
              </a:rPr>
              <a:t>Output Program:</a:t>
            </a:r>
            <a:endParaRPr lang="en-US" sz="1400" b="1" dirty="0">
              <a:latin typeface="Georgia" panose="02040502050405020303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1" y="1944469"/>
            <a:ext cx="7069163" cy="459274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4276604"/>
            <a:ext cx="3733800" cy="2460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809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1" y="152400"/>
            <a:ext cx="8839200" cy="9144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4391">
              <a:defRPr/>
            </a:pPr>
            <a:r>
              <a:rPr lang="en-US" dirty="0">
                <a:solidFill>
                  <a:srgbClr val="1F497D"/>
                </a:solidFill>
                <a:latin typeface="Georgia"/>
              </a:rPr>
              <a:t>E</a:t>
            </a:r>
            <a:r>
              <a:rPr lang="en-US" dirty="0" smtClean="0">
                <a:solidFill>
                  <a:srgbClr val="1F497D"/>
                </a:solidFill>
                <a:latin typeface="Georgia"/>
              </a:rPr>
              <a:t>xercise #12</a:t>
            </a:r>
            <a:endParaRPr kumimoji="0" lang="en-US" sz="4000" b="0" i="1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2401" y="1182469"/>
            <a:ext cx="8839199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>
                <a:latin typeface="Bahnschrift" panose="020B0502040204020203" pitchFamily="34" charset="0"/>
              </a:rPr>
              <a:t>File   : </a:t>
            </a:r>
            <a:r>
              <a:rPr lang="en-US" i="1" dirty="0" smtClean="0">
                <a:latin typeface="Georgia" panose="02040502050405020303" pitchFamily="18" charset="0"/>
              </a:rPr>
              <a:t>demo_12.py</a:t>
            </a:r>
          </a:p>
          <a:p>
            <a:r>
              <a:rPr lang="en-US" b="1" dirty="0" err="1" smtClean="0">
                <a:latin typeface="Bahnschrift" panose="020B0502040204020203" pitchFamily="34" charset="0"/>
              </a:rPr>
              <a:t>Desc</a:t>
            </a:r>
            <a:r>
              <a:rPr lang="en-US" b="1" dirty="0" smtClean="0">
                <a:latin typeface="Bahnschrift" panose="020B0502040204020203" pitchFamily="34" charset="0"/>
              </a:rPr>
              <a:t> : </a:t>
            </a:r>
            <a:r>
              <a:rPr lang="en-US" dirty="0">
                <a:latin typeface="Bahnschrift" panose="020B0502040204020203" pitchFamily="34" charset="0"/>
              </a:rPr>
              <a:t>Create a </a:t>
            </a:r>
            <a:r>
              <a:rPr lang="en-US" dirty="0" err="1">
                <a:latin typeface="Bahnschrift" panose="020B0502040204020203" pitchFamily="34" charset="0"/>
              </a:rPr>
              <a:t>MessageBox</a:t>
            </a:r>
            <a:endParaRPr lang="en-US" dirty="0">
              <a:latin typeface="Bahnschrift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1" y="1944469"/>
            <a:ext cx="7315199" cy="474483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1746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1" y="152400"/>
            <a:ext cx="8839200" cy="9144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4391">
              <a:defRPr/>
            </a:pPr>
            <a:r>
              <a:rPr lang="en-US" dirty="0">
                <a:solidFill>
                  <a:srgbClr val="1F497D"/>
                </a:solidFill>
                <a:latin typeface="Georgia"/>
              </a:rPr>
              <a:t>E</a:t>
            </a:r>
            <a:r>
              <a:rPr lang="en-US" dirty="0" smtClean="0">
                <a:solidFill>
                  <a:srgbClr val="1F497D"/>
                </a:solidFill>
                <a:latin typeface="Georgia"/>
              </a:rPr>
              <a:t>xercise #13</a:t>
            </a:r>
            <a:endParaRPr kumimoji="0" lang="en-US" sz="4000" b="0" i="1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2401" y="1182469"/>
            <a:ext cx="8839199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>
                <a:latin typeface="Bahnschrift" panose="020B0502040204020203" pitchFamily="34" charset="0"/>
              </a:rPr>
              <a:t>File   : </a:t>
            </a:r>
            <a:r>
              <a:rPr lang="en-US" i="1" dirty="0" smtClean="0">
                <a:latin typeface="Georgia" panose="02040502050405020303" pitchFamily="18" charset="0"/>
              </a:rPr>
              <a:t>demo_13.py</a:t>
            </a:r>
          </a:p>
          <a:p>
            <a:r>
              <a:rPr lang="en-US" b="1" dirty="0" err="1" smtClean="0">
                <a:latin typeface="Bahnschrift" panose="020B0502040204020203" pitchFamily="34" charset="0"/>
              </a:rPr>
              <a:t>Desc</a:t>
            </a:r>
            <a:r>
              <a:rPr lang="en-US" b="1" dirty="0" smtClean="0">
                <a:latin typeface="Bahnschrift" panose="020B0502040204020203" pitchFamily="34" charset="0"/>
              </a:rPr>
              <a:t> : </a:t>
            </a:r>
            <a:r>
              <a:rPr lang="en-US" dirty="0">
                <a:latin typeface="Bahnschrift" panose="020B0502040204020203" pitchFamily="34" charset="0"/>
              </a:rPr>
              <a:t>Add a Menu bar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3463" y="3968827"/>
            <a:ext cx="17700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b="1" dirty="0" smtClean="0">
                <a:latin typeface="Georgia" panose="02040502050405020303" pitchFamily="18" charset="0"/>
              </a:rPr>
              <a:t>Output Program:</a:t>
            </a:r>
            <a:endParaRPr lang="en-US" sz="1400" b="1" dirty="0">
              <a:latin typeface="Georgia" panose="02040502050405020303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1" y="1944469"/>
            <a:ext cx="6781799" cy="440604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600" y="4276603"/>
            <a:ext cx="3415229" cy="2444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995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6858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3200" dirty="0" err="1" smtClean="0">
                <a:solidFill>
                  <a:srgbClr val="1F497D"/>
                </a:solidFill>
                <a:latin typeface="Georgia"/>
              </a:rPr>
              <a:t>ModuleNotFoundError</a:t>
            </a:r>
            <a:r>
              <a:rPr lang="en-US" sz="3200" dirty="0" smtClean="0">
                <a:solidFill>
                  <a:srgbClr val="1F497D"/>
                </a:solidFill>
                <a:latin typeface="Georgia"/>
              </a:rPr>
              <a:t>?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362554"/>
            <a:ext cx="6858000" cy="369971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9674" y="926269"/>
            <a:ext cx="733080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latin typeface="Georgia" panose="02040502050405020303" pitchFamily="18" charset="0"/>
              </a:rPr>
              <a:t>ModuleNotFoundError</a:t>
            </a:r>
            <a:r>
              <a:rPr lang="en-US" dirty="0">
                <a:latin typeface="Georgia" panose="02040502050405020303" pitchFamily="18" charset="0"/>
              </a:rPr>
              <a:t>: </a:t>
            </a:r>
            <a:r>
              <a:rPr lang="en-US" b="1" dirty="0">
                <a:latin typeface="Georgia" panose="02040502050405020303" pitchFamily="18" charset="0"/>
              </a:rPr>
              <a:t>No module named 'Image'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934" y="2971800"/>
            <a:ext cx="6974158" cy="376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422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9144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Install </a:t>
            </a:r>
            <a:r>
              <a:rPr kumimoji="0" lang="en-US" sz="4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OpenCV</a:t>
            </a: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Package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600200"/>
            <a:ext cx="8839200" cy="391403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6200" y="1154669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Install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OpenCV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 on the platform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via </a:t>
            </a:r>
            <a:r>
              <a:rPr kumimoji="0" lang="en-US" sz="18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pip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: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2518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9144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Switch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Between Environments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Anaconda Navigator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5463" t="3555" r="12834" b="9958"/>
          <a:stretch/>
        </p:blipFill>
        <p:spPr>
          <a:xfrm>
            <a:off x="152400" y="1213949"/>
            <a:ext cx="8839200" cy="526305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752600" y="1981200"/>
            <a:ext cx="2743200" cy="9144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8985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9144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</a:t>
            </a: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ctivate 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an Anaconda </a:t>
            </a: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Environment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219200"/>
            <a:ext cx="8839200" cy="4538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589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1" y="1944469"/>
            <a:ext cx="7010399" cy="4429789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 bwMode="auto">
          <a:xfrm>
            <a:off x="152401" y="152400"/>
            <a:ext cx="8839200" cy="9144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4391">
              <a:defRPr/>
            </a:pPr>
            <a:r>
              <a:rPr lang="en-US" dirty="0">
                <a:solidFill>
                  <a:srgbClr val="1F497D"/>
                </a:solidFill>
                <a:latin typeface="Georgia"/>
              </a:rPr>
              <a:t>E</a:t>
            </a:r>
            <a:r>
              <a:rPr lang="en-US" dirty="0" smtClean="0">
                <a:solidFill>
                  <a:srgbClr val="1F497D"/>
                </a:solidFill>
                <a:latin typeface="Georgia"/>
              </a:rPr>
              <a:t>xercise #14</a:t>
            </a:r>
            <a:endParaRPr kumimoji="0" lang="en-US" sz="4000" b="0" i="1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2401" y="1182469"/>
            <a:ext cx="8839199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>
                <a:latin typeface="Bahnschrift" panose="020B0502040204020203" pitchFamily="34" charset="0"/>
              </a:rPr>
              <a:t>File   : </a:t>
            </a:r>
            <a:r>
              <a:rPr lang="en-US" i="1" dirty="0" smtClean="0">
                <a:latin typeface="Georgia" panose="02040502050405020303" pitchFamily="18" charset="0"/>
              </a:rPr>
              <a:t>demo_14.py</a:t>
            </a:r>
          </a:p>
          <a:p>
            <a:r>
              <a:rPr lang="en-US" b="1" dirty="0" err="1" smtClean="0">
                <a:latin typeface="Bahnschrift" panose="020B0502040204020203" pitchFamily="34" charset="0"/>
              </a:rPr>
              <a:t>Desc</a:t>
            </a:r>
            <a:r>
              <a:rPr lang="en-US" b="1" dirty="0" smtClean="0">
                <a:latin typeface="Bahnschrift" panose="020B0502040204020203" pitchFamily="34" charset="0"/>
              </a:rPr>
              <a:t> : </a:t>
            </a:r>
            <a:r>
              <a:rPr lang="en-US" dirty="0" smtClean="0">
                <a:latin typeface="Bahnschrift" panose="020B0502040204020203" pitchFamily="34" charset="0"/>
              </a:rPr>
              <a:t>Pthon3, </a:t>
            </a:r>
            <a:r>
              <a:rPr lang="en-US" dirty="0" err="1" smtClean="0">
                <a:latin typeface="Bahnschrift" panose="020B0502040204020203" pitchFamily="34" charset="0"/>
              </a:rPr>
              <a:t>tkinter</a:t>
            </a:r>
            <a:r>
              <a:rPr lang="en-US" dirty="0" smtClean="0">
                <a:latin typeface="Bahnschrift" panose="020B0502040204020203" pitchFamily="34" charset="0"/>
              </a:rPr>
              <a:t> (GUI) and </a:t>
            </a:r>
            <a:r>
              <a:rPr lang="en-US" dirty="0" err="1" smtClean="0">
                <a:latin typeface="Bahnschrift" panose="020B0502040204020203" pitchFamily="34" charset="0"/>
              </a:rPr>
              <a:t>openCV</a:t>
            </a:r>
            <a:r>
              <a:rPr lang="en-US" dirty="0" smtClean="0">
                <a:latin typeface="Bahnschrift" panose="020B0502040204020203" pitchFamily="34" charset="0"/>
              </a:rPr>
              <a:t> to develop a simple </a:t>
            </a:r>
            <a:r>
              <a:rPr lang="en-US" dirty="0">
                <a:latin typeface="Bahnschrift" panose="020B0502040204020203" pitchFamily="34" charset="0"/>
              </a:rPr>
              <a:t>Face </a:t>
            </a:r>
            <a:r>
              <a:rPr lang="en-US" dirty="0" smtClean="0">
                <a:latin typeface="Bahnschrift" panose="020B0502040204020203" pitchFamily="34" charset="0"/>
              </a:rPr>
              <a:t>Detection System</a:t>
            </a:r>
            <a:endParaRPr lang="en-US" dirty="0">
              <a:latin typeface="Bahnschrift" panose="020B0502040204020203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3233264"/>
            <a:ext cx="2819400" cy="125160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8378" y="4191000"/>
            <a:ext cx="3571875" cy="239142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77819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 bwMode="auto">
          <a:xfrm>
            <a:off x="152401" y="152400"/>
            <a:ext cx="8839200" cy="9144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4391">
              <a:defRPr/>
            </a:pPr>
            <a:r>
              <a:rPr lang="en-US" dirty="0">
                <a:solidFill>
                  <a:srgbClr val="1F497D"/>
                </a:solidFill>
                <a:latin typeface="Georgia"/>
              </a:rPr>
              <a:t>E</a:t>
            </a:r>
            <a:r>
              <a:rPr lang="en-US" dirty="0" smtClean="0">
                <a:solidFill>
                  <a:srgbClr val="1F497D"/>
                </a:solidFill>
                <a:latin typeface="Georgia"/>
              </a:rPr>
              <a:t>xercise #14</a:t>
            </a:r>
            <a:endParaRPr kumimoji="0" lang="en-US" sz="4000" b="0" i="1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2401" y="1182469"/>
            <a:ext cx="8839199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>
                <a:latin typeface="Bahnschrift" panose="020B0502040204020203" pitchFamily="34" charset="0"/>
              </a:rPr>
              <a:t>File   : </a:t>
            </a:r>
            <a:r>
              <a:rPr lang="en-US" i="1" dirty="0" smtClean="0">
                <a:latin typeface="Georgia" panose="02040502050405020303" pitchFamily="18" charset="0"/>
              </a:rPr>
              <a:t>demo_14.py</a:t>
            </a:r>
          </a:p>
          <a:p>
            <a:r>
              <a:rPr lang="en-US" b="1" dirty="0" err="1" smtClean="0">
                <a:latin typeface="Bahnschrift" panose="020B0502040204020203" pitchFamily="34" charset="0"/>
              </a:rPr>
              <a:t>Desc</a:t>
            </a:r>
            <a:r>
              <a:rPr lang="en-US" b="1" dirty="0" smtClean="0">
                <a:latin typeface="Bahnschrift" panose="020B0502040204020203" pitchFamily="34" charset="0"/>
              </a:rPr>
              <a:t> : </a:t>
            </a:r>
            <a:r>
              <a:rPr lang="en-US" dirty="0" smtClean="0">
                <a:latin typeface="Bahnschrift" panose="020B0502040204020203" pitchFamily="34" charset="0"/>
              </a:rPr>
              <a:t>Python3, </a:t>
            </a:r>
            <a:r>
              <a:rPr lang="en-US" dirty="0" err="1" smtClean="0">
                <a:latin typeface="Bahnschrift" panose="020B0502040204020203" pitchFamily="34" charset="0"/>
              </a:rPr>
              <a:t>tkinter</a:t>
            </a:r>
            <a:r>
              <a:rPr lang="en-US" dirty="0" smtClean="0">
                <a:latin typeface="Bahnschrift" panose="020B0502040204020203" pitchFamily="34" charset="0"/>
              </a:rPr>
              <a:t> (GUI) and </a:t>
            </a:r>
            <a:r>
              <a:rPr lang="en-US" dirty="0" err="1" smtClean="0">
                <a:latin typeface="Bahnschrift" panose="020B0502040204020203" pitchFamily="34" charset="0"/>
              </a:rPr>
              <a:t>openCV</a:t>
            </a:r>
            <a:r>
              <a:rPr lang="en-US" dirty="0" smtClean="0">
                <a:latin typeface="Bahnschrift" panose="020B0502040204020203" pitchFamily="34" charset="0"/>
              </a:rPr>
              <a:t> to develop a simple </a:t>
            </a:r>
            <a:r>
              <a:rPr lang="en-US" dirty="0">
                <a:latin typeface="Bahnschrift" panose="020B0502040204020203" pitchFamily="34" charset="0"/>
              </a:rPr>
              <a:t>Face </a:t>
            </a:r>
            <a:r>
              <a:rPr lang="en-US" dirty="0" smtClean="0">
                <a:latin typeface="Bahnschrift" panose="020B0502040204020203" pitchFamily="34" charset="0"/>
              </a:rPr>
              <a:t>Detection System</a:t>
            </a:r>
            <a:endParaRPr lang="en-US" dirty="0">
              <a:latin typeface="Bahnschrift" panose="020B0502040204020203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1" y="1920598"/>
            <a:ext cx="4114799" cy="481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03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200400"/>
            <a:ext cx="9144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4000" dirty="0">
                <a:solidFill>
                  <a:prstClr val="black"/>
                </a:solidFill>
                <a:latin typeface="Georgia"/>
              </a:rPr>
              <a:t>2</a:t>
            </a: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- </a:t>
            </a: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Install </a:t>
            </a:r>
            <a:r>
              <a:rPr lang="en-US" sz="4000" b="1" dirty="0">
                <a:solidFill>
                  <a:prstClr val="black"/>
                </a:solidFill>
              </a:rPr>
              <a:t>Flask</a:t>
            </a: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40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on</a:t>
            </a: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Windows</a:t>
            </a:r>
          </a:p>
          <a:p>
            <a:pPr lvl="0" algn="ctr">
              <a:defRPr/>
            </a:pPr>
            <a:r>
              <a:rPr lang="en-US" sz="2400" b="1" dirty="0" smtClean="0">
                <a:solidFill>
                  <a:prstClr val="black"/>
                </a:solidFill>
              </a:rPr>
              <a:t>[</a:t>
            </a:r>
            <a:r>
              <a:rPr lang="en-US" sz="2400" b="1" i="1" dirty="0" smtClean="0">
                <a:solidFill>
                  <a:prstClr val="black"/>
                </a:solidFill>
              </a:rPr>
              <a:t>Web Application Framework  </a:t>
            </a:r>
            <a:r>
              <a:rPr kumimoji="0" lang="en-US" sz="2400" b="1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</a:rPr>
              <a:t>with Python</a:t>
            </a: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</a:rPr>
              <a:t>]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</a:endParaRPr>
          </a:p>
        </p:txBody>
      </p:sp>
      <p:pic>
        <p:nvPicPr>
          <p:cNvPr id="3074" name="Picture 2" descr="Fresh Green Leaves Header On White Background Stock Photo, Picture And  Royalty Free Image. Image 78250847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312"/>
          <a:stretch/>
        </p:blipFill>
        <p:spPr bwMode="auto">
          <a:xfrm>
            <a:off x="0" y="0"/>
            <a:ext cx="91440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Fresh Green Leaves Header On White Background Stock Photo, Picture And  Royalty Free Image. Image 78250847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312"/>
          <a:stretch/>
        </p:blipFill>
        <p:spPr bwMode="auto">
          <a:xfrm rot="10800000">
            <a:off x="0" y="4419600"/>
            <a:ext cx="91440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5746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6858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3200" dirty="0">
                <a:solidFill>
                  <a:srgbClr val="1F497D"/>
                </a:solidFill>
                <a:latin typeface="Georgia"/>
              </a:rPr>
              <a:t>What is Flask</a:t>
            </a:r>
            <a:r>
              <a:rPr lang="en-US" sz="3200" dirty="0" smtClean="0">
                <a:solidFill>
                  <a:srgbClr val="1F497D"/>
                </a:solidFill>
                <a:latin typeface="Georgia"/>
              </a:rPr>
              <a:t>?</a:t>
            </a:r>
            <a:endParaRPr lang="en-US" sz="3200" dirty="0">
              <a:solidFill>
                <a:srgbClr val="1F497D"/>
              </a:solidFill>
              <a:latin typeface="Georgia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6101" y="945615"/>
            <a:ext cx="883920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Georgia" panose="02040502050405020303" pitchFamily="18" charset="0"/>
              </a:rPr>
              <a:t>Flask </a:t>
            </a:r>
            <a:r>
              <a:rPr lang="en-US" dirty="0">
                <a:latin typeface="Georgia" panose="02040502050405020303" pitchFamily="18" charset="0"/>
              </a:rPr>
              <a:t>is a </a:t>
            </a:r>
            <a:r>
              <a:rPr lang="en-US" b="1" i="1" dirty="0">
                <a:latin typeface="Georgia" panose="02040502050405020303" pitchFamily="18" charset="0"/>
              </a:rPr>
              <a:t>web application framework </a:t>
            </a:r>
            <a:r>
              <a:rPr lang="en-US" i="1" dirty="0">
                <a:latin typeface="Georgia" panose="02040502050405020303" pitchFamily="18" charset="0"/>
              </a:rPr>
              <a:t>written in Python</a:t>
            </a:r>
            <a:r>
              <a:rPr lang="en-US" dirty="0">
                <a:latin typeface="Georgia" panose="02040502050405020303" pitchFamily="18" charset="0"/>
              </a:rPr>
              <a:t>. It is developed by Armin </a:t>
            </a:r>
            <a:r>
              <a:rPr lang="en-US" dirty="0" err="1">
                <a:latin typeface="Georgia" panose="02040502050405020303" pitchFamily="18" charset="0"/>
              </a:rPr>
              <a:t>Ronacher</a:t>
            </a:r>
            <a:r>
              <a:rPr lang="en-US" dirty="0">
                <a:latin typeface="Georgia" panose="02040502050405020303" pitchFamily="18" charset="0"/>
              </a:rPr>
              <a:t>, who leads an international group of Python enthusiasts named </a:t>
            </a:r>
            <a:r>
              <a:rPr lang="en-US" dirty="0" err="1">
                <a:latin typeface="Georgia" panose="02040502050405020303" pitchFamily="18" charset="0"/>
              </a:rPr>
              <a:t>Pocco</a:t>
            </a:r>
            <a:r>
              <a:rPr lang="en-US" dirty="0">
                <a:latin typeface="Georgia" panose="02040502050405020303" pitchFamily="18" charset="0"/>
              </a:rPr>
              <a:t>. Flask is based on the </a:t>
            </a:r>
            <a:r>
              <a:rPr lang="en-US" dirty="0" err="1">
                <a:latin typeface="Georgia" panose="02040502050405020303" pitchFamily="18" charset="0"/>
              </a:rPr>
              <a:t>Werkzeug</a:t>
            </a:r>
            <a:r>
              <a:rPr lang="en-US" dirty="0">
                <a:latin typeface="Georgia" panose="02040502050405020303" pitchFamily="18" charset="0"/>
              </a:rPr>
              <a:t> WSGI toolkit and Jinja2 template engine. Both are </a:t>
            </a:r>
            <a:r>
              <a:rPr lang="en-US" dirty="0" err="1">
                <a:latin typeface="Georgia" panose="02040502050405020303" pitchFamily="18" charset="0"/>
              </a:rPr>
              <a:t>Pocco</a:t>
            </a:r>
            <a:r>
              <a:rPr lang="en-US" dirty="0">
                <a:latin typeface="Georgia" panose="02040502050405020303" pitchFamily="18" charset="0"/>
              </a:rPr>
              <a:t> projects.</a:t>
            </a:r>
          </a:p>
          <a:p>
            <a:endParaRPr lang="en-US" dirty="0" smtClean="0">
              <a:latin typeface="Georgia" panose="02040502050405020303" pitchFamily="18" charset="0"/>
            </a:endParaRPr>
          </a:p>
          <a:p>
            <a:endParaRPr lang="en-US" dirty="0">
              <a:latin typeface="Georgia" panose="02040502050405020303" pitchFamily="18" charset="0"/>
            </a:endParaRPr>
          </a:p>
          <a:p>
            <a:pPr marL="342900" indent="-342900">
              <a:buFont typeface="+mj-lt"/>
              <a:buAutoNum type="arabicParenR"/>
            </a:pPr>
            <a:r>
              <a:rPr lang="en-US" b="1" dirty="0" smtClean="0">
                <a:latin typeface="Georgia" panose="02040502050405020303" pitchFamily="18" charset="0"/>
              </a:rPr>
              <a:t>WSGI</a:t>
            </a:r>
            <a:br>
              <a:rPr lang="en-US" b="1" dirty="0" smtClean="0">
                <a:latin typeface="Georgia" panose="02040502050405020303" pitchFamily="18" charset="0"/>
              </a:rPr>
            </a:br>
            <a:r>
              <a:rPr lang="en-US" dirty="0" smtClean="0">
                <a:latin typeface="Georgia" panose="02040502050405020303" pitchFamily="18" charset="0"/>
              </a:rPr>
              <a:t>Web </a:t>
            </a:r>
            <a:r>
              <a:rPr lang="en-US" dirty="0">
                <a:latin typeface="Georgia" panose="02040502050405020303" pitchFamily="18" charset="0"/>
              </a:rPr>
              <a:t>Server Gateway Interface (WSGI) has been adopted as a standard for Python web application development. WSGI is a specification for a universal interface between the web server and the web applications.</a:t>
            </a:r>
          </a:p>
          <a:p>
            <a:pPr marL="342900" indent="-342900">
              <a:buFont typeface="+mj-lt"/>
              <a:buAutoNum type="arabicParenR"/>
            </a:pPr>
            <a:endParaRPr lang="en-US" dirty="0">
              <a:latin typeface="Georgia" panose="02040502050405020303" pitchFamily="18" charset="0"/>
            </a:endParaRPr>
          </a:p>
          <a:p>
            <a:pPr marL="342900" indent="-342900">
              <a:buFont typeface="+mj-lt"/>
              <a:buAutoNum type="arabicParenR"/>
            </a:pPr>
            <a:r>
              <a:rPr lang="en-US" b="1" dirty="0" err="1" smtClean="0">
                <a:latin typeface="Georgia" panose="02040502050405020303" pitchFamily="18" charset="0"/>
              </a:rPr>
              <a:t>Werkzeug</a:t>
            </a:r>
            <a:r>
              <a:rPr lang="en-US" b="1" dirty="0" smtClean="0">
                <a:latin typeface="Georgia" panose="02040502050405020303" pitchFamily="18" charset="0"/>
              </a:rPr>
              <a:t/>
            </a:r>
            <a:br>
              <a:rPr lang="en-US" b="1" dirty="0" smtClean="0">
                <a:latin typeface="Georgia" panose="02040502050405020303" pitchFamily="18" charset="0"/>
              </a:rPr>
            </a:br>
            <a:r>
              <a:rPr lang="en-US" dirty="0" smtClean="0">
                <a:latin typeface="Georgia" panose="02040502050405020303" pitchFamily="18" charset="0"/>
              </a:rPr>
              <a:t>It </a:t>
            </a:r>
            <a:r>
              <a:rPr lang="en-US" dirty="0">
                <a:latin typeface="Georgia" panose="02040502050405020303" pitchFamily="18" charset="0"/>
              </a:rPr>
              <a:t>is a WSGI toolkit, which implements requests, response objects, and other utility functions. This enables building a web framework on top of it. The Flask framework uses </a:t>
            </a:r>
            <a:r>
              <a:rPr lang="en-US" dirty="0" err="1">
                <a:latin typeface="Georgia" panose="02040502050405020303" pitchFamily="18" charset="0"/>
              </a:rPr>
              <a:t>Werkzeug</a:t>
            </a:r>
            <a:r>
              <a:rPr lang="en-US" dirty="0">
                <a:latin typeface="Georgia" panose="02040502050405020303" pitchFamily="18" charset="0"/>
              </a:rPr>
              <a:t> as one of its bases.</a:t>
            </a:r>
          </a:p>
          <a:p>
            <a:pPr marL="342900" indent="-342900">
              <a:buFont typeface="+mj-lt"/>
              <a:buAutoNum type="arabicParenR"/>
            </a:pPr>
            <a:endParaRPr lang="en-US" dirty="0">
              <a:latin typeface="Georgia" panose="02040502050405020303" pitchFamily="18" charset="0"/>
            </a:endParaRPr>
          </a:p>
          <a:p>
            <a:pPr marL="342900" indent="-342900">
              <a:buFont typeface="+mj-lt"/>
              <a:buAutoNum type="arabicParenR"/>
            </a:pPr>
            <a:r>
              <a:rPr lang="en-US" b="1" dirty="0" smtClean="0">
                <a:latin typeface="Georgia" panose="02040502050405020303" pitchFamily="18" charset="0"/>
              </a:rPr>
              <a:t>Jinja2</a:t>
            </a:r>
            <a:br>
              <a:rPr lang="en-US" b="1" dirty="0" smtClean="0">
                <a:latin typeface="Georgia" panose="02040502050405020303" pitchFamily="18" charset="0"/>
              </a:rPr>
            </a:br>
            <a:r>
              <a:rPr lang="en-US" dirty="0" err="1" smtClean="0">
                <a:latin typeface="Georgia" panose="02040502050405020303" pitchFamily="18" charset="0"/>
              </a:rPr>
              <a:t>Jinja2</a:t>
            </a:r>
            <a:r>
              <a:rPr lang="en-US" dirty="0" smtClean="0">
                <a:latin typeface="Georgia" panose="02040502050405020303" pitchFamily="18" charset="0"/>
              </a:rPr>
              <a:t> </a:t>
            </a:r>
            <a:r>
              <a:rPr lang="en-US" dirty="0">
                <a:latin typeface="Georgia" panose="02040502050405020303" pitchFamily="18" charset="0"/>
              </a:rPr>
              <a:t>is a popular </a:t>
            </a:r>
            <a:r>
              <a:rPr lang="en-US" dirty="0" err="1">
                <a:latin typeface="Georgia" panose="02040502050405020303" pitchFamily="18" charset="0"/>
              </a:rPr>
              <a:t>templating</a:t>
            </a:r>
            <a:r>
              <a:rPr lang="en-US" dirty="0">
                <a:latin typeface="Georgia" panose="02040502050405020303" pitchFamily="18" charset="0"/>
              </a:rPr>
              <a:t> engine for Python. A web </a:t>
            </a:r>
            <a:r>
              <a:rPr lang="en-US" dirty="0" err="1">
                <a:latin typeface="Georgia" panose="02040502050405020303" pitchFamily="18" charset="0"/>
              </a:rPr>
              <a:t>templating</a:t>
            </a:r>
            <a:r>
              <a:rPr lang="en-US" dirty="0">
                <a:latin typeface="Georgia" panose="02040502050405020303" pitchFamily="18" charset="0"/>
              </a:rPr>
              <a:t> system combines a template with a certain data source to render dynamic web pages.</a:t>
            </a:r>
          </a:p>
        </p:txBody>
      </p:sp>
    </p:spTree>
    <p:extLst>
      <p:ext uri="{BB962C8B-B14F-4D97-AF65-F5344CB8AC3E}">
        <p14:creationId xmlns:p14="http://schemas.microsoft.com/office/powerpoint/2010/main" val="97200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6858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3200" dirty="0" smtClean="0">
                <a:solidFill>
                  <a:srgbClr val="1F497D"/>
                </a:solidFill>
                <a:latin typeface="Georgia"/>
              </a:rPr>
              <a:t>Prerequisites (</a:t>
            </a:r>
            <a:r>
              <a:rPr lang="en-US" sz="3200" i="1" dirty="0" err="1" smtClean="0">
                <a:solidFill>
                  <a:srgbClr val="1F497D"/>
                </a:solidFill>
                <a:latin typeface="Georgia"/>
              </a:rPr>
              <a:t>prasyarat</a:t>
            </a:r>
            <a:r>
              <a:rPr lang="en-US" sz="3200" dirty="0" smtClean="0">
                <a:solidFill>
                  <a:srgbClr val="1F497D"/>
                </a:solidFill>
                <a:latin typeface="Georgia"/>
              </a:rPr>
              <a:t>)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295400" y="2286000"/>
            <a:ext cx="6096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1963" indent="-461963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404040"/>
                </a:solidFill>
                <a:latin typeface="Georgia" panose="02040502050405020303" pitchFamily="18" charset="0"/>
              </a:rPr>
              <a:t>Installed Python 2.7 or Python 3.5 and </a:t>
            </a:r>
            <a:r>
              <a:rPr lang="en-US" sz="2800" dirty="0" smtClean="0">
                <a:solidFill>
                  <a:srgbClr val="404040"/>
                </a:solidFill>
                <a:latin typeface="Georgia" panose="02040502050405020303" pitchFamily="18" charset="0"/>
              </a:rPr>
              <a:t>newer.</a:t>
            </a:r>
          </a:p>
          <a:p>
            <a:pPr marL="461963" indent="-461963">
              <a:buFont typeface="Wingdings" panose="05000000000000000000" pitchFamily="2" charset="2"/>
              <a:buChar char="q"/>
            </a:pPr>
            <a:endParaRPr lang="en-US" sz="2800" dirty="0">
              <a:solidFill>
                <a:srgbClr val="404040"/>
              </a:solidFill>
              <a:latin typeface="Georgia" panose="02040502050405020303" pitchFamily="18" charset="0"/>
            </a:endParaRPr>
          </a:p>
          <a:p>
            <a:pPr marL="461963" indent="-461963">
              <a:buFont typeface="Wingdings" panose="05000000000000000000" pitchFamily="2" charset="2"/>
              <a:buChar char="q"/>
            </a:pPr>
            <a:r>
              <a:rPr lang="en-US" sz="2800" dirty="0" smtClean="0">
                <a:solidFill>
                  <a:srgbClr val="404040"/>
                </a:solidFill>
                <a:latin typeface="Georgia" panose="02040502050405020303" pitchFamily="18" charset="0"/>
              </a:rPr>
              <a:t>Command-line </a:t>
            </a:r>
            <a:r>
              <a:rPr lang="en-US" sz="2800" dirty="0">
                <a:solidFill>
                  <a:srgbClr val="404040"/>
                </a:solidFill>
                <a:latin typeface="Georgia" panose="02040502050405020303" pitchFamily="18" charset="0"/>
              </a:rPr>
              <a:t>interface (CLI) with administrator </a:t>
            </a:r>
            <a:r>
              <a:rPr lang="en-US" sz="2800" dirty="0" smtClean="0">
                <a:solidFill>
                  <a:srgbClr val="404040"/>
                </a:solidFill>
                <a:latin typeface="Georgia" panose="02040502050405020303" pitchFamily="18" charset="0"/>
              </a:rPr>
              <a:t>privileges.</a:t>
            </a:r>
            <a:r>
              <a:rPr lang="en-US" sz="2800" dirty="0">
                <a:latin typeface="Georgia" panose="02040502050405020303" pitchFamily="18" charset="0"/>
              </a:rPr>
              <a:t/>
            </a:r>
            <a:br>
              <a:rPr lang="en-US" sz="2800" dirty="0">
                <a:latin typeface="Georgia" panose="02040502050405020303" pitchFamily="18" charset="0"/>
              </a:rPr>
            </a:br>
            <a:endParaRPr lang="en-US" sz="28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0714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6858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3200" b="1" dirty="0" smtClean="0">
                <a:solidFill>
                  <a:srgbClr val="1F497D"/>
                </a:solidFill>
                <a:latin typeface="Georgia"/>
              </a:rPr>
              <a:t>Step 1: </a:t>
            </a:r>
            <a:r>
              <a:rPr lang="en-US" sz="3200" dirty="0" smtClean="0">
                <a:solidFill>
                  <a:srgbClr val="1F497D"/>
                </a:solidFill>
                <a:latin typeface="Georgia"/>
              </a:rPr>
              <a:t>Install Virtual Environment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46182" y="2772579"/>
            <a:ext cx="831681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Georgia" panose="02040502050405020303" pitchFamily="18" charset="0"/>
              </a:rPr>
              <a:t>Install </a:t>
            </a:r>
            <a:r>
              <a:rPr lang="en-US" i="1" dirty="0" err="1">
                <a:latin typeface="Georgia" panose="02040502050405020303" pitchFamily="18" charset="0"/>
              </a:rPr>
              <a:t>virtualenv</a:t>
            </a:r>
            <a:r>
              <a:rPr lang="en-US" dirty="0">
                <a:latin typeface="Georgia" panose="02040502050405020303" pitchFamily="18" charset="0"/>
              </a:rPr>
              <a:t> on </a:t>
            </a:r>
            <a:r>
              <a:rPr lang="en-US" dirty="0" smtClean="0">
                <a:latin typeface="Georgia" panose="02040502050405020303" pitchFamily="18" charset="0"/>
              </a:rPr>
              <a:t>Windows:</a:t>
            </a:r>
            <a:endParaRPr lang="en-US" dirty="0">
              <a:latin typeface="Georgia" panose="02040502050405020303" pitchFamily="18" charset="0"/>
            </a:endParaRPr>
          </a:p>
          <a:p>
            <a:r>
              <a:rPr lang="en-US" dirty="0">
                <a:latin typeface="Georgia" panose="02040502050405020303" pitchFamily="18" charset="0"/>
              </a:rPr>
              <a:t>1. Open the command line with administrator privileges</a:t>
            </a:r>
            <a:r>
              <a:rPr lang="en-US" dirty="0" smtClean="0">
                <a:latin typeface="Georgia" panose="02040502050405020303" pitchFamily="18" charset="0"/>
              </a:rPr>
              <a:t>.</a:t>
            </a:r>
            <a:endParaRPr lang="en-US" dirty="0">
              <a:latin typeface="Georgia" panose="02040502050405020303" pitchFamily="18" charset="0"/>
            </a:endParaRPr>
          </a:p>
          <a:p>
            <a:r>
              <a:rPr lang="en-US" dirty="0">
                <a:latin typeface="Georgia" panose="02040502050405020303" pitchFamily="18" charset="0"/>
              </a:rPr>
              <a:t>2. Use pip to install </a:t>
            </a:r>
            <a:r>
              <a:rPr lang="en-US" dirty="0" err="1">
                <a:latin typeface="Georgia" panose="02040502050405020303" pitchFamily="18" charset="0"/>
              </a:rPr>
              <a:t>virtualenv</a:t>
            </a:r>
            <a:r>
              <a:rPr lang="en-US" dirty="0">
                <a:latin typeface="Georgia" panose="02040502050405020303" pitchFamily="18" charset="0"/>
              </a:rPr>
              <a:t> on Windows</a:t>
            </a:r>
            <a:r>
              <a:rPr lang="en-US" dirty="0" smtClean="0">
                <a:latin typeface="Georgia" panose="02040502050405020303" pitchFamily="18" charset="0"/>
              </a:rPr>
              <a:t>: </a:t>
            </a:r>
            <a:r>
              <a:rPr lang="en-US" b="1" i="1" dirty="0" smtClean="0">
                <a:latin typeface="Georgia" panose="02040502050405020303" pitchFamily="18" charset="0"/>
              </a:rPr>
              <a:t>pip install </a:t>
            </a:r>
            <a:r>
              <a:rPr lang="en-US" b="1" i="1" dirty="0" err="1" smtClean="0">
                <a:latin typeface="Georgia" panose="02040502050405020303" pitchFamily="18" charset="0"/>
              </a:rPr>
              <a:t>virtualenv</a:t>
            </a:r>
            <a:endParaRPr lang="en-US" b="1" i="1" dirty="0">
              <a:latin typeface="Georgia" panose="02040502050405020303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2626" y="918186"/>
            <a:ext cx="890897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Georgia" panose="02040502050405020303" pitchFamily="18" charset="0"/>
              </a:rPr>
              <a:t>Install Flask in a virtual environment to avoid problems with conflicting libraries. </a:t>
            </a:r>
            <a:endParaRPr lang="en-US" dirty="0" smtClean="0">
              <a:latin typeface="Georgia" panose="02040502050405020303" pitchFamily="18" charset="0"/>
            </a:endParaRPr>
          </a:p>
          <a:p>
            <a:r>
              <a:rPr lang="en-US" dirty="0" smtClean="0">
                <a:latin typeface="Georgia" panose="02040502050405020303" pitchFamily="18" charset="0"/>
              </a:rPr>
              <a:t>Check </a:t>
            </a:r>
            <a:r>
              <a:rPr lang="en-US" dirty="0">
                <a:latin typeface="Georgia" panose="02040502050405020303" pitchFamily="18" charset="0"/>
              </a:rPr>
              <a:t>Python version before starting</a:t>
            </a:r>
            <a:r>
              <a:rPr lang="en-US" dirty="0" smtClean="0">
                <a:latin typeface="Georgia" panose="02040502050405020303" pitchFamily="18" charset="0"/>
              </a:rPr>
              <a:t>:</a:t>
            </a:r>
            <a:endParaRPr lang="en-US" dirty="0">
              <a:latin typeface="Georgia" panose="02040502050405020303" pitchFamily="18" charset="0"/>
            </a:endParaRPr>
          </a:p>
          <a:p>
            <a:pPr marL="342900" indent="-342900">
              <a:buFont typeface="+mj-lt"/>
              <a:buAutoNum type="arabicParenR"/>
            </a:pPr>
            <a:r>
              <a:rPr lang="en-US" dirty="0">
                <a:latin typeface="Georgia" panose="02040502050405020303" pitchFamily="18" charset="0"/>
              </a:rPr>
              <a:t>Python 3 comes with a virtual environment module called </a:t>
            </a:r>
            <a:r>
              <a:rPr lang="en-US" dirty="0" err="1">
                <a:latin typeface="Georgia" panose="02040502050405020303" pitchFamily="18" charset="0"/>
              </a:rPr>
              <a:t>venv</a:t>
            </a:r>
            <a:r>
              <a:rPr lang="en-US" dirty="0">
                <a:latin typeface="Georgia" panose="02040502050405020303" pitchFamily="18" charset="0"/>
              </a:rPr>
              <a:t> </a:t>
            </a:r>
            <a:r>
              <a:rPr lang="en-US" b="1" i="1" dirty="0">
                <a:solidFill>
                  <a:srgbClr val="FF0000"/>
                </a:solidFill>
                <a:latin typeface="Georgia" panose="02040502050405020303" pitchFamily="18" charset="0"/>
              </a:rPr>
              <a:t>preinstalled</a:t>
            </a:r>
            <a:r>
              <a:rPr lang="en-US" dirty="0">
                <a:latin typeface="Georgia" panose="02040502050405020303" pitchFamily="18" charset="0"/>
              </a:rPr>
              <a:t>. If you have Python 3 installed, </a:t>
            </a:r>
            <a:r>
              <a:rPr lang="en-US" b="1" dirty="0">
                <a:latin typeface="Georgia" panose="02040502050405020303" pitchFamily="18" charset="0"/>
              </a:rPr>
              <a:t>skip to Step 2</a:t>
            </a:r>
            <a:r>
              <a:rPr lang="en-US" dirty="0">
                <a:latin typeface="Georgia" panose="02040502050405020303" pitchFamily="18" charset="0"/>
              </a:rPr>
              <a:t>.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>
                <a:latin typeface="Georgia" panose="02040502050405020303" pitchFamily="18" charset="0"/>
              </a:rPr>
              <a:t>Python 2 users must install the </a:t>
            </a:r>
            <a:r>
              <a:rPr lang="en-US" dirty="0" err="1">
                <a:latin typeface="Georgia" panose="02040502050405020303" pitchFamily="18" charset="0"/>
              </a:rPr>
              <a:t>virtualenv</a:t>
            </a:r>
            <a:r>
              <a:rPr lang="en-US" dirty="0">
                <a:latin typeface="Georgia" panose="02040502050405020303" pitchFamily="18" charset="0"/>
              </a:rPr>
              <a:t> module. If you have Python 2, </a:t>
            </a:r>
            <a:r>
              <a:rPr lang="en-US" b="1" dirty="0">
                <a:latin typeface="Georgia" panose="02040502050405020303" pitchFamily="18" charset="0"/>
              </a:rPr>
              <a:t>follow the instructions outlined in Step 1</a:t>
            </a:r>
            <a:r>
              <a:rPr lang="en-US" dirty="0">
                <a:latin typeface="Georgia" panose="02040502050405020303" pitchFamily="18" charset="0"/>
              </a:rPr>
              <a:t>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663" y="3795976"/>
            <a:ext cx="5354849" cy="288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658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6858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3200" b="1" dirty="0">
                <a:solidFill>
                  <a:srgbClr val="1F497D"/>
                </a:solidFill>
                <a:latin typeface="Georgia"/>
              </a:rPr>
              <a:t>Step 2: </a:t>
            </a:r>
            <a:r>
              <a:rPr lang="en-US" sz="3200" dirty="0">
                <a:solidFill>
                  <a:srgbClr val="1F497D"/>
                </a:solidFill>
                <a:latin typeface="Georgia"/>
              </a:rPr>
              <a:t>Create an Environment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2679033"/>
            <a:ext cx="6858000" cy="369971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0592" y="955956"/>
            <a:ext cx="893100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arenR"/>
            </a:pPr>
            <a:r>
              <a:rPr lang="en-US" dirty="0" smtClean="0">
                <a:latin typeface="Georgia" panose="02040502050405020303" pitchFamily="18" charset="0"/>
              </a:rPr>
              <a:t>Make </a:t>
            </a:r>
            <a:r>
              <a:rPr lang="en-US" dirty="0">
                <a:latin typeface="Georgia" panose="02040502050405020303" pitchFamily="18" charset="0"/>
              </a:rPr>
              <a:t>a separate directory for your </a:t>
            </a:r>
            <a:r>
              <a:rPr lang="en-US" dirty="0" smtClean="0">
                <a:latin typeface="Georgia" panose="02040502050405020303" pitchFamily="18" charset="0"/>
              </a:rPr>
              <a:t>project:</a:t>
            </a:r>
            <a:br>
              <a:rPr lang="en-US" dirty="0" smtClean="0">
                <a:latin typeface="Georgia" panose="02040502050405020303" pitchFamily="18" charset="0"/>
              </a:rPr>
            </a:br>
            <a:r>
              <a:rPr lang="en-US" dirty="0" smtClean="0">
                <a:latin typeface="Georgia" panose="02040502050405020303" pitchFamily="18" charset="0"/>
              </a:rPr>
              <a:t>$ </a:t>
            </a:r>
            <a:r>
              <a:rPr lang="en-US" i="1" dirty="0" err="1" smtClean="0">
                <a:latin typeface="Georgia" panose="02040502050405020303" pitchFamily="18" charset="0"/>
              </a:rPr>
              <a:t>mkdir</a:t>
            </a:r>
            <a:r>
              <a:rPr lang="en-US" i="1" dirty="0" smtClean="0">
                <a:latin typeface="Georgia" panose="02040502050405020303" pitchFamily="18" charset="0"/>
              </a:rPr>
              <a:t> </a:t>
            </a:r>
            <a:r>
              <a:rPr lang="en-US" i="1" dirty="0" err="1" smtClean="0">
                <a:latin typeface="Georgia" panose="02040502050405020303" pitchFamily="18" charset="0"/>
              </a:rPr>
              <a:t>testweb</a:t>
            </a:r>
            <a:endParaRPr lang="en-US" i="1" dirty="0" smtClean="0">
              <a:latin typeface="Georgia" panose="02040502050405020303" pitchFamily="18" charset="0"/>
            </a:endParaRPr>
          </a:p>
          <a:p>
            <a:pPr marL="342900" indent="-342900">
              <a:buFont typeface="+mj-lt"/>
              <a:buAutoNum type="arabicParenR"/>
            </a:pPr>
            <a:endParaRPr lang="en-US" i="1" dirty="0">
              <a:latin typeface="Georgia" panose="02040502050405020303" pitchFamily="18" charset="0"/>
            </a:endParaRPr>
          </a:p>
          <a:p>
            <a:pPr marL="342900" indent="-342900">
              <a:buFont typeface="+mj-lt"/>
              <a:buAutoNum type="arabicParenR"/>
            </a:pPr>
            <a:r>
              <a:rPr lang="en-US" dirty="0" smtClean="0">
                <a:latin typeface="Georgia" panose="02040502050405020303" pitchFamily="18" charset="0"/>
              </a:rPr>
              <a:t>Move </a:t>
            </a:r>
            <a:r>
              <a:rPr lang="en-US" dirty="0">
                <a:latin typeface="Georgia" panose="02040502050405020303" pitchFamily="18" charset="0"/>
              </a:rPr>
              <a:t>into the </a:t>
            </a:r>
            <a:r>
              <a:rPr lang="en-US" dirty="0" smtClean="0">
                <a:latin typeface="Georgia" panose="02040502050405020303" pitchFamily="18" charset="0"/>
              </a:rPr>
              <a:t>directory:</a:t>
            </a:r>
            <a:br>
              <a:rPr lang="en-US" dirty="0" smtClean="0">
                <a:latin typeface="Georgia" panose="02040502050405020303" pitchFamily="18" charset="0"/>
              </a:rPr>
            </a:br>
            <a:r>
              <a:rPr lang="en-US" dirty="0" smtClean="0">
                <a:latin typeface="Georgia" panose="02040502050405020303" pitchFamily="18" charset="0"/>
              </a:rPr>
              <a:t>$ </a:t>
            </a:r>
            <a:r>
              <a:rPr lang="en-US" i="1" dirty="0" smtClean="0">
                <a:latin typeface="Georgia" panose="02040502050405020303" pitchFamily="18" charset="0"/>
              </a:rPr>
              <a:t>cd </a:t>
            </a:r>
            <a:r>
              <a:rPr lang="en-US" i="1" dirty="0" err="1" smtClean="0">
                <a:latin typeface="Georgia" panose="02040502050405020303" pitchFamily="18" charset="0"/>
              </a:rPr>
              <a:t>testweb</a:t>
            </a:r>
            <a:endParaRPr lang="en-US" i="1" dirty="0">
              <a:latin typeface="Georgia" panose="02040502050405020303" pitchFamily="18" charset="0"/>
            </a:endParaRPr>
          </a:p>
          <a:p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5" name="Horizontal Scroll 4"/>
          <p:cNvSpPr/>
          <p:nvPr/>
        </p:nvSpPr>
        <p:spPr>
          <a:xfrm>
            <a:off x="5029200" y="960477"/>
            <a:ext cx="3962399" cy="1554123"/>
          </a:xfrm>
          <a:prstGeom prst="horizontalScroll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Within the directory, create the virtual environment for Flask. When you create the environment, a new folder appears in your project directory with the environment’s name.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2895600" y="4953000"/>
            <a:ext cx="6095999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Georgia" panose="02040502050405020303" pitchFamily="18" charset="0"/>
              </a:rPr>
              <a:t>Create an Environment in </a:t>
            </a:r>
            <a:r>
              <a:rPr lang="en-US" dirty="0" smtClean="0">
                <a:latin typeface="Georgia" panose="02040502050405020303" pitchFamily="18" charset="0"/>
              </a:rPr>
              <a:t>Windows For </a:t>
            </a:r>
            <a:r>
              <a:rPr lang="en-US" dirty="0">
                <a:latin typeface="Georgia" panose="02040502050405020303" pitchFamily="18" charset="0"/>
              </a:rPr>
              <a:t>Python 3:</a:t>
            </a:r>
          </a:p>
          <a:p>
            <a:r>
              <a:rPr lang="en-US" dirty="0">
                <a:latin typeface="Georgia" panose="02040502050405020303" pitchFamily="18" charset="0"/>
              </a:rPr>
              <a:t>Create and name a virtual environment in Python 3 with:</a:t>
            </a:r>
          </a:p>
          <a:p>
            <a:endParaRPr lang="en-US" dirty="0">
              <a:latin typeface="Georgia" panose="02040502050405020303" pitchFamily="18" charset="0"/>
            </a:endParaRPr>
          </a:p>
          <a:p>
            <a:r>
              <a:rPr lang="en-US" dirty="0" smtClean="0">
                <a:latin typeface="Georgia" panose="02040502050405020303" pitchFamily="18" charset="0"/>
              </a:rPr>
              <a:t>$ </a:t>
            </a:r>
            <a:r>
              <a:rPr lang="en-US" i="1" dirty="0" err="1" smtClean="0">
                <a:latin typeface="Georgia" panose="02040502050405020303" pitchFamily="18" charset="0"/>
              </a:rPr>
              <a:t>py</a:t>
            </a:r>
            <a:r>
              <a:rPr lang="en-US" i="1" dirty="0" smtClean="0">
                <a:latin typeface="Georgia" panose="02040502050405020303" pitchFamily="18" charset="0"/>
              </a:rPr>
              <a:t> </a:t>
            </a:r>
            <a:r>
              <a:rPr lang="en-US" i="1" dirty="0">
                <a:latin typeface="Georgia" panose="02040502050405020303" pitchFamily="18" charset="0"/>
              </a:rPr>
              <a:t>-3 -m </a:t>
            </a:r>
            <a:r>
              <a:rPr lang="en-US" i="1" dirty="0" err="1">
                <a:latin typeface="Georgia" panose="02040502050405020303" pitchFamily="18" charset="0"/>
              </a:rPr>
              <a:t>venv</a:t>
            </a:r>
            <a:r>
              <a:rPr lang="en-US" i="1" dirty="0">
                <a:latin typeface="Georgia" panose="02040502050405020303" pitchFamily="18" charset="0"/>
              </a:rPr>
              <a:t> &lt;name of environment</a:t>
            </a:r>
            <a:r>
              <a:rPr lang="en-US" i="1" dirty="0" smtClean="0">
                <a:latin typeface="Georgia" panose="02040502050405020303" pitchFamily="18" charset="0"/>
              </a:rPr>
              <a:t>&gt;</a:t>
            </a:r>
          </a:p>
          <a:p>
            <a:r>
              <a:rPr lang="en-US" i="1" dirty="0">
                <a:latin typeface="Georgia" panose="02040502050405020303" pitchFamily="18" charset="0"/>
              </a:rPr>
              <a:t>o</a:t>
            </a:r>
            <a:r>
              <a:rPr lang="en-US" i="1" dirty="0" smtClean="0">
                <a:latin typeface="Georgia" panose="02040502050405020303" pitchFamily="18" charset="0"/>
              </a:rPr>
              <a:t>r </a:t>
            </a:r>
          </a:p>
          <a:p>
            <a:r>
              <a:rPr lang="en-US" dirty="0">
                <a:latin typeface="Georgia" panose="02040502050405020303" pitchFamily="18" charset="0"/>
              </a:rPr>
              <a:t>$ </a:t>
            </a:r>
            <a:r>
              <a:rPr lang="en-US" i="1" dirty="0" smtClean="0">
                <a:latin typeface="Georgia" panose="02040502050405020303" pitchFamily="18" charset="0"/>
              </a:rPr>
              <a:t>python-m </a:t>
            </a:r>
            <a:r>
              <a:rPr lang="en-US" i="1" dirty="0" err="1">
                <a:latin typeface="Georgia" panose="02040502050405020303" pitchFamily="18" charset="0"/>
              </a:rPr>
              <a:t>venv</a:t>
            </a:r>
            <a:r>
              <a:rPr lang="en-US" i="1" dirty="0">
                <a:latin typeface="Georgia" panose="02040502050405020303" pitchFamily="18" charset="0"/>
              </a:rPr>
              <a:t> &lt;name of environment</a:t>
            </a:r>
            <a:r>
              <a:rPr lang="en-US" i="1" dirty="0" smtClean="0">
                <a:latin typeface="Georgia" panose="02040502050405020303" pitchFamily="18" charset="0"/>
              </a:rPr>
              <a:t>&gt;</a:t>
            </a:r>
            <a:endParaRPr lang="en-US" i="1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2481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6858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3200" b="1" dirty="0">
                <a:solidFill>
                  <a:srgbClr val="1F497D"/>
                </a:solidFill>
                <a:latin typeface="Georgia"/>
              </a:rPr>
              <a:t>Step 3: </a:t>
            </a:r>
            <a:r>
              <a:rPr lang="en-US" sz="3200" dirty="0">
                <a:solidFill>
                  <a:srgbClr val="1F497D"/>
                </a:solidFill>
                <a:latin typeface="Georgia"/>
              </a:rPr>
              <a:t>Activate the Environment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393" y="963842"/>
            <a:ext cx="370325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latin typeface="Georgia" panose="02040502050405020303" pitchFamily="18" charset="0"/>
              </a:rPr>
              <a:t>1. Activate </a:t>
            </a:r>
            <a:r>
              <a:rPr lang="en-US" sz="1400" dirty="0" err="1" smtClean="0">
                <a:latin typeface="Georgia" panose="02040502050405020303" pitchFamily="18" charset="0"/>
              </a:rPr>
              <a:t>conda</a:t>
            </a:r>
            <a:r>
              <a:rPr lang="en-US" sz="1400" dirty="0" smtClean="0">
                <a:latin typeface="Georgia" panose="02040502050405020303" pitchFamily="18" charset="0"/>
              </a:rPr>
              <a:t> </a:t>
            </a:r>
            <a:r>
              <a:rPr lang="en-US" sz="1400" dirty="0">
                <a:latin typeface="Georgia" panose="02040502050405020303" pitchFamily="18" charset="0"/>
              </a:rPr>
              <a:t>Environment on </a:t>
            </a:r>
            <a:r>
              <a:rPr lang="en-US" sz="1400" dirty="0" smtClean="0">
                <a:latin typeface="Georgia" panose="02040502050405020303" pitchFamily="18" charset="0"/>
              </a:rPr>
              <a:t>Windows:</a:t>
            </a:r>
            <a:endParaRPr lang="en-US" sz="1400" dirty="0">
              <a:latin typeface="Georgia" panose="02040502050405020303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20864" y="3858312"/>
            <a:ext cx="502313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For Windows, activate the virtual </a:t>
            </a:r>
            <a:r>
              <a:rPr lang="en-US" sz="1400" dirty="0" smtClean="0">
                <a:latin typeface="Georgia" panose="02040502050405020303" pitchFamily="18" charset="0"/>
              </a:rPr>
              <a:t>environment.</a:t>
            </a:r>
            <a:endParaRPr lang="en-US" sz="1400" dirty="0">
              <a:latin typeface="Georgia" panose="02040502050405020303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81" y="1278045"/>
            <a:ext cx="3810919" cy="25587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087813" y="957415"/>
            <a:ext cx="366638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>
                <a:latin typeface="Georgia" panose="02040502050405020303" pitchFamily="18" charset="0"/>
              </a:rPr>
              <a:t>2. Activate </a:t>
            </a:r>
            <a:r>
              <a:rPr lang="en-US" sz="1400" dirty="0">
                <a:latin typeface="Georgia" panose="02040502050405020303" pitchFamily="18" charset="0"/>
              </a:rPr>
              <a:t>the </a:t>
            </a:r>
            <a:r>
              <a:rPr lang="en-US" sz="1400" dirty="0" smtClean="0">
                <a:latin typeface="Georgia" panose="02040502050405020303" pitchFamily="18" charset="0"/>
              </a:rPr>
              <a:t>Virtual Environment for flask</a:t>
            </a:r>
            <a:endParaRPr lang="en-US" sz="1400" dirty="0">
              <a:latin typeface="Georgia" panose="02040502050405020303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1754" y="1265192"/>
            <a:ext cx="4779846" cy="257161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383" y="4338683"/>
            <a:ext cx="4425617" cy="2381033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30424" y="4016217"/>
            <a:ext cx="281840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3</a:t>
            </a:r>
            <a:r>
              <a:rPr lang="en-US" sz="1400" dirty="0" smtClean="0">
                <a:latin typeface="Georgia" panose="02040502050405020303" pitchFamily="18" charset="0"/>
              </a:rPr>
              <a:t>. Activated Virtual Environment</a:t>
            </a:r>
            <a:endParaRPr lang="en-US" sz="14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0265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6858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3200" b="1" dirty="0">
                <a:solidFill>
                  <a:srgbClr val="1F497D"/>
                </a:solidFill>
                <a:latin typeface="Georgia"/>
              </a:rPr>
              <a:t>Step 4: </a:t>
            </a:r>
            <a:r>
              <a:rPr lang="en-US" sz="3200" dirty="0">
                <a:solidFill>
                  <a:srgbClr val="1F497D"/>
                </a:solidFill>
                <a:latin typeface="Georgia"/>
              </a:rPr>
              <a:t>Install Flask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0592" y="902462"/>
            <a:ext cx="74070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Georgia" panose="02040502050405020303" pitchFamily="18" charset="0"/>
              </a:rPr>
              <a:t>Install Flask within the activated environment using </a:t>
            </a:r>
            <a:r>
              <a:rPr lang="en-US" i="1" dirty="0">
                <a:latin typeface="Georgia" panose="02040502050405020303" pitchFamily="18" charset="0"/>
              </a:rPr>
              <a:t>pip</a:t>
            </a:r>
            <a:r>
              <a:rPr lang="en-US" dirty="0">
                <a:latin typeface="Georgia" panose="02040502050405020303" pitchFamily="18" charset="0"/>
              </a:rPr>
              <a:t>:</a:t>
            </a:r>
          </a:p>
        </p:txBody>
      </p:sp>
      <p:sp>
        <p:nvSpPr>
          <p:cNvPr id="3" name="Rectangle 2"/>
          <p:cNvSpPr/>
          <p:nvPr/>
        </p:nvSpPr>
        <p:spPr>
          <a:xfrm>
            <a:off x="55084" y="1238744"/>
            <a:ext cx="20329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latin typeface="Georgia" panose="02040502050405020303" pitchFamily="18" charset="0"/>
              </a:rPr>
              <a:t>$ </a:t>
            </a:r>
            <a:r>
              <a:rPr lang="en-US" i="1" dirty="0" smtClean="0">
                <a:solidFill>
                  <a:srgbClr val="FF0000"/>
                </a:solidFill>
                <a:latin typeface="Georgia" panose="02040502050405020303" pitchFamily="18" charset="0"/>
              </a:rPr>
              <a:t>pip </a:t>
            </a:r>
            <a:r>
              <a:rPr lang="en-US" i="1" dirty="0">
                <a:solidFill>
                  <a:srgbClr val="FF0000"/>
                </a:solidFill>
                <a:latin typeface="Georgia" panose="02040502050405020303" pitchFamily="18" charset="0"/>
              </a:rPr>
              <a:t>install Flask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676400"/>
            <a:ext cx="754380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138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6858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3200" b="1" dirty="0">
                <a:solidFill>
                  <a:srgbClr val="1F497D"/>
                </a:solidFill>
                <a:latin typeface="Georgia"/>
              </a:rPr>
              <a:t>Step 5: </a:t>
            </a:r>
            <a:r>
              <a:rPr lang="en-US" sz="3200" dirty="0">
                <a:solidFill>
                  <a:srgbClr val="1F497D"/>
                </a:solidFill>
                <a:latin typeface="Georgia"/>
              </a:rPr>
              <a:t>Test the Development Environment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0592" y="957534"/>
            <a:ext cx="8931007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arenR"/>
            </a:pPr>
            <a:r>
              <a:rPr lang="en-US" dirty="0" smtClean="0">
                <a:latin typeface="Georgia" panose="02040502050405020303" pitchFamily="18" charset="0"/>
              </a:rPr>
              <a:t>Create </a:t>
            </a:r>
            <a:r>
              <a:rPr lang="en-US" dirty="0">
                <a:latin typeface="Georgia" panose="02040502050405020303" pitchFamily="18" charset="0"/>
              </a:rPr>
              <a:t>a simple </a:t>
            </a:r>
            <a:r>
              <a:rPr lang="en-US" b="1" i="1" dirty="0">
                <a:latin typeface="Georgia" panose="02040502050405020303" pitchFamily="18" charset="0"/>
              </a:rPr>
              <a:t>Flask application to test </a:t>
            </a:r>
            <a:r>
              <a:rPr lang="en-US" dirty="0">
                <a:latin typeface="Georgia" panose="02040502050405020303" pitchFamily="18" charset="0"/>
              </a:rPr>
              <a:t>the newly created development environment</a:t>
            </a:r>
            <a:r>
              <a:rPr lang="en-US" dirty="0" smtClean="0">
                <a:latin typeface="Georgia" panose="02040502050405020303" pitchFamily="18" charset="0"/>
              </a:rPr>
              <a:t>.</a:t>
            </a:r>
            <a:endParaRPr lang="en-US" dirty="0">
              <a:latin typeface="Georgia" panose="02040502050405020303" pitchFamily="18" charset="0"/>
            </a:endParaRPr>
          </a:p>
          <a:p>
            <a:pPr marL="342900" indent="-342900">
              <a:buFont typeface="+mj-lt"/>
              <a:buAutoNum type="arabicParenR"/>
            </a:pPr>
            <a:r>
              <a:rPr lang="en-US" dirty="0" smtClean="0">
                <a:latin typeface="Georgia" panose="02040502050405020303" pitchFamily="18" charset="0"/>
              </a:rPr>
              <a:t>Make </a:t>
            </a:r>
            <a:r>
              <a:rPr lang="en-US" dirty="0">
                <a:latin typeface="Georgia" panose="02040502050405020303" pitchFamily="18" charset="0"/>
              </a:rPr>
              <a:t>a file in the Flask project folder called </a:t>
            </a:r>
            <a:r>
              <a:rPr lang="en-US" b="1" i="1" dirty="0">
                <a:latin typeface="Georgia" panose="02040502050405020303" pitchFamily="18" charset="0"/>
              </a:rPr>
              <a:t>hello.py</a:t>
            </a:r>
            <a:r>
              <a:rPr lang="en-US" dirty="0" smtClean="0">
                <a:latin typeface="Georgia" panose="02040502050405020303" pitchFamily="18" charset="0"/>
              </a:rPr>
              <a:t>.</a:t>
            </a:r>
            <a:endParaRPr lang="en-US" dirty="0">
              <a:latin typeface="Georgia" panose="02040502050405020303" pitchFamily="18" charset="0"/>
            </a:endParaRPr>
          </a:p>
          <a:p>
            <a:pPr marL="342900" indent="-342900">
              <a:buFont typeface="+mj-lt"/>
              <a:buAutoNum type="arabicParenR"/>
            </a:pPr>
            <a:r>
              <a:rPr lang="en-US" dirty="0" smtClean="0">
                <a:latin typeface="Georgia" panose="02040502050405020303" pitchFamily="18" charset="0"/>
              </a:rPr>
              <a:t>Edit </a:t>
            </a:r>
            <a:r>
              <a:rPr lang="en-US" dirty="0">
                <a:latin typeface="Georgia" panose="02040502050405020303" pitchFamily="18" charset="0"/>
              </a:rPr>
              <a:t>the file using a text editor and add the following code to make an application that prints “</a:t>
            </a:r>
            <a:r>
              <a:rPr lang="en-US" i="1" dirty="0">
                <a:latin typeface="Georgia" panose="02040502050405020303" pitchFamily="18" charset="0"/>
              </a:rPr>
              <a:t>Hello world</a:t>
            </a:r>
            <a:r>
              <a:rPr lang="en-US" i="1" dirty="0" smtClean="0">
                <a:latin typeface="Georgia" panose="02040502050405020303" pitchFamily="18" charset="0"/>
              </a:rPr>
              <a:t>!</a:t>
            </a:r>
            <a:r>
              <a:rPr lang="en-US" dirty="0" smtClean="0">
                <a:latin typeface="Georgia" panose="02040502050405020303" pitchFamily="18" charset="0"/>
              </a:rPr>
              <a:t>”.</a:t>
            </a:r>
          </a:p>
          <a:p>
            <a:pPr marL="342900" indent="-342900">
              <a:buFont typeface="+mj-lt"/>
              <a:buAutoNum type="arabicParenR"/>
            </a:pPr>
            <a:r>
              <a:rPr lang="en-US" b="1" dirty="0">
                <a:latin typeface="Georgia" panose="02040502050405020303" pitchFamily="18" charset="0"/>
              </a:rPr>
              <a:t>Note:</a:t>
            </a:r>
            <a:r>
              <a:rPr lang="en-US" dirty="0">
                <a:latin typeface="Georgia" panose="02040502050405020303" pitchFamily="18" charset="0"/>
              </a:rPr>
              <a:t> Pick any name for the project except flask.py. The Flask library is in a flask.py file.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2297" y="3558530"/>
            <a:ext cx="3989302" cy="289140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1" y="3558530"/>
            <a:ext cx="4267199" cy="289140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592" y="3135868"/>
            <a:ext cx="35477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latin typeface="Georgia" panose="02040502050405020303" pitchFamily="18" charset="0"/>
              </a:rPr>
              <a:t>Dir path: </a:t>
            </a:r>
            <a:r>
              <a:rPr lang="en-US" dirty="0" smtClean="0">
                <a:solidFill>
                  <a:srgbClr val="FF0000"/>
                </a:solidFill>
                <a:latin typeface="Georgia" panose="02040502050405020303" pitchFamily="18" charset="0"/>
              </a:rPr>
              <a:t>C</a:t>
            </a:r>
            <a:r>
              <a:rPr lang="en-US" dirty="0">
                <a:solidFill>
                  <a:srgbClr val="FF0000"/>
                </a:solidFill>
                <a:latin typeface="Georgia" panose="02040502050405020303" pitchFamily="18" charset="0"/>
              </a:rPr>
              <a:t>:\Users\NL\testweb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572000" y="4495800"/>
            <a:ext cx="228600" cy="1066800"/>
          </a:xfrm>
          <a:prstGeom prst="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67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6858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3200" dirty="0">
                <a:solidFill>
                  <a:srgbClr val="1F497D"/>
                </a:solidFill>
                <a:latin typeface="Georgia"/>
              </a:rPr>
              <a:t>Set </a:t>
            </a:r>
            <a:r>
              <a:rPr lang="en-US" sz="3200" dirty="0" smtClean="0">
                <a:solidFill>
                  <a:srgbClr val="1F497D"/>
                </a:solidFill>
                <a:latin typeface="Georgia"/>
              </a:rPr>
              <a:t>FLASK_APP </a:t>
            </a:r>
            <a:r>
              <a:rPr lang="en-US" sz="3200" i="1" dirty="0">
                <a:solidFill>
                  <a:srgbClr val="1F497D"/>
                </a:solidFill>
                <a:latin typeface="Georgia"/>
              </a:rPr>
              <a:t>environment variable</a:t>
            </a:r>
            <a:endParaRPr kumimoji="0" lang="en-US" sz="3200" b="0" i="1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9576" y="935512"/>
            <a:ext cx="90944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Georgia" panose="02040502050405020303" pitchFamily="18" charset="0"/>
              </a:rPr>
              <a:t>Open new console (CMD)</a:t>
            </a:r>
            <a:r>
              <a:rPr lang="en-US" dirty="0" smtClean="0">
                <a:latin typeface="Georgia" panose="02040502050405020303" pitchFamily="18" charset="0"/>
              </a:rPr>
              <a:t> to </a:t>
            </a:r>
            <a:r>
              <a:rPr lang="en-US" dirty="0">
                <a:latin typeface="Georgia" panose="02040502050405020303" pitchFamily="18" charset="0"/>
              </a:rPr>
              <a:t>navigate to the project folder using the cd command.</a:t>
            </a:r>
          </a:p>
        </p:txBody>
      </p:sp>
      <p:sp>
        <p:nvSpPr>
          <p:cNvPr id="3" name="Rectangle 2"/>
          <p:cNvSpPr/>
          <p:nvPr/>
        </p:nvSpPr>
        <p:spPr>
          <a:xfrm>
            <a:off x="49576" y="1304844"/>
            <a:ext cx="840862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Georgia" panose="02040502050405020303" pitchFamily="18" charset="0"/>
              </a:rPr>
              <a:t>Set the FLASK_APP environment variable</a:t>
            </a:r>
            <a:r>
              <a:rPr lang="en-US" dirty="0" smtClean="0">
                <a:latin typeface="Georgia" panose="02040502050405020303" pitchFamily="18" charset="0"/>
              </a:rPr>
              <a:t>.</a:t>
            </a:r>
            <a:endParaRPr lang="en-US" dirty="0">
              <a:latin typeface="Georgia" panose="02040502050405020303" pitchFamily="18" charset="0"/>
            </a:endParaRPr>
          </a:p>
          <a:p>
            <a:r>
              <a:rPr lang="en-US" b="1" dirty="0" smtClean="0">
                <a:latin typeface="Georgia" panose="02040502050405020303" pitchFamily="18" charset="0"/>
              </a:rPr>
              <a:t>1. For </a:t>
            </a:r>
            <a:r>
              <a:rPr lang="en-US" b="1" dirty="0">
                <a:latin typeface="Georgia" panose="02040502050405020303" pitchFamily="18" charset="0"/>
              </a:rPr>
              <a:t>Linux and Mac:</a:t>
            </a:r>
          </a:p>
          <a:p>
            <a:r>
              <a:rPr lang="en-US" dirty="0" smtClean="0">
                <a:latin typeface="Georgia" panose="02040502050405020303" pitchFamily="18" charset="0"/>
              </a:rPr>
              <a:t>     $ </a:t>
            </a:r>
            <a:r>
              <a:rPr lang="en-US" i="1" dirty="0" smtClean="0">
                <a:latin typeface="Georgia" panose="02040502050405020303" pitchFamily="18" charset="0"/>
              </a:rPr>
              <a:t>export </a:t>
            </a:r>
            <a:r>
              <a:rPr lang="en-US" i="1" dirty="0">
                <a:latin typeface="Georgia" panose="02040502050405020303" pitchFamily="18" charset="0"/>
              </a:rPr>
              <a:t>FLASK_APP=hello.py</a:t>
            </a:r>
          </a:p>
          <a:p>
            <a:r>
              <a:rPr lang="en-US" b="1" dirty="0" smtClean="0">
                <a:latin typeface="Georgia" panose="02040502050405020303" pitchFamily="18" charset="0"/>
              </a:rPr>
              <a:t>2. For </a:t>
            </a:r>
            <a:r>
              <a:rPr lang="en-US" b="1" dirty="0">
                <a:latin typeface="Georgia" panose="02040502050405020303" pitchFamily="18" charset="0"/>
              </a:rPr>
              <a:t>Windows:</a:t>
            </a:r>
          </a:p>
          <a:p>
            <a:r>
              <a:rPr lang="en-US" dirty="0" smtClean="0">
                <a:latin typeface="Georgia" panose="02040502050405020303" pitchFamily="18" charset="0"/>
              </a:rPr>
              <a:t>     $ </a:t>
            </a:r>
            <a:r>
              <a:rPr lang="en-US" i="1" dirty="0" err="1" smtClean="0">
                <a:latin typeface="Georgia" panose="02040502050405020303" pitchFamily="18" charset="0"/>
              </a:rPr>
              <a:t>setx</a:t>
            </a:r>
            <a:r>
              <a:rPr lang="en-US" i="1" dirty="0" smtClean="0">
                <a:latin typeface="Georgia" panose="02040502050405020303" pitchFamily="18" charset="0"/>
              </a:rPr>
              <a:t> </a:t>
            </a:r>
            <a:r>
              <a:rPr lang="en-US" i="1" dirty="0">
                <a:latin typeface="Georgia" panose="02040502050405020303" pitchFamily="18" charset="0"/>
              </a:rPr>
              <a:t>FLASK_APP “hello.py”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156" y="2816818"/>
            <a:ext cx="4962525" cy="18192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156" y="4810125"/>
            <a:ext cx="4962525" cy="181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161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6858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3200" dirty="0">
                <a:solidFill>
                  <a:srgbClr val="1F497D"/>
                </a:solidFill>
                <a:latin typeface="Georgia"/>
              </a:rPr>
              <a:t>Run the Flask </a:t>
            </a:r>
            <a:r>
              <a:rPr lang="en-US" sz="3200" dirty="0" smtClean="0">
                <a:solidFill>
                  <a:srgbClr val="1F497D"/>
                </a:solidFill>
                <a:latin typeface="Georgia"/>
              </a:rPr>
              <a:t>Application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0593" y="940232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Georgia" panose="02040502050405020303" pitchFamily="18" charset="0"/>
              </a:rPr>
              <a:t>Run the Flask application with:</a:t>
            </a:r>
          </a:p>
          <a:p>
            <a:r>
              <a:rPr lang="en-US" dirty="0" smtClean="0">
                <a:latin typeface="Georgia" panose="02040502050405020303" pitchFamily="18" charset="0"/>
              </a:rPr>
              <a:t>$ </a:t>
            </a:r>
            <a:r>
              <a:rPr lang="en-US" i="1" dirty="0" smtClean="0">
                <a:solidFill>
                  <a:srgbClr val="FF0000"/>
                </a:solidFill>
                <a:latin typeface="Georgia" panose="02040502050405020303" pitchFamily="18" charset="0"/>
              </a:rPr>
              <a:t>flask </a:t>
            </a:r>
            <a:r>
              <a:rPr lang="en-US" i="1" dirty="0">
                <a:solidFill>
                  <a:srgbClr val="FF0000"/>
                </a:solidFill>
                <a:latin typeface="Georgia" panose="02040502050405020303" pitchFamily="18" charset="0"/>
              </a:rPr>
              <a:t>run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252" y="1688594"/>
            <a:ext cx="7530947" cy="417716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0593" y="5967790"/>
            <a:ext cx="75376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latin typeface="Georgia" panose="02040502050405020303" pitchFamily="18" charset="0"/>
              </a:rPr>
              <a:t>Copy and paste this URL in your browser: </a:t>
            </a:r>
            <a:r>
              <a:rPr lang="en-US" i="1" dirty="0" smtClean="0">
                <a:solidFill>
                  <a:srgbClr val="FF0000"/>
                </a:solidFill>
                <a:latin typeface="Georgia" panose="02040502050405020303" pitchFamily="18" charset="0"/>
              </a:rPr>
              <a:t>http</a:t>
            </a:r>
            <a:r>
              <a:rPr lang="en-US" i="1" dirty="0">
                <a:solidFill>
                  <a:srgbClr val="FF0000"/>
                </a:solidFill>
                <a:latin typeface="Georgia" panose="02040502050405020303" pitchFamily="18" charset="0"/>
              </a:rPr>
              <a:t>://127.0.0.1:5000/</a:t>
            </a:r>
          </a:p>
        </p:txBody>
      </p:sp>
    </p:spTree>
    <p:extLst>
      <p:ext uri="{BB962C8B-B14F-4D97-AF65-F5344CB8AC3E}">
        <p14:creationId xmlns:p14="http://schemas.microsoft.com/office/powerpoint/2010/main" val="3914165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6858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3200" dirty="0">
                <a:solidFill>
                  <a:srgbClr val="1F497D"/>
                </a:solidFill>
                <a:latin typeface="Georgia"/>
              </a:rPr>
              <a:t>Run the Flask </a:t>
            </a:r>
            <a:r>
              <a:rPr lang="en-US" sz="3200" dirty="0" smtClean="0">
                <a:solidFill>
                  <a:srgbClr val="1F497D"/>
                </a:solidFill>
                <a:latin typeface="Georgia"/>
              </a:rPr>
              <a:t>Application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0593" y="940232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latin typeface="Georgia" panose="02040502050405020303" pitchFamily="18" charset="0"/>
              </a:rPr>
              <a:t>Check your browser:</a:t>
            </a:r>
            <a:endParaRPr lang="en-US" dirty="0">
              <a:latin typeface="Georgia" panose="02040502050405020303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37" y="1309564"/>
            <a:ext cx="8823363" cy="5251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705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 bwMode="auto">
          <a:xfrm>
            <a:off x="152401" y="152400"/>
            <a:ext cx="8839200" cy="9144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4391">
              <a:defRPr/>
            </a:pPr>
            <a:r>
              <a:rPr lang="en-US" dirty="0" smtClean="0">
                <a:solidFill>
                  <a:srgbClr val="1F497D"/>
                </a:solidFill>
                <a:latin typeface="Georgia"/>
              </a:rPr>
              <a:t>After Run Flask Application</a:t>
            </a:r>
            <a:endParaRPr kumimoji="0" lang="en-US" sz="4000" b="0" i="1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714501" y="2590800"/>
            <a:ext cx="57150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404040"/>
                </a:solidFill>
                <a:latin typeface="Georgia" panose="02040502050405020303" pitchFamily="18" charset="0"/>
              </a:rPr>
              <a:t>Note:</a:t>
            </a:r>
            <a:r>
              <a:rPr lang="en-US" sz="3200" dirty="0">
                <a:solidFill>
                  <a:srgbClr val="404040"/>
                </a:solidFill>
                <a:latin typeface="Georgia" panose="02040502050405020303" pitchFamily="18" charset="0"/>
              </a:rPr>
              <a:t> </a:t>
            </a:r>
            <a:r>
              <a:rPr lang="en-US" sz="3200" dirty="0" smtClean="0">
                <a:solidFill>
                  <a:srgbClr val="404040"/>
                </a:solidFill>
                <a:latin typeface="Georgia" panose="02040502050405020303" pitchFamily="18" charset="0"/>
              </a:rPr>
              <a:t>Windows users </a:t>
            </a:r>
            <a:r>
              <a:rPr lang="en-US" sz="3200" dirty="0">
                <a:solidFill>
                  <a:srgbClr val="404040"/>
                </a:solidFill>
                <a:latin typeface="Georgia" panose="02040502050405020303" pitchFamily="18" charset="0"/>
              </a:rPr>
              <a:t>must </a:t>
            </a:r>
            <a:r>
              <a:rPr lang="en-US" sz="3200" dirty="0" smtClean="0">
                <a:solidFill>
                  <a:srgbClr val="404040"/>
                </a:solidFill>
                <a:latin typeface="Georgia" panose="02040502050405020303" pitchFamily="18" charset="0"/>
              </a:rPr>
              <a:t>restart/close </a:t>
            </a:r>
            <a:r>
              <a:rPr lang="en-US" sz="3200" dirty="0">
                <a:solidFill>
                  <a:srgbClr val="404040"/>
                </a:solidFill>
                <a:latin typeface="Georgia" panose="02040502050405020303" pitchFamily="18" charset="0"/>
              </a:rPr>
              <a:t>the </a:t>
            </a:r>
            <a:r>
              <a:rPr lang="en-US" sz="3200" dirty="0" smtClean="0">
                <a:solidFill>
                  <a:srgbClr val="404040"/>
                </a:solidFill>
                <a:latin typeface="Georgia" panose="02040502050405020303" pitchFamily="18" charset="0"/>
              </a:rPr>
              <a:t>console </a:t>
            </a:r>
            <a:r>
              <a:rPr lang="en-US" sz="3200" dirty="0">
                <a:solidFill>
                  <a:srgbClr val="404040"/>
                </a:solidFill>
                <a:latin typeface="Georgia" panose="02040502050405020303" pitchFamily="18" charset="0"/>
              </a:rPr>
              <a:t>(CMD)</a:t>
            </a:r>
            <a:r>
              <a:rPr lang="en-US" sz="3200" dirty="0" smtClean="0">
                <a:solidFill>
                  <a:srgbClr val="404040"/>
                </a:solidFill>
                <a:latin typeface="Georgia" panose="02040502050405020303" pitchFamily="18" charset="0"/>
              </a:rPr>
              <a:t> </a:t>
            </a:r>
            <a:r>
              <a:rPr lang="en-US" sz="3200" dirty="0">
                <a:solidFill>
                  <a:srgbClr val="404040"/>
                </a:solidFill>
                <a:latin typeface="Georgia" panose="02040502050405020303" pitchFamily="18" charset="0"/>
              </a:rPr>
              <a:t>to set the environment variable.</a:t>
            </a:r>
            <a:endParaRPr lang="en-US" sz="32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6970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886200"/>
            <a:ext cx="9143999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3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(#2) exercise 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for </a:t>
            </a: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students</a:t>
            </a:r>
          </a:p>
          <a:p>
            <a:pPr marL="0" marR="0" lvl="0" indent="0" algn="ctr" defTabSz="9143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[Web Framework]</a:t>
            </a: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</p:txBody>
      </p:sp>
      <p:pic>
        <p:nvPicPr>
          <p:cNvPr id="6148" name="Picture 4" descr="Clipboard checklist clipart letters example gif - Clipartix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1" y="1143001"/>
            <a:ext cx="1752600" cy="2609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168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1" y="152400"/>
            <a:ext cx="8839200" cy="9144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91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E</a:t>
            </a: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xercise #2.1</a:t>
            </a:r>
            <a:endParaRPr kumimoji="0" lang="en-US" sz="4000" b="0" i="1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2401" y="1182469"/>
            <a:ext cx="8839199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File   : </a:t>
            </a:r>
            <a:r>
              <a:rPr kumimoji="0" lang="en-US" sz="18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demo_2_1.py</a:t>
            </a:r>
          </a:p>
          <a:p>
            <a:pPr lvl="0"/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Desc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 : </a:t>
            </a:r>
            <a:r>
              <a:rPr lang="en-US" dirty="0" smtClean="0">
                <a:solidFill>
                  <a:prstClr val="black"/>
                </a:solidFill>
                <a:latin typeface="Bahnschrift" panose="020B0502040204020203" pitchFamily="34" charset="0"/>
              </a:rPr>
              <a:t>Display/create/build </a:t>
            </a:r>
            <a:r>
              <a:rPr lang="en-US" dirty="0">
                <a:solidFill>
                  <a:prstClr val="black"/>
                </a:solidFill>
                <a:latin typeface="Bahnschrift" panose="020B0502040204020203" pitchFamily="34" charset="0"/>
              </a:rPr>
              <a:t>first python website </a:t>
            </a:r>
            <a:r>
              <a:rPr lang="en-US" dirty="0" smtClean="0">
                <a:solidFill>
                  <a:prstClr val="black"/>
                </a:solidFill>
                <a:latin typeface="Bahnschrift" panose="020B0502040204020203" pitchFamily="34" charset="0"/>
              </a:rPr>
              <a:t>using </a:t>
            </a:r>
            <a:r>
              <a:rPr lang="en-US" dirty="0">
                <a:solidFill>
                  <a:prstClr val="black"/>
                </a:solidFill>
                <a:latin typeface="Bahnschrift" panose="020B0502040204020203" pitchFamily="34" charset="0"/>
              </a:rPr>
              <a:t>the Flask </a:t>
            </a:r>
            <a:r>
              <a:rPr lang="en-US" dirty="0" smtClean="0">
                <a:solidFill>
                  <a:prstClr val="black"/>
                </a:solidFill>
                <a:latin typeface="Bahnschrift" panose="020B0502040204020203" pitchFamily="34" charset="0"/>
              </a:rPr>
              <a:t>framework.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23463" y="3968827"/>
            <a:ext cx="17700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Output Program: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1" y="4953000"/>
            <a:ext cx="4114799" cy="149629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1" y="1922435"/>
            <a:ext cx="4800599" cy="297399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4306844"/>
            <a:ext cx="3276600" cy="2391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155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1" y="152400"/>
            <a:ext cx="8839200" cy="9144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91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E</a:t>
            </a: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xercise #2.2</a:t>
            </a:r>
            <a:endParaRPr kumimoji="0" lang="en-US" sz="4000" b="0" i="1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2401" y="1182469"/>
            <a:ext cx="8839199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File   : </a:t>
            </a:r>
            <a:r>
              <a:rPr kumimoji="0" lang="en-US" sz="18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demo_2_3.py</a:t>
            </a:r>
          </a:p>
          <a:p>
            <a:pPr lvl="0"/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Desc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 : </a:t>
            </a:r>
            <a:r>
              <a:rPr lang="en-US" dirty="0">
                <a:solidFill>
                  <a:prstClr val="black"/>
                </a:solidFill>
                <a:latin typeface="Bahnschrift" panose="020B0502040204020203" pitchFamily="34" charset="0"/>
              </a:rPr>
              <a:t>Flask App routing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41824" y="3004636"/>
            <a:ext cx="17700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Output Program: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1" y="1944470"/>
            <a:ext cx="4724399" cy="4365996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3354935"/>
            <a:ext cx="4648200" cy="3392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996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1" y="152400"/>
            <a:ext cx="8839200" cy="9144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91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E</a:t>
            </a: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xercise #2.3</a:t>
            </a:r>
            <a:endParaRPr kumimoji="0" lang="en-US" sz="4000" b="0" i="1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2401" y="1182469"/>
            <a:ext cx="8839199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File   : </a:t>
            </a:r>
            <a:r>
              <a:rPr kumimoji="0" lang="en-US" sz="18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demo_2_3.py</a:t>
            </a:r>
          </a:p>
          <a:p>
            <a:pPr lvl="0"/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Desc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 : </a:t>
            </a:r>
            <a:r>
              <a:rPr lang="en-US" dirty="0">
                <a:solidFill>
                  <a:prstClr val="black"/>
                </a:solidFill>
                <a:latin typeface="Bahnschrift" panose="020B0502040204020203" pitchFamily="34" charset="0"/>
              </a:rPr>
              <a:t>Flask App routing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41824" y="3004636"/>
            <a:ext cx="17700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Output Program: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1" y="1944469"/>
            <a:ext cx="4200806" cy="475125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1914" y="3312413"/>
            <a:ext cx="4149686" cy="3383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87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1" y="152400"/>
            <a:ext cx="8839200" cy="9144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91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E</a:t>
            </a: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xercise #2.4</a:t>
            </a:r>
            <a:endParaRPr kumimoji="0" lang="en-US" sz="4000" b="0" i="1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2401" y="1182469"/>
            <a:ext cx="8839199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File   : </a:t>
            </a:r>
            <a:r>
              <a:rPr kumimoji="0" lang="en-US" sz="18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demo_2_4.py</a:t>
            </a:r>
          </a:p>
          <a:p>
            <a:pPr lvl="0"/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Desc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 : </a:t>
            </a:r>
            <a:r>
              <a:rPr kumimoji="0" lang="en-US" sz="180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</a:rPr>
              <a:t>Python3,</a:t>
            </a:r>
            <a:r>
              <a:rPr kumimoji="0" lang="en-US" sz="180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</a:rPr>
              <a:t> </a:t>
            </a:r>
            <a:r>
              <a:rPr lang="en-US" dirty="0" smtClean="0">
                <a:solidFill>
                  <a:prstClr val="black"/>
                </a:solidFill>
                <a:latin typeface="Bahnschrift" panose="020B0502040204020203" pitchFamily="34" charset="0"/>
              </a:rPr>
              <a:t>Flask and </a:t>
            </a:r>
            <a:r>
              <a:rPr lang="en-US" dirty="0" err="1" smtClean="0">
                <a:solidFill>
                  <a:prstClr val="black"/>
                </a:solidFill>
                <a:latin typeface="Bahnschrift" panose="020B0502040204020203" pitchFamily="34" charset="0"/>
              </a:rPr>
              <a:t>OpenCV</a:t>
            </a:r>
            <a:endParaRPr kumimoji="0" lang="en-US" sz="18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5085" y="1935297"/>
            <a:ext cx="84132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Georgia" panose="02040502050405020303" pitchFamily="18" charset="0"/>
              </a:rPr>
              <a:t>C</a:t>
            </a:r>
            <a:r>
              <a:rPr lang="en-US" dirty="0" smtClean="0">
                <a:latin typeface="Georgia" panose="02040502050405020303" pitchFamily="18" charset="0"/>
              </a:rPr>
              <a:t>reate an example for </a:t>
            </a:r>
            <a:r>
              <a:rPr lang="en-US" dirty="0" err="1" smtClean="0">
                <a:latin typeface="Georgia" panose="02040502050405020303" pitchFamily="18" charset="0"/>
              </a:rPr>
              <a:t>openCV</a:t>
            </a:r>
            <a:r>
              <a:rPr lang="en-US" dirty="0" smtClean="0">
                <a:latin typeface="Georgia" panose="02040502050405020303" pitchFamily="18" charset="0"/>
              </a:rPr>
              <a:t> object </a:t>
            </a:r>
            <a:r>
              <a:rPr lang="en-US" dirty="0">
                <a:latin typeface="Georgia" panose="02040502050405020303" pitchFamily="18" charset="0"/>
              </a:rPr>
              <a:t>detection with python flask application.</a:t>
            </a:r>
          </a:p>
        </p:txBody>
      </p:sp>
    </p:spTree>
    <p:extLst>
      <p:ext uri="{BB962C8B-B14F-4D97-AF65-F5344CB8AC3E}">
        <p14:creationId xmlns:p14="http://schemas.microsoft.com/office/powerpoint/2010/main" val="388931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6858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3200" dirty="0" smtClean="0">
                <a:solidFill>
                  <a:srgbClr val="1F497D"/>
                </a:solidFill>
                <a:latin typeface="Georgia"/>
              </a:rPr>
              <a:t>Reference </a:t>
            </a:r>
            <a:r>
              <a:rPr lang="en-US" sz="3200" dirty="0">
                <a:solidFill>
                  <a:srgbClr val="1F497D"/>
                </a:solidFill>
                <a:latin typeface="Georgia"/>
              </a:rPr>
              <a:t>(GUI Frameworks)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4265" y="875841"/>
            <a:ext cx="8839200" cy="60939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Georgia" panose="02040502050405020303" pitchFamily="18" charset="0"/>
              </a:rPr>
              <a:t>How To Install </a:t>
            </a:r>
            <a:r>
              <a:rPr lang="en-US" sz="1400" b="1" dirty="0" err="1">
                <a:latin typeface="Georgia" panose="02040502050405020303" pitchFamily="18" charset="0"/>
              </a:rPr>
              <a:t>Tkinter</a:t>
            </a:r>
            <a:r>
              <a:rPr lang="en-US" sz="1400" b="1" dirty="0">
                <a:latin typeface="Georgia" panose="02040502050405020303" pitchFamily="18" charset="0"/>
              </a:rPr>
              <a:t> In Windows</a:t>
            </a:r>
          </a:p>
          <a:p>
            <a:r>
              <a:rPr lang="en-US" sz="1100" dirty="0">
                <a:latin typeface="Georgia" panose="02040502050405020303" pitchFamily="18" charset="0"/>
                <a:hlinkClick r:id="rId2"/>
              </a:rPr>
              <a:t>https://www.activestate.com/resources/quick-reads/how-to-install-tkinter-in-windows</a:t>
            </a:r>
            <a:r>
              <a:rPr lang="en-US" sz="1100" dirty="0" smtClean="0">
                <a:latin typeface="Georgia" panose="02040502050405020303" pitchFamily="18" charset="0"/>
                <a:hlinkClick r:id="rId2"/>
              </a:rPr>
              <a:t>/</a:t>
            </a:r>
            <a:endParaRPr lang="en-US" sz="1100" dirty="0" smtClean="0">
              <a:latin typeface="Georgia" panose="02040502050405020303" pitchFamily="18" charset="0"/>
            </a:endParaRPr>
          </a:p>
          <a:p>
            <a:endParaRPr lang="en-US" sz="1400" dirty="0">
              <a:latin typeface="Georgia" panose="02040502050405020303" pitchFamily="18" charset="0"/>
            </a:endParaRPr>
          </a:p>
          <a:p>
            <a:r>
              <a:rPr lang="en-US" sz="1400" b="1" dirty="0">
                <a:latin typeface="Georgia" panose="02040502050405020303" pitchFamily="18" charset="0"/>
              </a:rPr>
              <a:t>How to install </a:t>
            </a:r>
            <a:r>
              <a:rPr lang="en-US" sz="1400" b="1" dirty="0" err="1">
                <a:latin typeface="Georgia" panose="02040502050405020303" pitchFamily="18" charset="0"/>
              </a:rPr>
              <a:t>Tkinter</a:t>
            </a:r>
            <a:r>
              <a:rPr lang="en-US" sz="1400" b="1" dirty="0">
                <a:latin typeface="Georgia" panose="02040502050405020303" pitchFamily="18" charset="0"/>
              </a:rPr>
              <a:t> in Python?</a:t>
            </a:r>
          </a:p>
          <a:p>
            <a:r>
              <a:rPr lang="en-US" sz="1100" dirty="0">
                <a:latin typeface="Georgia" panose="02040502050405020303" pitchFamily="18" charset="0"/>
                <a:hlinkClick r:id="rId3"/>
              </a:rPr>
              <a:t>https://</a:t>
            </a:r>
            <a:r>
              <a:rPr lang="en-US" sz="1100" dirty="0" smtClean="0">
                <a:latin typeface="Georgia" panose="02040502050405020303" pitchFamily="18" charset="0"/>
                <a:hlinkClick r:id="rId3"/>
              </a:rPr>
              <a:t>www.tutorialspoint.com/how-to-install-tkinter-in-python</a:t>
            </a:r>
            <a:endParaRPr lang="en-US" sz="1100" dirty="0" smtClean="0">
              <a:latin typeface="Georgia" panose="02040502050405020303" pitchFamily="18" charset="0"/>
            </a:endParaRPr>
          </a:p>
          <a:p>
            <a:endParaRPr lang="en-US" sz="1400" dirty="0">
              <a:latin typeface="Georgia" panose="02040502050405020303" pitchFamily="18" charset="0"/>
            </a:endParaRPr>
          </a:p>
          <a:p>
            <a:r>
              <a:rPr lang="en-US" sz="1400" b="1" dirty="0">
                <a:latin typeface="Georgia" panose="02040502050405020303" pitchFamily="18" charset="0"/>
              </a:rPr>
              <a:t>Python GUI Programming With </a:t>
            </a:r>
            <a:r>
              <a:rPr lang="en-US" sz="1400" b="1" dirty="0" err="1">
                <a:latin typeface="Georgia" panose="02040502050405020303" pitchFamily="18" charset="0"/>
              </a:rPr>
              <a:t>Tkinter</a:t>
            </a:r>
            <a:endParaRPr lang="en-US" sz="1400" b="1" dirty="0">
              <a:latin typeface="Georgia" panose="02040502050405020303" pitchFamily="18" charset="0"/>
            </a:endParaRPr>
          </a:p>
          <a:p>
            <a:r>
              <a:rPr lang="en-US" sz="1100" dirty="0">
                <a:latin typeface="Georgia" panose="02040502050405020303" pitchFamily="18" charset="0"/>
                <a:hlinkClick r:id="rId4"/>
              </a:rPr>
              <a:t>https://realpython.com/python-gui-tkinter</a:t>
            </a:r>
            <a:r>
              <a:rPr lang="en-US" sz="1100" dirty="0" smtClean="0">
                <a:latin typeface="Georgia" panose="02040502050405020303" pitchFamily="18" charset="0"/>
                <a:hlinkClick r:id="rId4"/>
              </a:rPr>
              <a:t>/</a:t>
            </a:r>
            <a:endParaRPr lang="en-US" sz="1100" dirty="0" smtClean="0">
              <a:latin typeface="Georgia" panose="02040502050405020303" pitchFamily="18" charset="0"/>
            </a:endParaRPr>
          </a:p>
          <a:p>
            <a:endParaRPr lang="en-US" sz="1400" dirty="0">
              <a:latin typeface="Georgia" panose="02040502050405020303" pitchFamily="18" charset="0"/>
            </a:endParaRPr>
          </a:p>
          <a:p>
            <a:r>
              <a:rPr lang="en-US" sz="1400" b="1" dirty="0">
                <a:latin typeface="Georgia" panose="02040502050405020303" pitchFamily="18" charset="0"/>
              </a:rPr>
              <a:t>Python - GUI Programming (</a:t>
            </a:r>
            <a:r>
              <a:rPr lang="en-US" sz="1400" b="1" dirty="0" err="1">
                <a:latin typeface="Georgia" panose="02040502050405020303" pitchFamily="18" charset="0"/>
              </a:rPr>
              <a:t>Tkinter</a:t>
            </a:r>
            <a:r>
              <a:rPr lang="en-US" sz="1400" b="1" dirty="0">
                <a:latin typeface="Georgia" panose="02040502050405020303" pitchFamily="18" charset="0"/>
              </a:rPr>
              <a:t>)</a:t>
            </a:r>
          </a:p>
          <a:p>
            <a:r>
              <a:rPr lang="en-US" sz="1100" dirty="0">
                <a:latin typeface="Georgia" panose="02040502050405020303" pitchFamily="18" charset="0"/>
                <a:hlinkClick r:id="rId5"/>
              </a:rPr>
              <a:t>https://</a:t>
            </a:r>
            <a:r>
              <a:rPr lang="en-US" sz="1100" dirty="0" smtClean="0">
                <a:latin typeface="Georgia" panose="02040502050405020303" pitchFamily="18" charset="0"/>
                <a:hlinkClick r:id="rId5"/>
              </a:rPr>
              <a:t>www.tutorialspoint.com/python/python_gui_programming.htm</a:t>
            </a:r>
            <a:endParaRPr lang="en-US" sz="1100" dirty="0" smtClean="0">
              <a:latin typeface="Georgia" panose="02040502050405020303" pitchFamily="18" charset="0"/>
            </a:endParaRPr>
          </a:p>
          <a:p>
            <a:endParaRPr lang="en-US" sz="1400" dirty="0">
              <a:latin typeface="Georgia" panose="02040502050405020303" pitchFamily="18" charset="0"/>
            </a:endParaRPr>
          </a:p>
          <a:p>
            <a:r>
              <a:rPr lang="en-US" sz="1400" b="1" dirty="0">
                <a:latin typeface="Georgia" panose="02040502050405020303" pitchFamily="18" charset="0"/>
              </a:rPr>
              <a:t>Introduction to GUI With </a:t>
            </a:r>
            <a:r>
              <a:rPr lang="en-US" sz="1400" b="1" dirty="0" err="1">
                <a:latin typeface="Georgia" panose="02040502050405020303" pitchFamily="18" charset="0"/>
              </a:rPr>
              <a:t>Tkinter</a:t>
            </a:r>
            <a:r>
              <a:rPr lang="en-US" sz="1400" b="1" dirty="0">
                <a:latin typeface="Georgia" panose="02040502050405020303" pitchFamily="18" charset="0"/>
              </a:rPr>
              <a:t> in Python</a:t>
            </a:r>
          </a:p>
          <a:p>
            <a:r>
              <a:rPr lang="en-US" sz="1100" dirty="0">
                <a:latin typeface="Georgia" panose="02040502050405020303" pitchFamily="18" charset="0"/>
                <a:hlinkClick r:id="rId6"/>
              </a:rPr>
              <a:t>https://</a:t>
            </a:r>
            <a:r>
              <a:rPr lang="en-US" sz="1100" dirty="0" smtClean="0">
                <a:latin typeface="Georgia" panose="02040502050405020303" pitchFamily="18" charset="0"/>
                <a:hlinkClick r:id="rId6"/>
              </a:rPr>
              <a:t>www.datacamp.com/community/tutorials/gui-tkinter-python</a:t>
            </a:r>
            <a:endParaRPr lang="en-US" sz="1100" dirty="0" smtClean="0">
              <a:latin typeface="Georgia" panose="02040502050405020303" pitchFamily="18" charset="0"/>
            </a:endParaRPr>
          </a:p>
          <a:p>
            <a:endParaRPr lang="en-US" sz="1400" dirty="0">
              <a:latin typeface="Georgia" panose="02040502050405020303" pitchFamily="18" charset="0"/>
            </a:endParaRPr>
          </a:p>
          <a:p>
            <a:r>
              <a:rPr lang="en-US" sz="1400" b="1" dirty="0">
                <a:latin typeface="Georgia" panose="02040502050405020303" pitchFamily="18" charset="0"/>
              </a:rPr>
              <a:t>Python </a:t>
            </a:r>
            <a:r>
              <a:rPr lang="en-US" sz="1400" b="1" dirty="0" err="1">
                <a:latin typeface="Georgia" panose="02040502050405020303" pitchFamily="18" charset="0"/>
              </a:rPr>
              <a:t>Tkinter</a:t>
            </a:r>
            <a:r>
              <a:rPr lang="en-US" sz="1400" b="1" dirty="0">
                <a:latin typeface="Georgia" panose="02040502050405020303" pitchFamily="18" charset="0"/>
              </a:rPr>
              <a:t> Tutorial</a:t>
            </a:r>
          </a:p>
          <a:p>
            <a:r>
              <a:rPr lang="en-US" sz="1100" dirty="0">
                <a:latin typeface="Georgia" panose="02040502050405020303" pitchFamily="18" charset="0"/>
                <a:hlinkClick r:id="rId7"/>
              </a:rPr>
              <a:t>https://www.geeksforgeeks.org/python-tkinter-tutorial</a:t>
            </a:r>
            <a:r>
              <a:rPr lang="en-US" sz="1100" dirty="0" smtClean="0">
                <a:latin typeface="Georgia" panose="02040502050405020303" pitchFamily="18" charset="0"/>
                <a:hlinkClick r:id="rId7"/>
              </a:rPr>
              <a:t>/</a:t>
            </a:r>
            <a:endParaRPr lang="en-US" sz="1100" dirty="0" smtClean="0">
              <a:latin typeface="Georgia" panose="02040502050405020303" pitchFamily="18" charset="0"/>
            </a:endParaRPr>
          </a:p>
          <a:p>
            <a:endParaRPr lang="en-US" sz="1400" dirty="0">
              <a:latin typeface="Georgia" panose="02040502050405020303" pitchFamily="18" charset="0"/>
            </a:endParaRPr>
          </a:p>
          <a:p>
            <a:r>
              <a:rPr lang="en-US" sz="1400" b="1" dirty="0">
                <a:latin typeface="Georgia" panose="02040502050405020303" pitchFamily="18" charset="0"/>
              </a:rPr>
              <a:t>Introduction to GUI programming with </a:t>
            </a:r>
            <a:r>
              <a:rPr lang="en-US" sz="1400" b="1" dirty="0" err="1">
                <a:latin typeface="Georgia" panose="02040502050405020303" pitchFamily="18" charset="0"/>
              </a:rPr>
              <a:t>tkinter</a:t>
            </a:r>
            <a:endParaRPr lang="en-US" sz="1400" b="1" dirty="0">
              <a:latin typeface="Georgia" panose="02040502050405020303" pitchFamily="18" charset="0"/>
            </a:endParaRPr>
          </a:p>
          <a:p>
            <a:r>
              <a:rPr lang="en-US" sz="1100" dirty="0">
                <a:latin typeface="Georgia" panose="02040502050405020303" pitchFamily="18" charset="0"/>
                <a:hlinkClick r:id="rId8"/>
              </a:rPr>
              <a:t>https://</a:t>
            </a:r>
            <a:r>
              <a:rPr lang="en-US" sz="1100" dirty="0" smtClean="0">
                <a:latin typeface="Georgia" panose="02040502050405020303" pitchFamily="18" charset="0"/>
                <a:hlinkClick r:id="rId8"/>
              </a:rPr>
              <a:t>python-textbok.readthedocs.io/en/1.0/Introduction_to_GUI_Programming.html</a:t>
            </a:r>
            <a:endParaRPr lang="en-US" sz="1100" dirty="0" smtClean="0">
              <a:latin typeface="Georgia" panose="02040502050405020303" pitchFamily="18" charset="0"/>
            </a:endParaRPr>
          </a:p>
          <a:p>
            <a:endParaRPr lang="en-US" sz="1400" dirty="0">
              <a:latin typeface="Georgia" panose="02040502050405020303" pitchFamily="18" charset="0"/>
            </a:endParaRPr>
          </a:p>
          <a:p>
            <a:r>
              <a:rPr lang="en-US" sz="1400" b="1" dirty="0">
                <a:latin typeface="Georgia" panose="02040502050405020303" pitchFamily="18" charset="0"/>
              </a:rPr>
              <a:t>Create UI in Python-</a:t>
            </a:r>
            <a:r>
              <a:rPr lang="en-US" sz="1400" b="1" dirty="0" err="1">
                <a:latin typeface="Georgia" panose="02040502050405020303" pitchFamily="18" charset="0"/>
              </a:rPr>
              <a:t>Tkinter</a:t>
            </a:r>
            <a:endParaRPr lang="en-US" sz="1400" b="1" dirty="0">
              <a:latin typeface="Georgia" panose="02040502050405020303" pitchFamily="18" charset="0"/>
            </a:endParaRPr>
          </a:p>
          <a:p>
            <a:r>
              <a:rPr lang="en-US" sz="1050" dirty="0">
                <a:latin typeface="Georgia" panose="02040502050405020303" pitchFamily="18" charset="0"/>
                <a:hlinkClick r:id="rId9"/>
              </a:rPr>
              <a:t>https://</a:t>
            </a:r>
            <a:r>
              <a:rPr lang="en-US" sz="1050" dirty="0" smtClean="0">
                <a:latin typeface="Georgia" panose="02040502050405020303" pitchFamily="18" charset="0"/>
                <a:hlinkClick r:id="rId9"/>
              </a:rPr>
              <a:t>www.tutorialsteacher.com/python/create-gui-using-tkinter-python</a:t>
            </a:r>
            <a:endParaRPr lang="en-US" sz="1050" dirty="0" smtClean="0">
              <a:latin typeface="Georgia" panose="02040502050405020303" pitchFamily="18" charset="0"/>
            </a:endParaRPr>
          </a:p>
          <a:p>
            <a:endParaRPr lang="en-US" sz="1400" dirty="0">
              <a:latin typeface="Georgia" panose="02040502050405020303" pitchFamily="18" charset="0"/>
            </a:endParaRPr>
          </a:p>
          <a:p>
            <a:r>
              <a:rPr lang="en-US" sz="1400" b="1" dirty="0">
                <a:latin typeface="Georgia" panose="02040502050405020303" pitchFamily="18" charset="0"/>
              </a:rPr>
              <a:t>Python GUI examples (</a:t>
            </a:r>
            <a:r>
              <a:rPr lang="en-US" sz="1400" b="1" dirty="0" err="1">
                <a:latin typeface="Georgia" panose="02040502050405020303" pitchFamily="18" charset="0"/>
              </a:rPr>
              <a:t>Tkinter</a:t>
            </a:r>
            <a:r>
              <a:rPr lang="en-US" sz="1400" b="1" dirty="0">
                <a:latin typeface="Georgia" panose="02040502050405020303" pitchFamily="18" charset="0"/>
              </a:rPr>
              <a:t> Tutorial)</a:t>
            </a:r>
          </a:p>
          <a:p>
            <a:r>
              <a:rPr lang="en-US" sz="1100" dirty="0">
                <a:latin typeface="Georgia" panose="02040502050405020303" pitchFamily="18" charset="0"/>
                <a:hlinkClick r:id="rId10"/>
              </a:rPr>
              <a:t>https://likegeeks.com/python-gui-examples-tkinter-tutorial</a:t>
            </a:r>
            <a:r>
              <a:rPr lang="en-US" sz="1100" dirty="0" smtClean="0">
                <a:latin typeface="Georgia" panose="02040502050405020303" pitchFamily="18" charset="0"/>
                <a:hlinkClick r:id="rId10"/>
              </a:rPr>
              <a:t>/</a:t>
            </a:r>
            <a:endParaRPr lang="en-US" sz="1100" dirty="0" smtClean="0">
              <a:latin typeface="Georgia" panose="02040502050405020303" pitchFamily="18" charset="0"/>
            </a:endParaRPr>
          </a:p>
          <a:p>
            <a:endParaRPr lang="en-US" sz="1400" dirty="0">
              <a:latin typeface="Georgia" panose="02040502050405020303" pitchFamily="18" charset="0"/>
            </a:endParaRPr>
          </a:p>
          <a:p>
            <a:r>
              <a:rPr lang="en-US" sz="1400" b="1" dirty="0">
                <a:latin typeface="Georgia" panose="02040502050405020303" pitchFamily="18" charset="0"/>
              </a:rPr>
              <a:t>Python GUI – </a:t>
            </a:r>
            <a:r>
              <a:rPr lang="en-US" sz="1400" b="1" dirty="0" err="1">
                <a:latin typeface="Georgia" panose="02040502050405020303" pitchFamily="18" charset="0"/>
              </a:rPr>
              <a:t>tkinter</a:t>
            </a:r>
            <a:endParaRPr lang="en-US" sz="1400" b="1" dirty="0">
              <a:latin typeface="Georgia" panose="02040502050405020303" pitchFamily="18" charset="0"/>
            </a:endParaRPr>
          </a:p>
          <a:p>
            <a:r>
              <a:rPr lang="en-US" sz="1100" dirty="0">
                <a:latin typeface="Georgia" panose="02040502050405020303" pitchFamily="18" charset="0"/>
                <a:hlinkClick r:id="rId11"/>
              </a:rPr>
              <a:t>https://www.geeksforgeeks.org/python-gui-tkinter</a:t>
            </a:r>
            <a:r>
              <a:rPr lang="en-US" sz="1100" dirty="0" smtClean="0">
                <a:latin typeface="Georgia" panose="02040502050405020303" pitchFamily="18" charset="0"/>
                <a:hlinkClick r:id="rId11"/>
              </a:rPr>
              <a:t>/</a:t>
            </a:r>
            <a:endParaRPr lang="en-US" sz="11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8614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6858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3200" dirty="0" smtClean="0">
                <a:solidFill>
                  <a:srgbClr val="1F497D"/>
                </a:solidFill>
                <a:latin typeface="Georgia"/>
              </a:rPr>
              <a:t>Reference (Web </a:t>
            </a:r>
            <a:r>
              <a:rPr lang="en-US" sz="3200" dirty="0">
                <a:solidFill>
                  <a:srgbClr val="1F497D"/>
                </a:solidFill>
                <a:latin typeface="Georgia"/>
              </a:rPr>
              <a:t>Frameworks)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3445" y="968566"/>
            <a:ext cx="8839200" cy="58092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 smtClean="0">
                <a:latin typeface="Georgia" panose="02040502050405020303" pitchFamily="18" charset="0"/>
              </a:rPr>
              <a:t>Python </a:t>
            </a:r>
            <a:r>
              <a:rPr lang="en-US" sz="1100" b="1" dirty="0">
                <a:latin typeface="Georgia" panose="02040502050405020303" pitchFamily="18" charset="0"/>
              </a:rPr>
              <a:t>Flask Tutorial – Introduction To Flask For Beginners</a:t>
            </a:r>
          </a:p>
          <a:p>
            <a:r>
              <a:rPr lang="en-US" sz="900" dirty="0">
                <a:latin typeface="Georgia" panose="02040502050405020303" pitchFamily="18" charset="0"/>
                <a:hlinkClick r:id="rId2"/>
              </a:rPr>
              <a:t>https</a:t>
            </a:r>
            <a:r>
              <a:rPr lang="en-US" sz="900" dirty="0" smtClean="0">
                <a:latin typeface="Georgia" panose="02040502050405020303" pitchFamily="18" charset="0"/>
                <a:hlinkClick r:id="rId2"/>
              </a:rPr>
              <a:t>://www.softwaretestinghelp.com/python-flask-tutorial/</a:t>
            </a:r>
            <a:endParaRPr lang="en-US" sz="900" dirty="0" smtClean="0">
              <a:latin typeface="Georgia" panose="02040502050405020303" pitchFamily="18" charset="0"/>
            </a:endParaRPr>
          </a:p>
          <a:p>
            <a:endParaRPr lang="en-US" sz="1100" dirty="0">
              <a:latin typeface="Georgia" panose="02040502050405020303" pitchFamily="18" charset="0"/>
            </a:endParaRPr>
          </a:p>
          <a:p>
            <a:r>
              <a:rPr lang="en-US" sz="1100" b="1" dirty="0">
                <a:latin typeface="Georgia" panose="02040502050405020303" pitchFamily="18" charset="0"/>
              </a:rPr>
              <a:t>Flask Mega-Tutorial</a:t>
            </a:r>
          </a:p>
          <a:p>
            <a:r>
              <a:rPr lang="en-US" sz="900" dirty="0">
                <a:latin typeface="Georgia" panose="02040502050405020303" pitchFamily="18" charset="0"/>
                <a:hlinkClick r:id="rId3"/>
              </a:rPr>
              <a:t>https://</a:t>
            </a:r>
            <a:r>
              <a:rPr lang="en-US" sz="900" dirty="0" smtClean="0">
                <a:latin typeface="Georgia" panose="02040502050405020303" pitchFamily="18" charset="0"/>
                <a:hlinkClick r:id="rId3"/>
              </a:rPr>
              <a:t>blog.miguelgrinberg.com/post/the-flask-mega-tutorial-part-i-hello-world</a:t>
            </a:r>
            <a:endParaRPr lang="en-US" sz="900" dirty="0" smtClean="0">
              <a:latin typeface="Georgia" panose="02040502050405020303" pitchFamily="18" charset="0"/>
            </a:endParaRPr>
          </a:p>
          <a:p>
            <a:endParaRPr lang="en-US" sz="1100" dirty="0">
              <a:latin typeface="Georgia" panose="02040502050405020303" pitchFamily="18" charset="0"/>
            </a:endParaRPr>
          </a:p>
          <a:p>
            <a:r>
              <a:rPr lang="en-US" sz="1100" b="1" dirty="0">
                <a:latin typeface="Georgia" panose="02040502050405020303" pitchFamily="18" charset="0"/>
              </a:rPr>
              <a:t>Why is Flask a good web framework choice?</a:t>
            </a:r>
          </a:p>
          <a:p>
            <a:r>
              <a:rPr lang="en-US" sz="900" dirty="0">
                <a:latin typeface="Georgia" panose="02040502050405020303" pitchFamily="18" charset="0"/>
                <a:hlinkClick r:id="rId4"/>
              </a:rPr>
              <a:t>https://</a:t>
            </a:r>
            <a:r>
              <a:rPr lang="en-US" sz="900" dirty="0" smtClean="0">
                <a:latin typeface="Georgia" panose="02040502050405020303" pitchFamily="18" charset="0"/>
                <a:hlinkClick r:id="rId4"/>
              </a:rPr>
              <a:t>www.fullstackpython.com/flask.html</a:t>
            </a:r>
            <a:endParaRPr lang="en-US" sz="900" dirty="0" smtClean="0">
              <a:latin typeface="Georgia" panose="02040502050405020303" pitchFamily="18" charset="0"/>
            </a:endParaRPr>
          </a:p>
          <a:p>
            <a:endParaRPr lang="en-US" sz="1100" dirty="0">
              <a:latin typeface="Georgia" panose="02040502050405020303" pitchFamily="18" charset="0"/>
            </a:endParaRPr>
          </a:p>
          <a:p>
            <a:r>
              <a:rPr lang="en-US" sz="1100" b="1" dirty="0">
                <a:latin typeface="Georgia" panose="02040502050405020303" pitchFamily="18" charset="0"/>
              </a:rPr>
              <a:t>Python Flask Windows Development Environment Setup</a:t>
            </a:r>
          </a:p>
          <a:p>
            <a:r>
              <a:rPr lang="en-US" sz="900" dirty="0">
                <a:latin typeface="Georgia" panose="02040502050405020303" pitchFamily="18" charset="0"/>
                <a:hlinkClick r:id="rId5"/>
              </a:rPr>
              <a:t>https://timmyreilly.azurewebsites.net/python-flask-windows-development-environment-setup</a:t>
            </a:r>
            <a:r>
              <a:rPr lang="en-US" sz="900" dirty="0" smtClean="0">
                <a:latin typeface="Georgia" panose="02040502050405020303" pitchFamily="18" charset="0"/>
                <a:hlinkClick r:id="rId5"/>
              </a:rPr>
              <a:t>/</a:t>
            </a:r>
            <a:endParaRPr lang="en-US" sz="900" dirty="0" smtClean="0">
              <a:latin typeface="Georgia" panose="02040502050405020303" pitchFamily="18" charset="0"/>
            </a:endParaRPr>
          </a:p>
          <a:p>
            <a:endParaRPr lang="en-US" sz="1100" dirty="0">
              <a:latin typeface="Georgia" panose="02040502050405020303" pitchFamily="18" charset="0"/>
            </a:endParaRPr>
          </a:p>
          <a:p>
            <a:r>
              <a:rPr lang="en-US" sz="1100" b="1" dirty="0">
                <a:latin typeface="Georgia" panose="02040502050405020303" pitchFamily="18" charset="0"/>
              </a:rPr>
              <a:t>Install Flask and create your first web application</a:t>
            </a:r>
          </a:p>
          <a:p>
            <a:r>
              <a:rPr lang="en-US" sz="900" dirty="0">
                <a:latin typeface="Georgia" panose="02040502050405020303" pitchFamily="18" charset="0"/>
                <a:hlinkClick r:id="rId6"/>
              </a:rPr>
              <a:t>https://</a:t>
            </a:r>
            <a:r>
              <a:rPr lang="en-US" sz="900" dirty="0" smtClean="0">
                <a:latin typeface="Georgia" panose="02040502050405020303" pitchFamily="18" charset="0"/>
                <a:hlinkClick r:id="rId6"/>
              </a:rPr>
              <a:t>dev.to/sahilrajput/install-flask-and-create-your-first-web-application-2dba</a:t>
            </a:r>
            <a:endParaRPr lang="en-US" sz="900" dirty="0" smtClean="0">
              <a:latin typeface="Georgia" panose="02040502050405020303" pitchFamily="18" charset="0"/>
            </a:endParaRPr>
          </a:p>
          <a:p>
            <a:endParaRPr lang="en-US" sz="1100" dirty="0">
              <a:latin typeface="Georgia" panose="02040502050405020303" pitchFamily="18" charset="0"/>
            </a:endParaRPr>
          </a:p>
          <a:p>
            <a:r>
              <a:rPr lang="en-US" sz="1100" b="1" dirty="0">
                <a:latin typeface="Georgia" panose="02040502050405020303" pitchFamily="18" charset="0"/>
              </a:rPr>
              <a:t>How to install FLASK in Windows 10</a:t>
            </a:r>
          </a:p>
          <a:p>
            <a:r>
              <a:rPr lang="en-US" sz="1050" dirty="0">
                <a:latin typeface="Georgia" panose="02040502050405020303" pitchFamily="18" charset="0"/>
                <a:hlinkClick r:id="rId7"/>
              </a:rPr>
              <a:t>https://www.osradar.com/how-to-install-flask-in-windows-10</a:t>
            </a:r>
            <a:r>
              <a:rPr lang="en-US" sz="1050" dirty="0" smtClean="0">
                <a:latin typeface="Georgia" panose="02040502050405020303" pitchFamily="18" charset="0"/>
                <a:hlinkClick r:id="rId7"/>
              </a:rPr>
              <a:t>/</a:t>
            </a:r>
            <a:endParaRPr lang="en-US" sz="1050" dirty="0" smtClean="0">
              <a:latin typeface="Georgia" panose="02040502050405020303" pitchFamily="18" charset="0"/>
            </a:endParaRPr>
          </a:p>
          <a:p>
            <a:endParaRPr lang="en-US" sz="1100" dirty="0">
              <a:latin typeface="Georgia" panose="02040502050405020303" pitchFamily="18" charset="0"/>
            </a:endParaRPr>
          </a:p>
          <a:p>
            <a:r>
              <a:rPr lang="en-US" sz="1100" b="1" dirty="0">
                <a:latin typeface="Georgia" panose="02040502050405020303" pitchFamily="18" charset="0"/>
              </a:rPr>
              <a:t>How To Install Flask</a:t>
            </a:r>
          </a:p>
          <a:p>
            <a:r>
              <a:rPr lang="en-US" sz="900" dirty="0">
                <a:latin typeface="Georgia" panose="02040502050405020303" pitchFamily="18" charset="0"/>
                <a:hlinkClick r:id="rId8"/>
              </a:rPr>
              <a:t>https://</a:t>
            </a:r>
            <a:r>
              <a:rPr lang="en-US" sz="900" dirty="0" smtClean="0">
                <a:latin typeface="Georgia" panose="02040502050405020303" pitchFamily="18" charset="0"/>
                <a:hlinkClick r:id="rId8"/>
              </a:rPr>
              <a:t>phoenixnap.com/kb/install-flask</a:t>
            </a:r>
            <a:endParaRPr lang="en-US" sz="900" dirty="0" smtClean="0">
              <a:latin typeface="Georgia" panose="02040502050405020303" pitchFamily="18" charset="0"/>
            </a:endParaRPr>
          </a:p>
          <a:p>
            <a:endParaRPr lang="en-US" sz="1100" dirty="0">
              <a:latin typeface="Georgia" panose="02040502050405020303" pitchFamily="18" charset="0"/>
            </a:endParaRPr>
          </a:p>
          <a:p>
            <a:r>
              <a:rPr lang="en-US" sz="1100" b="1" dirty="0">
                <a:latin typeface="Georgia" panose="02040502050405020303" pitchFamily="18" charset="0"/>
              </a:rPr>
              <a:t>How To Make a Web Application Using Flask in Python</a:t>
            </a:r>
          </a:p>
          <a:p>
            <a:r>
              <a:rPr lang="en-US" sz="900" dirty="0">
                <a:latin typeface="Georgia" panose="02040502050405020303" pitchFamily="18" charset="0"/>
                <a:hlinkClick r:id="rId9"/>
              </a:rPr>
              <a:t>https://</a:t>
            </a:r>
            <a:r>
              <a:rPr lang="en-US" sz="900" dirty="0" smtClean="0">
                <a:latin typeface="Georgia" panose="02040502050405020303" pitchFamily="18" charset="0"/>
                <a:hlinkClick r:id="rId9"/>
              </a:rPr>
              <a:t>www.digitalocean.com/community/tutorials/how-to-make-a-web-application-using-flask-in-python-3</a:t>
            </a:r>
            <a:endParaRPr lang="en-US" sz="900" dirty="0" smtClean="0">
              <a:latin typeface="Georgia" panose="02040502050405020303" pitchFamily="18" charset="0"/>
            </a:endParaRPr>
          </a:p>
          <a:p>
            <a:endParaRPr lang="en-US" sz="1100" dirty="0">
              <a:latin typeface="Georgia" panose="02040502050405020303" pitchFamily="18" charset="0"/>
            </a:endParaRPr>
          </a:p>
          <a:p>
            <a:r>
              <a:rPr lang="en-US" sz="1100" b="1" dirty="0">
                <a:latin typeface="Georgia" panose="02040502050405020303" pitchFamily="18" charset="0"/>
              </a:rPr>
              <a:t>Flask Tutorials</a:t>
            </a:r>
          </a:p>
          <a:p>
            <a:r>
              <a:rPr lang="en-US" sz="900" dirty="0">
                <a:latin typeface="Georgia" panose="02040502050405020303" pitchFamily="18" charset="0"/>
                <a:hlinkClick r:id="rId10"/>
              </a:rPr>
              <a:t>https://realpython.com/tutorials/flask</a:t>
            </a:r>
            <a:r>
              <a:rPr lang="en-US" sz="900" dirty="0" smtClean="0">
                <a:latin typeface="Georgia" panose="02040502050405020303" pitchFamily="18" charset="0"/>
                <a:hlinkClick r:id="rId10"/>
              </a:rPr>
              <a:t>/</a:t>
            </a:r>
            <a:endParaRPr lang="en-US" sz="900" dirty="0" smtClean="0">
              <a:latin typeface="Georgia" panose="02040502050405020303" pitchFamily="18" charset="0"/>
            </a:endParaRPr>
          </a:p>
          <a:p>
            <a:endParaRPr lang="en-US" sz="1100" dirty="0">
              <a:latin typeface="Georgia" panose="02040502050405020303" pitchFamily="18" charset="0"/>
            </a:endParaRPr>
          </a:p>
          <a:p>
            <a:r>
              <a:rPr lang="en-US" sz="1100" b="1" dirty="0">
                <a:latin typeface="Georgia" panose="02040502050405020303" pitchFamily="18" charset="0"/>
              </a:rPr>
              <a:t>What is Flask?</a:t>
            </a:r>
          </a:p>
          <a:p>
            <a:r>
              <a:rPr lang="en-US" sz="900" dirty="0">
                <a:latin typeface="Georgia" panose="02040502050405020303" pitchFamily="18" charset="0"/>
                <a:hlinkClick r:id="rId11"/>
              </a:rPr>
              <a:t>https://</a:t>
            </a:r>
            <a:r>
              <a:rPr lang="en-US" sz="900" dirty="0" smtClean="0">
                <a:latin typeface="Georgia" panose="02040502050405020303" pitchFamily="18" charset="0"/>
                <a:hlinkClick r:id="rId11"/>
              </a:rPr>
              <a:t>www.tutorialspoint.com/flask/flask_overview.htm</a:t>
            </a:r>
            <a:endParaRPr lang="en-US" sz="900" dirty="0" smtClean="0">
              <a:latin typeface="Georgia" panose="02040502050405020303" pitchFamily="18" charset="0"/>
            </a:endParaRPr>
          </a:p>
          <a:p>
            <a:endParaRPr lang="en-US" sz="1100" dirty="0">
              <a:latin typeface="Georgia" panose="02040502050405020303" pitchFamily="18" charset="0"/>
            </a:endParaRPr>
          </a:p>
          <a:p>
            <a:r>
              <a:rPr lang="en-US" sz="1100" b="1" dirty="0">
                <a:latin typeface="Georgia" panose="02040502050405020303" pitchFamily="18" charset="0"/>
              </a:rPr>
              <a:t>Python Flask Tutorial</a:t>
            </a:r>
          </a:p>
          <a:p>
            <a:r>
              <a:rPr lang="en-US" sz="900" dirty="0">
                <a:latin typeface="Georgia" panose="02040502050405020303" pitchFamily="18" charset="0"/>
                <a:hlinkClick r:id="rId12"/>
              </a:rPr>
              <a:t>https://</a:t>
            </a:r>
            <a:r>
              <a:rPr lang="en-US" sz="900" dirty="0" smtClean="0">
                <a:latin typeface="Georgia" panose="02040502050405020303" pitchFamily="18" charset="0"/>
                <a:hlinkClick r:id="rId12"/>
              </a:rPr>
              <a:t>www.javatpoint.com/flask-tutorial</a:t>
            </a:r>
            <a:endParaRPr lang="en-US" sz="900" dirty="0" smtClean="0">
              <a:latin typeface="Georgia" panose="02040502050405020303" pitchFamily="18" charset="0"/>
            </a:endParaRPr>
          </a:p>
          <a:p>
            <a:endParaRPr lang="en-US" sz="1100" dirty="0">
              <a:latin typeface="Georgia" panose="02040502050405020303" pitchFamily="18" charset="0"/>
            </a:endParaRPr>
          </a:p>
          <a:p>
            <a:r>
              <a:rPr lang="en-US" sz="1100" b="1" dirty="0">
                <a:latin typeface="Georgia" panose="02040502050405020303" pitchFamily="18" charset="0"/>
              </a:rPr>
              <a:t>How to build a web application using Flask</a:t>
            </a:r>
          </a:p>
          <a:p>
            <a:r>
              <a:rPr lang="en-US" sz="900" dirty="0">
                <a:latin typeface="Georgia" panose="02040502050405020303" pitchFamily="18" charset="0"/>
                <a:hlinkClick r:id="rId13"/>
              </a:rPr>
              <a:t>https://www.freecodecamp.org/news/how-to-build-a-web-application-using-flask-and-deploy-it-to-the-cloud-3551c985e492</a:t>
            </a:r>
            <a:r>
              <a:rPr lang="en-US" sz="900" dirty="0" smtClean="0">
                <a:latin typeface="Georgia" panose="02040502050405020303" pitchFamily="18" charset="0"/>
                <a:hlinkClick r:id="rId13"/>
              </a:rPr>
              <a:t>/</a:t>
            </a:r>
            <a:endParaRPr lang="en-US" sz="900" dirty="0" smtClean="0">
              <a:latin typeface="Georgia" panose="02040502050405020303" pitchFamily="18" charset="0"/>
            </a:endParaRPr>
          </a:p>
          <a:p>
            <a:endParaRPr lang="en-US" sz="9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0446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76400" y="2971800"/>
            <a:ext cx="5530215" cy="1035745"/>
          </a:xfrm>
          <a:prstGeom prst="wedgeRoundRectCallout">
            <a:avLst>
              <a:gd name="adj1" fmla="val 51225"/>
              <a:gd name="adj2" fmla="val 132447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6000" dirty="0">
                <a:solidFill>
                  <a:srgbClr val="30859C"/>
                </a:solidFill>
              </a:rPr>
              <a:t>THANK</a:t>
            </a:r>
            <a:r>
              <a:rPr sz="6000" spc="-355" dirty="0">
                <a:solidFill>
                  <a:srgbClr val="30859C"/>
                </a:solidFill>
              </a:rPr>
              <a:t> </a:t>
            </a:r>
            <a:r>
              <a:rPr sz="6000" spc="-5" dirty="0" smtClean="0">
                <a:solidFill>
                  <a:srgbClr val="30859C"/>
                </a:solidFill>
              </a:rPr>
              <a:t>YOU</a:t>
            </a:r>
            <a:endParaRPr sz="6000" dirty="0"/>
          </a:p>
        </p:txBody>
      </p:sp>
      <p:pic>
        <p:nvPicPr>
          <p:cNvPr id="3" name="Picture 2" descr="Download Free png Photography Person Clip art - thinking clipart png  download - 645 ... - DLPNG.co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6615" y="4476896"/>
            <a:ext cx="1719273" cy="2132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903914" y="76200"/>
            <a:ext cx="802197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0" b="0" i="0" u="none" strike="noStrike" kern="1200" cap="all" spc="100" normalizeH="0" baseline="0" noProof="0" dirty="0" smtClean="0">
                <a:ln>
                  <a:noFill/>
                </a:ln>
                <a:solidFill>
                  <a:sysClr val="windowText" lastClr="000000">
                    <a:lumMod val="95000"/>
                    <a:lumOff val="5000"/>
                  </a:sysClr>
                </a:solidFill>
                <a:effectLst/>
                <a:uLnTx/>
                <a:uFillTx/>
                <a:latin typeface="Tw Cen MT Condensed" panose="020B0606020104020203"/>
                <a:ea typeface="+mj-ea"/>
                <a:cs typeface="+mj-cs"/>
              </a:rPr>
              <a:t>END PRESENTATION</a:t>
            </a:r>
            <a:endParaRPr kumimoji="0" lang="en-US" sz="5000" b="0" i="0" u="none" strike="noStrike" kern="1200" cap="all" spc="100" normalizeH="0" baseline="0" noProof="0" dirty="0">
              <a:ln>
                <a:noFill/>
              </a:ln>
              <a:solidFill>
                <a:sysClr val="windowText" lastClr="000000">
                  <a:lumMod val="95000"/>
                  <a:lumOff val="5000"/>
                </a:sysClr>
              </a:solidFill>
              <a:effectLst/>
              <a:uLnTx/>
              <a:uFillTx/>
              <a:latin typeface="Tw Cen MT Condensed" panose="020B0606020104020203"/>
              <a:ea typeface="+mj-ea"/>
              <a:cs typeface="+mj-cs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903913" y="1186434"/>
            <a:ext cx="3041667" cy="670501"/>
            <a:chOff x="1024128" y="2917984"/>
            <a:chExt cx="3041667" cy="670501"/>
          </a:xfrm>
        </p:grpSpPr>
        <p:sp>
          <p:nvSpPr>
            <p:cNvPr id="6" name="Rectangle 5"/>
            <p:cNvSpPr/>
            <p:nvPr/>
          </p:nvSpPr>
          <p:spPr>
            <a:xfrm>
              <a:off x="1024128" y="3188375"/>
              <a:ext cx="2252861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457200"/>
              <a:r>
                <a:rPr lang="en-US" sz="2000" dirty="0" smtClean="0">
                  <a:solidFill>
                    <a:prstClr val="black"/>
                  </a:solidFill>
                  <a:latin typeface="Tw Cen MT" panose="020B0602020104020603"/>
                </a:rPr>
                <a:t>Instructor: S – W </a:t>
              </a:r>
              <a:r>
                <a:rPr lang="en-US" sz="2000" dirty="0">
                  <a:solidFill>
                    <a:prstClr val="black"/>
                  </a:solidFill>
                  <a:latin typeface="Tw Cen MT" panose="020B0602020104020603"/>
                </a:rPr>
                <a:t>–</a:t>
              </a:r>
              <a:r>
                <a:rPr lang="en-US" sz="2000" dirty="0" smtClean="0">
                  <a:solidFill>
                    <a:prstClr val="black"/>
                  </a:solidFill>
                  <a:latin typeface="Tw Cen MT" panose="020B0602020104020603"/>
                </a:rPr>
                <a:t> T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1024128" y="2917984"/>
              <a:ext cx="304166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457200"/>
              <a:r>
                <a:rPr lang="en-US" sz="2000" dirty="0">
                  <a:solidFill>
                    <a:srgbClr val="FF0000"/>
                  </a:solidFill>
                  <a:latin typeface="Tw Cen MT" panose="020B0602020104020603"/>
                </a:rPr>
                <a:t>Thank you for your attention</a:t>
              </a:r>
            </a:p>
          </p:txBody>
        </p:sp>
      </p:grpSp>
      <p:sp>
        <p:nvSpPr>
          <p:cNvPr id="8" name="Rectangle 7"/>
          <p:cNvSpPr/>
          <p:nvPr/>
        </p:nvSpPr>
        <p:spPr>
          <a:xfrm>
            <a:off x="470335" y="540135"/>
            <a:ext cx="304599" cy="1316800"/>
          </a:xfrm>
          <a:prstGeom prst="rect">
            <a:avLst/>
          </a:prstGeom>
          <a:solidFill>
            <a:sysClr val="windowText" lastClr="000000"/>
          </a:solidFill>
          <a:ln w="15875" cap="flat" cmpd="sng" algn="ctr">
            <a:solidFill>
              <a:sysClr val="windowText" lastClr="000000">
                <a:shade val="50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Urb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1397</TotalTime>
  <Words>1964</Words>
  <Application>Microsoft Office PowerPoint</Application>
  <PresentationFormat>On-screen Show (4:3)</PresentationFormat>
  <Paragraphs>275</Paragraphs>
  <Slides>52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52</vt:i4>
      </vt:variant>
    </vt:vector>
  </HeadingPairs>
  <TitlesOfParts>
    <vt:vector size="68" baseType="lpstr">
      <vt:lpstr>Bookman Uralic</vt:lpstr>
      <vt:lpstr>Carlito</vt:lpstr>
      <vt:lpstr>Arial</vt:lpstr>
      <vt:lpstr>Bahnschrift</vt:lpstr>
      <vt:lpstr>Calibri</vt:lpstr>
      <vt:lpstr>Georgia</vt:lpstr>
      <vt:lpstr>Tahoma</vt:lpstr>
      <vt:lpstr>Times New Roman</vt:lpstr>
      <vt:lpstr>Trebuchet MS</vt:lpstr>
      <vt:lpstr>Tw Cen MT</vt:lpstr>
      <vt:lpstr>Tw Cen MT Condensed</vt:lpstr>
      <vt:lpstr>Wingdings</vt:lpstr>
      <vt:lpstr>Wingdings 2</vt:lpstr>
      <vt:lpstr>Office Theme</vt:lpstr>
      <vt:lpstr>Urban</vt:lpstr>
      <vt:lpstr>1_Office Theme</vt:lpstr>
      <vt:lpstr>PowerPoint Presentation</vt:lpstr>
      <vt:lpstr>PowerPoint Presentation</vt:lpstr>
      <vt:lpstr>PowerPoint Presentation</vt:lpstr>
      <vt:lpstr>What do you think about Framework Programming?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NL</dc:creator>
  <cp:lastModifiedBy>NL</cp:lastModifiedBy>
  <cp:revision>260</cp:revision>
  <dcterms:created xsi:type="dcterms:W3CDTF">2021-03-23T22:28:06Z</dcterms:created>
  <dcterms:modified xsi:type="dcterms:W3CDTF">2021-06-22T05:59:04Z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2018-01-22T00:00:00Z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2021-03-23T00:00:00Z</vt:filetime>
  </property>
</Properties>
</file>