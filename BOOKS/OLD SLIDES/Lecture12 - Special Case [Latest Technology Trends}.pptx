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29"/>
  </p:notesMasterIdLst>
  <p:sldIdLst>
    <p:sldId id="285" r:id="rId3"/>
    <p:sldId id="286" r:id="rId4"/>
    <p:sldId id="257" r:id="rId5"/>
    <p:sldId id="304" r:id="rId6"/>
    <p:sldId id="302" r:id="rId7"/>
    <p:sldId id="303" r:id="rId8"/>
    <p:sldId id="308" r:id="rId9"/>
    <p:sldId id="258" r:id="rId10"/>
    <p:sldId id="305" r:id="rId11"/>
    <p:sldId id="296" r:id="rId12"/>
    <p:sldId id="309" r:id="rId13"/>
    <p:sldId id="310" r:id="rId14"/>
    <p:sldId id="307" r:id="rId15"/>
    <p:sldId id="295" r:id="rId16"/>
    <p:sldId id="319" r:id="rId17"/>
    <p:sldId id="306" r:id="rId18"/>
    <p:sldId id="318" r:id="rId19"/>
    <p:sldId id="320" r:id="rId20"/>
    <p:sldId id="317" r:id="rId21"/>
    <p:sldId id="323" r:id="rId22"/>
    <p:sldId id="322" r:id="rId23"/>
    <p:sldId id="321" r:id="rId24"/>
    <p:sldId id="316" r:id="rId25"/>
    <p:sldId id="324" r:id="rId26"/>
    <p:sldId id="315" r:id="rId27"/>
    <p:sldId id="284" r:id="rId2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441" autoAdjust="0"/>
  </p:normalViewPr>
  <p:slideViewPr>
    <p:cSldViewPr>
      <p:cViewPr varScale="1">
        <p:scale>
          <a:sx n="87" d="100"/>
          <a:sy n="87" d="100"/>
        </p:scale>
        <p:origin x="1416"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54A8E67-C31F-4B3F-AE22-4E6EEE62189F}" type="datetimeFigureOut">
              <a:rPr lang="en-US" smtClean="0"/>
              <a:t>6/11/2021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86D6AE2-3021-4755-9483-33FED855821B}" type="slidenum">
              <a:rPr lang="en-US" smtClean="0"/>
              <a:t>‹#›</a:t>
            </a:fld>
            <a:endParaRPr lang="en-US"/>
          </a:p>
        </p:txBody>
      </p:sp>
    </p:spTree>
    <p:extLst>
      <p:ext uri="{BB962C8B-B14F-4D97-AF65-F5344CB8AC3E}">
        <p14:creationId xmlns:p14="http://schemas.microsoft.com/office/powerpoint/2010/main" val="543410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2400">
                <a:solidFill>
                  <a:schemeClr val="tx1"/>
                </a:solidFill>
                <a:latin typeface="Tahoma" panose="020B0604030504040204" pitchFamily="34" charset="0"/>
              </a:defRPr>
            </a:lvl1pPr>
            <a:lvl2pPr marL="742950" indent="-285750" defTabSz="931863">
              <a:defRPr sz="2400">
                <a:solidFill>
                  <a:schemeClr val="tx1"/>
                </a:solidFill>
                <a:latin typeface="Tahoma" panose="020B0604030504040204" pitchFamily="34" charset="0"/>
              </a:defRPr>
            </a:lvl2pPr>
            <a:lvl3pPr marL="1143000" indent="-228600" defTabSz="931863">
              <a:defRPr sz="2400">
                <a:solidFill>
                  <a:schemeClr val="tx1"/>
                </a:solidFill>
                <a:latin typeface="Tahoma" panose="020B0604030504040204" pitchFamily="34" charset="0"/>
              </a:defRPr>
            </a:lvl3pPr>
            <a:lvl4pPr marL="1600200" indent="-228600" defTabSz="931863">
              <a:defRPr sz="2400">
                <a:solidFill>
                  <a:schemeClr val="tx1"/>
                </a:solidFill>
                <a:latin typeface="Tahoma" panose="020B0604030504040204" pitchFamily="34" charset="0"/>
              </a:defRPr>
            </a:lvl4pPr>
            <a:lvl5pPr marL="2057400" indent="-228600" defTabSz="931863">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fld id="{05640802-FA98-427B-B9DA-D5CD3C58A5E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31863"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11990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5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6/11/2021</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2843" y="1078991"/>
            <a:ext cx="8066537" cy="325755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11" name="Rounded Rectangle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12" name="Rounded Rectangle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smtClean="0"/>
              <a:t>Click to edit Master title style</a:t>
            </a:r>
            <a:endParaRPr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7" name="Date Placeholder 27"/>
          <p:cNvSpPr>
            <a:spLocks noGrp="1"/>
          </p:cNvSpPr>
          <p:nvPr>
            <p:ph type="dt" sz="half" idx="10"/>
          </p:nvPr>
        </p:nvSpPr>
        <p:spPr>
          <a:xfrm>
            <a:off x="6705600" y="4206875"/>
            <a:ext cx="960438" cy="457200"/>
          </a:xfrm>
        </p:spPr>
        <p:txBody>
          <a:bodyPr/>
          <a:lstStyle>
            <a:lvl1pPr>
              <a:defRPr/>
            </a:lvl1pPr>
          </a:lstStyle>
          <a:p>
            <a:pPr>
              <a:defRPr/>
            </a:pPr>
            <a:fld id="{A17A5911-318A-42B0-BD23-6D9EB7D0CA04}" type="datetimeFigureOut">
              <a:rPr lang="en-US"/>
              <a:pPr>
                <a:defRPr/>
              </a:pPr>
              <a:t>6/11/2021</a:t>
            </a:fld>
            <a:endParaRPr lang="en-US"/>
          </a:p>
        </p:txBody>
      </p:sp>
      <p:sp>
        <p:nvSpPr>
          <p:cNvPr id="18" name="Footer Placeholder 16"/>
          <p:cNvSpPr>
            <a:spLocks noGrp="1"/>
          </p:cNvSpPr>
          <p:nvPr>
            <p:ph type="ftr" sz="quarter" idx="11"/>
          </p:nvPr>
        </p:nvSpPr>
        <p:spPr>
          <a:xfrm>
            <a:off x="5410200" y="4205288"/>
            <a:ext cx="1295400" cy="457200"/>
          </a:xfrm>
        </p:spPr>
        <p:txBody>
          <a:bodyPr/>
          <a:lstStyle>
            <a:lvl1pPr>
              <a:defRPr/>
            </a:lvl1pPr>
          </a:lstStyle>
          <a:p>
            <a:pPr>
              <a:defRPr/>
            </a:pPr>
            <a:endParaRPr lang="en-US"/>
          </a:p>
        </p:txBody>
      </p:sp>
      <p:sp>
        <p:nvSpPr>
          <p:cNvPr id="19" name="Slide Number Placeholder 28"/>
          <p:cNvSpPr>
            <a:spLocks noGrp="1"/>
          </p:cNvSpPr>
          <p:nvPr>
            <p:ph type="sldNum" sz="quarter" idx="12"/>
          </p:nvPr>
        </p:nvSpPr>
        <p:spPr>
          <a:xfrm>
            <a:off x="8320088" y="1588"/>
            <a:ext cx="747712" cy="365125"/>
          </a:xfrm>
        </p:spPr>
        <p:txBody>
          <a:bodyPr/>
          <a:lstStyle>
            <a:lvl1pPr>
              <a:defRPr>
                <a:solidFill>
                  <a:schemeClr val="bg1"/>
                </a:solidFill>
              </a:defRPr>
            </a:lvl1pPr>
          </a:lstStyle>
          <a:p>
            <a:fld id="{A4458D9D-7997-48C9-9AC8-3F90B58B8F56}" type="slidenum">
              <a:rPr lang="en-US" altLang="en-US"/>
              <a:pPr/>
              <a:t>‹#›</a:t>
            </a:fld>
            <a:endParaRPr lang="en-US" altLang="en-US"/>
          </a:p>
        </p:txBody>
      </p:sp>
    </p:spTree>
    <p:extLst>
      <p:ext uri="{BB962C8B-B14F-4D97-AF65-F5344CB8AC3E}">
        <p14:creationId xmlns:p14="http://schemas.microsoft.com/office/powerpoint/2010/main" val="644431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9F4A82B4-6618-4215-93D9-CEB563386B8B}" type="datetimeFigureOut">
              <a:rPr lang="en-US"/>
              <a:pPr>
                <a:defRPr/>
              </a:pPr>
              <a:t>6/11/2021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187DC8DC-866E-4B93-B469-7F06B822183F}" type="slidenum">
              <a:rPr lang="en-US" altLang="en-US"/>
              <a:pPr/>
              <a:t>‹#›</a:t>
            </a:fld>
            <a:endParaRPr lang="en-US" altLang="en-US"/>
          </a:p>
        </p:txBody>
      </p:sp>
    </p:spTree>
    <p:extLst>
      <p:ext uri="{BB962C8B-B14F-4D97-AF65-F5344CB8AC3E}">
        <p14:creationId xmlns:p14="http://schemas.microsoft.com/office/powerpoint/2010/main" val="1262998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13"/>
          <p:cNvSpPr>
            <a:spLocks noGrp="1"/>
          </p:cNvSpPr>
          <p:nvPr>
            <p:ph type="dt" sz="half" idx="10"/>
          </p:nvPr>
        </p:nvSpPr>
        <p:spPr/>
        <p:txBody>
          <a:bodyPr/>
          <a:lstStyle>
            <a:lvl1pPr>
              <a:defRPr/>
            </a:lvl1pPr>
          </a:lstStyle>
          <a:p>
            <a:pPr>
              <a:defRPr/>
            </a:pPr>
            <a:fld id="{C2CF3936-C19B-44C7-9907-C0E7C284152D}" type="datetimeFigureOut">
              <a:rPr lang="en-US"/>
              <a:pPr>
                <a:defRPr/>
              </a:pPr>
              <a:t>6/11/2021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DAD50082-0BCC-45F0-8D95-A24D80F2B494}" type="slidenum">
              <a:rPr lang="en-US" altLang="en-US"/>
              <a:pPr/>
              <a:t>‹#›</a:t>
            </a:fld>
            <a:endParaRPr lang="en-US" altLang="en-US"/>
          </a:p>
        </p:txBody>
      </p:sp>
    </p:spTree>
    <p:extLst>
      <p:ext uri="{BB962C8B-B14F-4D97-AF65-F5344CB8AC3E}">
        <p14:creationId xmlns:p14="http://schemas.microsoft.com/office/powerpoint/2010/main" val="2175859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03314A90-AFC1-4E63-8122-57311A38DF42}" type="datetimeFigureOut">
              <a:rPr lang="en-US"/>
              <a:pPr>
                <a:defRPr/>
              </a:pPr>
              <a:t>6/11/2021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C178D1BD-67A6-4741-9925-0FDB9D00201C}" type="slidenum">
              <a:rPr lang="en-US" altLang="en-US"/>
              <a:pPr/>
              <a:t>‹#›</a:t>
            </a:fld>
            <a:endParaRPr lang="en-US" altLang="en-US"/>
          </a:p>
        </p:txBody>
      </p:sp>
    </p:spTree>
    <p:extLst>
      <p:ext uri="{BB962C8B-B14F-4D97-AF65-F5344CB8AC3E}">
        <p14:creationId xmlns:p14="http://schemas.microsoft.com/office/powerpoint/2010/main" val="1962786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5"/>
          <p:cNvSpPr>
            <a:spLocks noGrp="1"/>
          </p:cNvSpPr>
          <p:nvPr>
            <p:ph type="dt" sz="half" idx="10"/>
          </p:nvPr>
        </p:nvSpPr>
        <p:spPr/>
        <p:txBody>
          <a:bodyPr rtlCol="0"/>
          <a:lstStyle>
            <a:lvl1pPr>
              <a:defRPr/>
            </a:lvl1pPr>
          </a:lstStyle>
          <a:p>
            <a:pPr>
              <a:defRPr/>
            </a:pPr>
            <a:fld id="{7A2782CB-796F-4B39-B3A1-A580BB814B6D}" type="datetimeFigureOut">
              <a:rPr lang="en-US"/>
              <a:pPr>
                <a:defRPr/>
              </a:pPr>
              <a:t>6/11/2021</a:t>
            </a:fld>
            <a:endParaRPr lang="en-US"/>
          </a:p>
        </p:txBody>
      </p:sp>
      <p:sp>
        <p:nvSpPr>
          <p:cNvPr id="8" name="Slide Number Placeholder 26"/>
          <p:cNvSpPr>
            <a:spLocks noGrp="1"/>
          </p:cNvSpPr>
          <p:nvPr>
            <p:ph type="sldNum" sz="quarter" idx="11"/>
          </p:nvPr>
        </p:nvSpPr>
        <p:spPr/>
        <p:txBody>
          <a:bodyPr/>
          <a:lstStyle>
            <a:lvl1pPr>
              <a:defRPr/>
            </a:lvl1pPr>
          </a:lstStyle>
          <a:p>
            <a:fld id="{22235CFA-2E95-41A8-BAE8-E6B82C409E5A}" type="slidenum">
              <a:rPr lang="en-US" altLang="en-US"/>
              <a:pPr/>
              <a:t>‹#›</a:t>
            </a:fld>
            <a:endParaRPr lang="en-US" altLang="en-US"/>
          </a:p>
        </p:txBody>
      </p:sp>
      <p:sp>
        <p:nvSpPr>
          <p:cNvPr id="9" name="Footer Placeholder 27"/>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866706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smtClean="0"/>
              <a:t>Click to edit Master title style</a:t>
            </a:r>
            <a:endParaRPr lang="en-US"/>
          </a:p>
        </p:txBody>
      </p:sp>
      <p:sp>
        <p:nvSpPr>
          <p:cNvPr id="3" name="Date Placeholder 2"/>
          <p:cNvSpPr>
            <a:spLocks noGrp="1"/>
          </p:cNvSpPr>
          <p:nvPr>
            <p:ph type="dt" sz="half" idx="10"/>
          </p:nvPr>
        </p:nvSpPr>
        <p:spPr>
          <a:xfrm>
            <a:off x="6583363" y="612775"/>
            <a:ext cx="957262" cy="457200"/>
          </a:xfrm>
        </p:spPr>
        <p:txBody>
          <a:bodyPr/>
          <a:lstStyle>
            <a:lvl1pPr>
              <a:defRPr/>
            </a:lvl1pPr>
          </a:lstStyle>
          <a:p>
            <a:pPr>
              <a:defRPr/>
            </a:pPr>
            <a:fld id="{4B89DFEC-1725-49C8-B349-7936A7B6C619}" type="datetimeFigureOut">
              <a:rPr lang="en-US"/>
              <a:pPr>
                <a:defRPr/>
              </a:pPr>
              <a:t>6/11/2021</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fld id="{637C593E-29F5-4DB5-AA21-09B3E16427D1}" type="slidenum">
              <a:rPr lang="en-US" altLang="en-US"/>
              <a:pPr/>
              <a:t>‹#›</a:t>
            </a:fld>
            <a:endParaRPr lang="en-US" altLang="en-US"/>
          </a:p>
        </p:txBody>
      </p:sp>
    </p:spTree>
    <p:extLst>
      <p:ext uri="{BB962C8B-B14F-4D97-AF65-F5344CB8AC3E}">
        <p14:creationId xmlns:p14="http://schemas.microsoft.com/office/powerpoint/2010/main" val="1638686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48C4EACB-F0B1-430E-814E-618E1FB95B3F}" type="datetimeFigureOut">
              <a:rPr lang="en-US"/>
              <a:pPr>
                <a:defRPr/>
              </a:pPr>
              <a:t>6/11/2021</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fld id="{6662F2B9-77ED-4645-81E1-35508EBB26EA}" type="slidenum">
              <a:rPr lang="en-US" altLang="en-US"/>
              <a:pPr/>
              <a:t>‹#›</a:t>
            </a:fld>
            <a:endParaRPr lang="en-US" altLang="en-US"/>
          </a:p>
        </p:txBody>
      </p:sp>
    </p:spTree>
    <p:extLst>
      <p:ext uri="{BB962C8B-B14F-4D97-AF65-F5344CB8AC3E}">
        <p14:creationId xmlns:p14="http://schemas.microsoft.com/office/powerpoint/2010/main" val="844978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smtClean="0"/>
              <a:t>Click to edit Master title style</a:t>
            </a:r>
            <a:endParaRPr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CBF83054-3FDA-4EA6-BDCD-F6F20A348F07}" type="datetimeFigureOut">
              <a:rPr lang="en-US"/>
              <a:pPr>
                <a:defRPr/>
              </a:pPr>
              <a:t>6/11/2021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234040EC-DEFE-48A7-8B41-72679CFEB6E4}" type="slidenum">
              <a:rPr lang="en-US" altLang="en-US"/>
              <a:pPr/>
              <a:t>‹#›</a:t>
            </a:fld>
            <a:endParaRPr lang="en-US" altLang="en-US"/>
          </a:p>
        </p:txBody>
      </p:sp>
    </p:spTree>
    <p:extLst>
      <p:ext uri="{BB962C8B-B14F-4D97-AF65-F5344CB8AC3E}">
        <p14:creationId xmlns:p14="http://schemas.microsoft.com/office/powerpoint/2010/main" val="155057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5" name="Date Placeholder 13"/>
          <p:cNvSpPr>
            <a:spLocks noGrp="1"/>
          </p:cNvSpPr>
          <p:nvPr>
            <p:ph type="dt" sz="half" idx="10"/>
          </p:nvPr>
        </p:nvSpPr>
        <p:spPr/>
        <p:txBody>
          <a:bodyPr/>
          <a:lstStyle>
            <a:lvl1pPr>
              <a:defRPr/>
            </a:lvl1pPr>
          </a:lstStyle>
          <a:p>
            <a:pPr>
              <a:defRPr/>
            </a:pPr>
            <a:fld id="{703B4C38-6B7A-4435-A3AF-075D8A2102F3}" type="datetimeFigureOut">
              <a:rPr lang="en-US"/>
              <a:pPr>
                <a:defRPr/>
              </a:pPr>
              <a:t>6/11/2021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9295D01F-80C4-4EF3-9C3E-4AB2D853C167}" type="slidenum">
              <a:rPr lang="en-US" altLang="en-US"/>
              <a:pPr/>
              <a:t>‹#›</a:t>
            </a:fld>
            <a:endParaRPr lang="en-US" altLang="en-US"/>
          </a:p>
        </p:txBody>
      </p:sp>
    </p:spTree>
    <p:extLst>
      <p:ext uri="{BB962C8B-B14F-4D97-AF65-F5344CB8AC3E}">
        <p14:creationId xmlns:p14="http://schemas.microsoft.com/office/powerpoint/2010/main" val="8479253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65F07E67-5493-4B92-9FD9-CEF01D49F27C}" type="datetimeFigureOut">
              <a:rPr lang="en-US"/>
              <a:pPr>
                <a:defRPr/>
              </a:pPr>
              <a:t>6/11/2021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8FCC2162-9904-4CE2-ADF7-C5DB601A180B}" type="slidenum">
              <a:rPr lang="en-US" altLang="en-US"/>
              <a:pPr/>
              <a:t>‹#›</a:t>
            </a:fld>
            <a:endParaRPr lang="en-US" altLang="en-US"/>
          </a:p>
        </p:txBody>
      </p:sp>
    </p:spTree>
    <p:extLst>
      <p:ext uri="{BB962C8B-B14F-4D97-AF65-F5344CB8AC3E}">
        <p14:creationId xmlns:p14="http://schemas.microsoft.com/office/powerpoint/2010/main" val="4032503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B637261E-68CB-4B7F-AB36-DC4916C10FE0}" type="datetimeFigureOut">
              <a:rPr lang="en-US"/>
              <a:pPr>
                <a:defRPr/>
              </a:pPr>
              <a:t>6/11/2021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672EC959-A47F-459F-8D4B-AA4F723E3468}" type="slidenum">
              <a:rPr lang="en-US" altLang="en-US"/>
              <a:pPr/>
              <a:t>‹#›</a:t>
            </a:fld>
            <a:endParaRPr lang="en-US" altLang="en-US"/>
          </a:p>
        </p:txBody>
      </p:sp>
    </p:spTree>
    <p:extLst>
      <p:ext uri="{BB962C8B-B14F-4D97-AF65-F5344CB8AC3E}">
        <p14:creationId xmlns:p14="http://schemas.microsoft.com/office/powerpoint/2010/main" val="9051712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42769" y="484758"/>
            <a:ext cx="4458461" cy="696594"/>
          </a:xfrm>
          <a:prstGeom prst="rect">
            <a:avLst/>
          </a:prstGeom>
        </p:spPr>
        <p:txBody>
          <a:bodyPr wrap="square" lIns="0" tIns="0" rIns="0" bIns="0">
            <a:spAutoFit/>
          </a:bodyPr>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a:xfrm>
            <a:off x="1249426" y="3362909"/>
            <a:ext cx="6645147" cy="2021839"/>
          </a:xfrm>
          <a:prstGeom prst="rect">
            <a:avLst/>
          </a:prstGeom>
        </p:spPr>
        <p:txBody>
          <a:bodyPr wrap="square" lIns="0" tIns="0" rIns="0" bIns="0">
            <a:spAutoFit/>
          </a:bodyPr>
          <a:lstStyle>
            <a:lvl1pPr>
              <a:defRPr sz="35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6/11/2021</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3" name="Rounded Rectangle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4" name="Rounded Rectangle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207" name="Title Placeholder 21"/>
          <p:cNvSpPr>
            <a:spLocks noGrp="1"/>
          </p:cNvSpPr>
          <p:nvPr>
            <p:ph type="title"/>
          </p:nvPr>
        </p:nvSpPr>
        <p:spPr bwMode="auto">
          <a:xfrm>
            <a:off x="457200" y="11430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208" name="Text Placeholder 12"/>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 name="Date Placeholder 13"/>
          <p:cNvSpPr>
            <a:spLocks noGrp="1"/>
          </p:cNvSpPr>
          <p:nvPr>
            <p:ph type="dt" sz="half" idx="2"/>
          </p:nvPr>
        </p:nvSpPr>
        <p:spPr>
          <a:xfrm>
            <a:off x="6586538" y="612775"/>
            <a:ext cx="957262" cy="457200"/>
          </a:xfrm>
          <a:prstGeom prst="rect">
            <a:avLst/>
          </a:prstGeom>
        </p:spPr>
        <p:txBody>
          <a:bodyPr vert="horz"/>
          <a:lstStyle>
            <a:lvl1pPr algn="l" eaLnBrk="1" fontAlgn="auto" latinLnBrk="0" hangingPunct="1">
              <a:spcBef>
                <a:spcPts val="0"/>
              </a:spcBef>
              <a:spcAft>
                <a:spcPts val="0"/>
              </a:spcAft>
              <a:defRPr kumimoji="0" sz="800">
                <a:solidFill>
                  <a:schemeClr val="accent2"/>
                </a:solidFill>
                <a:latin typeface="+mn-lt"/>
              </a:defRPr>
            </a:lvl1pPr>
          </a:lstStyle>
          <a:p>
            <a:pPr>
              <a:defRPr/>
            </a:pPr>
            <a:fld id="{076F8D71-EA83-45CB-9292-976A9C8DA0C3}" type="datetimeFigureOut">
              <a:rPr lang="en-US"/>
              <a:pPr>
                <a:defRPr/>
              </a:pPr>
              <a:t>6/11/2021</a:t>
            </a:fld>
            <a:endParaRPr lang="en-US"/>
          </a:p>
        </p:txBody>
      </p:sp>
      <p:sp>
        <p:nvSpPr>
          <p:cNvPr id="3" name="Footer Placeholder 2"/>
          <p:cNvSpPr>
            <a:spLocks noGrp="1"/>
          </p:cNvSpPr>
          <p:nvPr>
            <p:ph type="ftr" sz="quarter" idx="3"/>
          </p:nvPr>
        </p:nvSpPr>
        <p:spPr>
          <a:xfrm>
            <a:off x="5257800" y="612775"/>
            <a:ext cx="1325563" cy="457200"/>
          </a:xfrm>
          <a:prstGeom prst="rect">
            <a:avLst/>
          </a:prstGeom>
        </p:spPr>
        <p:txBody>
          <a:bodyPr vert="horz"/>
          <a:lstStyle>
            <a:lvl1pPr algn="r" eaLnBrk="1" fontAlgn="auto" latinLnBrk="0" hangingPunct="1">
              <a:spcBef>
                <a:spcPts val="0"/>
              </a:spcBef>
              <a:spcAft>
                <a:spcPts val="0"/>
              </a:spcAft>
              <a:defRPr kumimoji="0" sz="800">
                <a:solidFill>
                  <a:schemeClr val="accent2"/>
                </a:solidFill>
                <a:latin typeface="+mn-lt"/>
              </a:defRPr>
            </a:lvl1pPr>
          </a:lstStyle>
          <a:p>
            <a:pPr>
              <a:defRPr/>
            </a:pPr>
            <a:endParaRPr lang="en-US"/>
          </a:p>
        </p:txBody>
      </p:sp>
      <p:sp>
        <p:nvSpPr>
          <p:cNvPr id="23" name="Slide Number Placeholder 22"/>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a:defRPr>
                <a:solidFill>
                  <a:srgbClr val="FFFFFF"/>
                </a:solidFill>
                <a:latin typeface="Georgia" panose="02040502050405020303" pitchFamily="18" charset="0"/>
              </a:defRPr>
            </a:lvl1pPr>
          </a:lstStyle>
          <a:p>
            <a:fld id="{C36EDDF5-661D-4F0D-A8FC-08CDEA6AF9C9}" type="slidenum">
              <a:rPr lang="en-US" altLang="en-US"/>
              <a:pPr/>
              <a:t>‹#›</a:t>
            </a:fld>
            <a:endParaRPr lang="en-US" altLang="en-US"/>
          </a:p>
        </p:txBody>
      </p:sp>
    </p:spTree>
    <p:extLst>
      <p:ext uri="{BB962C8B-B14F-4D97-AF65-F5344CB8AC3E}">
        <p14:creationId xmlns:p14="http://schemas.microsoft.com/office/powerpoint/2010/main" val="369311249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9BBB59"/>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9BBB59"/>
        </a:buClr>
        <a:buFont typeface="Georgia" panose="02040502050405020303" pitchFamily="18" charset="0"/>
        <a:buChar char="▫"/>
        <a:defRPr sz="2000" kern="1200">
          <a:solidFill>
            <a:srgbClr val="9BBB59"/>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topuniversities.com/courses/computer-science-information-systems/5-trends-computer-science-research" TargetMode="External"/><Relationship Id="rId2" Type="http://schemas.openxmlformats.org/officeDocument/2006/relationships/hyperlink" Target="https://www.upgrad.com/blog/trending-technologies-in-2020/" TargetMode="Externa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0" name="Picture 4"/>
          <p:cNvPicPr>
            <a:picLocks noChangeAspect="1"/>
          </p:cNvPicPr>
          <p:nvPr/>
        </p:nvPicPr>
        <p:blipFill>
          <a:blip r:embed="rId3" cstate="print">
            <a:extLst>
              <a:ext uri="{28A0092B-C50C-407E-A947-70E740481C1C}">
                <a14:useLocalDpi xmlns:a14="http://schemas.microsoft.com/office/drawing/2010/main" val="0"/>
              </a:ext>
            </a:extLst>
          </a:blip>
          <a:srcRect r="52444" b="-2"/>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276600" y="3308350"/>
            <a:ext cx="5867400" cy="1819275"/>
          </a:xfrm>
          <a:prstGeom prst="rect">
            <a:avLst/>
          </a:prstGeom>
          <a:solidFill>
            <a:schemeClr val="dk1">
              <a:alpha val="42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ahoma"/>
              <a:ea typeface="+mn-ea"/>
              <a:cs typeface="+mn-cs"/>
            </a:endParaRPr>
          </a:p>
        </p:txBody>
      </p:sp>
      <p:grpSp>
        <p:nvGrpSpPr>
          <p:cNvPr id="7172" name="Group 8"/>
          <p:cNvGrpSpPr>
            <a:grpSpLocks/>
          </p:cNvGrpSpPr>
          <p:nvPr/>
        </p:nvGrpSpPr>
        <p:grpSpPr bwMode="auto">
          <a:xfrm>
            <a:off x="3428998" y="3429001"/>
            <a:ext cx="5638798" cy="1490376"/>
            <a:chOff x="4966856" y="5954268"/>
            <a:chExt cx="4100945" cy="1258675"/>
          </a:xfrm>
        </p:grpSpPr>
        <p:sp>
          <p:nvSpPr>
            <p:cNvPr id="4" name="Rectangle 3"/>
            <p:cNvSpPr/>
            <p:nvPr/>
          </p:nvSpPr>
          <p:spPr>
            <a:xfrm>
              <a:off x="4966856" y="5954268"/>
              <a:ext cx="4052205" cy="492038"/>
            </a:xfrm>
            <a:prstGeom prst="rect">
              <a:avLst/>
            </a:prstGeom>
          </p:spPr>
          <p:style>
            <a:lnRef idx="1">
              <a:schemeClr val="accent2"/>
            </a:lnRef>
            <a:fillRef idx="3">
              <a:schemeClr val="accent2"/>
            </a:fillRef>
            <a:effectRef idx="2">
              <a:schemeClr val="accent2"/>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err="1">
                  <a:ln>
                    <a:noFill/>
                  </a:ln>
                  <a:solidFill>
                    <a:srgbClr val="C00000"/>
                  </a:solidFill>
                  <a:effectLst/>
                  <a:uLnTx/>
                  <a:uFillTx/>
                  <a:latin typeface="Tahoma"/>
                  <a:ea typeface="+mn-ea"/>
                  <a:cs typeface="+mn-cs"/>
                </a:rPr>
                <a:t>Fakultas</a:t>
              </a:r>
              <a:r>
                <a:rPr kumimoji="0" lang="en-US" sz="4000" b="0" i="0" u="none" strike="noStrike" kern="1200" cap="none" spc="0" normalizeH="0" baseline="0" noProof="0" dirty="0">
                  <a:ln>
                    <a:noFill/>
                  </a:ln>
                  <a:solidFill>
                    <a:srgbClr val="C00000"/>
                  </a:solidFill>
                  <a:effectLst/>
                  <a:uLnTx/>
                  <a:uFillTx/>
                  <a:latin typeface="Tahoma"/>
                  <a:ea typeface="+mn-ea"/>
                  <a:cs typeface="+mn-cs"/>
                </a:rPr>
                <a:t> </a:t>
              </a:r>
              <a:r>
                <a:rPr kumimoji="0" lang="en-US" sz="4000" b="0" i="0" u="none" strike="noStrike" kern="1200" cap="none" spc="0" normalizeH="0" baseline="0" noProof="0" dirty="0" err="1">
                  <a:ln>
                    <a:noFill/>
                  </a:ln>
                  <a:solidFill>
                    <a:srgbClr val="C00000"/>
                  </a:solidFill>
                  <a:effectLst/>
                  <a:uLnTx/>
                  <a:uFillTx/>
                  <a:latin typeface="Tahoma"/>
                  <a:ea typeface="+mn-ea"/>
                  <a:cs typeface="+mn-cs"/>
                </a:rPr>
                <a:t>Ilmu</a:t>
              </a:r>
              <a:r>
                <a:rPr kumimoji="0" lang="en-US" sz="4000" b="0" i="0" u="none" strike="noStrike" kern="1200" cap="none" spc="0" normalizeH="0" baseline="0" noProof="0" dirty="0">
                  <a:ln>
                    <a:noFill/>
                  </a:ln>
                  <a:solidFill>
                    <a:srgbClr val="C00000"/>
                  </a:solidFill>
                  <a:effectLst/>
                  <a:uLnTx/>
                  <a:uFillTx/>
                  <a:latin typeface="Tahoma"/>
                  <a:ea typeface="+mn-ea"/>
                  <a:cs typeface="+mn-cs"/>
                </a:rPr>
                <a:t> </a:t>
              </a:r>
              <a:r>
                <a:rPr kumimoji="0" lang="en-US" sz="4000" b="0" i="0" u="none" strike="noStrike" kern="1200" cap="none" spc="0" normalizeH="0" baseline="0" noProof="0" dirty="0" err="1">
                  <a:ln>
                    <a:noFill/>
                  </a:ln>
                  <a:solidFill>
                    <a:srgbClr val="C00000"/>
                  </a:solidFill>
                  <a:effectLst/>
                  <a:uLnTx/>
                  <a:uFillTx/>
                  <a:latin typeface="Tahoma"/>
                  <a:ea typeface="+mn-ea"/>
                  <a:cs typeface="+mn-cs"/>
                </a:rPr>
                <a:t>Komputer</a:t>
              </a:r>
              <a:endParaRPr kumimoji="0" lang="en-US" sz="4000" b="0" i="0" u="none" strike="noStrike" kern="1200" cap="none" spc="0" normalizeH="0" baseline="0" noProof="0" dirty="0">
                <a:ln>
                  <a:noFill/>
                </a:ln>
                <a:solidFill>
                  <a:srgbClr val="C00000"/>
                </a:solidFill>
                <a:effectLst/>
                <a:uLnTx/>
                <a:uFillTx/>
                <a:latin typeface="Tahoma"/>
                <a:ea typeface="+mn-ea"/>
                <a:cs typeface="+mn-cs"/>
              </a:endParaRPr>
            </a:p>
          </p:txBody>
        </p:sp>
        <p:sp>
          <p:nvSpPr>
            <p:cNvPr id="7178" name="TextBox 5"/>
            <p:cNvSpPr txBox="1">
              <a:spLocks noChangeArrowheads="1"/>
            </p:cNvSpPr>
            <p:nvPr/>
          </p:nvSpPr>
          <p:spPr bwMode="auto">
            <a:xfrm>
              <a:off x="5576457" y="6511136"/>
              <a:ext cx="3491344" cy="70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smtClean="0">
                  <a:ln>
                    <a:noFill/>
                  </a:ln>
                  <a:solidFill>
                    <a:srgbClr val="000000"/>
                  </a:solidFill>
                  <a:effectLst/>
                  <a:uLnTx/>
                  <a:uFillTx/>
                  <a:latin typeface="+mn-lt"/>
                  <a:ea typeface="+mn-ea"/>
                  <a:cs typeface="+mn-cs"/>
                </a:rPr>
                <a:t>Learning </a:t>
              </a:r>
              <a:r>
                <a:rPr kumimoji="0" lang="en-US" altLang="en-US" sz="1600" b="0" i="0" u="none" strike="noStrike" kern="1200" cap="none" spc="0" normalizeH="0" baseline="0" noProof="0" dirty="0" smtClean="0">
                  <a:ln>
                    <a:noFill/>
                  </a:ln>
                  <a:solidFill>
                    <a:srgbClr val="000000"/>
                  </a:solidFill>
                  <a:effectLst/>
                  <a:uLnTx/>
                  <a:uFillTx/>
                  <a:latin typeface="+mn-lt"/>
                  <a:ea typeface="+mn-ea"/>
                  <a:cs typeface="+mn-cs"/>
                </a:rPr>
                <a:t>is the process of acquiring new understanding, knowledge, behaviors, skills, values, attitudes, and preferences.</a:t>
              </a:r>
              <a:endParaRPr kumimoji="0" lang="en-US" altLang="en-US" sz="1600" b="0" i="0" u="none" strike="noStrike" kern="1200" cap="none" spc="0" normalizeH="0" baseline="0" noProof="0" dirty="0" smtClean="0">
                <a:ln>
                  <a:noFill/>
                </a:ln>
                <a:solidFill>
                  <a:srgbClr val="FFFFFF"/>
                </a:solidFill>
                <a:effectLst/>
                <a:uLnTx/>
                <a:uFillTx/>
                <a:latin typeface="+mn-lt"/>
                <a:ea typeface="+mn-ea"/>
                <a:cs typeface="+mn-cs"/>
              </a:endParaRPr>
            </a:p>
          </p:txBody>
        </p:sp>
      </p:grpSp>
      <p:cxnSp>
        <p:nvCxnSpPr>
          <p:cNvPr id="14" name="Straight Connector 13"/>
          <p:cNvCxnSpPr/>
          <p:nvPr/>
        </p:nvCxnSpPr>
        <p:spPr>
          <a:xfrm>
            <a:off x="0" y="5213325"/>
            <a:ext cx="9144000" cy="15875"/>
          </a:xfrm>
          <a:prstGeom prst="line">
            <a:avLst/>
          </a:prstGeom>
          <a:ln w="76200"/>
        </p:spPr>
        <p:style>
          <a:lnRef idx="3">
            <a:schemeClr val="dk1"/>
          </a:lnRef>
          <a:fillRef idx="0">
            <a:schemeClr val="dk1"/>
          </a:fillRef>
          <a:effectRef idx="2">
            <a:schemeClr val="dk1"/>
          </a:effectRef>
          <a:fontRef idx="minor">
            <a:schemeClr val="tx1"/>
          </a:fontRef>
        </p:style>
      </p:cxnSp>
      <p:sp>
        <p:nvSpPr>
          <p:cNvPr id="7174" name="Rectangle 1"/>
          <p:cNvSpPr>
            <a:spLocks noChangeArrowheads="1"/>
          </p:cNvSpPr>
          <p:nvPr/>
        </p:nvSpPr>
        <p:spPr bwMode="auto">
          <a:xfrm>
            <a:off x="23446" y="580138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fontAlgn="base">
              <a:spcBef>
                <a:spcPct val="0"/>
              </a:spcBef>
              <a:spcAft>
                <a:spcPct val="0"/>
              </a:spcAft>
              <a:defRPr/>
            </a:pPr>
            <a:r>
              <a:rPr lang="en-US" altLang="en-US" sz="2800" b="1" dirty="0">
                <a:solidFill>
                  <a:srgbClr val="000000"/>
                </a:solidFill>
                <a:latin typeface="+mn-lt"/>
              </a:rPr>
              <a:t>Latest Technology Trends</a:t>
            </a:r>
            <a:endParaRPr kumimoji="0" lang="en-US" altLang="en-US" sz="1600" b="0" i="0" u="none" strike="noStrike" kern="1200" cap="none" spc="0" normalizeH="0" baseline="0" noProof="0" dirty="0" smtClean="0">
              <a:ln>
                <a:noFill/>
              </a:ln>
              <a:solidFill>
                <a:srgbClr val="000000"/>
              </a:solidFill>
              <a:effectLst/>
              <a:uLnTx/>
              <a:uFillTx/>
              <a:latin typeface="+mn-lt"/>
            </a:endParaRPr>
          </a:p>
        </p:txBody>
      </p:sp>
    </p:spTree>
    <p:extLst>
      <p:ext uri="{BB962C8B-B14F-4D97-AF65-F5344CB8AC3E}">
        <p14:creationId xmlns:p14="http://schemas.microsoft.com/office/powerpoint/2010/main" val="1567810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8"/>
          <p:cNvSpPr>
            <a:spLocks noChangeArrowheads="1"/>
          </p:cNvSpPr>
          <p:nvPr/>
        </p:nvSpPr>
        <p:spPr bwMode="auto">
          <a:xfrm>
            <a:off x="609600" y="4724400"/>
            <a:ext cx="7924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7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fontAlgn="base">
              <a:spcBef>
                <a:spcPts val="2388"/>
              </a:spcBef>
              <a:spcAft>
                <a:spcPct val="0"/>
              </a:spcAft>
              <a:defRPr/>
            </a:pPr>
            <a:r>
              <a:rPr lang="en-US" sz="2000" b="1" dirty="0" smtClean="0">
                <a:solidFill>
                  <a:srgbClr val="1F497D">
                    <a:satMod val="200000"/>
                  </a:srgbClr>
                </a:solidFill>
                <a:latin typeface="+mn-lt"/>
              </a:rPr>
              <a:t>Trends </a:t>
            </a:r>
            <a:r>
              <a:rPr lang="en-US" sz="2000" b="1" dirty="0">
                <a:solidFill>
                  <a:srgbClr val="1F497D">
                    <a:satMod val="200000"/>
                  </a:srgbClr>
                </a:solidFill>
                <a:latin typeface="+mn-lt"/>
              </a:rPr>
              <a:t>in </a:t>
            </a:r>
            <a:r>
              <a:rPr lang="en-US" sz="2000" b="1" dirty="0" smtClean="0">
                <a:solidFill>
                  <a:srgbClr val="1F497D">
                    <a:satMod val="200000"/>
                  </a:srgbClr>
                </a:solidFill>
                <a:latin typeface="+mn-lt"/>
              </a:rPr>
              <a:t/>
            </a:r>
            <a:br>
              <a:rPr lang="en-US" sz="2000" b="1" dirty="0" smtClean="0">
                <a:solidFill>
                  <a:srgbClr val="1F497D">
                    <a:satMod val="200000"/>
                  </a:srgbClr>
                </a:solidFill>
                <a:latin typeface="+mn-lt"/>
              </a:rPr>
            </a:br>
            <a:r>
              <a:rPr lang="en-US" sz="3600" b="1" dirty="0" smtClean="0">
                <a:solidFill>
                  <a:srgbClr val="1F497D">
                    <a:satMod val="200000"/>
                  </a:srgbClr>
                </a:solidFill>
                <a:latin typeface="+mn-lt"/>
              </a:rPr>
              <a:t>Computer Science </a:t>
            </a:r>
            <a:r>
              <a:rPr lang="en-US" sz="3600" b="1" dirty="0">
                <a:solidFill>
                  <a:srgbClr val="1F497D">
                    <a:satMod val="200000"/>
                  </a:srgbClr>
                </a:solidFill>
                <a:latin typeface="+mn-lt"/>
              </a:rPr>
              <a:t>Research</a:t>
            </a:r>
            <a:endParaRPr kumimoji="0" lang="en-US" altLang="en-US" sz="3600" b="1" i="1" strike="noStrike" kern="1200" cap="none" spc="0" normalizeH="0" baseline="0" noProof="0" dirty="0" smtClean="0">
              <a:ln>
                <a:noFill/>
              </a:ln>
              <a:solidFill>
                <a:srgbClr val="000000"/>
              </a:solidFill>
              <a:effectLst/>
              <a:uLnTx/>
              <a:uFillTx/>
              <a:latin typeface="+mn-lt"/>
              <a:ea typeface="PMingLiU"/>
              <a:cs typeface="PMingLiU"/>
            </a:endParaRPr>
          </a:p>
        </p:txBody>
      </p:sp>
      <p:cxnSp>
        <p:nvCxnSpPr>
          <p:cNvPr id="10" name="Straight Connector 9"/>
          <p:cNvCxnSpPr/>
          <p:nvPr/>
        </p:nvCxnSpPr>
        <p:spPr>
          <a:xfrm flipV="1">
            <a:off x="11113" y="3789040"/>
            <a:ext cx="9132887" cy="20960"/>
          </a:xfrm>
          <a:prstGeom prst="line">
            <a:avLst/>
          </a:prstGeom>
          <a:ln w="76200"/>
        </p:spPr>
        <p:style>
          <a:lnRef idx="3">
            <a:schemeClr val="dk1"/>
          </a:lnRef>
          <a:fillRef idx="0">
            <a:schemeClr val="dk1"/>
          </a:fillRef>
          <a:effectRef idx="2">
            <a:schemeClr val="dk1"/>
          </a:effectRef>
          <a:fontRef idx="minor">
            <a:schemeClr val="tx1"/>
          </a:fontRef>
        </p:style>
      </p:cxnSp>
      <p:pic>
        <p:nvPicPr>
          <p:cNvPr id="10245" name="Picture 2" descr="Teens and Technology – Cavalier Chronic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70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604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9144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What is Advanced Technology in Computer?</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914400" y="1600200"/>
            <a:ext cx="6553200" cy="2246769"/>
          </a:xfrm>
          <a:prstGeom prst="rect">
            <a:avLst/>
          </a:prstGeom>
        </p:spPr>
        <p:txBody>
          <a:bodyPr wrap="square">
            <a:spAutoFit/>
          </a:bodyPr>
          <a:lstStyle/>
          <a:p>
            <a:pPr algn="ctr"/>
            <a:r>
              <a:rPr lang="en-US" sz="2800" b="1" dirty="0">
                <a:solidFill>
                  <a:srgbClr val="202124"/>
                </a:solidFill>
                <a:latin typeface="Georgia" panose="02040502050405020303" pitchFamily="18" charset="0"/>
              </a:rPr>
              <a:t>Advanced technology</a:t>
            </a:r>
            <a:r>
              <a:rPr lang="en-US" sz="2800" dirty="0">
                <a:solidFill>
                  <a:srgbClr val="202124"/>
                </a:solidFill>
                <a:latin typeface="Georgia" panose="02040502050405020303" pitchFamily="18" charset="0"/>
              </a:rPr>
              <a:t> is defined as a </a:t>
            </a:r>
            <a:r>
              <a:rPr lang="en-US" sz="2800" b="1" dirty="0">
                <a:solidFill>
                  <a:srgbClr val="202124"/>
                </a:solidFill>
                <a:latin typeface="Georgia" panose="02040502050405020303" pitchFamily="18" charset="0"/>
              </a:rPr>
              <a:t>new</a:t>
            </a:r>
            <a:r>
              <a:rPr lang="en-US" sz="2800" dirty="0">
                <a:solidFill>
                  <a:srgbClr val="202124"/>
                </a:solidFill>
                <a:latin typeface="Georgia" panose="02040502050405020303" pitchFamily="18" charset="0"/>
              </a:rPr>
              <a:t> or developing IT innovation that still has relatively few users, yet promises to provide future, significant value.</a:t>
            </a:r>
            <a:endParaRPr lang="en-US" sz="2800" dirty="0">
              <a:latin typeface="Georgia" panose="02040502050405020303" pitchFamily="18" charset="0"/>
            </a:endParaRPr>
          </a:p>
        </p:txBody>
      </p:sp>
      <p:sp>
        <p:nvSpPr>
          <p:cNvPr id="3" name="Rectangle 2"/>
          <p:cNvSpPr/>
          <p:nvPr/>
        </p:nvSpPr>
        <p:spPr>
          <a:xfrm>
            <a:off x="838200" y="4191000"/>
            <a:ext cx="6705600" cy="1815882"/>
          </a:xfrm>
          <a:prstGeom prst="rect">
            <a:avLst/>
          </a:prstGeom>
        </p:spPr>
        <p:txBody>
          <a:bodyPr wrap="square">
            <a:spAutoFit/>
          </a:bodyPr>
          <a:lstStyle/>
          <a:p>
            <a:pPr algn="ctr"/>
            <a:r>
              <a:rPr lang="en-US" sz="2800" i="1" dirty="0">
                <a:latin typeface="Georgia" panose="02040502050405020303" pitchFamily="18" charset="0"/>
              </a:rPr>
              <a:t>Technology</a:t>
            </a:r>
            <a:r>
              <a:rPr lang="en-US" sz="2800" dirty="0">
                <a:latin typeface="Georgia" panose="02040502050405020303" pitchFamily="18" charset="0"/>
              </a:rPr>
              <a:t> </a:t>
            </a:r>
            <a:r>
              <a:rPr lang="en-US" sz="2800" dirty="0" err="1">
                <a:latin typeface="Georgia" panose="02040502050405020303" pitchFamily="18" charset="0"/>
              </a:rPr>
              <a:t>terus</a:t>
            </a:r>
            <a:r>
              <a:rPr lang="en-US" sz="2800" dirty="0">
                <a:latin typeface="Georgia" panose="02040502050405020303" pitchFamily="18" charset="0"/>
              </a:rPr>
              <a:t> </a:t>
            </a:r>
            <a:r>
              <a:rPr lang="en-US" sz="2800" dirty="0" err="1">
                <a:latin typeface="Georgia" panose="02040502050405020303" pitchFamily="18" charset="0"/>
              </a:rPr>
              <a:t>diperbarui</a:t>
            </a:r>
            <a:r>
              <a:rPr lang="en-US" sz="2800" dirty="0">
                <a:latin typeface="Georgia" panose="02040502050405020303" pitchFamily="18" charset="0"/>
              </a:rPr>
              <a:t> (</a:t>
            </a:r>
            <a:r>
              <a:rPr lang="en-US" sz="2800" i="1" dirty="0">
                <a:latin typeface="Georgia" panose="02040502050405020303" pitchFamily="18" charset="0"/>
              </a:rPr>
              <a:t>constantly updating</a:t>
            </a:r>
            <a:r>
              <a:rPr lang="en-US" sz="2800" dirty="0">
                <a:latin typeface="Georgia" panose="02040502050405020303" pitchFamily="18" charset="0"/>
              </a:rPr>
              <a:t>) </a:t>
            </a:r>
            <a:r>
              <a:rPr lang="en-US" sz="2800" dirty="0" err="1">
                <a:latin typeface="Georgia" panose="02040502050405020303" pitchFamily="18" charset="0"/>
              </a:rPr>
              <a:t>dengan</a:t>
            </a:r>
            <a:r>
              <a:rPr lang="en-US" sz="2800" dirty="0">
                <a:latin typeface="Georgia" panose="02040502050405020303" pitchFamily="18" charset="0"/>
              </a:rPr>
              <a:t> </a:t>
            </a:r>
            <a:r>
              <a:rPr lang="en-US" sz="2800" dirty="0" err="1">
                <a:latin typeface="Georgia" panose="02040502050405020303" pitchFamily="18" charset="0"/>
              </a:rPr>
              <a:t>kecepatan</a:t>
            </a:r>
            <a:r>
              <a:rPr lang="en-US" sz="2800" dirty="0">
                <a:latin typeface="Georgia" panose="02040502050405020303" pitchFamily="18" charset="0"/>
              </a:rPr>
              <a:t> yang </a:t>
            </a:r>
            <a:r>
              <a:rPr lang="en-US" sz="2800" dirty="0" err="1">
                <a:latin typeface="Georgia" panose="02040502050405020303" pitchFamily="18" charset="0"/>
              </a:rPr>
              <a:t>begitu</a:t>
            </a:r>
            <a:r>
              <a:rPr lang="en-US" sz="2800" dirty="0">
                <a:latin typeface="Georgia" panose="02040502050405020303" pitchFamily="18" charset="0"/>
              </a:rPr>
              <a:t> </a:t>
            </a:r>
            <a:r>
              <a:rPr lang="en-US" sz="2800" dirty="0" err="1">
                <a:latin typeface="Georgia" panose="02040502050405020303" pitchFamily="18" charset="0"/>
              </a:rPr>
              <a:t>cepat</a:t>
            </a:r>
            <a:r>
              <a:rPr lang="en-US" sz="2800" dirty="0">
                <a:latin typeface="Georgia" panose="02040502050405020303" pitchFamily="18" charset="0"/>
              </a:rPr>
              <a:t> </a:t>
            </a:r>
            <a:r>
              <a:rPr lang="en-US" sz="2800" dirty="0" err="1">
                <a:latin typeface="Georgia" panose="02040502050405020303" pitchFamily="18" charset="0"/>
              </a:rPr>
              <a:t>sehingga</a:t>
            </a:r>
            <a:r>
              <a:rPr lang="en-US" sz="2800" dirty="0">
                <a:latin typeface="Georgia" panose="02040502050405020303" pitchFamily="18" charset="0"/>
              </a:rPr>
              <a:t> </a:t>
            </a:r>
            <a:r>
              <a:rPr lang="en-US" sz="2800" dirty="0" err="1">
                <a:latin typeface="Georgia" panose="02040502050405020303" pitchFamily="18" charset="0"/>
              </a:rPr>
              <a:t>tampaknya</a:t>
            </a:r>
            <a:r>
              <a:rPr lang="en-US" sz="2800" dirty="0">
                <a:latin typeface="Georgia" panose="02040502050405020303" pitchFamily="18" charset="0"/>
              </a:rPr>
              <a:t> </a:t>
            </a:r>
            <a:r>
              <a:rPr lang="en-US" sz="2800" dirty="0" err="1">
                <a:latin typeface="Georgia" panose="02040502050405020303" pitchFamily="18" charset="0"/>
              </a:rPr>
              <a:t>lebih</a:t>
            </a:r>
            <a:r>
              <a:rPr lang="en-US" sz="2800" dirty="0">
                <a:latin typeface="Georgia" panose="02040502050405020303" pitchFamily="18" charset="0"/>
              </a:rPr>
              <a:t> </a:t>
            </a:r>
            <a:r>
              <a:rPr lang="en-US" sz="2800" dirty="0" err="1">
                <a:latin typeface="Georgia" panose="02040502050405020303" pitchFamily="18" charset="0"/>
              </a:rPr>
              <a:t>cepat</a:t>
            </a:r>
            <a:r>
              <a:rPr lang="en-US" sz="2800" dirty="0">
                <a:latin typeface="Georgia" panose="02040502050405020303" pitchFamily="18" charset="0"/>
              </a:rPr>
              <a:t> </a:t>
            </a:r>
            <a:r>
              <a:rPr lang="en-US" sz="2800" dirty="0" err="1">
                <a:latin typeface="Georgia" panose="02040502050405020303" pitchFamily="18" charset="0"/>
              </a:rPr>
              <a:t>dari</a:t>
            </a:r>
            <a:r>
              <a:rPr lang="en-US" sz="2800" dirty="0">
                <a:latin typeface="Georgia" panose="02040502050405020303" pitchFamily="18" charset="0"/>
              </a:rPr>
              <a:t> </a:t>
            </a:r>
            <a:r>
              <a:rPr lang="en-US" sz="2800" dirty="0" err="1">
                <a:latin typeface="Georgia" panose="02040502050405020303" pitchFamily="18" charset="0"/>
              </a:rPr>
              <a:t>cahaya</a:t>
            </a:r>
            <a:r>
              <a:rPr lang="en-US" sz="2800" dirty="0">
                <a:latin typeface="Georgia" panose="02040502050405020303" pitchFamily="18" charset="0"/>
              </a:rPr>
              <a:t> (</a:t>
            </a:r>
            <a:r>
              <a:rPr lang="en-US" sz="2800" i="1" dirty="0">
                <a:latin typeface="Georgia" panose="02040502050405020303" pitchFamily="18" charset="0"/>
              </a:rPr>
              <a:t>faster than light</a:t>
            </a:r>
            <a:r>
              <a:rPr lang="en-US" sz="2800" dirty="0">
                <a:latin typeface="Georgia" panose="02040502050405020303" pitchFamily="18" charset="0"/>
              </a:rPr>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0"/>
            <a:ext cx="8229600" cy="1069848"/>
          </a:xfrm>
        </p:spPr>
        <p:style>
          <a:lnRef idx="1">
            <a:schemeClr val="accent1"/>
          </a:lnRef>
          <a:fillRef idx="2">
            <a:schemeClr val="accent1"/>
          </a:fillRef>
          <a:effectRef idx="1">
            <a:schemeClr val="accent1"/>
          </a:effectRef>
          <a:fontRef idx="minor">
            <a:schemeClr val="dk1"/>
          </a:fontRef>
        </p:style>
        <p:txBody>
          <a:bodyPr/>
          <a:lstStyle/>
          <a:p>
            <a:pPr algn="ctr"/>
            <a:r>
              <a:rPr lang="en-US" sz="3600" b="1" dirty="0"/>
              <a:t>Latest Technology Trends of </a:t>
            </a:r>
            <a:r>
              <a:rPr lang="en-US" sz="3600" b="1" dirty="0" smtClean="0"/>
              <a:t>2021</a:t>
            </a:r>
            <a:endParaRPr lang="en-US" sz="3600" dirty="0"/>
          </a:p>
        </p:txBody>
      </p:sp>
      <p:sp>
        <p:nvSpPr>
          <p:cNvPr id="3" name="Rectangle 2"/>
          <p:cNvSpPr/>
          <p:nvPr/>
        </p:nvSpPr>
        <p:spPr>
          <a:xfrm>
            <a:off x="381000" y="3776990"/>
            <a:ext cx="8305800" cy="600164"/>
          </a:xfrm>
          <a:prstGeom prst="rect">
            <a:avLst/>
          </a:prstGeom>
        </p:spPr>
        <p:txBody>
          <a:bodyPr wrap="square">
            <a:spAutoFit/>
          </a:bodyPr>
          <a:lstStyle/>
          <a:p>
            <a:r>
              <a:rPr lang="en-US" sz="1100" b="1" i="1" dirty="0" smtClean="0"/>
              <a:t>Link</a:t>
            </a:r>
            <a:r>
              <a:rPr lang="en-US" sz="1100" dirty="0" smtClean="0"/>
              <a:t>: </a:t>
            </a:r>
            <a:r>
              <a:rPr lang="en-US" sz="1100" dirty="0" smtClean="0">
                <a:hlinkClick r:id="rId2"/>
              </a:rPr>
              <a:t>https</a:t>
            </a:r>
            <a:r>
              <a:rPr lang="en-US" sz="1100" dirty="0">
                <a:hlinkClick r:id="rId2"/>
              </a:rPr>
              <a:t>://www.upgrad.com/blog/trending-technologies-in-2020</a:t>
            </a:r>
            <a:r>
              <a:rPr lang="en-US" sz="1100" dirty="0" smtClean="0">
                <a:hlinkClick r:id="rId2"/>
              </a:rPr>
              <a:t>/</a:t>
            </a:r>
            <a:endParaRPr lang="en-US" sz="1100" dirty="0" smtClean="0"/>
          </a:p>
          <a:p>
            <a:r>
              <a:rPr lang="en-US" sz="1100" dirty="0"/>
              <a:t>          : </a:t>
            </a:r>
            <a:r>
              <a:rPr lang="en-US" sz="1100" dirty="0">
                <a:hlinkClick r:id="rId3"/>
              </a:rPr>
              <a:t>https://</a:t>
            </a:r>
            <a:r>
              <a:rPr lang="en-US" sz="1100" dirty="0" smtClean="0">
                <a:hlinkClick r:id="rId3"/>
              </a:rPr>
              <a:t>www.topuniversities.com/courses/computer-science-information-systems/5-trends-computer-science-research</a:t>
            </a:r>
            <a:endParaRPr lang="en-US" sz="1100" dirty="0" smtClean="0"/>
          </a:p>
          <a:p>
            <a:endParaRPr lang="en-US" sz="1100" dirty="0"/>
          </a:p>
        </p:txBody>
      </p:sp>
    </p:spTree>
    <p:extLst>
      <p:ext uri="{BB962C8B-B14F-4D97-AF65-F5344CB8AC3E}">
        <p14:creationId xmlns:p14="http://schemas.microsoft.com/office/powerpoint/2010/main" val="42623720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kumimoji="0" lang="en-US" sz="4000" b="0" i="0" u="none" strike="noStrike" kern="1200" cap="none" spc="0" normalizeH="0" baseline="0" noProof="0" dirty="0">
                <a:ln>
                  <a:noFill/>
                </a:ln>
                <a:solidFill>
                  <a:prstClr val="black"/>
                </a:solidFill>
                <a:effectLst/>
                <a:uLnTx/>
                <a:uFillTx/>
                <a:latin typeface="Georgia"/>
                <a:ea typeface="+mn-ea"/>
                <a:cs typeface="+mn-cs"/>
              </a:rPr>
              <a:t>1 - </a:t>
            </a:r>
            <a:r>
              <a:rPr lang="en-US" sz="4000" dirty="0">
                <a:solidFill>
                  <a:prstClr val="black"/>
                </a:solidFill>
              </a:rPr>
              <a:t>Artificial Intelligence</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9776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9144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dirty="0">
                <a:solidFill>
                  <a:srgbClr val="1F497D"/>
                </a:solidFill>
                <a:latin typeface="Georgia"/>
              </a:rPr>
              <a:t>Artificial Intelligence</a:t>
            </a:r>
            <a:endParaRPr kumimoji="0" lang="en-US" sz="4000" b="0" i="0" u="none" strike="noStrike" kern="1200" cap="none" spc="0" normalizeH="0" baseline="0" noProof="0" dirty="0">
              <a:ln>
                <a:noFill/>
              </a:ln>
              <a:solidFill>
                <a:srgbClr val="1F497D"/>
              </a:solidFill>
              <a:effectLst/>
              <a:uLnTx/>
              <a:uFillTx/>
              <a:latin typeface="Georgia"/>
              <a:ea typeface="+mn-ea"/>
              <a:cs typeface="+mn-cs"/>
            </a:endParaRPr>
          </a:p>
        </p:txBody>
      </p:sp>
      <p:sp>
        <p:nvSpPr>
          <p:cNvPr id="2" name="Rectangle 1"/>
          <p:cNvSpPr/>
          <p:nvPr/>
        </p:nvSpPr>
        <p:spPr>
          <a:xfrm>
            <a:off x="304800" y="2362200"/>
            <a:ext cx="8382000" cy="2677656"/>
          </a:xfrm>
          <a:prstGeom prst="rect">
            <a:avLst/>
          </a:prstGeom>
        </p:spPr>
        <p:txBody>
          <a:bodyPr wrap="square">
            <a:spAutoFit/>
          </a:bodyPr>
          <a:lstStyle/>
          <a:p>
            <a:pPr algn="ctr"/>
            <a:r>
              <a:rPr lang="en-US" sz="2400" dirty="0">
                <a:latin typeface="Georgia" panose="02040502050405020303" pitchFamily="18" charset="0"/>
              </a:rPr>
              <a:t>Artificial intelligence (AI) is the technology used for equipping computer systems with the ability to make decisions like humans. Being one of the trending technologies, when AI programs are fed to systems, the aim is to </a:t>
            </a:r>
            <a:r>
              <a:rPr lang="en-US" sz="2400" b="1" i="1" dirty="0">
                <a:solidFill>
                  <a:srgbClr val="FF0000"/>
                </a:solidFill>
                <a:latin typeface="Georgia" panose="02040502050405020303" pitchFamily="18" charset="0"/>
              </a:rPr>
              <a:t>mimic human intelligence </a:t>
            </a:r>
            <a:r>
              <a:rPr lang="en-US" sz="2400" dirty="0">
                <a:latin typeface="Georgia" panose="02040502050405020303" pitchFamily="18" charset="0"/>
              </a:rPr>
              <a:t>for performing complex tasks such as pattern recognition, speech recognition, weather forecast and medical diagnosis.</a:t>
            </a:r>
          </a:p>
        </p:txBody>
      </p:sp>
    </p:spTree>
    <p:extLst>
      <p:ext uri="{BB962C8B-B14F-4D97-AF65-F5344CB8AC3E}">
        <p14:creationId xmlns:p14="http://schemas.microsoft.com/office/powerpoint/2010/main" val="2352876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9144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dirty="0">
                <a:solidFill>
                  <a:srgbClr val="1F497D"/>
                </a:solidFill>
                <a:latin typeface="Georgia"/>
              </a:rPr>
              <a:t>Artificial Intelligence</a:t>
            </a:r>
            <a:endParaRPr kumimoji="0" lang="en-US" sz="4000" b="0" i="0" u="none" strike="noStrike" kern="1200" cap="none" spc="0" normalizeH="0" baseline="0" noProof="0" dirty="0">
              <a:ln>
                <a:noFill/>
              </a:ln>
              <a:solidFill>
                <a:srgbClr val="1F497D"/>
              </a:solidFill>
              <a:effectLst/>
              <a:uLnTx/>
              <a:uFillTx/>
              <a:latin typeface="Georgia"/>
              <a:ea typeface="+mn-ea"/>
              <a:cs typeface="+mn-cs"/>
            </a:endParaRPr>
          </a:p>
        </p:txBody>
      </p:sp>
      <p:sp>
        <p:nvSpPr>
          <p:cNvPr id="2" name="Rectangle 1"/>
          <p:cNvSpPr/>
          <p:nvPr/>
        </p:nvSpPr>
        <p:spPr>
          <a:xfrm>
            <a:off x="304800" y="2362200"/>
            <a:ext cx="8382000" cy="1938992"/>
          </a:xfrm>
          <a:prstGeom prst="rect">
            <a:avLst/>
          </a:prstGeom>
        </p:spPr>
        <p:txBody>
          <a:bodyPr wrap="square">
            <a:spAutoFit/>
          </a:bodyPr>
          <a:lstStyle/>
          <a:p>
            <a:pPr algn="ctr"/>
            <a:r>
              <a:rPr lang="en-US" sz="2400" dirty="0">
                <a:latin typeface="Georgia" panose="02040502050405020303" pitchFamily="18" charset="0"/>
              </a:rPr>
              <a:t>By 2030, AI automation is expected to create more than 70 million jobs. The sad fact is that AI might wipe out more than 23 million jobs by the same time frame. AI will create jobs in areas such as testing, support, maintenance, programming and data science.</a:t>
            </a:r>
          </a:p>
        </p:txBody>
      </p:sp>
    </p:spTree>
    <p:extLst>
      <p:ext uri="{BB962C8B-B14F-4D97-AF65-F5344CB8AC3E}">
        <p14:creationId xmlns:p14="http://schemas.microsoft.com/office/powerpoint/2010/main" val="13898128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Learning </a:t>
            </a:r>
            <a:r>
              <a:rPr lang="en-US" sz="3200" dirty="0">
                <a:solidFill>
                  <a:srgbClr val="1F497D"/>
                </a:solidFill>
                <a:latin typeface="Georgia"/>
              </a:rPr>
              <a:t>AI will help you secure jobs</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1143000" y="2209800"/>
            <a:ext cx="7391400" cy="2862322"/>
          </a:xfrm>
          <a:prstGeom prst="rect">
            <a:avLst/>
          </a:prstGeom>
        </p:spPr>
        <p:txBody>
          <a:bodyPr wrap="square">
            <a:spAutoFit/>
          </a:bodyPr>
          <a:lstStyle/>
          <a:p>
            <a:pPr marL="285750" indent="-285750">
              <a:buFont typeface="Wingdings" panose="05000000000000000000" pitchFamily="2" charset="2"/>
              <a:buChar char="q"/>
            </a:pPr>
            <a:r>
              <a:rPr lang="en-US" sz="3600" dirty="0">
                <a:latin typeface="Georgia" panose="02040502050405020303" pitchFamily="18" charset="0"/>
              </a:rPr>
              <a:t>Machine Learning Engineer</a:t>
            </a:r>
          </a:p>
          <a:p>
            <a:pPr marL="285750" indent="-285750">
              <a:buFont typeface="Wingdings" panose="05000000000000000000" pitchFamily="2" charset="2"/>
              <a:buChar char="q"/>
            </a:pPr>
            <a:r>
              <a:rPr lang="en-US" sz="3600" dirty="0">
                <a:latin typeface="Georgia" panose="02040502050405020303" pitchFamily="18" charset="0"/>
              </a:rPr>
              <a:t>Data Scientist</a:t>
            </a:r>
          </a:p>
          <a:p>
            <a:pPr marL="285750" indent="-285750">
              <a:buFont typeface="Wingdings" panose="05000000000000000000" pitchFamily="2" charset="2"/>
              <a:buChar char="q"/>
            </a:pPr>
            <a:r>
              <a:rPr lang="en-US" sz="3600" dirty="0">
                <a:latin typeface="Georgia" panose="02040502050405020303" pitchFamily="18" charset="0"/>
              </a:rPr>
              <a:t>Computer Vision Engineer</a:t>
            </a:r>
          </a:p>
          <a:p>
            <a:pPr marL="285750" indent="-285750">
              <a:buFont typeface="Wingdings" panose="05000000000000000000" pitchFamily="2" charset="2"/>
              <a:buChar char="q"/>
            </a:pPr>
            <a:r>
              <a:rPr lang="en-US" sz="3600" dirty="0">
                <a:latin typeface="Georgia" panose="02040502050405020303" pitchFamily="18" charset="0"/>
              </a:rPr>
              <a:t>Business Intelligence Developer</a:t>
            </a:r>
          </a:p>
          <a:p>
            <a:pPr marL="285750" indent="-285750">
              <a:buFont typeface="Wingdings" panose="05000000000000000000" pitchFamily="2" charset="2"/>
              <a:buChar char="q"/>
            </a:pPr>
            <a:r>
              <a:rPr lang="en-US" sz="3600" dirty="0">
                <a:latin typeface="Georgia" panose="02040502050405020303" pitchFamily="18" charset="0"/>
              </a:rPr>
              <a:t>Data Analyst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2 </a:t>
            </a:r>
            <a:r>
              <a:rPr kumimoji="0" lang="en-US" sz="4000" b="0" i="0" u="none" strike="noStrike" kern="1200" cap="none" spc="0" normalizeH="0" baseline="0" noProof="0" dirty="0">
                <a:ln>
                  <a:noFill/>
                </a:ln>
                <a:solidFill>
                  <a:prstClr val="black"/>
                </a:solidFill>
                <a:effectLst/>
                <a:uLnTx/>
                <a:uFillTx/>
                <a:latin typeface="Georgia"/>
                <a:ea typeface="+mn-ea"/>
                <a:cs typeface="+mn-cs"/>
              </a:rPr>
              <a:t>- </a:t>
            </a:r>
            <a:r>
              <a:rPr lang="en-US" sz="4000" dirty="0">
                <a:solidFill>
                  <a:prstClr val="black"/>
                </a:solidFill>
              </a:rPr>
              <a:t>Data Science</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9250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Data Science </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1447800" y="2286000"/>
            <a:ext cx="6438900" cy="2677656"/>
          </a:xfrm>
          <a:prstGeom prst="rect">
            <a:avLst/>
          </a:prstGeom>
        </p:spPr>
        <p:txBody>
          <a:bodyPr wrap="square">
            <a:spAutoFit/>
          </a:bodyPr>
          <a:lstStyle/>
          <a:p>
            <a:pPr algn="ctr"/>
            <a:r>
              <a:rPr lang="en-US" sz="2400" dirty="0">
                <a:solidFill>
                  <a:srgbClr val="000000"/>
                </a:solidFill>
                <a:latin typeface="Georgia" panose="02040502050405020303" pitchFamily="18" charset="0"/>
              </a:rPr>
              <a:t>Data Science is the technology that helps to make sense of complicated data. </a:t>
            </a:r>
            <a:r>
              <a:rPr lang="en-US" sz="2400" dirty="0" smtClean="0">
                <a:solidFill>
                  <a:srgbClr val="000000"/>
                </a:solidFill>
                <a:latin typeface="Georgia" panose="02040502050405020303" pitchFamily="18" charset="0"/>
              </a:rPr>
              <a:t>As we known </a:t>
            </a:r>
            <a:r>
              <a:rPr lang="en-US" sz="2400" dirty="0">
                <a:solidFill>
                  <a:srgbClr val="000000"/>
                </a:solidFill>
                <a:latin typeface="Georgia" panose="02040502050405020303" pitchFamily="18" charset="0"/>
              </a:rPr>
              <a:t>that data is produced in a humungous amount every day by companies. This includes </a:t>
            </a:r>
            <a:r>
              <a:rPr lang="en-US" sz="2400" i="1" dirty="0">
                <a:solidFill>
                  <a:srgbClr val="000000"/>
                </a:solidFill>
                <a:latin typeface="Georgia" panose="02040502050405020303" pitchFamily="18" charset="0"/>
              </a:rPr>
              <a:t>business data</a:t>
            </a:r>
            <a:r>
              <a:rPr lang="en-US" sz="2400" dirty="0">
                <a:solidFill>
                  <a:srgbClr val="000000"/>
                </a:solidFill>
                <a:latin typeface="Georgia" panose="02040502050405020303" pitchFamily="18" charset="0"/>
              </a:rPr>
              <a:t>, </a:t>
            </a:r>
            <a:r>
              <a:rPr lang="en-US" sz="2400" i="1" dirty="0">
                <a:solidFill>
                  <a:srgbClr val="000000"/>
                </a:solidFill>
                <a:latin typeface="Georgia" panose="02040502050405020303" pitchFamily="18" charset="0"/>
              </a:rPr>
              <a:t>sales data</a:t>
            </a:r>
            <a:r>
              <a:rPr lang="en-US" sz="2400" dirty="0">
                <a:solidFill>
                  <a:srgbClr val="000000"/>
                </a:solidFill>
                <a:latin typeface="Georgia" panose="02040502050405020303" pitchFamily="18" charset="0"/>
              </a:rPr>
              <a:t>, </a:t>
            </a:r>
            <a:r>
              <a:rPr lang="en-US" sz="2400" i="1" dirty="0">
                <a:solidFill>
                  <a:srgbClr val="000000"/>
                </a:solidFill>
                <a:latin typeface="Georgia" panose="02040502050405020303" pitchFamily="18" charset="0"/>
              </a:rPr>
              <a:t>customer profile information</a:t>
            </a:r>
            <a:r>
              <a:rPr lang="en-US" sz="2400" dirty="0">
                <a:solidFill>
                  <a:srgbClr val="000000"/>
                </a:solidFill>
                <a:latin typeface="Georgia" panose="02040502050405020303" pitchFamily="18" charset="0"/>
              </a:rPr>
              <a:t>, </a:t>
            </a:r>
            <a:r>
              <a:rPr lang="en-US" sz="2400" i="1" dirty="0">
                <a:solidFill>
                  <a:srgbClr val="000000"/>
                </a:solidFill>
                <a:latin typeface="Georgia" panose="02040502050405020303" pitchFamily="18" charset="0"/>
              </a:rPr>
              <a:t>server data</a:t>
            </a:r>
            <a:r>
              <a:rPr lang="en-US" sz="2400" dirty="0">
                <a:solidFill>
                  <a:srgbClr val="000000"/>
                </a:solidFill>
                <a:latin typeface="Georgia" panose="02040502050405020303" pitchFamily="18" charset="0"/>
              </a:rPr>
              <a:t>, and </a:t>
            </a:r>
            <a:r>
              <a:rPr lang="en-US" sz="2400" i="1" dirty="0">
                <a:solidFill>
                  <a:srgbClr val="000000"/>
                </a:solidFill>
                <a:latin typeface="Georgia" panose="02040502050405020303" pitchFamily="18" charset="0"/>
              </a:rPr>
              <a:t>financial figures</a:t>
            </a:r>
            <a:r>
              <a:rPr lang="en-US" sz="2400" dirty="0">
                <a:solidFill>
                  <a:srgbClr val="000000"/>
                </a:solidFill>
                <a:latin typeface="Georgia" panose="02040502050405020303" pitchFamily="18" charset="0"/>
              </a:rPr>
              <a:t>. </a:t>
            </a:r>
            <a:endParaRPr lang="en-US" sz="2400" dirty="0">
              <a:latin typeface="Georgia" panose="02040502050405020303" pitchFamily="18" charset="0"/>
            </a:endParaRPr>
          </a:p>
        </p:txBody>
      </p:sp>
    </p:spTree>
    <p:extLst>
      <p:ext uri="{BB962C8B-B14F-4D97-AF65-F5344CB8AC3E}">
        <p14:creationId xmlns:p14="http://schemas.microsoft.com/office/powerpoint/2010/main" val="42634338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Data Science </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1026" name="Picture 2" descr="Karakateristik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7696200" cy="4617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5613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Data Science </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304800" y="1295400"/>
            <a:ext cx="8229600" cy="4524315"/>
          </a:xfrm>
          <a:prstGeom prst="rect">
            <a:avLst/>
          </a:prstGeom>
        </p:spPr>
        <p:txBody>
          <a:bodyPr wrap="square">
            <a:spAutoFit/>
          </a:bodyPr>
          <a:lstStyle/>
          <a:p>
            <a:pPr marL="342900" indent="-342900">
              <a:buFont typeface="Wingdings" panose="05000000000000000000" pitchFamily="2" charset="2"/>
              <a:buChar char="q"/>
            </a:pPr>
            <a:r>
              <a:rPr lang="en-US" sz="2400" dirty="0">
                <a:latin typeface="Georgia" panose="02040502050405020303" pitchFamily="18" charset="0"/>
              </a:rPr>
              <a:t>Most of </a:t>
            </a:r>
            <a:r>
              <a:rPr lang="en-US" sz="2400" i="1" dirty="0">
                <a:latin typeface="Georgia" panose="02040502050405020303" pitchFamily="18" charset="0"/>
              </a:rPr>
              <a:t>this data </a:t>
            </a:r>
            <a:r>
              <a:rPr lang="en-US" sz="2400" dirty="0" smtClean="0">
                <a:latin typeface="Georgia" panose="02040502050405020303" pitchFamily="18" charset="0"/>
              </a:rPr>
              <a:t>(</a:t>
            </a:r>
            <a:r>
              <a:rPr lang="en-US" sz="2400" i="1" dirty="0" smtClean="0">
                <a:latin typeface="Georgia" panose="02040502050405020303" pitchFamily="18" charset="0"/>
              </a:rPr>
              <a:t>big data</a:t>
            </a:r>
            <a:r>
              <a:rPr lang="en-US" sz="2400" dirty="0" smtClean="0">
                <a:latin typeface="Georgia" panose="02040502050405020303" pitchFamily="18" charset="0"/>
              </a:rPr>
              <a:t>) is </a:t>
            </a:r>
            <a:r>
              <a:rPr lang="en-US" sz="2400" dirty="0">
                <a:latin typeface="Georgia" panose="02040502050405020303" pitchFamily="18" charset="0"/>
              </a:rPr>
              <a:t>in the form of huge data sets that are </a:t>
            </a:r>
            <a:r>
              <a:rPr lang="en-US" sz="2400" b="1" i="1" dirty="0">
                <a:latin typeface="Georgia" panose="02040502050405020303" pitchFamily="18" charset="0"/>
              </a:rPr>
              <a:t>unstructured</a:t>
            </a:r>
            <a:r>
              <a:rPr lang="en-US" sz="2400" dirty="0">
                <a:latin typeface="Georgia" panose="02040502050405020303" pitchFamily="18" charset="0"/>
              </a:rPr>
              <a:t>. </a:t>
            </a:r>
            <a:endParaRPr lang="en-US" sz="2400" dirty="0" smtClean="0">
              <a:latin typeface="Georgia" panose="02040502050405020303" pitchFamily="18" charset="0"/>
            </a:endParaRPr>
          </a:p>
          <a:p>
            <a:pPr marL="342900" indent="-342900">
              <a:buFont typeface="Wingdings" panose="05000000000000000000" pitchFamily="2" charset="2"/>
              <a:buChar char="q"/>
            </a:pPr>
            <a:endParaRPr lang="en-US" sz="2400" dirty="0">
              <a:latin typeface="Georgia" panose="02040502050405020303" pitchFamily="18" charset="0"/>
            </a:endParaRPr>
          </a:p>
          <a:p>
            <a:pPr marL="342900" indent="-342900">
              <a:buFont typeface="Wingdings" panose="05000000000000000000" pitchFamily="2" charset="2"/>
              <a:buChar char="q"/>
            </a:pPr>
            <a:r>
              <a:rPr lang="en-US" sz="2400" dirty="0" smtClean="0">
                <a:latin typeface="Georgia" panose="02040502050405020303" pitchFamily="18" charset="0"/>
              </a:rPr>
              <a:t>The </a:t>
            </a:r>
            <a:r>
              <a:rPr lang="en-US" sz="2400" dirty="0">
                <a:latin typeface="Georgia" panose="02040502050405020303" pitchFamily="18" charset="0"/>
              </a:rPr>
              <a:t>role of data scientists is to </a:t>
            </a:r>
            <a:r>
              <a:rPr lang="en-US" sz="2400" b="1" i="1" dirty="0">
                <a:latin typeface="Georgia" panose="02040502050405020303" pitchFamily="18" charset="0"/>
              </a:rPr>
              <a:t>convert these unstructured data</a:t>
            </a:r>
            <a:r>
              <a:rPr lang="en-US" sz="2400" dirty="0">
                <a:latin typeface="Georgia" panose="02040502050405020303" pitchFamily="18" charset="0"/>
              </a:rPr>
              <a:t> sets into structured datasets. </a:t>
            </a:r>
            <a:endParaRPr lang="en-US" sz="2400" dirty="0" smtClean="0">
              <a:latin typeface="Georgia" panose="02040502050405020303" pitchFamily="18" charset="0"/>
            </a:endParaRPr>
          </a:p>
          <a:p>
            <a:pPr marL="342900" indent="-342900">
              <a:buFont typeface="Wingdings" panose="05000000000000000000" pitchFamily="2" charset="2"/>
              <a:buChar char="q"/>
            </a:pPr>
            <a:endParaRPr lang="en-US" sz="2400" dirty="0">
              <a:latin typeface="Georgia" panose="02040502050405020303" pitchFamily="18" charset="0"/>
            </a:endParaRPr>
          </a:p>
          <a:p>
            <a:pPr marL="342900" indent="-342900">
              <a:buFont typeface="Wingdings" panose="05000000000000000000" pitchFamily="2" charset="2"/>
              <a:buChar char="q"/>
            </a:pPr>
            <a:r>
              <a:rPr lang="en-US" sz="2400" dirty="0" smtClean="0">
                <a:latin typeface="Georgia" panose="02040502050405020303" pitchFamily="18" charset="0"/>
              </a:rPr>
              <a:t>Then</a:t>
            </a:r>
            <a:r>
              <a:rPr lang="en-US" sz="2400" dirty="0">
                <a:latin typeface="Georgia" panose="02040502050405020303" pitchFamily="18" charset="0"/>
              </a:rPr>
              <a:t>, these data sets can be </a:t>
            </a:r>
            <a:r>
              <a:rPr lang="en-US" sz="2400" b="1" i="1" dirty="0">
                <a:latin typeface="Georgia" panose="02040502050405020303" pitchFamily="18" charset="0"/>
              </a:rPr>
              <a:t>analyzed to identify patterns and trends</a:t>
            </a:r>
            <a:r>
              <a:rPr lang="en-US" sz="2400" dirty="0">
                <a:latin typeface="Georgia" panose="02040502050405020303" pitchFamily="18" charset="0"/>
              </a:rPr>
              <a:t>. </a:t>
            </a:r>
            <a:endParaRPr lang="en-US" sz="2400" dirty="0" smtClean="0">
              <a:latin typeface="Georgia" panose="02040502050405020303" pitchFamily="18" charset="0"/>
            </a:endParaRPr>
          </a:p>
          <a:p>
            <a:pPr marL="342900" indent="-342900">
              <a:buFont typeface="Wingdings" panose="05000000000000000000" pitchFamily="2" charset="2"/>
              <a:buChar char="q"/>
            </a:pPr>
            <a:endParaRPr lang="en-US" sz="2400" dirty="0">
              <a:latin typeface="Georgia" panose="02040502050405020303" pitchFamily="18" charset="0"/>
            </a:endParaRPr>
          </a:p>
          <a:p>
            <a:pPr marL="342900" indent="-342900">
              <a:buFont typeface="Wingdings" panose="05000000000000000000" pitchFamily="2" charset="2"/>
              <a:buChar char="q"/>
            </a:pPr>
            <a:r>
              <a:rPr lang="en-US" sz="2400" dirty="0" smtClean="0">
                <a:latin typeface="Georgia" panose="02040502050405020303" pitchFamily="18" charset="0"/>
              </a:rPr>
              <a:t>These </a:t>
            </a:r>
            <a:r>
              <a:rPr lang="en-US" sz="2400" dirty="0">
                <a:latin typeface="Georgia" panose="02040502050405020303" pitchFamily="18" charset="0"/>
              </a:rPr>
              <a:t>patterns are useful for </a:t>
            </a:r>
            <a:r>
              <a:rPr lang="en-US" sz="2400" b="1" i="1" dirty="0">
                <a:latin typeface="Georgia" panose="02040502050405020303" pitchFamily="18" charset="0"/>
              </a:rPr>
              <a:t>understanding the company’s business performance</a:t>
            </a:r>
            <a:r>
              <a:rPr lang="en-US" sz="2400" dirty="0">
                <a:latin typeface="Georgia" panose="02040502050405020303" pitchFamily="18" charset="0"/>
              </a:rPr>
              <a:t>, customer retention, and </a:t>
            </a:r>
            <a:r>
              <a:rPr lang="en-US" sz="2400" b="1" i="1" dirty="0">
                <a:solidFill>
                  <a:srgbClr val="FF0000"/>
                </a:solidFill>
                <a:latin typeface="Georgia" panose="02040502050405020303" pitchFamily="18" charset="0"/>
              </a:rPr>
              <a:t>how these areas can be improved</a:t>
            </a:r>
            <a:r>
              <a:rPr lang="en-US" sz="2400" dirty="0">
                <a:latin typeface="Georgia" panose="02040502050405020303" pitchFamily="18" charset="0"/>
              </a:rPr>
              <a:t>.</a:t>
            </a:r>
          </a:p>
        </p:txBody>
      </p:sp>
    </p:spTree>
    <p:extLst>
      <p:ext uri="{BB962C8B-B14F-4D97-AF65-F5344CB8AC3E}">
        <p14:creationId xmlns:p14="http://schemas.microsoft.com/office/powerpoint/2010/main" val="11820239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lang="en-US" sz="4000" dirty="0">
                <a:solidFill>
                  <a:prstClr val="black"/>
                </a:solidFill>
                <a:latin typeface="Georgia"/>
              </a:rPr>
              <a:t>3</a:t>
            </a: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 </a:t>
            </a:r>
            <a:r>
              <a:rPr kumimoji="0" lang="en-US" sz="4000" b="0" i="0" u="none" strike="noStrike" kern="1200" cap="none" spc="0" normalizeH="0" baseline="0" noProof="0" dirty="0">
                <a:ln>
                  <a:noFill/>
                </a:ln>
                <a:solidFill>
                  <a:prstClr val="black"/>
                </a:solidFill>
                <a:effectLst/>
                <a:uLnTx/>
                <a:uFillTx/>
                <a:latin typeface="Georgia"/>
                <a:ea typeface="+mn-ea"/>
                <a:cs typeface="+mn-cs"/>
              </a:rPr>
              <a:t>- </a:t>
            </a:r>
            <a:r>
              <a:rPr lang="en-US" sz="4000" dirty="0">
                <a:solidFill>
                  <a:prstClr val="black"/>
                </a:solidFill>
              </a:rPr>
              <a:t>Internet of Things</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78863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Internet of Things</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876300" y="2133600"/>
            <a:ext cx="7391400" cy="2677656"/>
          </a:xfrm>
          <a:prstGeom prst="rect">
            <a:avLst/>
          </a:prstGeom>
        </p:spPr>
        <p:txBody>
          <a:bodyPr wrap="square">
            <a:spAutoFit/>
          </a:bodyPr>
          <a:lstStyle/>
          <a:p>
            <a:pPr algn="ctr"/>
            <a:r>
              <a:rPr lang="en-US" sz="2400" dirty="0">
                <a:latin typeface="Georgia" panose="02040502050405020303" pitchFamily="18" charset="0"/>
              </a:rPr>
              <a:t>The </a:t>
            </a:r>
            <a:r>
              <a:rPr lang="en-US" sz="2400" dirty="0" err="1">
                <a:latin typeface="Georgia" panose="02040502050405020303" pitchFamily="18" charset="0"/>
              </a:rPr>
              <a:t>IoT</a:t>
            </a:r>
            <a:r>
              <a:rPr lang="en-US" sz="2400" dirty="0">
                <a:latin typeface="Georgia" panose="02040502050405020303" pitchFamily="18" charset="0"/>
              </a:rPr>
              <a:t> (Internet of Things) is a network of devices that are connected to each other. Their devices </a:t>
            </a:r>
            <a:r>
              <a:rPr lang="en-US" sz="2400" dirty="0" smtClean="0">
                <a:latin typeface="Georgia" panose="02040502050405020303" pitchFamily="18" charset="0"/>
              </a:rPr>
              <a:t>can interact </a:t>
            </a:r>
            <a:r>
              <a:rPr lang="en-US" sz="2400" dirty="0">
                <a:latin typeface="Georgia" panose="02040502050405020303" pitchFamily="18" charset="0"/>
              </a:rPr>
              <a:t>and </a:t>
            </a:r>
            <a:r>
              <a:rPr lang="en-US" sz="2400" b="1" i="1" dirty="0">
                <a:latin typeface="Georgia" panose="02040502050405020303" pitchFamily="18" charset="0"/>
              </a:rPr>
              <a:t>share data </a:t>
            </a:r>
            <a:r>
              <a:rPr lang="en-US" sz="2400" dirty="0">
                <a:latin typeface="Georgia" panose="02040502050405020303" pitchFamily="18" charset="0"/>
              </a:rPr>
              <a:t>with each other. These devices may be connected via </a:t>
            </a:r>
            <a:r>
              <a:rPr lang="en-US" sz="2400" dirty="0" err="1">
                <a:latin typeface="Georgia" panose="02040502050405020303" pitchFamily="18" charset="0"/>
              </a:rPr>
              <a:t>WiFi</a:t>
            </a:r>
            <a:r>
              <a:rPr lang="en-US" sz="2400" dirty="0">
                <a:latin typeface="Georgia" panose="02040502050405020303" pitchFamily="18" charset="0"/>
              </a:rPr>
              <a:t>, and they share data about their environments and how they are being used. These devices have a </a:t>
            </a:r>
            <a:r>
              <a:rPr lang="en-US" sz="2400" b="1" i="1" dirty="0">
                <a:latin typeface="Georgia" panose="02040502050405020303" pitchFamily="18" charset="0"/>
              </a:rPr>
              <a:t>computer chip </a:t>
            </a:r>
            <a:r>
              <a:rPr lang="en-US" sz="2400" dirty="0">
                <a:latin typeface="Georgia" panose="02040502050405020303" pitchFamily="18" charset="0"/>
              </a:rPr>
              <a:t>that facilitates this exchange.</a:t>
            </a:r>
          </a:p>
        </p:txBody>
      </p:sp>
    </p:spTree>
    <p:extLst>
      <p:ext uri="{BB962C8B-B14F-4D97-AF65-F5344CB8AC3E}">
        <p14:creationId xmlns:p14="http://schemas.microsoft.com/office/powerpoint/2010/main" val="6900743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Internet of Things (</a:t>
            </a:r>
            <a:r>
              <a:rPr lang="en-US" sz="3200" dirty="0" err="1">
                <a:solidFill>
                  <a:srgbClr val="1F497D"/>
                </a:solidFill>
                <a:latin typeface="Georgia"/>
              </a:rPr>
              <a:t>IoT</a:t>
            </a:r>
            <a:r>
              <a:rPr lang="en-US" sz="3200" dirty="0">
                <a:solidFill>
                  <a:srgbClr val="1F497D"/>
                </a:solidFill>
                <a:latin typeface="Georgia"/>
              </a:rPr>
              <a:t>)</a:t>
            </a:r>
            <a:endParaRPr kumimoji="0" lang="en-US" sz="3200" b="0" i="0" u="none" strike="noStrike" kern="1200" cap="none" spc="0" normalizeH="0" baseline="0" noProof="0" dirty="0">
              <a:ln>
                <a:noFill/>
              </a:ln>
              <a:solidFill>
                <a:srgbClr val="1F497D"/>
              </a:solidFill>
              <a:effectLst/>
              <a:uLnTx/>
              <a:uFillTx/>
              <a:latin typeface="Georgia"/>
            </a:endParaRPr>
          </a:p>
        </p:txBody>
      </p:sp>
      <p:pic>
        <p:nvPicPr>
          <p:cNvPr id="2050" name="Picture 2" descr="https://www.upgrad.com/blog/wp-content/uploads/2020/08/shutterstock_56731046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61" y="990599"/>
            <a:ext cx="9125639" cy="4648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66170" y="5638732"/>
            <a:ext cx="8749229" cy="830997"/>
          </a:xfrm>
          <a:prstGeom prst="rect">
            <a:avLst/>
          </a:prstGeom>
        </p:spPr>
        <p:txBody>
          <a:bodyPr wrap="square">
            <a:spAutoFit/>
          </a:bodyPr>
          <a:lstStyle/>
          <a:p>
            <a:pPr algn="ctr"/>
            <a:r>
              <a:rPr lang="en-US" sz="2400" dirty="0" err="1">
                <a:solidFill>
                  <a:srgbClr val="000000"/>
                </a:solidFill>
                <a:latin typeface="Georgia" panose="02040502050405020303" pitchFamily="18" charset="0"/>
              </a:rPr>
              <a:t>IoT</a:t>
            </a:r>
            <a:r>
              <a:rPr lang="en-US" sz="2400" dirty="0">
                <a:solidFill>
                  <a:srgbClr val="000000"/>
                </a:solidFill>
                <a:latin typeface="Georgia" panose="02040502050405020303" pitchFamily="18" charset="0"/>
              </a:rPr>
              <a:t> not only enables the connection between different devices but also their remote access. </a:t>
            </a:r>
            <a:endParaRPr lang="en-US" sz="2400" dirty="0">
              <a:latin typeface="Georgia" panose="02040502050405020303" pitchFamily="18" charset="0"/>
            </a:endParaRPr>
          </a:p>
        </p:txBody>
      </p:sp>
    </p:spTree>
    <p:extLst>
      <p:ext uri="{BB962C8B-B14F-4D97-AF65-F5344CB8AC3E}">
        <p14:creationId xmlns:p14="http://schemas.microsoft.com/office/powerpoint/2010/main" val="832176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lang="en-US" sz="4000" dirty="0">
                <a:solidFill>
                  <a:prstClr val="black"/>
                </a:solidFill>
                <a:latin typeface="Georgia"/>
              </a:rPr>
              <a:t>4</a:t>
            </a: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 </a:t>
            </a:r>
            <a:r>
              <a:rPr kumimoji="0" lang="en-US" sz="4000" b="0" i="0" u="none" strike="noStrike" kern="1200" cap="none" spc="0" normalizeH="0" baseline="0" noProof="0" dirty="0">
                <a:ln>
                  <a:noFill/>
                </a:ln>
                <a:solidFill>
                  <a:prstClr val="black"/>
                </a:solidFill>
                <a:effectLst/>
                <a:uLnTx/>
                <a:uFillTx/>
                <a:latin typeface="Georgia"/>
                <a:ea typeface="+mn-ea"/>
                <a:cs typeface="+mn-cs"/>
              </a:rPr>
              <a:t>- </a:t>
            </a:r>
            <a:r>
              <a:rPr lang="en-US" sz="4000" dirty="0">
                <a:solidFill>
                  <a:prstClr val="black"/>
                </a:solidFill>
              </a:rPr>
              <a:t>Robotic Process Automation (RPA)</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2400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Robotic</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1257300" y="1600200"/>
            <a:ext cx="6629400" cy="4524315"/>
          </a:xfrm>
          <a:prstGeom prst="rect">
            <a:avLst/>
          </a:prstGeom>
        </p:spPr>
        <p:txBody>
          <a:bodyPr wrap="square">
            <a:spAutoFit/>
          </a:bodyPr>
          <a:lstStyle/>
          <a:p>
            <a:pPr algn="ctr"/>
            <a:r>
              <a:rPr lang="en-US" sz="2400" dirty="0">
                <a:latin typeface="Georgia" panose="02040502050405020303" pitchFamily="18" charset="0"/>
              </a:rPr>
              <a:t>Robotic Process Automation (RPA) is a technology used for </a:t>
            </a:r>
            <a:r>
              <a:rPr lang="en-US" sz="2400" b="1" i="1" dirty="0">
                <a:latin typeface="Georgia" panose="02040502050405020303" pitchFamily="18" charset="0"/>
              </a:rPr>
              <a:t>automating daily tasks</a:t>
            </a:r>
            <a:r>
              <a:rPr lang="en-US" sz="2400" dirty="0">
                <a:latin typeface="Georgia" panose="02040502050405020303" pitchFamily="18" charset="0"/>
              </a:rPr>
              <a:t>, similar to artificial intelligence. Here, the software is used for automating repetitive tasks such as handling and replying to emails, processing transactions, and handling business data.</a:t>
            </a:r>
          </a:p>
          <a:p>
            <a:pPr algn="ctr"/>
            <a:endParaRPr lang="en-US" sz="2400" dirty="0">
              <a:latin typeface="Georgia" panose="02040502050405020303" pitchFamily="18" charset="0"/>
            </a:endParaRPr>
          </a:p>
          <a:p>
            <a:pPr algn="ctr"/>
            <a:r>
              <a:rPr lang="en-US" sz="2400" dirty="0">
                <a:latin typeface="Georgia" panose="02040502050405020303" pitchFamily="18" charset="0"/>
              </a:rPr>
              <a:t>This technology is used for automating tasks for low-level employees to higher-ranking officials. RPA can automate more than 40% of daily tasks.</a:t>
            </a:r>
          </a:p>
        </p:txBody>
      </p:sp>
    </p:spTree>
    <p:extLst>
      <p:ext uri="{BB962C8B-B14F-4D97-AF65-F5344CB8AC3E}">
        <p14:creationId xmlns:p14="http://schemas.microsoft.com/office/powerpoint/2010/main" val="4540032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5 </a:t>
            </a:r>
            <a:r>
              <a:rPr kumimoji="0" lang="en-US" sz="4000" b="0" i="0" u="none" strike="noStrike" kern="1200" cap="none" spc="0" normalizeH="0" baseline="0" noProof="0" dirty="0">
                <a:ln>
                  <a:noFill/>
                </a:ln>
                <a:solidFill>
                  <a:prstClr val="black"/>
                </a:solidFill>
                <a:effectLst/>
                <a:uLnTx/>
                <a:uFillTx/>
                <a:latin typeface="Georgia"/>
                <a:ea typeface="+mn-ea"/>
                <a:cs typeface="+mn-cs"/>
              </a:rPr>
              <a:t>- </a:t>
            </a:r>
            <a:r>
              <a:rPr lang="en-US" sz="4000" dirty="0">
                <a:solidFill>
                  <a:prstClr val="black"/>
                </a:solidFill>
              </a:rPr>
              <a:t>Intelligent apps</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3843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Intelligent </a:t>
            </a:r>
            <a:r>
              <a:rPr lang="en-US" sz="3200" dirty="0" smtClean="0">
                <a:solidFill>
                  <a:srgbClr val="1F497D"/>
                </a:solidFill>
                <a:latin typeface="Georgia"/>
              </a:rPr>
              <a:t>Apps</a:t>
            </a:r>
            <a:endParaRPr lang="en-US" sz="3200" dirty="0">
              <a:solidFill>
                <a:srgbClr val="1F497D"/>
              </a:solidFill>
              <a:latin typeface="Georgia"/>
            </a:endParaRPr>
          </a:p>
        </p:txBody>
      </p:sp>
      <p:sp>
        <p:nvSpPr>
          <p:cNvPr id="2" name="Rectangle 1"/>
          <p:cNvSpPr/>
          <p:nvPr/>
        </p:nvSpPr>
        <p:spPr>
          <a:xfrm>
            <a:off x="1295400" y="1371600"/>
            <a:ext cx="6553200" cy="4893647"/>
          </a:xfrm>
          <a:prstGeom prst="rect">
            <a:avLst/>
          </a:prstGeom>
        </p:spPr>
        <p:txBody>
          <a:bodyPr wrap="square">
            <a:spAutoFit/>
          </a:bodyPr>
          <a:lstStyle/>
          <a:p>
            <a:pPr algn="ctr"/>
            <a:r>
              <a:rPr lang="en-US" sz="2400" dirty="0">
                <a:latin typeface="Georgia" panose="02040502050405020303" pitchFamily="18" charset="0"/>
              </a:rPr>
              <a:t>Intelligent apps are software applications that make use of AI components such as </a:t>
            </a:r>
            <a:r>
              <a:rPr lang="en-US" sz="2400" i="1" dirty="0">
                <a:solidFill>
                  <a:srgbClr val="FF0000"/>
                </a:solidFill>
                <a:latin typeface="Georgia" panose="02040502050405020303" pitchFamily="18" charset="0"/>
              </a:rPr>
              <a:t>machine learning</a:t>
            </a:r>
            <a:r>
              <a:rPr lang="en-US" sz="2400" dirty="0">
                <a:latin typeface="Georgia" panose="02040502050405020303" pitchFamily="18" charset="0"/>
              </a:rPr>
              <a:t>, </a:t>
            </a:r>
            <a:r>
              <a:rPr lang="en-US" sz="2400" b="1" i="1" dirty="0">
                <a:latin typeface="Georgia" panose="02040502050405020303" pitchFamily="18" charset="0"/>
              </a:rPr>
              <a:t>deep learning</a:t>
            </a:r>
            <a:r>
              <a:rPr lang="en-US" sz="2400" dirty="0">
                <a:latin typeface="Georgia" panose="02040502050405020303" pitchFamily="18" charset="0"/>
              </a:rPr>
              <a:t>, </a:t>
            </a:r>
            <a:r>
              <a:rPr lang="en-US" sz="2400" i="1" dirty="0">
                <a:solidFill>
                  <a:srgbClr val="FF0000"/>
                </a:solidFill>
                <a:latin typeface="Georgia" panose="02040502050405020303" pitchFamily="18" charset="0"/>
              </a:rPr>
              <a:t>data analytics</a:t>
            </a:r>
            <a:r>
              <a:rPr lang="en-US" sz="2400" dirty="0">
                <a:latin typeface="Georgia" panose="02040502050405020303" pitchFamily="18" charset="0"/>
              </a:rPr>
              <a:t>, </a:t>
            </a:r>
            <a:r>
              <a:rPr lang="en-US" sz="2400" i="1" dirty="0">
                <a:solidFill>
                  <a:srgbClr val="FF0000"/>
                </a:solidFill>
                <a:latin typeface="Georgia" panose="02040502050405020303" pitchFamily="18" charset="0"/>
              </a:rPr>
              <a:t>robotics</a:t>
            </a:r>
            <a:r>
              <a:rPr lang="en-US" sz="2400" dirty="0">
                <a:latin typeface="Georgia" panose="02040502050405020303" pitchFamily="18" charset="0"/>
              </a:rPr>
              <a:t>, and </a:t>
            </a:r>
            <a:r>
              <a:rPr lang="en-US" sz="2400" i="1" dirty="0">
                <a:solidFill>
                  <a:srgbClr val="FF0000"/>
                </a:solidFill>
                <a:latin typeface="Georgia" panose="02040502050405020303" pitchFamily="18" charset="0"/>
              </a:rPr>
              <a:t>natural language processing</a:t>
            </a:r>
            <a:r>
              <a:rPr lang="en-US" sz="2400" dirty="0">
                <a:latin typeface="Georgia" panose="02040502050405020303" pitchFamily="18" charset="0"/>
              </a:rPr>
              <a:t>. They help you in making decisions based on real-time data or historical data.</a:t>
            </a:r>
          </a:p>
          <a:p>
            <a:pPr algn="ctr"/>
            <a:endParaRPr lang="en-US" sz="2400" dirty="0">
              <a:latin typeface="Georgia" panose="02040502050405020303" pitchFamily="18" charset="0"/>
            </a:endParaRPr>
          </a:p>
          <a:p>
            <a:pPr algn="ctr"/>
            <a:r>
              <a:rPr lang="en-US" sz="2400" dirty="0">
                <a:latin typeface="Georgia" panose="02040502050405020303" pitchFamily="18" charset="0"/>
              </a:rPr>
              <a:t>Examples of </a:t>
            </a:r>
            <a:r>
              <a:rPr lang="en-US" sz="2400" b="1" i="1" dirty="0">
                <a:latin typeface="Georgia" panose="02040502050405020303" pitchFamily="18" charset="0"/>
              </a:rPr>
              <a:t>Intelligent apps are voice assistants such</a:t>
            </a:r>
            <a:r>
              <a:rPr lang="en-US" sz="2400" dirty="0">
                <a:latin typeface="Georgia" panose="02040502050405020303" pitchFamily="18" charset="0"/>
              </a:rPr>
              <a:t> as </a:t>
            </a:r>
            <a:r>
              <a:rPr lang="en-US" sz="2400" b="1" dirty="0">
                <a:solidFill>
                  <a:srgbClr val="FF0000"/>
                </a:solidFill>
                <a:latin typeface="Georgia" panose="02040502050405020303" pitchFamily="18" charset="0"/>
              </a:rPr>
              <a:t>Siri, Google Assistant, and Alexa</a:t>
            </a:r>
            <a:r>
              <a:rPr lang="en-US" sz="2400" dirty="0">
                <a:latin typeface="Georgia" panose="02040502050405020303" pitchFamily="18" charset="0"/>
              </a:rPr>
              <a:t>. As companies such as Google, Apple, and Oracle continue investing in these applications, it is bound to create a lot of jobs in the future.</a:t>
            </a:r>
          </a:p>
        </p:txBody>
      </p:sp>
    </p:spTree>
    <p:extLst>
      <p:ext uri="{BB962C8B-B14F-4D97-AF65-F5344CB8AC3E}">
        <p14:creationId xmlns:p14="http://schemas.microsoft.com/office/powerpoint/2010/main" val="18524775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6 </a:t>
            </a:r>
            <a:r>
              <a:rPr kumimoji="0" lang="en-US" sz="4000" b="0" i="0" u="none" strike="noStrike" kern="1200" cap="none" spc="0" normalizeH="0" baseline="0" noProof="0" dirty="0">
                <a:ln>
                  <a:noFill/>
                </a:ln>
                <a:solidFill>
                  <a:prstClr val="black"/>
                </a:solidFill>
                <a:effectLst/>
                <a:uLnTx/>
                <a:uFillTx/>
                <a:latin typeface="Georgia"/>
                <a:ea typeface="+mn-ea"/>
                <a:cs typeface="+mn-cs"/>
              </a:rPr>
              <a:t>- </a:t>
            </a:r>
            <a:r>
              <a:rPr lang="en-US" sz="4000" dirty="0">
                <a:solidFill>
                  <a:prstClr val="black"/>
                </a:solidFill>
              </a:rPr>
              <a:t>Cyber security</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0447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Cyber security</a:t>
            </a:r>
          </a:p>
        </p:txBody>
      </p:sp>
      <p:sp>
        <p:nvSpPr>
          <p:cNvPr id="3" name="Rectangle 2"/>
          <p:cNvSpPr/>
          <p:nvPr/>
        </p:nvSpPr>
        <p:spPr>
          <a:xfrm>
            <a:off x="1600200" y="1524000"/>
            <a:ext cx="5943600" cy="4154984"/>
          </a:xfrm>
          <a:prstGeom prst="rect">
            <a:avLst/>
          </a:prstGeom>
        </p:spPr>
        <p:txBody>
          <a:bodyPr wrap="square">
            <a:spAutoFit/>
          </a:bodyPr>
          <a:lstStyle/>
          <a:p>
            <a:pPr algn="ctr"/>
            <a:r>
              <a:rPr lang="en-US" sz="2400" dirty="0">
                <a:latin typeface="Georgia" panose="02040502050405020303" pitchFamily="18" charset="0"/>
              </a:rPr>
              <a:t>According to the US Bureau of Labor Statistics, cyber security jobs are predicted to grow by 28 percent between 2016 and 2026 – much faster than average for all occupations, and raising concerns about the shortfall in qualified graduates. </a:t>
            </a:r>
            <a:endParaRPr lang="en-US" sz="2400" dirty="0" smtClean="0">
              <a:latin typeface="Georgia" panose="02040502050405020303" pitchFamily="18" charset="0"/>
            </a:endParaRPr>
          </a:p>
          <a:p>
            <a:pPr algn="ctr"/>
            <a:endParaRPr lang="en-US" sz="2400" dirty="0">
              <a:latin typeface="Georgia" panose="02040502050405020303" pitchFamily="18" charset="0"/>
            </a:endParaRPr>
          </a:p>
          <a:p>
            <a:pPr algn="ctr"/>
            <a:r>
              <a:rPr lang="en-US" sz="2400" dirty="0" smtClean="0">
                <a:latin typeface="Georgia" panose="02040502050405020303" pitchFamily="18" charset="0"/>
              </a:rPr>
              <a:t>In </a:t>
            </a:r>
            <a:r>
              <a:rPr lang="en-US" sz="2400" dirty="0">
                <a:latin typeface="Georgia" panose="02040502050405020303" pitchFamily="18" charset="0"/>
              </a:rPr>
              <a:t>February 2015, Barack Obama spoke of the need to “collaborate and explore partnerships that will help develop the best ways to bolster our cyber security.”</a:t>
            </a:r>
          </a:p>
        </p:txBody>
      </p:sp>
    </p:spTree>
    <p:extLst>
      <p:ext uri="{BB962C8B-B14F-4D97-AF65-F5344CB8AC3E}">
        <p14:creationId xmlns:p14="http://schemas.microsoft.com/office/powerpoint/2010/main" val="22447392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lang="en-US" sz="4000" noProof="0" dirty="0">
                <a:solidFill>
                  <a:prstClr val="black"/>
                </a:solidFill>
                <a:latin typeface="Georgia"/>
              </a:rPr>
              <a:t>7</a:t>
            </a: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 </a:t>
            </a:r>
            <a:r>
              <a:rPr kumimoji="0" lang="en-US" sz="4000" b="0" i="0" u="none" strike="noStrike" kern="1200" cap="none" spc="0" normalizeH="0" baseline="0" noProof="0" dirty="0">
                <a:ln>
                  <a:noFill/>
                </a:ln>
                <a:solidFill>
                  <a:prstClr val="black"/>
                </a:solidFill>
                <a:effectLst/>
                <a:uLnTx/>
                <a:uFillTx/>
                <a:latin typeface="Georgia"/>
                <a:ea typeface="+mn-ea"/>
                <a:cs typeface="+mn-cs"/>
              </a:rPr>
              <a:t>- </a:t>
            </a:r>
            <a:r>
              <a:rPr lang="en-US" sz="4000" dirty="0">
                <a:solidFill>
                  <a:prstClr val="black"/>
                </a:solidFill>
              </a:rPr>
              <a:t>Bioinformatics</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5520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Bioinformatics</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1028700" y="1524000"/>
            <a:ext cx="7086600" cy="4524315"/>
          </a:xfrm>
          <a:prstGeom prst="rect">
            <a:avLst/>
          </a:prstGeom>
        </p:spPr>
        <p:txBody>
          <a:bodyPr wrap="square">
            <a:spAutoFit/>
          </a:bodyPr>
          <a:lstStyle/>
          <a:p>
            <a:pPr algn="ctr"/>
            <a:r>
              <a:rPr lang="en-US" sz="2400" dirty="0">
                <a:latin typeface="Georgia" panose="02040502050405020303" pitchFamily="18" charset="0"/>
              </a:rPr>
              <a:t>A fascinating application of big data, bioinformatics, or the use of programming and software development to build enormous datasets of </a:t>
            </a:r>
            <a:r>
              <a:rPr lang="en-US" sz="2400" b="1" i="1" dirty="0">
                <a:latin typeface="Georgia" panose="02040502050405020303" pitchFamily="18" charset="0"/>
              </a:rPr>
              <a:t>biological information for research purposes</a:t>
            </a:r>
            <a:r>
              <a:rPr lang="en-US" sz="2400" dirty="0">
                <a:latin typeface="Georgia" panose="02040502050405020303" pitchFamily="18" charset="0"/>
              </a:rPr>
              <a:t>, carries enormous potential. </a:t>
            </a:r>
            <a:endParaRPr lang="en-US" sz="2400" dirty="0" smtClean="0">
              <a:latin typeface="Georgia" panose="02040502050405020303" pitchFamily="18" charset="0"/>
            </a:endParaRPr>
          </a:p>
          <a:p>
            <a:pPr algn="ctr"/>
            <a:endParaRPr lang="en-US" sz="2400" dirty="0">
              <a:latin typeface="Georgia" panose="02040502050405020303" pitchFamily="18" charset="0"/>
            </a:endParaRPr>
          </a:p>
          <a:p>
            <a:pPr algn="ctr"/>
            <a:r>
              <a:rPr lang="en-US" sz="2400" dirty="0" smtClean="0">
                <a:latin typeface="Georgia" panose="02040502050405020303" pitchFamily="18" charset="0"/>
              </a:rPr>
              <a:t>Linking </a:t>
            </a:r>
            <a:r>
              <a:rPr lang="en-US" sz="2400" dirty="0">
                <a:latin typeface="Georgia" panose="02040502050405020303" pitchFamily="18" charset="0"/>
              </a:rPr>
              <a:t>big pharma companies with software companies, bioinformatics is growing in demand and offers good job prospects for computer science researchers and graduates interested in biology, medical technology, pharmaceuticals and computer information science. </a:t>
            </a:r>
          </a:p>
        </p:txBody>
      </p:sp>
    </p:spTree>
    <p:extLst>
      <p:ext uri="{BB962C8B-B14F-4D97-AF65-F5344CB8AC3E}">
        <p14:creationId xmlns:p14="http://schemas.microsoft.com/office/powerpoint/2010/main" val="2334091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0"/>
            <a:ext cx="9144000" cy="707886"/>
          </a:xfrm>
          <a:prstGeom prst="rect">
            <a:avLst/>
          </a:prstGeom>
        </p:spPr>
        <p:txBody>
          <a:bodyPr wrap="square">
            <a:spAutoFit/>
          </a:bodyPr>
          <a:lstStyle/>
          <a:p>
            <a:pPr lvl="0" algn="ctr">
              <a:defRPr/>
            </a:pPr>
            <a:r>
              <a:rPr lang="en-US" sz="4000" dirty="0">
                <a:solidFill>
                  <a:prstClr val="black"/>
                </a:solidFill>
                <a:latin typeface="Georgia"/>
              </a:rPr>
              <a:t>8</a:t>
            </a: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 – </a:t>
            </a:r>
            <a:r>
              <a:rPr lang="en-US" sz="4000" dirty="0">
                <a:solidFill>
                  <a:prstClr val="black"/>
                </a:solidFill>
              </a:rPr>
              <a:t>More Technologies </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3261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More Technologies</a:t>
            </a:r>
            <a:endParaRPr kumimoji="0" lang="en-US" sz="3200" b="0" i="0" u="none" strike="noStrike" kern="1200" cap="none" spc="0" normalizeH="0" baseline="0" noProof="0" dirty="0">
              <a:ln>
                <a:noFill/>
              </a:ln>
              <a:solidFill>
                <a:srgbClr val="1F497D"/>
              </a:solidFill>
              <a:effectLst/>
              <a:uLnTx/>
              <a:uFillTx/>
              <a:latin typeface="Georgia"/>
            </a:endParaRPr>
          </a:p>
        </p:txBody>
      </p:sp>
      <p:sp>
        <p:nvSpPr>
          <p:cNvPr id="2" name="Rectangle 1"/>
          <p:cNvSpPr/>
          <p:nvPr/>
        </p:nvSpPr>
        <p:spPr>
          <a:xfrm>
            <a:off x="138629" y="914400"/>
            <a:ext cx="8534400" cy="3970318"/>
          </a:xfrm>
          <a:prstGeom prst="rect">
            <a:avLst/>
          </a:prstGeom>
        </p:spPr>
        <p:txBody>
          <a:bodyPr wrap="square">
            <a:spAutoFit/>
          </a:bodyPr>
          <a:lstStyle/>
          <a:p>
            <a:pPr marL="517525" indent="-517525">
              <a:buFont typeface="+mj-lt"/>
              <a:buAutoNum type="arabicParenR"/>
            </a:pPr>
            <a:r>
              <a:rPr lang="en-US" sz="2800" dirty="0" err="1">
                <a:latin typeface="Georgia" panose="02040502050405020303" pitchFamily="18" charset="0"/>
              </a:rPr>
              <a:t>OpenCV</a:t>
            </a:r>
            <a:r>
              <a:rPr lang="en-US" sz="2800" dirty="0">
                <a:latin typeface="Georgia" panose="02040502050405020303" pitchFamily="18" charset="0"/>
              </a:rPr>
              <a:t> </a:t>
            </a:r>
          </a:p>
          <a:p>
            <a:pPr marL="517525" indent="-517525">
              <a:buFont typeface="+mj-lt"/>
              <a:buAutoNum type="arabicParenR"/>
            </a:pPr>
            <a:r>
              <a:rPr lang="en-US" sz="2800" dirty="0">
                <a:latin typeface="Georgia" panose="02040502050405020303" pitchFamily="18" charset="0"/>
              </a:rPr>
              <a:t>Face Recognition</a:t>
            </a:r>
          </a:p>
          <a:p>
            <a:pPr marL="517525" indent="-517525">
              <a:buFont typeface="+mj-lt"/>
              <a:buAutoNum type="arabicParenR"/>
            </a:pPr>
            <a:r>
              <a:rPr lang="en-US" sz="2800" dirty="0">
                <a:latin typeface="Georgia" panose="02040502050405020303" pitchFamily="18" charset="0"/>
              </a:rPr>
              <a:t>Multiple Face Recognition</a:t>
            </a:r>
          </a:p>
          <a:p>
            <a:pPr marL="517525" indent="-517525">
              <a:buFont typeface="+mj-lt"/>
              <a:buAutoNum type="arabicParenR"/>
            </a:pPr>
            <a:r>
              <a:rPr lang="en-US" sz="2800" dirty="0">
                <a:latin typeface="Georgia" panose="02040502050405020303" pitchFamily="18" charset="0"/>
              </a:rPr>
              <a:t>Detect Objects in Real-Time</a:t>
            </a:r>
          </a:p>
          <a:p>
            <a:pPr marL="517525" indent="-517525">
              <a:buFont typeface="+mj-lt"/>
              <a:buAutoNum type="arabicParenR"/>
            </a:pPr>
            <a:r>
              <a:rPr lang="en-US" sz="2800" b="1" dirty="0" smtClean="0">
                <a:latin typeface="Georgia" panose="02040502050405020303" pitchFamily="18" charset="0"/>
              </a:rPr>
              <a:t>COVID-19</a:t>
            </a:r>
            <a:r>
              <a:rPr lang="en-US" sz="2800" dirty="0" smtClean="0">
                <a:latin typeface="Georgia" panose="02040502050405020303" pitchFamily="18" charset="0"/>
              </a:rPr>
              <a:t>: </a:t>
            </a:r>
            <a:r>
              <a:rPr lang="en-US" sz="2800" dirty="0">
                <a:latin typeface="Georgia" panose="02040502050405020303" pitchFamily="18" charset="0"/>
              </a:rPr>
              <a:t>Face Mask Detector</a:t>
            </a:r>
          </a:p>
          <a:p>
            <a:pPr marL="517525" indent="-517525">
              <a:buFont typeface="+mj-lt"/>
              <a:buAutoNum type="arabicParenR"/>
            </a:pPr>
            <a:r>
              <a:rPr lang="en-US" sz="2800" dirty="0">
                <a:latin typeface="Georgia" panose="02040502050405020303" pitchFamily="18" charset="0"/>
              </a:rPr>
              <a:t>Age Detection</a:t>
            </a:r>
          </a:p>
          <a:p>
            <a:pPr marL="517525" indent="-517525">
              <a:buFont typeface="+mj-lt"/>
              <a:buAutoNum type="arabicParenR"/>
            </a:pPr>
            <a:r>
              <a:rPr lang="en-US" sz="2800" dirty="0">
                <a:latin typeface="Georgia" panose="02040502050405020303" pitchFamily="18" charset="0"/>
              </a:rPr>
              <a:t>Eye blink detection</a:t>
            </a:r>
          </a:p>
          <a:p>
            <a:pPr marL="517525" indent="-517525">
              <a:buFont typeface="+mj-lt"/>
              <a:buAutoNum type="arabicParenR"/>
            </a:pPr>
            <a:r>
              <a:rPr lang="en-US" sz="2800" dirty="0">
                <a:latin typeface="Georgia" panose="02040502050405020303" pitchFamily="18" charset="0"/>
              </a:rPr>
              <a:t>Developing a facial recognition security system</a:t>
            </a:r>
          </a:p>
          <a:p>
            <a:pPr marL="517525" indent="-517525">
              <a:buFont typeface="+mj-lt"/>
              <a:buAutoNum type="arabicParenR"/>
            </a:pPr>
            <a:r>
              <a:rPr lang="en-US" sz="2800" dirty="0">
                <a:latin typeface="Georgia" panose="02040502050405020303" pitchFamily="18" charset="0"/>
              </a:rPr>
              <a:t>Detect eyes, nose, lips, and jaw</a:t>
            </a:r>
          </a:p>
        </p:txBody>
      </p:sp>
    </p:spTree>
    <p:extLst>
      <p:ext uri="{BB962C8B-B14F-4D97-AF65-F5344CB8AC3E}">
        <p14:creationId xmlns:p14="http://schemas.microsoft.com/office/powerpoint/2010/main" val="19251518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2971800"/>
            <a:ext cx="5530215" cy="1035745"/>
          </a:xfrm>
          <a:prstGeom prst="wedgeRoundRectCallout">
            <a:avLst>
              <a:gd name="adj1" fmla="val 51225"/>
              <a:gd name="adj2" fmla="val 132447"/>
              <a:gd name="adj3" fmla="val 16667"/>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vert="horz" wrap="square" lIns="0" tIns="12700" rIns="0" bIns="0" rtlCol="0">
            <a:spAutoFit/>
          </a:bodyPr>
          <a:lstStyle/>
          <a:p>
            <a:pPr marL="12700" algn="ctr">
              <a:lnSpc>
                <a:spcPct val="100000"/>
              </a:lnSpc>
              <a:spcBef>
                <a:spcPts val="100"/>
              </a:spcBef>
            </a:pPr>
            <a:r>
              <a:rPr sz="6000" dirty="0">
                <a:solidFill>
                  <a:srgbClr val="30859C"/>
                </a:solidFill>
              </a:rPr>
              <a:t>THANK</a:t>
            </a:r>
            <a:r>
              <a:rPr sz="6000" spc="-355" dirty="0">
                <a:solidFill>
                  <a:srgbClr val="30859C"/>
                </a:solidFill>
              </a:rPr>
              <a:t> </a:t>
            </a:r>
            <a:r>
              <a:rPr sz="6000" spc="-5" dirty="0" smtClean="0">
                <a:solidFill>
                  <a:srgbClr val="30859C"/>
                </a:solidFill>
              </a:rPr>
              <a:t>YOU</a:t>
            </a:r>
            <a:endParaRPr sz="6000" dirty="0"/>
          </a:p>
        </p:txBody>
      </p:sp>
      <p:pic>
        <p:nvPicPr>
          <p:cNvPr id="3" name="Picture 2" descr="Download Free png Photography Person Clip art - thinking clipart png  download - 645 ... - DLPNG.co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6615" y="4476896"/>
            <a:ext cx="1719273" cy="213243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903914" y="76200"/>
            <a:ext cx="8021974"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5000" b="0" i="0" u="none" strike="noStrike" kern="1200" cap="all" spc="100" normalizeH="0" baseline="0" noProof="0" dirty="0" smtClean="0">
                <a:ln>
                  <a:noFill/>
                </a:ln>
                <a:solidFill>
                  <a:sysClr val="windowText" lastClr="000000">
                    <a:lumMod val="95000"/>
                    <a:lumOff val="5000"/>
                  </a:sysClr>
                </a:solidFill>
                <a:effectLst/>
                <a:uLnTx/>
                <a:uFillTx/>
                <a:latin typeface="Tw Cen MT Condensed" panose="020B0606020104020203"/>
                <a:ea typeface="+mj-ea"/>
                <a:cs typeface="+mj-cs"/>
              </a:rPr>
              <a:t>END PRESENTATION</a:t>
            </a:r>
            <a:endParaRPr kumimoji="0" lang="en-US" sz="5000" b="0" i="0" u="none" strike="noStrike" kern="1200" cap="all" spc="100" normalizeH="0" baseline="0" noProof="0" dirty="0">
              <a:ln>
                <a:noFill/>
              </a:ln>
              <a:solidFill>
                <a:sysClr val="windowText" lastClr="000000">
                  <a:lumMod val="95000"/>
                  <a:lumOff val="5000"/>
                </a:sysClr>
              </a:solidFill>
              <a:effectLst/>
              <a:uLnTx/>
              <a:uFillTx/>
              <a:latin typeface="Tw Cen MT Condensed" panose="020B0606020104020203"/>
              <a:ea typeface="+mj-ea"/>
              <a:cs typeface="+mj-cs"/>
            </a:endParaRPr>
          </a:p>
        </p:txBody>
      </p:sp>
      <p:grpSp>
        <p:nvGrpSpPr>
          <p:cNvPr id="5" name="Group 4"/>
          <p:cNvGrpSpPr/>
          <p:nvPr/>
        </p:nvGrpSpPr>
        <p:grpSpPr>
          <a:xfrm>
            <a:off x="903913" y="1186434"/>
            <a:ext cx="3041667" cy="670501"/>
            <a:chOff x="1024128" y="2917984"/>
            <a:chExt cx="3041667" cy="670501"/>
          </a:xfrm>
        </p:grpSpPr>
        <p:sp>
          <p:nvSpPr>
            <p:cNvPr id="6" name="Rectangle 5"/>
            <p:cNvSpPr/>
            <p:nvPr/>
          </p:nvSpPr>
          <p:spPr>
            <a:xfrm>
              <a:off x="1024128" y="3188375"/>
              <a:ext cx="2252861" cy="400110"/>
            </a:xfrm>
            <a:prstGeom prst="rect">
              <a:avLst/>
            </a:prstGeom>
          </p:spPr>
          <p:txBody>
            <a:bodyPr wrap="none">
              <a:spAutoFit/>
            </a:bodyPr>
            <a:lstStyle/>
            <a:p>
              <a:pPr defTabSz="457200"/>
              <a:r>
                <a:rPr lang="en-US" sz="2000" dirty="0" smtClean="0">
                  <a:solidFill>
                    <a:prstClr val="black"/>
                  </a:solidFill>
                  <a:latin typeface="Tw Cen MT" panose="020B0602020104020603"/>
                </a:rPr>
                <a:t>Instructor: S – W </a:t>
              </a:r>
              <a:r>
                <a:rPr lang="en-US" sz="2000" dirty="0">
                  <a:solidFill>
                    <a:prstClr val="black"/>
                  </a:solidFill>
                  <a:latin typeface="Tw Cen MT" panose="020B0602020104020603"/>
                </a:rPr>
                <a:t>–</a:t>
              </a:r>
              <a:r>
                <a:rPr lang="en-US" sz="2000" dirty="0" smtClean="0">
                  <a:solidFill>
                    <a:prstClr val="black"/>
                  </a:solidFill>
                  <a:latin typeface="Tw Cen MT" panose="020B0602020104020603"/>
                </a:rPr>
                <a:t> T</a:t>
              </a:r>
            </a:p>
          </p:txBody>
        </p:sp>
        <p:sp>
          <p:nvSpPr>
            <p:cNvPr id="7" name="Rectangle 6"/>
            <p:cNvSpPr/>
            <p:nvPr/>
          </p:nvSpPr>
          <p:spPr>
            <a:xfrm>
              <a:off x="1024128" y="2917984"/>
              <a:ext cx="3041667" cy="400110"/>
            </a:xfrm>
            <a:prstGeom prst="rect">
              <a:avLst/>
            </a:prstGeom>
          </p:spPr>
          <p:txBody>
            <a:bodyPr wrap="none">
              <a:spAutoFit/>
            </a:bodyPr>
            <a:lstStyle/>
            <a:p>
              <a:pPr defTabSz="457200"/>
              <a:r>
                <a:rPr lang="en-US" sz="2000" dirty="0">
                  <a:solidFill>
                    <a:srgbClr val="FF0000"/>
                  </a:solidFill>
                  <a:latin typeface="Tw Cen MT" panose="020B0602020104020603"/>
                </a:rPr>
                <a:t>Thank you for your attention</a:t>
              </a:r>
            </a:p>
          </p:txBody>
        </p:sp>
      </p:grpSp>
      <p:sp>
        <p:nvSpPr>
          <p:cNvPr id="8" name="Rectangle 7"/>
          <p:cNvSpPr/>
          <p:nvPr/>
        </p:nvSpPr>
        <p:spPr>
          <a:xfrm>
            <a:off x="470335" y="540135"/>
            <a:ext cx="304599" cy="1316800"/>
          </a:xfrm>
          <a:prstGeom prst="rect">
            <a:avLst/>
          </a:prstGeom>
          <a:solidFill>
            <a:sysClr val="windowText" lastClr="000000"/>
          </a:solidFill>
          <a:ln w="15875" cap="flat" cmpd="sng" algn="ctr">
            <a:solidFill>
              <a:sysClr val="windowText" lastClr="000000">
                <a:shade val="50000"/>
              </a:sys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Tw Cen MT" panose="020B0602020104020603"/>
              <a:ea typeface="+mn-ea"/>
              <a:cs typeface="+mn-cs"/>
            </a:endParaRPr>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rb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960</TotalTime>
  <Words>863</Words>
  <Application>Microsoft Office PowerPoint</Application>
  <PresentationFormat>On-screen Show (4:3)</PresentationFormat>
  <Paragraphs>74</Paragraphs>
  <Slides>26</Slides>
  <Notes>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26</vt:i4>
      </vt:variant>
    </vt:vector>
  </HeadingPairs>
  <TitlesOfParts>
    <vt:vector size="40" baseType="lpstr">
      <vt:lpstr>Carlito</vt:lpstr>
      <vt:lpstr>PMingLiU</vt:lpstr>
      <vt:lpstr>Arial</vt:lpstr>
      <vt:lpstr>Calibri</vt:lpstr>
      <vt:lpstr>Georgia</vt:lpstr>
      <vt:lpstr>Tahoma</vt:lpstr>
      <vt:lpstr>Times New Roman</vt:lpstr>
      <vt:lpstr>Trebuchet MS</vt:lpstr>
      <vt:lpstr>Tw Cen MT</vt:lpstr>
      <vt:lpstr>Tw Cen MT Condensed</vt:lpstr>
      <vt:lpstr>Wingdings</vt:lpstr>
      <vt:lpstr>Wingdings 2</vt:lpstr>
      <vt:lpstr>Office Theme</vt:lpstr>
      <vt:lpstr>Urban</vt:lpstr>
      <vt:lpstr>PowerPoint Presentation</vt:lpstr>
      <vt:lpstr>PowerPoint Presentation</vt:lpstr>
      <vt:lpstr>PowerPoint Presentation</vt:lpstr>
      <vt:lpstr>Latest Technology Trends of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NL</dc:creator>
  <cp:lastModifiedBy>NL</cp:lastModifiedBy>
  <cp:revision>123</cp:revision>
  <dcterms:created xsi:type="dcterms:W3CDTF">2021-03-23T22:28:06Z</dcterms:created>
  <dcterms:modified xsi:type="dcterms:W3CDTF">2021-06-11T08:13:50Z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2018-01-22T00:00:00Z</vt:filetime>
  </property>
  <property fmtid="{D5CDD505-2E9C-101B-9397-08002B2CF9AE}" pid="3" name="Creator">
    <vt:lpwstr>Microsoft® PowerPoint® 2013</vt:lpwstr>
  </property>
  <property fmtid="{D5CDD505-2E9C-101B-9397-08002B2CF9AE}" pid="4" name="LastSaved">
    <vt:filetime>2021-03-23T00:00:00Z</vt:filetime>
  </property>
</Properties>
</file>