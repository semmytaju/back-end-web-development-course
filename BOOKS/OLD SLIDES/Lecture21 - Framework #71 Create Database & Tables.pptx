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26"/>
  </p:notesMasterIdLst>
  <p:sldIdLst>
    <p:sldId id="285" r:id="rId3"/>
    <p:sldId id="286" r:id="rId4"/>
    <p:sldId id="385" r:id="rId5"/>
    <p:sldId id="386" r:id="rId6"/>
    <p:sldId id="387" r:id="rId7"/>
    <p:sldId id="306" r:id="rId8"/>
    <p:sldId id="389" r:id="rId9"/>
    <p:sldId id="302" r:id="rId10"/>
    <p:sldId id="390" r:id="rId11"/>
    <p:sldId id="345" r:id="rId12"/>
    <p:sldId id="380" r:id="rId13"/>
    <p:sldId id="379" r:id="rId14"/>
    <p:sldId id="384" r:id="rId15"/>
    <p:sldId id="395" r:id="rId16"/>
    <p:sldId id="394" r:id="rId17"/>
    <p:sldId id="393" r:id="rId18"/>
    <p:sldId id="388" r:id="rId19"/>
    <p:sldId id="392" r:id="rId20"/>
    <p:sldId id="391" r:id="rId21"/>
    <p:sldId id="400" r:id="rId22"/>
    <p:sldId id="399" r:id="rId23"/>
    <p:sldId id="398" r:id="rId24"/>
    <p:sldId id="284" r:id="rId2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441" autoAdjust="0"/>
  </p:normalViewPr>
  <p:slideViewPr>
    <p:cSldViewPr>
      <p:cViewPr varScale="1">
        <p:scale>
          <a:sx n="87" d="100"/>
          <a:sy n="87" d="100"/>
        </p:scale>
        <p:origin x="1416"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54A8E67-C31F-4B3F-AE22-4E6EEE62189F}" type="datetimeFigureOut">
              <a:rPr lang="en-US" smtClean="0"/>
              <a:t>6/25/2021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86D6AE2-3021-4755-9483-33FED855821B}" type="slidenum">
              <a:rPr lang="en-US" smtClean="0"/>
              <a:t>‹#›</a:t>
            </a:fld>
            <a:endParaRPr lang="en-US"/>
          </a:p>
        </p:txBody>
      </p:sp>
    </p:spTree>
    <p:extLst>
      <p:ext uri="{BB962C8B-B14F-4D97-AF65-F5344CB8AC3E}">
        <p14:creationId xmlns:p14="http://schemas.microsoft.com/office/powerpoint/2010/main" val="543410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2400">
                <a:solidFill>
                  <a:schemeClr val="tx1"/>
                </a:solidFill>
                <a:latin typeface="Tahoma" panose="020B0604030504040204" pitchFamily="34" charset="0"/>
              </a:defRPr>
            </a:lvl1pPr>
            <a:lvl2pPr marL="742950" indent="-285750" defTabSz="931863">
              <a:defRPr sz="2400">
                <a:solidFill>
                  <a:schemeClr val="tx1"/>
                </a:solidFill>
                <a:latin typeface="Tahoma" panose="020B0604030504040204" pitchFamily="34" charset="0"/>
              </a:defRPr>
            </a:lvl2pPr>
            <a:lvl3pPr marL="1143000" indent="-228600" defTabSz="931863">
              <a:defRPr sz="2400">
                <a:solidFill>
                  <a:schemeClr val="tx1"/>
                </a:solidFill>
                <a:latin typeface="Tahoma" panose="020B0604030504040204" pitchFamily="34" charset="0"/>
              </a:defRPr>
            </a:lvl3pPr>
            <a:lvl4pPr marL="1600200" indent="-228600" defTabSz="931863">
              <a:defRPr sz="2400">
                <a:solidFill>
                  <a:schemeClr val="tx1"/>
                </a:solidFill>
                <a:latin typeface="Tahoma" panose="020B0604030504040204" pitchFamily="34" charset="0"/>
              </a:defRPr>
            </a:lvl4pPr>
            <a:lvl5pPr marL="2057400" indent="-228600" defTabSz="931863">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fld id="{05640802-FA98-427B-B9DA-D5CD3C58A5EC}"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31863" rtl="0" eaLnBrk="0" fontAlgn="base" latinLnBrk="0" hangingPunct="0">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11990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5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500" b="0" i="0">
                <a:solidFill>
                  <a:schemeClr val="tx1"/>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6/25/2021</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50"/>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AF5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6/25/2021</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2843" y="1078991"/>
            <a:ext cx="8066537" cy="3257550"/>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6/25/2021</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11" name="Rounded Rectangle 10"/>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12" name="Rounded Rectangle 11"/>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en-US" smtClean="0"/>
              <a:t>Click to edit Master title style</a:t>
            </a:r>
            <a:endParaRPr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7" name="Date Placeholder 27"/>
          <p:cNvSpPr>
            <a:spLocks noGrp="1"/>
          </p:cNvSpPr>
          <p:nvPr>
            <p:ph type="dt" sz="half" idx="10"/>
          </p:nvPr>
        </p:nvSpPr>
        <p:spPr>
          <a:xfrm>
            <a:off x="6705600" y="4206875"/>
            <a:ext cx="960438" cy="457200"/>
          </a:xfrm>
        </p:spPr>
        <p:txBody>
          <a:bodyPr/>
          <a:lstStyle>
            <a:lvl1pPr>
              <a:defRPr/>
            </a:lvl1pPr>
          </a:lstStyle>
          <a:p>
            <a:pPr>
              <a:defRPr/>
            </a:pPr>
            <a:fld id="{A17A5911-318A-42B0-BD23-6D9EB7D0CA04}" type="datetimeFigureOut">
              <a:rPr lang="en-US"/>
              <a:pPr>
                <a:defRPr/>
              </a:pPr>
              <a:t>6/25/2021</a:t>
            </a:fld>
            <a:endParaRPr lang="en-US"/>
          </a:p>
        </p:txBody>
      </p:sp>
      <p:sp>
        <p:nvSpPr>
          <p:cNvPr id="18" name="Footer Placeholder 16"/>
          <p:cNvSpPr>
            <a:spLocks noGrp="1"/>
          </p:cNvSpPr>
          <p:nvPr>
            <p:ph type="ftr" sz="quarter" idx="11"/>
          </p:nvPr>
        </p:nvSpPr>
        <p:spPr>
          <a:xfrm>
            <a:off x="5410200" y="4205288"/>
            <a:ext cx="1295400" cy="457200"/>
          </a:xfrm>
        </p:spPr>
        <p:txBody>
          <a:bodyPr/>
          <a:lstStyle>
            <a:lvl1pPr>
              <a:defRPr/>
            </a:lvl1pPr>
          </a:lstStyle>
          <a:p>
            <a:pPr>
              <a:defRPr/>
            </a:pPr>
            <a:endParaRPr lang="en-US"/>
          </a:p>
        </p:txBody>
      </p:sp>
      <p:sp>
        <p:nvSpPr>
          <p:cNvPr id="19" name="Slide Number Placeholder 28"/>
          <p:cNvSpPr>
            <a:spLocks noGrp="1"/>
          </p:cNvSpPr>
          <p:nvPr>
            <p:ph type="sldNum" sz="quarter" idx="12"/>
          </p:nvPr>
        </p:nvSpPr>
        <p:spPr>
          <a:xfrm>
            <a:off x="8320088" y="1588"/>
            <a:ext cx="747712" cy="365125"/>
          </a:xfrm>
        </p:spPr>
        <p:txBody>
          <a:bodyPr/>
          <a:lstStyle>
            <a:lvl1pPr>
              <a:defRPr>
                <a:solidFill>
                  <a:schemeClr val="bg1"/>
                </a:solidFill>
              </a:defRPr>
            </a:lvl1pPr>
          </a:lstStyle>
          <a:p>
            <a:fld id="{A4458D9D-7997-48C9-9AC8-3F90B58B8F56}" type="slidenum">
              <a:rPr lang="en-US" altLang="en-US"/>
              <a:pPr/>
              <a:t>‹#›</a:t>
            </a:fld>
            <a:endParaRPr lang="en-US" altLang="en-US"/>
          </a:p>
        </p:txBody>
      </p:sp>
    </p:spTree>
    <p:extLst>
      <p:ext uri="{BB962C8B-B14F-4D97-AF65-F5344CB8AC3E}">
        <p14:creationId xmlns:p14="http://schemas.microsoft.com/office/powerpoint/2010/main" val="644431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9F4A82B4-6618-4215-93D9-CEB563386B8B}" type="datetimeFigureOut">
              <a:rPr lang="en-US"/>
              <a:pPr>
                <a:defRPr/>
              </a:pPr>
              <a:t>6/25/2021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187DC8DC-866E-4B93-B469-7F06B822183F}" type="slidenum">
              <a:rPr lang="en-US" altLang="en-US"/>
              <a:pPr/>
              <a:t>‹#›</a:t>
            </a:fld>
            <a:endParaRPr lang="en-US" altLang="en-US"/>
          </a:p>
        </p:txBody>
      </p:sp>
    </p:spTree>
    <p:extLst>
      <p:ext uri="{BB962C8B-B14F-4D97-AF65-F5344CB8AC3E}">
        <p14:creationId xmlns:p14="http://schemas.microsoft.com/office/powerpoint/2010/main" val="1262998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en-US" smtClean="0"/>
              <a:t>Click to edit Master title style</a:t>
            </a:r>
            <a:endParaRPr lang="en-US"/>
          </a:p>
        </p:txBody>
      </p:sp>
      <p:sp>
        <p:nvSpPr>
          <p:cNvPr id="3" name="Text Placeholder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13"/>
          <p:cNvSpPr>
            <a:spLocks noGrp="1"/>
          </p:cNvSpPr>
          <p:nvPr>
            <p:ph type="dt" sz="half" idx="10"/>
          </p:nvPr>
        </p:nvSpPr>
        <p:spPr/>
        <p:txBody>
          <a:bodyPr/>
          <a:lstStyle>
            <a:lvl1pPr>
              <a:defRPr/>
            </a:lvl1pPr>
          </a:lstStyle>
          <a:p>
            <a:pPr>
              <a:defRPr/>
            </a:pPr>
            <a:fld id="{C2CF3936-C19B-44C7-9907-C0E7C284152D}" type="datetimeFigureOut">
              <a:rPr lang="en-US"/>
              <a:pPr>
                <a:defRPr/>
              </a:pPr>
              <a:t>6/25/2021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DAD50082-0BCC-45F0-8D95-A24D80F2B494}" type="slidenum">
              <a:rPr lang="en-US" altLang="en-US"/>
              <a:pPr/>
              <a:t>‹#›</a:t>
            </a:fld>
            <a:endParaRPr lang="en-US" altLang="en-US"/>
          </a:p>
        </p:txBody>
      </p:sp>
    </p:spTree>
    <p:extLst>
      <p:ext uri="{BB962C8B-B14F-4D97-AF65-F5344CB8AC3E}">
        <p14:creationId xmlns:p14="http://schemas.microsoft.com/office/powerpoint/2010/main" val="2175859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03314A90-AFC1-4E63-8122-57311A38DF42}" type="datetimeFigureOut">
              <a:rPr lang="en-US"/>
              <a:pPr>
                <a:defRPr/>
              </a:pPr>
              <a:t>6/25/2021</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C178D1BD-67A6-4741-9925-0FDB9D00201C}" type="slidenum">
              <a:rPr lang="en-US" altLang="en-US"/>
              <a:pPr/>
              <a:t>‹#›</a:t>
            </a:fld>
            <a:endParaRPr lang="en-US" altLang="en-US"/>
          </a:p>
        </p:txBody>
      </p:sp>
    </p:spTree>
    <p:extLst>
      <p:ext uri="{BB962C8B-B14F-4D97-AF65-F5344CB8AC3E}">
        <p14:creationId xmlns:p14="http://schemas.microsoft.com/office/powerpoint/2010/main" val="1962786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lstStyle>
            <a:lvl1pPr>
              <a:defRPr sz="4000" b="0" i="0"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5"/>
          <p:cNvSpPr>
            <a:spLocks noGrp="1"/>
          </p:cNvSpPr>
          <p:nvPr>
            <p:ph type="dt" sz="half" idx="10"/>
          </p:nvPr>
        </p:nvSpPr>
        <p:spPr/>
        <p:txBody>
          <a:bodyPr rtlCol="0"/>
          <a:lstStyle>
            <a:lvl1pPr>
              <a:defRPr/>
            </a:lvl1pPr>
          </a:lstStyle>
          <a:p>
            <a:pPr>
              <a:defRPr/>
            </a:pPr>
            <a:fld id="{7A2782CB-796F-4B39-B3A1-A580BB814B6D}" type="datetimeFigureOut">
              <a:rPr lang="en-US"/>
              <a:pPr>
                <a:defRPr/>
              </a:pPr>
              <a:t>6/25/2021</a:t>
            </a:fld>
            <a:endParaRPr lang="en-US"/>
          </a:p>
        </p:txBody>
      </p:sp>
      <p:sp>
        <p:nvSpPr>
          <p:cNvPr id="8" name="Slide Number Placeholder 26"/>
          <p:cNvSpPr>
            <a:spLocks noGrp="1"/>
          </p:cNvSpPr>
          <p:nvPr>
            <p:ph type="sldNum" sz="quarter" idx="11"/>
          </p:nvPr>
        </p:nvSpPr>
        <p:spPr/>
        <p:txBody>
          <a:bodyPr/>
          <a:lstStyle>
            <a:lvl1pPr>
              <a:defRPr/>
            </a:lvl1pPr>
          </a:lstStyle>
          <a:p>
            <a:fld id="{22235CFA-2E95-41A8-BAE8-E6B82C409E5A}" type="slidenum">
              <a:rPr lang="en-US" altLang="en-US"/>
              <a:pPr/>
              <a:t>‹#›</a:t>
            </a:fld>
            <a:endParaRPr lang="en-US" altLang="en-US"/>
          </a:p>
        </p:txBody>
      </p:sp>
      <p:sp>
        <p:nvSpPr>
          <p:cNvPr id="9" name="Footer Placeholder 27"/>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866706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lstStyle>
            <a:lvl1pPr>
              <a:defRPr sz="4000">
                <a:solidFill>
                  <a:schemeClr val="tx2"/>
                </a:solidFill>
              </a:defRPr>
            </a:lvl1pPr>
          </a:lstStyle>
          <a:p>
            <a:r>
              <a:rPr lang="en-US" smtClean="0"/>
              <a:t>Click to edit Master title style</a:t>
            </a:r>
            <a:endParaRPr lang="en-US"/>
          </a:p>
        </p:txBody>
      </p:sp>
      <p:sp>
        <p:nvSpPr>
          <p:cNvPr id="3" name="Date Placeholder 2"/>
          <p:cNvSpPr>
            <a:spLocks noGrp="1"/>
          </p:cNvSpPr>
          <p:nvPr>
            <p:ph type="dt" sz="half" idx="10"/>
          </p:nvPr>
        </p:nvSpPr>
        <p:spPr>
          <a:xfrm>
            <a:off x="6583363" y="612775"/>
            <a:ext cx="957262" cy="457200"/>
          </a:xfrm>
        </p:spPr>
        <p:txBody>
          <a:bodyPr/>
          <a:lstStyle>
            <a:lvl1pPr>
              <a:defRPr/>
            </a:lvl1pPr>
          </a:lstStyle>
          <a:p>
            <a:pPr>
              <a:defRPr/>
            </a:pPr>
            <a:fld id="{4B89DFEC-1725-49C8-B349-7936A7B6C619}" type="datetimeFigureOut">
              <a:rPr lang="en-US"/>
              <a:pPr>
                <a:defRPr/>
              </a:pPr>
              <a:t>6/25/2021</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fld id="{637C593E-29F5-4DB5-AA21-09B3E16427D1}" type="slidenum">
              <a:rPr lang="en-US" altLang="en-US"/>
              <a:pPr/>
              <a:t>‹#›</a:t>
            </a:fld>
            <a:endParaRPr lang="en-US" altLang="en-US"/>
          </a:p>
        </p:txBody>
      </p:sp>
    </p:spTree>
    <p:extLst>
      <p:ext uri="{BB962C8B-B14F-4D97-AF65-F5344CB8AC3E}">
        <p14:creationId xmlns:p14="http://schemas.microsoft.com/office/powerpoint/2010/main" val="1638686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48C4EACB-F0B1-430E-814E-618E1FB95B3F}" type="datetimeFigureOut">
              <a:rPr lang="en-US"/>
              <a:pPr>
                <a:defRPr/>
              </a:pPr>
              <a:t>6/25/2021</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fld id="{6662F2B9-77ED-4645-81E1-35508EBB26EA}" type="slidenum">
              <a:rPr lang="en-US" altLang="en-US"/>
              <a:pPr/>
              <a:t>‹#›</a:t>
            </a:fld>
            <a:endParaRPr lang="en-US" altLang="en-US"/>
          </a:p>
        </p:txBody>
      </p:sp>
    </p:spTree>
    <p:extLst>
      <p:ext uri="{BB962C8B-B14F-4D97-AF65-F5344CB8AC3E}">
        <p14:creationId xmlns:p14="http://schemas.microsoft.com/office/powerpoint/2010/main" val="844978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lang="en-US" smtClean="0"/>
              <a:t>Click to edit Master title style</a:t>
            </a:r>
            <a:endParaRPr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CBF83054-3FDA-4EA6-BDCD-F6F20A348F07}" type="datetimeFigureOut">
              <a:rPr lang="en-US"/>
              <a:pPr>
                <a:defRPr/>
              </a:pPr>
              <a:t>6/25/2021</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234040EC-DEFE-48A7-8B41-72679CFEB6E4}" type="slidenum">
              <a:rPr lang="en-US" altLang="en-US"/>
              <a:pPr/>
              <a:t>‹#›</a:t>
            </a:fld>
            <a:endParaRPr lang="en-US" altLang="en-US"/>
          </a:p>
        </p:txBody>
      </p:sp>
    </p:spTree>
    <p:extLst>
      <p:ext uri="{BB962C8B-B14F-4D97-AF65-F5344CB8AC3E}">
        <p14:creationId xmlns:p14="http://schemas.microsoft.com/office/powerpoint/2010/main" val="155057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5" name="Date Placeholder 13"/>
          <p:cNvSpPr>
            <a:spLocks noGrp="1"/>
          </p:cNvSpPr>
          <p:nvPr>
            <p:ph type="dt" sz="half" idx="10"/>
          </p:nvPr>
        </p:nvSpPr>
        <p:spPr/>
        <p:txBody>
          <a:bodyPr/>
          <a:lstStyle>
            <a:lvl1pPr>
              <a:defRPr/>
            </a:lvl1pPr>
          </a:lstStyle>
          <a:p>
            <a:pPr>
              <a:defRPr/>
            </a:pPr>
            <a:fld id="{703B4C38-6B7A-4435-A3AF-075D8A2102F3}" type="datetimeFigureOut">
              <a:rPr lang="en-US"/>
              <a:pPr>
                <a:defRPr/>
              </a:pPr>
              <a:t>6/25/2021</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9295D01F-80C4-4EF3-9C3E-4AB2D853C167}" type="slidenum">
              <a:rPr lang="en-US" altLang="en-US"/>
              <a:pPr/>
              <a:t>‹#›</a:t>
            </a:fld>
            <a:endParaRPr lang="en-US" altLang="en-US"/>
          </a:p>
        </p:txBody>
      </p:sp>
    </p:spTree>
    <p:extLst>
      <p:ext uri="{BB962C8B-B14F-4D97-AF65-F5344CB8AC3E}">
        <p14:creationId xmlns:p14="http://schemas.microsoft.com/office/powerpoint/2010/main" val="8479253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65F07E67-5493-4B92-9FD9-CEF01D49F27C}" type="datetimeFigureOut">
              <a:rPr lang="en-US"/>
              <a:pPr>
                <a:defRPr/>
              </a:pPr>
              <a:t>6/25/2021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8FCC2162-9904-4CE2-ADF7-C5DB601A180B}" type="slidenum">
              <a:rPr lang="en-US" altLang="en-US"/>
              <a:pPr/>
              <a:t>‹#›</a:t>
            </a:fld>
            <a:endParaRPr lang="en-US" altLang="en-US"/>
          </a:p>
        </p:txBody>
      </p:sp>
    </p:spTree>
    <p:extLst>
      <p:ext uri="{BB962C8B-B14F-4D97-AF65-F5344CB8AC3E}">
        <p14:creationId xmlns:p14="http://schemas.microsoft.com/office/powerpoint/2010/main" val="4032503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B637261E-68CB-4B7F-AB36-DC4916C10FE0}" type="datetimeFigureOut">
              <a:rPr lang="en-US"/>
              <a:pPr>
                <a:defRPr/>
              </a:pPr>
              <a:t>6/25/2021</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672EC959-A47F-459F-8D4B-AA4F723E3468}" type="slidenum">
              <a:rPr lang="en-US" altLang="en-US"/>
              <a:pPr/>
              <a:t>‹#›</a:t>
            </a:fld>
            <a:endParaRPr lang="en-US" altLang="en-US"/>
          </a:p>
        </p:txBody>
      </p:sp>
    </p:spTree>
    <p:extLst>
      <p:ext uri="{BB962C8B-B14F-4D97-AF65-F5344CB8AC3E}">
        <p14:creationId xmlns:p14="http://schemas.microsoft.com/office/powerpoint/2010/main" val="9051712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42769" y="484758"/>
            <a:ext cx="4458461" cy="696594"/>
          </a:xfrm>
          <a:prstGeom prst="rect">
            <a:avLst/>
          </a:prstGeom>
        </p:spPr>
        <p:txBody>
          <a:bodyPr wrap="square" lIns="0" tIns="0" rIns="0" bIns="0">
            <a:spAutoFit/>
          </a:bodyPr>
          <a:lstStyle>
            <a:lvl1pPr>
              <a:defRPr sz="4400" b="1" i="0">
                <a:solidFill>
                  <a:srgbClr val="00AF50"/>
                </a:solidFill>
                <a:latin typeface="Times New Roman"/>
                <a:cs typeface="Times New Roman"/>
              </a:defRPr>
            </a:lvl1pPr>
          </a:lstStyle>
          <a:p>
            <a:endParaRPr/>
          </a:p>
        </p:txBody>
      </p:sp>
      <p:sp>
        <p:nvSpPr>
          <p:cNvPr id="3" name="Holder 3"/>
          <p:cNvSpPr>
            <a:spLocks noGrp="1"/>
          </p:cNvSpPr>
          <p:nvPr>
            <p:ph type="body" idx="1"/>
          </p:nvPr>
        </p:nvSpPr>
        <p:spPr>
          <a:xfrm>
            <a:off x="1249426" y="3362909"/>
            <a:ext cx="6645147" cy="2021839"/>
          </a:xfrm>
          <a:prstGeom prst="rect">
            <a:avLst/>
          </a:prstGeom>
        </p:spPr>
        <p:txBody>
          <a:bodyPr wrap="square" lIns="0" tIns="0" rIns="0" bIns="0">
            <a:spAutoFit/>
          </a:bodyPr>
          <a:lstStyle>
            <a:lvl1pPr>
              <a:defRPr sz="3500" b="0" i="0">
                <a:solidFill>
                  <a:schemeClr val="tx1"/>
                </a:solidFill>
                <a:latin typeface="Carlito"/>
                <a:cs typeface="Carlito"/>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6/25/2021</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9" name="Rectangle 28"/>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 name="Rectangle 29"/>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1" name="Rectangle 30"/>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Rectangle 31"/>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3" name="Rounded Rectangle 32"/>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4" name="Rounded Rectangle 33"/>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5" name="Rectangle 34"/>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6" name="Rectangle 35"/>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7" name="Rectangle 36"/>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8" name="Rectangle 37"/>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9" name="Rectangle 38"/>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0" name="Rectangle 39"/>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207" name="Title Placeholder 21"/>
          <p:cNvSpPr>
            <a:spLocks noGrp="1"/>
          </p:cNvSpPr>
          <p:nvPr>
            <p:ph type="title"/>
          </p:nvPr>
        </p:nvSpPr>
        <p:spPr bwMode="auto">
          <a:xfrm>
            <a:off x="457200" y="11430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208" name="Text Placeholder 12"/>
          <p:cNvSpPr>
            <a:spLocks noGrp="1"/>
          </p:cNvSpPr>
          <p:nvPr>
            <p:ph type="body" idx="1"/>
          </p:nvPr>
        </p:nvSpPr>
        <p:spPr bwMode="auto">
          <a:xfrm>
            <a:off x="457200" y="2249488"/>
            <a:ext cx="82296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 name="Date Placeholder 13"/>
          <p:cNvSpPr>
            <a:spLocks noGrp="1"/>
          </p:cNvSpPr>
          <p:nvPr>
            <p:ph type="dt" sz="half" idx="2"/>
          </p:nvPr>
        </p:nvSpPr>
        <p:spPr>
          <a:xfrm>
            <a:off x="6586538" y="612775"/>
            <a:ext cx="957262" cy="457200"/>
          </a:xfrm>
          <a:prstGeom prst="rect">
            <a:avLst/>
          </a:prstGeom>
        </p:spPr>
        <p:txBody>
          <a:bodyPr vert="horz"/>
          <a:lstStyle>
            <a:lvl1pPr algn="l" eaLnBrk="1" fontAlgn="auto" latinLnBrk="0" hangingPunct="1">
              <a:spcBef>
                <a:spcPts val="0"/>
              </a:spcBef>
              <a:spcAft>
                <a:spcPts val="0"/>
              </a:spcAft>
              <a:defRPr kumimoji="0" sz="800">
                <a:solidFill>
                  <a:schemeClr val="accent2"/>
                </a:solidFill>
                <a:latin typeface="+mn-lt"/>
              </a:defRPr>
            </a:lvl1pPr>
          </a:lstStyle>
          <a:p>
            <a:pPr>
              <a:defRPr/>
            </a:pPr>
            <a:fld id="{076F8D71-EA83-45CB-9292-976A9C8DA0C3}" type="datetimeFigureOut">
              <a:rPr lang="en-US"/>
              <a:pPr>
                <a:defRPr/>
              </a:pPr>
              <a:t>6/25/2021</a:t>
            </a:fld>
            <a:endParaRPr lang="en-US"/>
          </a:p>
        </p:txBody>
      </p:sp>
      <p:sp>
        <p:nvSpPr>
          <p:cNvPr id="3" name="Footer Placeholder 2"/>
          <p:cNvSpPr>
            <a:spLocks noGrp="1"/>
          </p:cNvSpPr>
          <p:nvPr>
            <p:ph type="ftr" sz="quarter" idx="3"/>
          </p:nvPr>
        </p:nvSpPr>
        <p:spPr>
          <a:xfrm>
            <a:off x="5257800" y="612775"/>
            <a:ext cx="1325563" cy="457200"/>
          </a:xfrm>
          <a:prstGeom prst="rect">
            <a:avLst/>
          </a:prstGeom>
        </p:spPr>
        <p:txBody>
          <a:bodyPr vert="horz"/>
          <a:lstStyle>
            <a:lvl1pPr algn="r" eaLnBrk="1" fontAlgn="auto" latinLnBrk="0" hangingPunct="1">
              <a:spcBef>
                <a:spcPts val="0"/>
              </a:spcBef>
              <a:spcAft>
                <a:spcPts val="0"/>
              </a:spcAft>
              <a:defRPr kumimoji="0" sz="800">
                <a:solidFill>
                  <a:schemeClr val="accent2"/>
                </a:solidFill>
                <a:latin typeface="+mn-lt"/>
              </a:defRPr>
            </a:lvl1pPr>
          </a:lstStyle>
          <a:p>
            <a:pPr>
              <a:defRPr/>
            </a:pPr>
            <a:endParaRPr lang="en-US"/>
          </a:p>
        </p:txBody>
      </p:sp>
      <p:sp>
        <p:nvSpPr>
          <p:cNvPr id="23" name="Slide Number Placeholder 22"/>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a:defRPr>
                <a:solidFill>
                  <a:srgbClr val="FFFFFF"/>
                </a:solidFill>
                <a:latin typeface="Georgia" panose="02040502050405020303" pitchFamily="18" charset="0"/>
              </a:defRPr>
            </a:lvl1pPr>
          </a:lstStyle>
          <a:p>
            <a:fld id="{C36EDDF5-661D-4F0D-A8FC-08CDEA6AF9C9}" type="slidenum">
              <a:rPr lang="en-US" altLang="en-US"/>
              <a:pPr/>
              <a:t>‹#›</a:t>
            </a:fld>
            <a:endParaRPr lang="en-US" altLang="en-US"/>
          </a:p>
        </p:txBody>
      </p:sp>
    </p:spTree>
    <p:extLst>
      <p:ext uri="{BB962C8B-B14F-4D97-AF65-F5344CB8AC3E}">
        <p14:creationId xmlns:p14="http://schemas.microsoft.com/office/powerpoint/2010/main" val="369311249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defRPr>
      </a:lvl2pPr>
      <a:lvl3pPr algn="l" rtl="0" eaLnBrk="0" fontAlgn="base" hangingPunct="0">
        <a:spcBef>
          <a:spcPct val="0"/>
        </a:spcBef>
        <a:spcAft>
          <a:spcPct val="0"/>
        </a:spcAft>
        <a:defRPr sz="4000">
          <a:solidFill>
            <a:schemeClr val="tx2"/>
          </a:solidFill>
          <a:latin typeface="Trebuchet MS" pitchFamily="34" charset="0"/>
        </a:defRPr>
      </a:lvl3pPr>
      <a:lvl4pPr algn="l" rtl="0" eaLnBrk="0" fontAlgn="base" hangingPunct="0">
        <a:spcBef>
          <a:spcPct val="0"/>
        </a:spcBef>
        <a:spcAft>
          <a:spcPct val="0"/>
        </a:spcAft>
        <a:defRPr sz="4000">
          <a:solidFill>
            <a:schemeClr val="tx2"/>
          </a:solidFill>
          <a:latin typeface="Trebuchet MS" pitchFamily="34" charset="0"/>
        </a:defRPr>
      </a:lvl4pPr>
      <a:lvl5pPr algn="l" rtl="0" eaLnBrk="0" fontAlgn="base" hangingPunct="0">
        <a:spcBef>
          <a:spcPct val="0"/>
        </a:spcBef>
        <a:spcAft>
          <a:spcPct val="0"/>
        </a:spcAft>
        <a:defRPr sz="4000">
          <a:solidFill>
            <a:schemeClr val="tx2"/>
          </a:solidFill>
          <a:latin typeface="Trebuchet MS" pitchFamily="34" charset="0"/>
        </a:defRPr>
      </a:lvl5pPr>
      <a:lvl6pPr marL="457200" algn="l" rtl="0" fontAlgn="base">
        <a:spcBef>
          <a:spcPct val="0"/>
        </a:spcBef>
        <a:spcAft>
          <a:spcPct val="0"/>
        </a:spcAft>
        <a:defRPr sz="4000">
          <a:solidFill>
            <a:schemeClr val="tx2"/>
          </a:solidFill>
          <a:latin typeface="Trebuchet MS" pitchFamily="34" charset="0"/>
        </a:defRPr>
      </a:lvl6pPr>
      <a:lvl7pPr marL="914400" algn="l" rtl="0" fontAlgn="base">
        <a:spcBef>
          <a:spcPct val="0"/>
        </a:spcBef>
        <a:spcAft>
          <a:spcPct val="0"/>
        </a:spcAft>
        <a:defRPr sz="4000">
          <a:solidFill>
            <a:schemeClr val="tx2"/>
          </a:solidFill>
          <a:latin typeface="Trebuchet MS" pitchFamily="34" charset="0"/>
        </a:defRPr>
      </a:lvl7pPr>
      <a:lvl8pPr marL="1371600" algn="l" rtl="0" fontAlgn="base">
        <a:spcBef>
          <a:spcPct val="0"/>
        </a:spcBef>
        <a:spcAft>
          <a:spcPct val="0"/>
        </a:spcAft>
        <a:defRPr sz="4000">
          <a:solidFill>
            <a:schemeClr val="tx2"/>
          </a:solidFill>
          <a:latin typeface="Trebuchet MS" pitchFamily="34" charset="0"/>
        </a:defRPr>
      </a:lvl8pPr>
      <a:lvl9pPr marL="1828800" algn="l" rtl="0" fontAlgn="base">
        <a:spcBef>
          <a:spcPct val="0"/>
        </a:spcBef>
        <a:spcAft>
          <a:spcPct val="0"/>
        </a:spcAft>
        <a:defRPr sz="4000">
          <a:solidFill>
            <a:schemeClr val="tx2"/>
          </a:solidFill>
          <a:latin typeface="Trebuchet MS" pitchFamily="34" charset="0"/>
        </a:defRPr>
      </a:lvl9pPr>
    </p:titleStyle>
    <p:bodyStyle>
      <a:lvl1pPr marL="365125" indent="-255588" algn="l" rtl="0" eaLnBrk="0" fontAlgn="base" hangingPunct="0">
        <a:spcBef>
          <a:spcPts val="300"/>
        </a:spcBef>
        <a:spcAft>
          <a:spcPct val="0"/>
        </a:spcAft>
        <a:buClr>
          <a:srgbClr val="9BBB59"/>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2"/>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9BBB59"/>
        </a:buClr>
        <a:buFont typeface="Georgia" panose="02040502050405020303" pitchFamily="18" charset="0"/>
        <a:buChar char="▫"/>
        <a:defRPr sz="2000" kern="1200">
          <a:solidFill>
            <a:srgbClr val="9BBB59"/>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www.phpmyadmin.ne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www.123-reg.co.uk/support/servers/what-is-mysql-and-why-do-i-need-i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localhost/phpmyadmi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170" name="Picture 4"/>
          <p:cNvPicPr>
            <a:picLocks noChangeAspect="1"/>
          </p:cNvPicPr>
          <p:nvPr/>
        </p:nvPicPr>
        <p:blipFill>
          <a:blip r:embed="rId3" cstate="print">
            <a:extLst>
              <a:ext uri="{28A0092B-C50C-407E-A947-70E740481C1C}">
                <a14:useLocalDpi xmlns:a14="http://schemas.microsoft.com/office/drawing/2010/main" val="0"/>
              </a:ext>
            </a:extLst>
          </a:blip>
          <a:srcRect r="52444" b="-2"/>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276600" y="3308350"/>
            <a:ext cx="5867400" cy="1819275"/>
          </a:xfrm>
          <a:prstGeom prst="rect">
            <a:avLst/>
          </a:prstGeom>
          <a:solidFill>
            <a:schemeClr val="dk1">
              <a:alpha val="42000"/>
            </a:schemeClr>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ahoma"/>
              <a:ea typeface="+mn-ea"/>
              <a:cs typeface="+mn-cs"/>
            </a:endParaRPr>
          </a:p>
        </p:txBody>
      </p:sp>
      <p:grpSp>
        <p:nvGrpSpPr>
          <p:cNvPr id="7172" name="Group 8"/>
          <p:cNvGrpSpPr>
            <a:grpSpLocks/>
          </p:cNvGrpSpPr>
          <p:nvPr/>
        </p:nvGrpSpPr>
        <p:grpSpPr bwMode="auto">
          <a:xfrm>
            <a:off x="3428998" y="3429001"/>
            <a:ext cx="5638798" cy="1490376"/>
            <a:chOff x="4966856" y="5954268"/>
            <a:chExt cx="4100945" cy="1258675"/>
          </a:xfrm>
        </p:grpSpPr>
        <p:sp>
          <p:nvSpPr>
            <p:cNvPr id="4" name="Rectangle 3"/>
            <p:cNvSpPr/>
            <p:nvPr/>
          </p:nvSpPr>
          <p:spPr>
            <a:xfrm>
              <a:off x="4966856" y="5954268"/>
              <a:ext cx="4052205" cy="492038"/>
            </a:xfrm>
            <a:prstGeom prst="rect">
              <a:avLst/>
            </a:prstGeom>
          </p:spPr>
          <p:style>
            <a:lnRef idx="1">
              <a:schemeClr val="accent2"/>
            </a:lnRef>
            <a:fillRef idx="3">
              <a:schemeClr val="accent2"/>
            </a:fillRef>
            <a:effectRef idx="2">
              <a:schemeClr val="accent2"/>
            </a:effectRef>
            <a:fontRef idx="minor">
              <a:schemeClr val="lt1"/>
            </a:fontRef>
          </p:style>
          <p:txBody>
            <a:bodyPr anchor="ct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dirty="0" err="1">
                  <a:ln>
                    <a:noFill/>
                  </a:ln>
                  <a:solidFill>
                    <a:srgbClr val="C00000"/>
                  </a:solidFill>
                  <a:effectLst/>
                  <a:uLnTx/>
                  <a:uFillTx/>
                  <a:latin typeface="Tahoma"/>
                  <a:ea typeface="+mn-ea"/>
                  <a:cs typeface="+mn-cs"/>
                </a:rPr>
                <a:t>Fakultas</a:t>
              </a:r>
              <a:r>
                <a:rPr kumimoji="0" lang="en-US" sz="4000" b="0" i="0" u="none" strike="noStrike" kern="1200" cap="none" spc="0" normalizeH="0" baseline="0" noProof="0" dirty="0">
                  <a:ln>
                    <a:noFill/>
                  </a:ln>
                  <a:solidFill>
                    <a:srgbClr val="C00000"/>
                  </a:solidFill>
                  <a:effectLst/>
                  <a:uLnTx/>
                  <a:uFillTx/>
                  <a:latin typeface="Tahoma"/>
                  <a:ea typeface="+mn-ea"/>
                  <a:cs typeface="+mn-cs"/>
                </a:rPr>
                <a:t> </a:t>
              </a:r>
              <a:r>
                <a:rPr kumimoji="0" lang="en-US" sz="4000" b="0" i="0" u="none" strike="noStrike" kern="1200" cap="none" spc="0" normalizeH="0" baseline="0" noProof="0" dirty="0" err="1">
                  <a:ln>
                    <a:noFill/>
                  </a:ln>
                  <a:solidFill>
                    <a:srgbClr val="C00000"/>
                  </a:solidFill>
                  <a:effectLst/>
                  <a:uLnTx/>
                  <a:uFillTx/>
                  <a:latin typeface="Tahoma"/>
                  <a:ea typeface="+mn-ea"/>
                  <a:cs typeface="+mn-cs"/>
                </a:rPr>
                <a:t>Ilmu</a:t>
              </a:r>
              <a:r>
                <a:rPr kumimoji="0" lang="en-US" sz="4000" b="0" i="0" u="none" strike="noStrike" kern="1200" cap="none" spc="0" normalizeH="0" baseline="0" noProof="0" dirty="0">
                  <a:ln>
                    <a:noFill/>
                  </a:ln>
                  <a:solidFill>
                    <a:srgbClr val="C00000"/>
                  </a:solidFill>
                  <a:effectLst/>
                  <a:uLnTx/>
                  <a:uFillTx/>
                  <a:latin typeface="Tahoma"/>
                  <a:ea typeface="+mn-ea"/>
                  <a:cs typeface="+mn-cs"/>
                </a:rPr>
                <a:t> </a:t>
              </a:r>
              <a:r>
                <a:rPr kumimoji="0" lang="en-US" sz="4000" b="0" i="0" u="none" strike="noStrike" kern="1200" cap="none" spc="0" normalizeH="0" baseline="0" noProof="0" dirty="0" err="1">
                  <a:ln>
                    <a:noFill/>
                  </a:ln>
                  <a:solidFill>
                    <a:srgbClr val="C00000"/>
                  </a:solidFill>
                  <a:effectLst/>
                  <a:uLnTx/>
                  <a:uFillTx/>
                  <a:latin typeface="Tahoma"/>
                  <a:ea typeface="+mn-ea"/>
                  <a:cs typeface="+mn-cs"/>
                </a:rPr>
                <a:t>Komputer</a:t>
              </a:r>
              <a:endParaRPr kumimoji="0" lang="en-US" sz="4000" b="0" i="0" u="none" strike="noStrike" kern="1200" cap="none" spc="0" normalizeH="0" baseline="0" noProof="0" dirty="0">
                <a:ln>
                  <a:noFill/>
                </a:ln>
                <a:solidFill>
                  <a:srgbClr val="C00000"/>
                </a:solidFill>
                <a:effectLst/>
                <a:uLnTx/>
                <a:uFillTx/>
                <a:latin typeface="Tahoma"/>
                <a:ea typeface="+mn-ea"/>
                <a:cs typeface="+mn-cs"/>
              </a:endParaRPr>
            </a:p>
          </p:txBody>
        </p:sp>
        <p:sp>
          <p:nvSpPr>
            <p:cNvPr id="7178" name="TextBox 5"/>
            <p:cNvSpPr txBox="1">
              <a:spLocks noChangeArrowheads="1"/>
            </p:cNvSpPr>
            <p:nvPr/>
          </p:nvSpPr>
          <p:spPr bwMode="auto">
            <a:xfrm>
              <a:off x="5576457" y="6511136"/>
              <a:ext cx="3491344" cy="70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600" b="1" i="1" u="none" strike="noStrike" kern="1200" cap="none" spc="0" normalizeH="0" baseline="0" noProof="0" dirty="0" smtClean="0">
                  <a:ln>
                    <a:noFill/>
                  </a:ln>
                  <a:solidFill>
                    <a:srgbClr val="000000"/>
                  </a:solidFill>
                  <a:effectLst/>
                  <a:uLnTx/>
                  <a:uFillTx/>
                  <a:latin typeface="+mn-lt"/>
                  <a:ea typeface="+mn-ea"/>
                  <a:cs typeface="+mn-cs"/>
                </a:rPr>
                <a:t>Learning </a:t>
              </a:r>
              <a:r>
                <a:rPr kumimoji="0" lang="en-US" altLang="en-US" sz="1600" b="0" i="0" u="none" strike="noStrike" kern="1200" cap="none" spc="0" normalizeH="0" baseline="0" noProof="0" dirty="0" smtClean="0">
                  <a:ln>
                    <a:noFill/>
                  </a:ln>
                  <a:solidFill>
                    <a:srgbClr val="000000"/>
                  </a:solidFill>
                  <a:effectLst/>
                  <a:uLnTx/>
                  <a:uFillTx/>
                  <a:latin typeface="+mn-lt"/>
                  <a:ea typeface="+mn-ea"/>
                  <a:cs typeface="+mn-cs"/>
                </a:rPr>
                <a:t>is the process of acquiring new understanding, knowledge, behaviors, skills, values, attitudes, and preferences.</a:t>
              </a:r>
              <a:endParaRPr kumimoji="0" lang="en-US" altLang="en-US" sz="1600" b="0" i="0" u="none" strike="noStrike" kern="1200" cap="none" spc="0" normalizeH="0" baseline="0" noProof="0" dirty="0" smtClean="0">
                <a:ln>
                  <a:noFill/>
                </a:ln>
                <a:solidFill>
                  <a:srgbClr val="FFFFFF"/>
                </a:solidFill>
                <a:effectLst/>
                <a:uLnTx/>
                <a:uFillTx/>
                <a:latin typeface="+mn-lt"/>
                <a:ea typeface="+mn-ea"/>
                <a:cs typeface="+mn-cs"/>
              </a:endParaRPr>
            </a:p>
          </p:txBody>
        </p:sp>
      </p:grpSp>
      <p:cxnSp>
        <p:nvCxnSpPr>
          <p:cNvPr id="14" name="Straight Connector 13"/>
          <p:cNvCxnSpPr/>
          <p:nvPr/>
        </p:nvCxnSpPr>
        <p:spPr>
          <a:xfrm>
            <a:off x="0" y="5213325"/>
            <a:ext cx="9144000" cy="15875"/>
          </a:xfrm>
          <a:prstGeom prst="line">
            <a:avLst/>
          </a:prstGeom>
          <a:ln w="76200"/>
        </p:spPr>
        <p:style>
          <a:lnRef idx="3">
            <a:schemeClr val="dk1"/>
          </a:lnRef>
          <a:fillRef idx="0">
            <a:schemeClr val="dk1"/>
          </a:fillRef>
          <a:effectRef idx="2">
            <a:schemeClr val="dk1"/>
          </a:effectRef>
          <a:fontRef idx="minor">
            <a:schemeClr val="tx1"/>
          </a:fontRef>
        </p:style>
      </p:cxnSp>
      <p:sp>
        <p:nvSpPr>
          <p:cNvPr id="7174" name="Rectangle 1"/>
          <p:cNvSpPr>
            <a:spLocks noChangeArrowheads="1"/>
          </p:cNvSpPr>
          <p:nvPr/>
        </p:nvSpPr>
        <p:spPr bwMode="auto">
          <a:xfrm>
            <a:off x="0" y="5486400"/>
            <a:ext cx="9144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0" algn="ctr" fontAlgn="base">
              <a:spcBef>
                <a:spcPct val="0"/>
              </a:spcBef>
              <a:spcAft>
                <a:spcPct val="0"/>
              </a:spcAft>
              <a:defRPr/>
            </a:pPr>
            <a:r>
              <a:rPr lang="en-US" altLang="en-US" sz="2000" b="1" dirty="0" smtClean="0">
                <a:solidFill>
                  <a:srgbClr val="000000"/>
                </a:solidFill>
                <a:latin typeface="+mn-lt"/>
              </a:rPr>
              <a:t>Framework #7-1 </a:t>
            </a:r>
          </a:p>
          <a:p>
            <a:pPr lvl="0" algn="ctr" fontAlgn="base">
              <a:spcBef>
                <a:spcPct val="0"/>
              </a:spcBef>
              <a:spcAft>
                <a:spcPct val="0"/>
              </a:spcAft>
              <a:defRPr/>
            </a:pPr>
            <a:r>
              <a:rPr lang="en-US" altLang="en-US" sz="4000" b="1" dirty="0" smtClean="0">
                <a:solidFill>
                  <a:srgbClr val="000000"/>
                </a:solidFill>
                <a:latin typeface="+mn-lt"/>
              </a:rPr>
              <a:t>[Create </a:t>
            </a:r>
            <a:r>
              <a:rPr lang="en-US" altLang="en-US" sz="4000" b="1" dirty="0">
                <a:solidFill>
                  <a:srgbClr val="000000"/>
                </a:solidFill>
                <a:latin typeface="+mn-lt"/>
              </a:rPr>
              <a:t>Database &amp; Tables]</a:t>
            </a:r>
            <a:endParaRPr kumimoji="0" lang="en-US" altLang="en-US" sz="1600" b="0" i="0" u="none" strike="noStrike" kern="1200" cap="none" spc="0" normalizeH="0" baseline="0" noProof="0" dirty="0" smtClean="0">
              <a:ln>
                <a:noFill/>
              </a:ln>
              <a:solidFill>
                <a:srgbClr val="000000"/>
              </a:solidFill>
              <a:effectLst/>
              <a:uLnTx/>
              <a:uFillTx/>
              <a:latin typeface="+mn-lt"/>
            </a:endParaRPr>
          </a:p>
        </p:txBody>
      </p:sp>
    </p:spTree>
    <p:extLst>
      <p:ext uri="{BB962C8B-B14F-4D97-AF65-F5344CB8AC3E}">
        <p14:creationId xmlns:p14="http://schemas.microsoft.com/office/powerpoint/2010/main" val="15678107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8"/>
          <p:cNvSpPr>
            <a:spLocks noChangeArrowheads="1"/>
          </p:cNvSpPr>
          <p:nvPr/>
        </p:nvSpPr>
        <p:spPr bwMode="auto">
          <a:xfrm>
            <a:off x="609600" y="4724400"/>
            <a:ext cx="7924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700">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0" algn="ctr" fontAlgn="base">
              <a:spcBef>
                <a:spcPts val="2388"/>
              </a:spcBef>
              <a:spcAft>
                <a:spcPct val="0"/>
              </a:spcAft>
              <a:defRPr/>
            </a:pPr>
            <a:r>
              <a:rPr lang="en-US" sz="3600" b="1" dirty="0">
                <a:solidFill>
                  <a:srgbClr val="1F497D">
                    <a:satMod val="200000"/>
                  </a:srgbClr>
                </a:solidFill>
                <a:latin typeface="+mn-lt"/>
              </a:rPr>
              <a:t>Welcome to the Framework Programming </a:t>
            </a:r>
            <a:r>
              <a:rPr lang="en-US" sz="3600" b="1" i="1" dirty="0">
                <a:solidFill>
                  <a:srgbClr val="1F497D">
                    <a:satMod val="200000"/>
                  </a:srgbClr>
                </a:solidFill>
                <a:latin typeface="+mn-lt"/>
              </a:rPr>
              <a:t>course</a:t>
            </a:r>
          </a:p>
        </p:txBody>
      </p:sp>
      <p:cxnSp>
        <p:nvCxnSpPr>
          <p:cNvPr id="10" name="Straight Connector 9"/>
          <p:cNvCxnSpPr/>
          <p:nvPr/>
        </p:nvCxnSpPr>
        <p:spPr>
          <a:xfrm flipV="1">
            <a:off x="11113" y="3789040"/>
            <a:ext cx="9132887" cy="20960"/>
          </a:xfrm>
          <a:prstGeom prst="line">
            <a:avLst/>
          </a:prstGeom>
          <a:ln w="76200"/>
        </p:spPr>
        <p:style>
          <a:lnRef idx="3">
            <a:schemeClr val="dk1"/>
          </a:lnRef>
          <a:fillRef idx="0">
            <a:schemeClr val="dk1"/>
          </a:fillRef>
          <a:effectRef idx="2">
            <a:schemeClr val="dk1"/>
          </a:effectRef>
          <a:fontRef idx="minor">
            <a:schemeClr val="tx1"/>
          </a:fontRef>
        </p:style>
      </p:cxnSp>
      <p:pic>
        <p:nvPicPr>
          <p:cNvPr id="10245" name="Picture 2" descr="Teens and Technology – Cavalier Chronic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370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6046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1F497D"/>
                </a:solidFill>
                <a:effectLst/>
                <a:uLnTx/>
                <a:uFillTx/>
                <a:latin typeface="Georgia"/>
                <a:ea typeface="+mn-ea"/>
                <a:cs typeface="+mn-cs"/>
              </a:rPr>
              <a:t>Three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Important </a:t>
            </a:r>
            <a:r>
              <a:rPr kumimoji="0" lang="en-US" sz="3200" b="0" i="0" u="none" strike="noStrike" kern="1200" cap="none" spc="0" normalizeH="0" baseline="0" noProof="0" dirty="0">
                <a:ln>
                  <a:noFill/>
                </a:ln>
                <a:solidFill>
                  <a:srgbClr val="1F497D"/>
                </a:solidFill>
                <a:effectLst/>
                <a:uLnTx/>
                <a:uFillTx/>
                <a:latin typeface="Georgia"/>
                <a:ea typeface="+mn-ea"/>
                <a:cs typeface="+mn-cs"/>
              </a:rPr>
              <a:t>MVC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Components (</a:t>
            </a:r>
            <a:r>
              <a:rPr kumimoji="0" lang="en-US" sz="3200" b="0" i="1" u="none" strike="noStrike" kern="1200" cap="none" spc="0" normalizeH="0" baseline="0" noProof="0" dirty="0" smtClean="0">
                <a:ln>
                  <a:noFill/>
                </a:ln>
                <a:solidFill>
                  <a:srgbClr val="1F497D"/>
                </a:solidFill>
                <a:effectLst/>
                <a:uLnTx/>
                <a:uFillTx/>
                <a:latin typeface="Georgia"/>
                <a:ea typeface="+mn-ea"/>
                <a:cs typeface="+mn-cs"/>
              </a:rPr>
              <a:t>layers</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 </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sp>
        <p:nvSpPr>
          <p:cNvPr id="2" name="Rounded Rectangle 1"/>
          <p:cNvSpPr/>
          <p:nvPr/>
        </p:nvSpPr>
        <p:spPr>
          <a:xfrm>
            <a:off x="152400" y="2913519"/>
            <a:ext cx="8839200" cy="1470541"/>
          </a:xfrm>
          <a:prstGeom prst="roundRect">
            <a:avLst>
              <a:gd name="adj" fmla="val 7786"/>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Component #2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sym typeface="Wingdings 3" panose="05040102010807070707" pitchFamily="18" charset="2"/>
              </a:rPr>
              <a:t>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View :</a:t>
            </a:r>
            <a:endPar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The </a:t>
            </a: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View is that part of the application that represents the presentation of data</a:t>
            </a: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Views are created by the data collected from the model data. A view requests the model to give information so that it resents the output presentation to the user</a:t>
            </a: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The view also represents the data from chats, diagrams, and table. For example, any customer view will include all the UI components like text boxes, drop downs, etc</a:t>
            </a: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3" name="Rounded Rectangle 2"/>
          <p:cNvSpPr/>
          <p:nvPr/>
        </p:nvSpPr>
        <p:spPr>
          <a:xfrm>
            <a:off x="152400" y="4536460"/>
            <a:ext cx="8839200" cy="1456849"/>
          </a:xfrm>
          <a:prstGeom prst="roundRect">
            <a:avLst>
              <a:gd name="adj" fmla="val 5151"/>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Component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#3 </a:t>
            </a: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sym typeface="Wingdings 3" panose="05040102010807070707" pitchFamily="18" charset="2"/>
              </a:rPr>
              <a:t>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Controller</a:t>
            </a: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 :</a:t>
            </a:r>
            <a:endPar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The </a:t>
            </a: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Controller is that part of the application that handles the user interaction. The controller interprets the mouse and keyboard inputs from the user, informing model and the view to change as appropriate.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A Controller send's commands to the model to update its </a:t>
            </a: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state (</a:t>
            </a:r>
            <a:r>
              <a:rPr kumimoji="0" lang="en-US" sz="1400" b="0" i="1" u="none" strike="noStrike" kern="1200" cap="none" spc="0" normalizeH="0" baseline="0" noProof="0" dirty="0">
                <a:ln>
                  <a:noFill/>
                </a:ln>
                <a:solidFill>
                  <a:prstClr val="black"/>
                </a:solidFill>
                <a:effectLst/>
                <a:uLnTx/>
                <a:uFillTx/>
                <a:latin typeface="Georgia" panose="02040502050405020303" pitchFamily="18" charset="0"/>
                <a:ea typeface="+mn-ea"/>
                <a:cs typeface="+mn-cs"/>
              </a:rPr>
              <a:t>E.g., Saving a specific document</a:t>
            </a: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 The controller also sends commands to its associated view to change the view's presentation (</a:t>
            </a:r>
            <a:r>
              <a:rPr kumimoji="0" lang="en-US" sz="1400" b="0" i="1" u="none" strike="noStrike" kern="1200" cap="none" spc="0" normalizeH="0" baseline="0" noProof="0" dirty="0">
                <a:ln>
                  <a:noFill/>
                </a:ln>
                <a:solidFill>
                  <a:prstClr val="black"/>
                </a:solidFill>
                <a:effectLst/>
                <a:uLnTx/>
                <a:uFillTx/>
                <a:latin typeface="Georgia" panose="02040502050405020303" pitchFamily="18" charset="0"/>
                <a:ea typeface="+mn-ea"/>
                <a:cs typeface="+mn-cs"/>
              </a:rPr>
              <a:t>For example scrolling a particular document</a:t>
            </a:r>
            <a:r>
              <a:rPr kumimoji="0" lang="en-US" sz="1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5" name="Rounded Rectangle 4"/>
          <p:cNvSpPr/>
          <p:nvPr/>
        </p:nvSpPr>
        <p:spPr>
          <a:xfrm>
            <a:off x="162499" y="1066800"/>
            <a:ext cx="8839200" cy="1694319"/>
          </a:xfrm>
          <a:prstGeom prst="roundRect">
            <a:avLst>
              <a:gd name="adj" fmla="val 6526"/>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Component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#1 </a:t>
            </a: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sym typeface="Wingdings 3" panose="05040102010807070707" pitchFamily="18" charset="2"/>
              </a:rPr>
              <a:t> </a:t>
            </a:r>
            <a:r>
              <a:rPr kumimoji="0" lang="en-US" sz="16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Model</a:t>
            </a:r>
            <a:r>
              <a:rPr kumimoji="0" lang="en-US" sz="16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The model component stores data and its related logic. It represents data that is being transferred between controller components or any other related business logic. For example, a Controller object will retrieve the customer info from the database. It manipulates data and send back to the database or use it to render the same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It responds to the request from the views and also responds to instructions from the controller to update itself. It is also the lowest level of the pattern which is responsible for maintaining data.</a:t>
            </a:r>
          </a:p>
        </p:txBody>
      </p:sp>
      <p:sp>
        <p:nvSpPr>
          <p:cNvPr id="6" name="Rectangle 5"/>
          <p:cNvSpPr/>
          <p:nvPr/>
        </p:nvSpPr>
        <p:spPr>
          <a:xfrm>
            <a:off x="55085" y="6267671"/>
            <a:ext cx="8991600" cy="49244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The paper was published under the </a:t>
            </a:r>
            <a:r>
              <a:rPr kumimoji="0" lang="en-US" sz="1600" b="1" i="0" u="none" strike="noStrike" kern="1200" cap="none" spc="0" normalizeH="0" baseline="0" noProof="0" dirty="0" smtClean="0">
                <a:ln>
                  <a:noFill/>
                </a:ln>
                <a:solidFill>
                  <a:srgbClr val="222222"/>
                </a:solidFill>
                <a:effectLst/>
                <a:uLnTx/>
                <a:uFillTx/>
                <a:latin typeface="Georgia" panose="02040502050405020303" pitchFamily="18" charset="0"/>
                <a:ea typeface="+mn-ea"/>
                <a:cs typeface="+mn-cs"/>
              </a:rPr>
              <a:t>title: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smtClean="0">
                <a:ln>
                  <a:noFill/>
                </a:ln>
                <a:solidFill>
                  <a:srgbClr val="222222"/>
                </a:solidFill>
                <a:effectLst/>
                <a:uLnTx/>
                <a:uFillTx/>
                <a:latin typeface="Georgia" panose="02040502050405020303" pitchFamily="18" charset="0"/>
                <a:ea typeface="+mn-ea"/>
                <a:cs typeface="+mn-cs"/>
              </a:rPr>
              <a:t>Burbeck</a:t>
            </a:r>
            <a:r>
              <a:rPr kumimoji="0" lang="en-US" sz="1000" b="0"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 Steve. "</a:t>
            </a:r>
            <a:r>
              <a:rPr kumimoji="0" lang="en-US" sz="1000" b="1"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Applications programming in smalltalk-80 (</a:t>
            </a:r>
            <a:r>
              <a:rPr kumimoji="0" lang="en-US" sz="1000" b="1" i="1"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tm</a:t>
            </a:r>
            <a:r>
              <a:rPr kumimoji="0" lang="en-US" sz="1000" b="1"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 How to use model-view-controller (</a:t>
            </a:r>
            <a:r>
              <a:rPr kumimoji="0" lang="en-US" sz="1000" b="1" i="0" u="none" strike="noStrike" kern="1200" cap="none" spc="0" normalizeH="0" baseline="0" noProof="0" dirty="0" err="1">
                <a:ln>
                  <a:noFill/>
                </a:ln>
                <a:solidFill>
                  <a:srgbClr val="222222"/>
                </a:solidFill>
                <a:effectLst/>
                <a:uLnTx/>
                <a:uFillTx/>
                <a:latin typeface="Georgia" panose="02040502050405020303" pitchFamily="18" charset="0"/>
                <a:ea typeface="+mn-ea"/>
                <a:cs typeface="+mn-cs"/>
              </a:rPr>
              <a:t>mvc</a:t>
            </a:r>
            <a:r>
              <a:rPr kumimoji="0" lang="en-US" sz="1000" b="1"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a:t>
            </a:r>
            <a:r>
              <a:rPr kumimoji="0" lang="en-US" sz="1000" b="0"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 </a:t>
            </a:r>
            <a:r>
              <a:rPr kumimoji="0" lang="en-US" sz="1000" b="0" i="1"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Smalltalk-80 v2</a:t>
            </a:r>
            <a:r>
              <a:rPr kumimoji="0" lang="en-US" sz="1000" b="0"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 5 (</a:t>
            </a:r>
            <a:r>
              <a:rPr kumimoji="0" lang="en-US" sz="1000" b="1"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1992</a:t>
            </a:r>
            <a:r>
              <a:rPr kumimoji="0" lang="en-US" sz="1000" b="0" i="0" u="none" strike="noStrike" kern="1200" cap="none" spc="0" normalizeH="0" baseline="0" noProof="0" dirty="0">
                <a:ln>
                  <a:noFill/>
                </a:ln>
                <a:solidFill>
                  <a:srgbClr val="222222"/>
                </a:solidFill>
                <a:effectLst/>
                <a:uLnTx/>
                <a:uFillTx/>
                <a:latin typeface="Georgia" panose="02040502050405020303" pitchFamily="18" charset="0"/>
                <a:ea typeface="+mn-ea"/>
                <a:cs typeface="+mn-cs"/>
              </a:rPr>
              <a:t>): 1-11.</a:t>
            </a:r>
            <a:endParaRPr kumimoji="0" lang="en-US" sz="10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Tree>
    <p:extLst>
      <p:ext uri="{BB962C8B-B14F-4D97-AF65-F5344CB8AC3E}">
        <p14:creationId xmlns:p14="http://schemas.microsoft.com/office/powerpoint/2010/main" val="14585802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1F497D"/>
                </a:solidFill>
                <a:effectLst/>
                <a:uLnTx/>
                <a:uFillTx/>
                <a:latin typeface="Georgia"/>
                <a:ea typeface="+mn-ea"/>
                <a:cs typeface="+mn-cs"/>
              </a:rPr>
              <a:t>Three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Important </a:t>
            </a:r>
            <a:r>
              <a:rPr kumimoji="0" lang="en-US" sz="3200" b="0" i="0" u="none" strike="noStrike" kern="1200" cap="none" spc="0" normalizeH="0" baseline="0" noProof="0" dirty="0">
                <a:ln>
                  <a:noFill/>
                </a:ln>
                <a:solidFill>
                  <a:srgbClr val="1F497D"/>
                </a:solidFill>
                <a:effectLst/>
                <a:uLnTx/>
                <a:uFillTx/>
                <a:latin typeface="Georgia"/>
                <a:ea typeface="+mn-ea"/>
                <a:cs typeface="+mn-cs"/>
              </a:rPr>
              <a:t>MVC Components (</a:t>
            </a:r>
            <a:r>
              <a:rPr kumimoji="0" lang="en-US" sz="3200" b="0" i="1" u="none" strike="noStrike" kern="1200" cap="none" spc="0" normalizeH="0" baseline="0" noProof="0" dirty="0">
                <a:ln>
                  <a:noFill/>
                </a:ln>
                <a:solidFill>
                  <a:srgbClr val="1F497D"/>
                </a:solidFill>
                <a:effectLst/>
                <a:uLnTx/>
                <a:uFillTx/>
                <a:latin typeface="Georgia"/>
                <a:ea typeface="+mn-ea"/>
                <a:cs typeface="+mn-cs"/>
              </a:rPr>
              <a:t>layers</a:t>
            </a:r>
            <a:r>
              <a:rPr kumimoji="0" lang="en-US" sz="3200" b="0" i="0" u="none" strike="noStrike" kern="1200" cap="none" spc="0" normalizeH="0" baseline="0" noProof="0" dirty="0">
                <a:ln>
                  <a:noFill/>
                </a:ln>
                <a:solidFill>
                  <a:srgbClr val="1F497D"/>
                </a:solidFill>
                <a:effectLst/>
                <a:uLnTx/>
                <a:uFillTx/>
                <a:latin typeface="Georgia"/>
                <a:ea typeface="+mn-ea"/>
                <a:cs typeface="+mn-cs"/>
              </a:rPr>
              <a:t>) </a:t>
            </a:r>
          </a:p>
        </p:txBody>
      </p:sp>
      <p:sp>
        <p:nvSpPr>
          <p:cNvPr id="6" name="Rectangle 5"/>
          <p:cNvSpPr/>
          <p:nvPr/>
        </p:nvSpPr>
        <p:spPr>
          <a:xfrm>
            <a:off x="2743200" y="1571685"/>
            <a:ext cx="6019800" cy="452431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Model: </a:t>
            </a:r>
            <a:r>
              <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It includes all the data and its related </a:t>
            </a:r>
            <a:r>
              <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logic.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View: </a:t>
            </a:r>
            <a:r>
              <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Present data to the user or handles user </a:t>
            </a:r>
            <a:r>
              <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interaction.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Controller: </a:t>
            </a:r>
            <a:r>
              <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An interface between Model and View </a:t>
            </a:r>
            <a:r>
              <a:rPr kumimoji="0" lang="en-US" sz="2400" b="0"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components.</a:t>
            </a:r>
            <a:endParaRPr kumimoji="0" lang="en-US" sz="2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pic>
        <p:nvPicPr>
          <p:cNvPr id="7" name="Picture 4" descr="Calendar Time Schedule Event Planning Ga #1311774 - PNG Images - PNGi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012" y="1376065"/>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Location Icons – Free Vector Download, PNG, SVG, 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012" y="327660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Free Icon | Business present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3831" y="5055110"/>
            <a:ext cx="1193290" cy="119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7339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1F497D"/>
                </a:solidFill>
                <a:effectLst/>
                <a:uLnTx/>
                <a:uFillTx/>
                <a:latin typeface="Georgia"/>
                <a:ea typeface="+mn-ea"/>
                <a:cs typeface="+mn-cs"/>
              </a:rPr>
              <a:t>Three </a:t>
            </a:r>
            <a:r>
              <a:rPr kumimoji="0" lang="en-US" sz="3200" b="0" i="0" u="none" strike="noStrike" kern="1200" cap="none" spc="0" normalizeH="0" baseline="0" noProof="0" dirty="0" smtClean="0">
                <a:ln>
                  <a:noFill/>
                </a:ln>
                <a:solidFill>
                  <a:srgbClr val="1F497D"/>
                </a:solidFill>
                <a:effectLst/>
                <a:uLnTx/>
                <a:uFillTx/>
                <a:latin typeface="Georgia"/>
                <a:ea typeface="+mn-ea"/>
                <a:cs typeface="+mn-cs"/>
              </a:rPr>
              <a:t>Important </a:t>
            </a:r>
            <a:r>
              <a:rPr kumimoji="0" lang="en-US" sz="3200" b="0" i="0" u="none" strike="noStrike" kern="1200" cap="none" spc="0" normalizeH="0" baseline="0" noProof="0" dirty="0">
                <a:ln>
                  <a:noFill/>
                </a:ln>
                <a:solidFill>
                  <a:srgbClr val="1F497D"/>
                </a:solidFill>
                <a:effectLst/>
                <a:uLnTx/>
                <a:uFillTx/>
                <a:latin typeface="Georgia"/>
                <a:ea typeface="+mn-ea"/>
                <a:cs typeface="+mn-cs"/>
              </a:rPr>
              <a:t>MVC Components (</a:t>
            </a:r>
            <a:r>
              <a:rPr kumimoji="0" lang="en-US" sz="3200" b="0" i="1" u="none" strike="noStrike" kern="1200" cap="none" spc="0" normalizeH="0" baseline="0" noProof="0" dirty="0">
                <a:ln>
                  <a:noFill/>
                </a:ln>
                <a:solidFill>
                  <a:srgbClr val="1F497D"/>
                </a:solidFill>
                <a:effectLst/>
                <a:uLnTx/>
                <a:uFillTx/>
                <a:latin typeface="Georgia"/>
                <a:ea typeface="+mn-ea"/>
                <a:cs typeface="+mn-cs"/>
              </a:rPr>
              <a:t>layers</a:t>
            </a:r>
            <a:r>
              <a:rPr kumimoji="0" lang="en-US" sz="3200" b="0" i="0" u="none" strike="noStrike" kern="1200" cap="none" spc="0" normalizeH="0" baseline="0" noProof="0" dirty="0">
                <a:ln>
                  <a:noFill/>
                </a:ln>
                <a:solidFill>
                  <a:srgbClr val="1F497D"/>
                </a:solidFill>
                <a:effectLst/>
                <a:uLnTx/>
                <a:uFillTx/>
                <a:latin typeface="Georgia"/>
                <a:ea typeface="+mn-ea"/>
                <a:cs typeface="+mn-cs"/>
              </a:rPr>
              <a:t>) </a:t>
            </a:r>
          </a:p>
        </p:txBody>
      </p:sp>
      <p:sp>
        <p:nvSpPr>
          <p:cNvPr id="10" name="object 3"/>
          <p:cNvSpPr/>
          <p:nvPr/>
        </p:nvSpPr>
        <p:spPr>
          <a:xfrm>
            <a:off x="685800" y="1969532"/>
            <a:ext cx="7632700" cy="373380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lumMod val="95000"/>
                  <a:lumOff val="5000"/>
                </a:prstClr>
              </a:solidFill>
              <a:effectLst/>
              <a:uLnTx/>
              <a:uFillTx/>
              <a:latin typeface="Calibri"/>
              <a:ea typeface="+mn-ea"/>
              <a:cs typeface="+mn-cs"/>
            </a:endParaRPr>
          </a:p>
        </p:txBody>
      </p:sp>
      <p:sp>
        <p:nvSpPr>
          <p:cNvPr id="2" name="Rectangle 1"/>
          <p:cNvSpPr/>
          <p:nvPr/>
        </p:nvSpPr>
        <p:spPr>
          <a:xfrm>
            <a:off x="2911929" y="1219200"/>
            <a:ext cx="332014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logic program </a:t>
            </a:r>
            <a:r>
              <a:rPr kumimoji="0" lang="en-US" sz="18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r>
              <a:rPr kumimoji="0" lang="en-US" sz="1800" b="1" i="1"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controller</a:t>
            </a:r>
            <a:r>
              <a:rPr kumimoji="0" lang="en-US" sz="18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t>
            </a:r>
            <a:endPar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3" name="Rectangle 2"/>
          <p:cNvSpPr/>
          <p:nvPr/>
        </p:nvSpPr>
        <p:spPr>
          <a:xfrm>
            <a:off x="304800" y="6031468"/>
            <a:ext cx="287129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smtClean="0">
                <a:ln>
                  <a:noFill/>
                </a:ln>
                <a:solidFill>
                  <a:prstClr val="black"/>
                </a:solidFill>
                <a:effectLst/>
                <a:uLnTx/>
                <a:uFillTx/>
                <a:latin typeface="Georgia" panose="02040502050405020303" pitchFamily="18" charset="0"/>
                <a:ea typeface="+mn-ea"/>
                <a:cs typeface="+mn-cs"/>
              </a:rPr>
              <a:t>Tampilan</a:t>
            </a:r>
            <a:r>
              <a:rPr kumimoji="0" lang="en-US" sz="18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a:t>
            </a:r>
            <a:r>
              <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a:t>
            </a:r>
            <a:r>
              <a:rPr kumimoji="0" lang="en-US" sz="1800" b="1" i="1" u="none" strike="noStrike" kern="1200" cap="none" spc="0" normalizeH="0" baseline="0" noProof="0" dirty="0">
                <a:ln>
                  <a:noFill/>
                </a:ln>
                <a:solidFill>
                  <a:prstClr val="black"/>
                </a:solidFill>
                <a:effectLst/>
                <a:uLnTx/>
                <a:uFillTx/>
                <a:latin typeface="Georgia" panose="02040502050405020303" pitchFamily="18" charset="0"/>
                <a:ea typeface="+mn-ea"/>
                <a:cs typeface="+mn-cs"/>
              </a:rPr>
              <a:t>view</a:t>
            </a:r>
            <a:r>
              <a:rPr kumimoji="0" lang="en-US" sz="18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 =&gt; UI</a:t>
            </a:r>
            <a:endPar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5" name="Rectangle 4"/>
          <p:cNvSpPr/>
          <p:nvPr/>
        </p:nvSpPr>
        <p:spPr>
          <a:xfrm>
            <a:off x="6324600" y="6031468"/>
            <a:ext cx="213712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M</a:t>
            </a:r>
            <a:r>
              <a:rPr kumimoji="0" lang="en-US" sz="1800" b="1" i="0" u="none" strike="noStrike" kern="1200" cap="none" spc="0" normalizeH="0" baseline="0" noProof="0" dirty="0" smtClean="0">
                <a:ln>
                  <a:noFill/>
                </a:ln>
                <a:solidFill>
                  <a:prstClr val="black"/>
                </a:solidFill>
                <a:effectLst/>
                <a:uLnTx/>
                <a:uFillTx/>
                <a:latin typeface="Georgia" panose="02040502050405020303" pitchFamily="18" charset="0"/>
                <a:ea typeface="+mn-ea"/>
                <a:cs typeface="+mn-cs"/>
              </a:rPr>
              <a:t>anage </a:t>
            </a:r>
            <a:r>
              <a:rPr kumimoji="0" lang="en-US" sz="1800" b="1" i="0" u="none" strike="noStrike" kern="1200" cap="none" spc="0" normalizeH="0" baseline="0" noProof="0" dirty="0">
                <a:ln>
                  <a:noFill/>
                </a:ln>
                <a:solidFill>
                  <a:prstClr val="black"/>
                </a:solidFill>
                <a:effectLst/>
                <a:uLnTx/>
                <a:uFillTx/>
                <a:latin typeface="Georgia" panose="02040502050405020303" pitchFamily="18" charset="0"/>
                <a:ea typeface="+mn-ea"/>
                <a:cs typeface="+mn-cs"/>
              </a:rPr>
              <a:t>the data</a:t>
            </a:r>
          </a:p>
        </p:txBody>
      </p:sp>
    </p:spTree>
    <p:extLst>
      <p:ext uri="{BB962C8B-B14F-4D97-AF65-F5344CB8AC3E}">
        <p14:creationId xmlns:p14="http://schemas.microsoft.com/office/powerpoint/2010/main" val="5803513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err="1">
                <a:solidFill>
                  <a:srgbClr val="1F497D"/>
                </a:solidFill>
                <a:latin typeface="Georgia"/>
              </a:rPr>
              <a:t>phpMyAdmin</a:t>
            </a:r>
            <a:r>
              <a:rPr lang="en-US" sz="3200" dirty="0">
                <a:solidFill>
                  <a:srgbClr val="1F497D"/>
                </a:solidFill>
                <a:latin typeface="Georgia"/>
              </a:rPr>
              <a:t> </a:t>
            </a:r>
            <a:r>
              <a:rPr lang="en-US" sz="3200" dirty="0" smtClean="0">
                <a:solidFill>
                  <a:srgbClr val="1F497D"/>
                </a:solidFill>
                <a:latin typeface="Georgia"/>
              </a:rPr>
              <a:t>in XAMPP</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sp>
        <p:nvSpPr>
          <p:cNvPr id="6" name="Rectangle 5"/>
          <p:cNvSpPr/>
          <p:nvPr/>
        </p:nvSpPr>
        <p:spPr>
          <a:xfrm>
            <a:off x="152400" y="6041345"/>
            <a:ext cx="3169457" cy="646331"/>
          </a:xfrm>
          <a:prstGeom prst="rect">
            <a:avLst/>
          </a:prstGeom>
        </p:spPr>
        <p:txBody>
          <a:bodyPr wrap="none">
            <a:spAutoFit/>
          </a:bodyPr>
          <a:lstStyle/>
          <a:p>
            <a:r>
              <a:rPr lang="en-US" sz="2000" b="1" dirty="0" smtClean="0">
                <a:latin typeface="Georgia" panose="02040502050405020303" pitchFamily="18" charset="0"/>
              </a:rPr>
              <a:t>Read Source:</a:t>
            </a:r>
          </a:p>
          <a:p>
            <a:r>
              <a:rPr lang="en-US" sz="1600" i="1" dirty="0">
                <a:latin typeface="Georgia" panose="02040502050405020303" pitchFamily="18" charset="0"/>
                <a:hlinkClick r:id="rId2"/>
              </a:rPr>
              <a:t>https://www.phpmyadmin.net</a:t>
            </a:r>
            <a:r>
              <a:rPr lang="en-US" sz="1600" i="1" dirty="0" smtClean="0">
                <a:latin typeface="Georgia" panose="02040502050405020303" pitchFamily="18" charset="0"/>
                <a:hlinkClick r:id="rId2"/>
              </a:rPr>
              <a:t>/</a:t>
            </a:r>
            <a:endParaRPr lang="en-US" sz="1600" i="1" dirty="0">
              <a:latin typeface="Georgia" panose="02040502050405020303" pitchFamily="18" charset="0"/>
            </a:endParaRPr>
          </a:p>
        </p:txBody>
      </p:sp>
      <p:pic>
        <p:nvPicPr>
          <p:cNvPr id="7" name="Picture 12" descr="Download Free png Woman Girl Clip Art - Girl Thinking Clipart Png Free PNG  Images ... - DLPNG.co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451" y="4495800"/>
            <a:ext cx="1219200" cy="1620740"/>
          </a:xfrm>
          <a:prstGeom prst="rect">
            <a:avLst/>
          </a:prstGeom>
          <a:noFill/>
          <a:extLst>
            <a:ext uri="{909E8E84-426E-40DD-AFC4-6F175D3DCCD1}">
              <a14:hiddenFill xmlns:a14="http://schemas.microsoft.com/office/drawing/2010/main">
                <a:solidFill>
                  <a:srgbClr val="FFFFFF"/>
                </a:solidFill>
              </a14:hiddenFill>
            </a:ext>
          </a:extLst>
        </p:spPr>
      </p:pic>
      <p:sp>
        <p:nvSpPr>
          <p:cNvPr id="8" name="Rounded Rectangular Callout 7"/>
          <p:cNvSpPr/>
          <p:nvPr/>
        </p:nvSpPr>
        <p:spPr>
          <a:xfrm>
            <a:off x="1181100" y="1637109"/>
            <a:ext cx="6781800" cy="2553891"/>
          </a:xfrm>
          <a:prstGeom prst="wedgeRoundRectCallout">
            <a:avLst>
              <a:gd name="adj1" fmla="val -51417"/>
              <a:gd name="adj2" fmla="val 89637"/>
              <a:gd name="adj3" fmla="val 16667"/>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r>
              <a:rPr lang="en-US" b="1" i="1" dirty="0" err="1">
                <a:latin typeface="Georgia" panose="02040502050405020303" pitchFamily="18" charset="0"/>
              </a:rPr>
              <a:t>phpMyAdmin</a:t>
            </a:r>
            <a:r>
              <a:rPr lang="en-US" dirty="0">
                <a:latin typeface="Georgia" panose="02040502050405020303" pitchFamily="18" charset="0"/>
              </a:rPr>
              <a:t> is a free software tool written in PHP, intended to handle the administration of MySQL over the Web. </a:t>
            </a:r>
            <a:r>
              <a:rPr lang="en-US" dirty="0" err="1">
                <a:latin typeface="Georgia" panose="02040502050405020303" pitchFamily="18" charset="0"/>
              </a:rPr>
              <a:t>phpMyAdmin</a:t>
            </a:r>
            <a:r>
              <a:rPr lang="en-US" dirty="0">
                <a:latin typeface="Georgia" panose="02040502050405020303" pitchFamily="18" charset="0"/>
              </a:rPr>
              <a:t> supports a wide range of operations on MySQL and </a:t>
            </a:r>
            <a:r>
              <a:rPr lang="en-US" dirty="0" err="1">
                <a:latin typeface="Georgia" panose="02040502050405020303" pitchFamily="18" charset="0"/>
              </a:rPr>
              <a:t>MariaDB</a:t>
            </a:r>
            <a:r>
              <a:rPr lang="en-US" dirty="0">
                <a:latin typeface="Georgia" panose="02040502050405020303" pitchFamily="18" charset="0"/>
              </a:rPr>
              <a:t>. Frequently used operations (</a:t>
            </a:r>
            <a:r>
              <a:rPr lang="en-US" b="1" i="1" dirty="0">
                <a:latin typeface="Georgia" panose="02040502050405020303" pitchFamily="18" charset="0"/>
              </a:rPr>
              <a:t>managing databases, tables, columns, relations, indexes, users, permissions, </a:t>
            </a:r>
            <a:r>
              <a:rPr lang="en-US" b="1" i="1" dirty="0" err="1">
                <a:latin typeface="Georgia" panose="02040502050405020303" pitchFamily="18" charset="0"/>
              </a:rPr>
              <a:t>etc</a:t>
            </a:r>
            <a:r>
              <a:rPr lang="en-US" dirty="0">
                <a:latin typeface="Georgia" panose="02040502050405020303" pitchFamily="18" charset="0"/>
              </a:rPr>
              <a:t>) can be performed via the user interface, while you still have the ability to directly execute any SQL statement.</a:t>
            </a:r>
          </a:p>
        </p:txBody>
      </p:sp>
      <p:sp>
        <p:nvSpPr>
          <p:cNvPr id="2" name="Rectangle 1"/>
          <p:cNvSpPr/>
          <p:nvPr/>
        </p:nvSpPr>
        <p:spPr>
          <a:xfrm>
            <a:off x="3067421" y="1267777"/>
            <a:ext cx="3009157" cy="369332"/>
          </a:xfrm>
          <a:prstGeom prst="rect">
            <a:avLst/>
          </a:prstGeom>
        </p:spPr>
        <p:txBody>
          <a:bodyPr wrap="none">
            <a:spAutoFit/>
          </a:bodyPr>
          <a:lstStyle/>
          <a:p>
            <a:r>
              <a:rPr lang="en-US" dirty="0">
                <a:latin typeface="Georgia" panose="02040502050405020303" pitchFamily="18" charset="0"/>
              </a:rPr>
              <a:t>Bringing MySQL to the web</a:t>
            </a:r>
          </a:p>
        </p:txBody>
      </p:sp>
    </p:spTree>
    <p:extLst>
      <p:ext uri="{BB962C8B-B14F-4D97-AF65-F5344CB8AC3E}">
        <p14:creationId xmlns:p14="http://schemas.microsoft.com/office/powerpoint/2010/main" val="37704209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MySQL</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sp>
        <p:nvSpPr>
          <p:cNvPr id="6" name="Rectangle 5"/>
          <p:cNvSpPr/>
          <p:nvPr/>
        </p:nvSpPr>
        <p:spPr>
          <a:xfrm>
            <a:off x="152400" y="6041345"/>
            <a:ext cx="6938118" cy="615553"/>
          </a:xfrm>
          <a:prstGeom prst="rect">
            <a:avLst/>
          </a:prstGeom>
        </p:spPr>
        <p:txBody>
          <a:bodyPr wrap="none">
            <a:spAutoFit/>
          </a:bodyPr>
          <a:lstStyle/>
          <a:p>
            <a:r>
              <a:rPr lang="en-US" sz="2000" b="1" dirty="0" smtClean="0">
                <a:latin typeface="Georgia" panose="02040502050405020303" pitchFamily="18" charset="0"/>
              </a:rPr>
              <a:t>Read Source:</a:t>
            </a:r>
          </a:p>
          <a:p>
            <a:r>
              <a:rPr lang="en-US" sz="1400" i="1" dirty="0">
                <a:latin typeface="Georgia" panose="02040502050405020303" pitchFamily="18" charset="0"/>
                <a:hlinkClick r:id="rId2"/>
              </a:rPr>
              <a:t>https://www.123-reg.co.uk/support/servers/what-is-mysql-and-why-do-i-need-it</a:t>
            </a:r>
            <a:r>
              <a:rPr lang="en-US" sz="1400" i="1" dirty="0" smtClean="0">
                <a:latin typeface="Georgia" panose="02040502050405020303" pitchFamily="18" charset="0"/>
                <a:hlinkClick r:id="rId2"/>
              </a:rPr>
              <a:t>/</a:t>
            </a:r>
            <a:endParaRPr lang="en-US" sz="1600" i="1" dirty="0">
              <a:latin typeface="Georgia" panose="02040502050405020303" pitchFamily="18" charset="0"/>
            </a:endParaRPr>
          </a:p>
        </p:txBody>
      </p:sp>
      <p:pic>
        <p:nvPicPr>
          <p:cNvPr id="7" name="Picture 12" descr="Download Free png Woman Girl Clip Art - Girl Thinking Clipart Png Free PNG  Images ... - DLPNG.co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451" y="4495800"/>
            <a:ext cx="1219200" cy="1620740"/>
          </a:xfrm>
          <a:prstGeom prst="rect">
            <a:avLst/>
          </a:prstGeom>
          <a:noFill/>
          <a:extLst>
            <a:ext uri="{909E8E84-426E-40DD-AFC4-6F175D3DCCD1}">
              <a14:hiddenFill xmlns:a14="http://schemas.microsoft.com/office/drawing/2010/main">
                <a:solidFill>
                  <a:srgbClr val="FFFFFF"/>
                </a:solidFill>
              </a14:hiddenFill>
            </a:ext>
          </a:extLst>
        </p:spPr>
      </p:pic>
      <p:sp>
        <p:nvSpPr>
          <p:cNvPr id="8" name="Rounded Rectangular Callout 7"/>
          <p:cNvSpPr/>
          <p:nvPr/>
        </p:nvSpPr>
        <p:spPr>
          <a:xfrm>
            <a:off x="876300" y="1169136"/>
            <a:ext cx="7391400" cy="2553891"/>
          </a:xfrm>
          <a:prstGeom prst="wedgeRoundRectCallout">
            <a:avLst>
              <a:gd name="adj1" fmla="val -45902"/>
              <a:gd name="adj2" fmla="val 99990"/>
              <a:gd name="adj3" fmla="val 16667"/>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r>
              <a:rPr lang="en-US" sz="1600" dirty="0">
                <a:latin typeface="Georgia" panose="02040502050405020303" pitchFamily="18" charset="0"/>
              </a:rPr>
              <a:t>MySQL is a relational database management system based on </a:t>
            </a:r>
            <a:r>
              <a:rPr lang="en-US" sz="1600" b="1" dirty="0">
                <a:latin typeface="Georgia" panose="02040502050405020303" pitchFamily="18" charset="0"/>
              </a:rPr>
              <a:t>SQL – Structured Query Language</a:t>
            </a:r>
            <a:r>
              <a:rPr lang="en-US" sz="1600" dirty="0">
                <a:latin typeface="Georgia" panose="02040502050405020303" pitchFamily="18" charset="0"/>
              </a:rPr>
              <a:t>. The application is used for a wide range of purposes, including data warehousing, e-commerce, and logging </a:t>
            </a:r>
            <a:r>
              <a:rPr lang="en-US" sz="1600" dirty="0" smtClean="0">
                <a:latin typeface="Georgia" panose="02040502050405020303" pitchFamily="18" charset="0"/>
              </a:rPr>
              <a:t>applications. The </a:t>
            </a:r>
            <a:r>
              <a:rPr lang="en-US" sz="1600" dirty="0">
                <a:latin typeface="Georgia" panose="02040502050405020303" pitchFamily="18" charset="0"/>
              </a:rPr>
              <a:t>most common use for </a:t>
            </a:r>
            <a:r>
              <a:rPr lang="en-US" sz="1600" dirty="0" err="1">
                <a:latin typeface="Georgia" panose="02040502050405020303" pitchFamily="18" charset="0"/>
              </a:rPr>
              <a:t>mySQL</a:t>
            </a:r>
            <a:r>
              <a:rPr lang="en-US" sz="1600" dirty="0">
                <a:latin typeface="Georgia" panose="02040502050405020303" pitchFamily="18" charset="0"/>
              </a:rPr>
              <a:t> however, is for the purpose of a web database. It can be used to store anything from a single record of information to an entire inventory of available products for an online </a:t>
            </a:r>
            <a:r>
              <a:rPr lang="en-US" sz="1600" dirty="0" smtClean="0">
                <a:latin typeface="Georgia" panose="02040502050405020303" pitchFamily="18" charset="0"/>
              </a:rPr>
              <a:t>store. In </a:t>
            </a:r>
            <a:r>
              <a:rPr lang="en-US" sz="1600" dirty="0">
                <a:latin typeface="Georgia" panose="02040502050405020303" pitchFamily="18" charset="0"/>
              </a:rPr>
              <a:t>association with a scripting language such as </a:t>
            </a:r>
            <a:r>
              <a:rPr lang="en-US" sz="1600" b="1" dirty="0">
                <a:latin typeface="Georgia" panose="02040502050405020303" pitchFamily="18" charset="0"/>
              </a:rPr>
              <a:t>PHP</a:t>
            </a:r>
            <a:r>
              <a:rPr lang="en-US" sz="1600" dirty="0">
                <a:latin typeface="Georgia" panose="02040502050405020303" pitchFamily="18" charset="0"/>
              </a:rPr>
              <a:t> or </a:t>
            </a:r>
            <a:r>
              <a:rPr lang="en-US" sz="1600" b="1" dirty="0" smtClean="0">
                <a:latin typeface="Georgia" panose="02040502050405020303" pitchFamily="18" charset="0"/>
              </a:rPr>
              <a:t>Perl</a:t>
            </a:r>
            <a:r>
              <a:rPr lang="en-US" sz="1600" dirty="0" smtClean="0">
                <a:latin typeface="Georgia" panose="02040502050405020303" pitchFamily="18" charset="0"/>
              </a:rPr>
              <a:t>, </a:t>
            </a:r>
            <a:r>
              <a:rPr lang="en-US" sz="1600" dirty="0">
                <a:latin typeface="Georgia" panose="02040502050405020303" pitchFamily="18" charset="0"/>
              </a:rPr>
              <a:t>it is possible to create websites which will interact in real-time with a </a:t>
            </a:r>
            <a:r>
              <a:rPr lang="en-US" sz="1600" dirty="0" err="1">
                <a:latin typeface="Georgia" panose="02040502050405020303" pitchFamily="18" charset="0"/>
              </a:rPr>
              <a:t>mySQL</a:t>
            </a:r>
            <a:r>
              <a:rPr lang="en-US" sz="1600" dirty="0">
                <a:latin typeface="Georgia" panose="02040502050405020303" pitchFamily="18" charset="0"/>
              </a:rPr>
              <a:t> database to rapidly display </a:t>
            </a:r>
            <a:r>
              <a:rPr lang="en-US" sz="1600" dirty="0" err="1">
                <a:latin typeface="Georgia" panose="02040502050405020303" pitchFamily="18" charset="0"/>
              </a:rPr>
              <a:t>categorised</a:t>
            </a:r>
            <a:r>
              <a:rPr lang="en-US" sz="1600" dirty="0">
                <a:latin typeface="Georgia" panose="02040502050405020303" pitchFamily="18" charset="0"/>
              </a:rPr>
              <a:t> and searchable information to a website user.</a:t>
            </a:r>
          </a:p>
        </p:txBody>
      </p:sp>
    </p:spTree>
    <p:extLst>
      <p:ext uri="{BB962C8B-B14F-4D97-AF65-F5344CB8AC3E}">
        <p14:creationId xmlns:p14="http://schemas.microsoft.com/office/powerpoint/2010/main" val="37997581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2895600"/>
            <a:ext cx="7620000" cy="1323439"/>
          </a:xfrm>
          <a:prstGeom prst="rect">
            <a:avLst/>
          </a:prstGeom>
        </p:spPr>
        <p:txBody>
          <a:bodyPr wrap="square">
            <a:spAutoFit/>
          </a:bodyPr>
          <a:lstStyle/>
          <a:p>
            <a:pPr lvl="0" algn="ctr">
              <a:defRPr/>
            </a:pPr>
            <a:r>
              <a:rPr kumimoji="0" lang="en-US" sz="4000" b="0" i="0" u="none" strike="noStrike" kern="1200" cap="none" spc="0" normalizeH="0" baseline="0" noProof="0" dirty="0">
                <a:ln>
                  <a:noFill/>
                </a:ln>
                <a:solidFill>
                  <a:prstClr val="black"/>
                </a:solidFill>
                <a:effectLst/>
                <a:uLnTx/>
                <a:uFillTx/>
                <a:latin typeface="Georgia"/>
                <a:ea typeface="+mn-ea"/>
                <a:cs typeface="+mn-cs"/>
              </a:rPr>
              <a:t>1 </a:t>
            </a: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 </a:t>
            </a:r>
            <a:r>
              <a:rPr lang="en-US" sz="4000" dirty="0" smtClean="0">
                <a:solidFill>
                  <a:prstClr val="black"/>
                </a:solidFill>
              </a:rPr>
              <a:t>Create </a:t>
            </a:r>
            <a:r>
              <a:rPr lang="en-US" sz="4000" i="1" dirty="0" smtClean="0">
                <a:solidFill>
                  <a:prstClr val="black"/>
                </a:solidFill>
              </a:rPr>
              <a:t>Database</a:t>
            </a:r>
            <a:r>
              <a:rPr lang="en-US" sz="4000" dirty="0" smtClean="0">
                <a:solidFill>
                  <a:prstClr val="black"/>
                </a:solidFill>
              </a:rPr>
              <a:t> </a:t>
            </a:r>
            <a:r>
              <a:rPr lang="en-US" sz="4000" dirty="0">
                <a:solidFill>
                  <a:prstClr val="black"/>
                </a:solidFill>
              </a:rPr>
              <a:t>in XAMPP using </a:t>
            </a:r>
            <a:r>
              <a:rPr lang="en-US" sz="4000" dirty="0" err="1" smtClean="0">
                <a:solidFill>
                  <a:prstClr val="black"/>
                </a:solidFill>
              </a:rPr>
              <a:t>phpMyAdmin</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9776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0" y="0"/>
            <a:ext cx="9144000" cy="4835137"/>
            <a:chOff x="0" y="0"/>
            <a:chExt cx="9144000" cy="4835137"/>
          </a:xfrm>
        </p:grpSpPr>
        <p:pic>
          <p:nvPicPr>
            <p:cNvPr id="2" name="Picture 1"/>
            <p:cNvPicPr>
              <a:picLocks noChangeAspect="1"/>
            </p:cNvPicPr>
            <p:nvPr/>
          </p:nvPicPr>
          <p:blipFill>
            <a:blip r:embed="rId2"/>
            <a:stretch>
              <a:fillRect/>
            </a:stretch>
          </p:blipFill>
          <p:spPr>
            <a:xfrm>
              <a:off x="0" y="0"/>
              <a:ext cx="9144000" cy="4835137"/>
            </a:xfrm>
            <a:prstGeom prst="rect">
              <a:avLst/>
            </a:prstGeom>
          </p:spPr>
        </p:pic>
        <p:pic>
          <p:nvPicPr>
            <p:cNvPr id="3" name="Picture 2"/>
            <p:cNvPicPr>
              <a:picLocks noChangeAspect="1"/>
            </p:cNvPicPr>
            <p:nvPr/>
          </p:nvPicPr>
          <p:blipFill>
            <a:blip r:embed="rId3"/>
            <a:stretch>
              <a:fillRect/>
            </a:stretch>
          </p:blipFill>
          <p:spPr>
            <a:xfrm>
              <a:off x="6934200" y="4114800"/>
              <a:ext cx="2114550" cy="590550"/>
            </a:xfrm>
            <a:prstGeom prst="rect">
              <a:avLst/>
            </a:prstGeom>
          </p:spPr>
        </p:pic>
      </p:grpSp>
      <p:sp>
        <p:nvSpPr>
          <p:cNvPr id="5" name="Rectangle 4"/>
          <p:cNvSpPr/>
          <p:nvPr/>
        </p:nvSpPr>
        <p:spPr>
          <a:xfrm>
            <a:off x="300037" y="5257800"/>
            <a:ext cx="8543926" cy="1200329"/>
          </a:xfrm>
          <a:prstGeom prst="rect">
            <a:avLst/>
          </a:prstGeom>
        </p:spPr>
        <p:txBody>
          <a:bodyPr wrap="square">
            <a:spAutoFit/>
          </a:bodyPr>
          <a:lstStyle/>
          <a:p>
            <a:pPr algn="ctr"/>
            <a:r>
              <a:rPr lang="en-US" dirty="0" smtClean="0"/>
              <a:t>Recommended </a:t>
            </a:r>
            <a:r>
              <a:rPr lang="en-US" dirty="0"/>
              <a:t>to install </a:t>
            </a:r>
            <a:r>
              <a:rPr lang="en-US" dirty="0" smtClean="0"/>
              <a:t>XAMPP before we start to this lecture. We might need to test our AIMVC project can run locally. </a:t>
            </a:r>
            <a:r>
              <a:rPr lang="en-US" dirty="0"/>
              <a:t>If </a:t>
            </a:r>
            <a:r>
              <a:rPr lang="en-US" dirty="0" smtClean="0"/>
              <a:t>you find any problems related to installing </a:t>
            </a:r>
            <a:r>
              <a:rPr lang="en-US" dirty="0"/>
              <a:t>and configuring XAMPP </a:t>
            </a:r>
            <a:r>
              <a:rPr lang="en-US" dirty="0" err="1" smtClean="0"/>
              <a:t>phpMyAdmin</a:t>
            </a:r>
            <a:r>
              <a:rPr lang="en-US" dirty="0" smtClean="0"/>
              <a:t>, </a:t>
            </a:r>
            <a:r>
              <a:rPr lang="en-US" dirty="0"/>
              <a:t>then </a:t>
            </a:r>
            <a:r>
              <a:rPr lang="en-US" dirty="0" smtClean="0"/>
              <a:t>please find previous lecture in this class or any tutorials to solve it.</a:t>
            </a:r>
            <a:endParaRPr lang="en-US" dirty="0"/>
          </a:p>
        </p:txBody>
      </p:sp>
    </p:spTree>
    <p:extLst>
      <p:ext uri="{BB962C8B-B14F-4D97-AF65-F5344CB8AC3E}">
        <p14:creationId xmlns:p14="http://schemas.microsoft.com/office/powerpoint/2010/main" val="27987245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Navigate to Database </a:t>
            </a:r>
            <a:r>
              <a:rPr lang="en-US" sz="3200" dirty="0">
                <a:solidFill>
                  <a:srgbClr val="1F497D"/>
                </a:solidFill>
                <a:latin typeface="Georgia"/>
              </a:rPr>
              <a:t>on </a:t>
            </a:r>
            <a:r>
              <a:rPr lang="en-US" sz="3200" dirty="0" err="1" smtClean="0">
                <a:solidFill>
                  <a:srgbClr val="1F497D"/>
                </a:solidFill>
                <a:latin typeface="Georgia"/>
              </a:rPr>
              <a:t>phpMyAdmin</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sp>
        <p:nvSpPr>
          <p:cNvPr id="2" name="Rectangle 1"/>
          <p:cNvSpPr/>
          <p:nvPr/>
        </p:nvSpPr>
        <p:spPr>
          <a:xfrm>
            <a:off x="53248" y="957550"/>
            <a:ext cx="8129148" cy="369332"/>
          </a:xfrm>
          <a:prstGeom prst="rect">
            <a:avLst/>
          </a:prstGeom>
        </p:spPr>
        <p:txBody>
          <a:bodyPr wrap="none">
            <a:spAutoFit/>
          </a:bodyPr>
          <a:lstStyle/>
          <a:p>
            <a:r>
              <a:rPr lang="en-US" b="1" dirty="0" smtClean="0">
                <a:latin typeface="Georgia" panose="02040502050405020303" pitchFamily="18" charset="0"/>
              </a:rPr>
              <a:t>Navigate cursor </a:t>
            </a:r>
            <a:r>
              <a:rPr lang="en-US" b="1" dirty="0">
                <a:latin typeface="Georgia" panose="02040502050405020303" pitchFamily="18" charset="0"/>
              </a:rPr>
              <a:t>to </a:t>
            </a:r>
            <a:r>
              <a:rPr lang="en-US" i="1" dirty="0">
                <a:latin typeface="Georgia" panose="02040502050405020303" pitchFamily="18" charset="0"/>
                <a:hlinkClick r:id="rId2"/>
              </a:rPr>
              <a:t>http://</a:t>
            </a:r>
            <a:r>
              <a:rPr lang="en-US" i="1" dirty="0" smtClean="0">
                <a:latin typeface="Georgia" panose="02040502050405020303" pitchFamily="18" charset="0"/>
                <a:hlinkClick r:id="rId2"/>
              </a:rPr>
              <a:t>localhost/phpmyadmin/</a:t>
            </a:r>
            <a:r>
              <a:rPr lang="en-US" i="1" dirty="0">
                <a:latin typeface="Georgia" panose="02040502050405020303" pitchFamily="18" charset="0"/>
              </a:rPr>
              <a:t> </a:t>
            </a:r>
            <a:r>
              <a:rPr lang="en-US" dirty="0" smtClean="0">
                <a:latin typeface="Georgia" panose="02040502050405020303" pitchFamily="18" charset="0"/>
              </a:rPr>
              <a:t>and click button “</a:t>
            </a:r>
            <a:r>
              <a:rPr lang="en-US" i="1" dirty="0" smtClean="0">
                <a:latin typeface="Georgia" panose="02040502050405020303" pitchFamily="18" charset="0"/>
              </a:rPr>
              <a:t>new</a:t>
            </a:r>
            <a:r>
              <a:rPr lang="en-US" dirty="0" smtClean="0">
                <a:latin typeface="Georgia" panose="02040502050405020303" pitchFamily="18" charset="0"/>
              </a:rPr>
              <a:t>”.</a:t>
            </a:r>
          </a:p>
        </p:txBody>
      </p:sp>
      <p:pic>
        <p:nvPicPr>
          <p:cNvPr id="3" name="Picture 2"/>
          <p:cNvPicPr>
            <a:picLocks noChangeAspect="1"/>
          </p:cNvPicPr>
          <p:nvPr/>
        </p:nvPicPr>
        <p:blipFill>
          <a:blip r:embed="rId3"/>
          <a:stretch>
            <a:fillRect/>
          </a:stretch>
        </p:blipFill>
        <p:spPr>
          <a:xfrm>
            <a:off x="152401" y="1347080"/>
            <a:ext cx="8839200" cy="5396244"/>
          </a:xfrm>
          <a:prstGeom prst="rect">
            <a:avLst/>
          </a:prstGeom>
        </p:spPr>
      </p:pic>
      <p:sp>
        <p:nvSpPr>
          <p:cNvPr id="5" name="Down Arrow 4"/>
          <p:cNvSpPr/>
          <p:nvPr/>
        </p:nvSpPr>
        <p:spPr>
          <a:xfrm rot="7522811">
            <a:off x="947110" y="2580573"/>
            <a:ext cx="1066800" cy="175260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89241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Create a Database</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2" name="Picture 1"/>
          <p:cNvPicPr>
            <a:picLocks noChangeAspect="1"/>
          </p:cNvPicPr>
          <p:nvPr/>
        </p:nvPicPr>
        <p:blipFill>
          <a:blip r:embed="rId2"/>
          <a:stretch>
            <a:fillRect/>
          </a:stretch>
        </p:blipFill>
        <p:spPr>
          <a:xfrm>
            <a:off x="166171" y="990601"/>
            <a:ext cx="8825429" cy="5000824"/>
          </a:xfrm>
          <a:prstGeom prst="rect">
            <a:avLst/>
          </a:prstGeom>
        </p:spPr>
      </p:pic>
      <p:sp>
        <p:nvSpPr>
          <p:cNvPr id="3" name="Rectangle 2"/>
          <p:cNvSpPr/>
          <p:nvPr/>
        </p:nvSpPr>
        <p:spPr>
          <a:xfrm>
            <a:off x="84921" y="6034574"/>
            <a:ext cx="8895662" cy="615553"/>
          </a:xfrm>
          <a:prstGeom prst="rect">
            <a:avLst/>
          </a:prstGeom>
        </p:spPr>
        <p:txBody>
          <a:bodyPr wrap="square">
            <a:spAutoFit/>
          </a:bodyPr>
          <a:lstStyle/>
          <a:p>
            <a:r>
              <a:rPr lang="en-US" sz="1700" dirty="0" smtClean="0">
                <a:latin typeface="Georgia" panose="02040502050405020303" pitchFamily="18" charset="0"/>
              </a:rPr>
              <a:t>See </a:t>
            </a:r>
            <a:r>
              <a:rPr lang="en-US" sz="1700" dirty="0">
                <a:latin typeface="Georgia" panose="02040502050405020303" pitchFamily="18" charset="0"/>
              </a:rPr>
              <a:t>the option to </a:t>
            </a:r>
            <a:r>
              <a:rPr lang="en-US" sz="1700" dirty="0" smtClean="0">
                <a:latin typeface="Georgia" panose="02040502050405020303" pitchFamily="18" charset="0"/>
              </a:rPr>
              <a:t>“</a:t>
            </a:r>
            <a:r>
              <a:rPr lang="en-US" sz="1700" i="1" dirty="0" smtClean="0">
                <a:latin typeface="Georgia" panose="02040502050405020303" pitchFamily="18" charset="0"/>
              </a:rPr>
              <a:t>Create </a:t>
            </a:r>
            <a:r>
              <a:rPr lang="en-US" sz="1700" i="1" dirty="0">
                <a:latin typeface="Georgia" panose="02040502050405020303" pitchFamily="18" charset="0"/>
              </a:rPr>
              <a:t>a </a:t>
            </a:r>
            <a:r>
              <a:rPr lang="en-US" sz="1700" i="1" dirty="0" smtClean="0">
                <a:latin typeface="Georgia" panose="02040502050405020303" pitchFamily="18" charset="0"/>
              </a:rPr>
              <a:t>Database</a:t>
            </a:r>
            <a:r>
              <a:rPr lang="en-US" sz="1700" dirty="0" smtClean="0">
                <a:latin typeface="Georgia" panose="02040502050405020303" pitchFamily="18" charset="0"/>
              </a:rPr>
              <a:t>” </a:t>
            </a:r>
            <a:r>
              <a:rPr lang="en-US" sz="1700" dirty="0">
                <a:latin typeface="Georgia" panose="02040502050405020303" pitchFamily="18" charset="0"/>
              </a:rPr>
              <a:t>and input field to enter the database name. Write the database name and </a:t>
            </a:r>
            <a:r>
              <a:rPr lang="en-US" sz="1700" dirty="0" smtClean="0">
                <a:latin typeface="Georgia" panose="02040502050405020303" pitchFamily="18" charset="0"/>
              </a:rPr>
              <a:t>click </a:t>
            </a:r>
            <a:r>
              <a:rPr lang="en-US" sz="1700" dirty="0">
                <a:latin typeface="Georgia" panose="02040502050405020303" pitchFamily="18" charset="0"/>
              </a:rPr>
              <a:t>the </a:t>
            </a:r>
            <a:r>
              <a:rPr lang="en-US" sz="1700" dirty="0" smtClean="0">
                <a:latin typeface="Georgia" panose="02040502050405020303" pitchFamily="18" charset="0"/>
              </a:rPr>
              <a:t>“</a:t>
            </a:r>
            <a:r>
              <a:rPr lang="en-US" sz="1700" i="1" dirty="0" smtClean="0">
                <a:latin typeface="Georgia" panose="02040502050405020303" pitchFamily="18" charset="0"/>
              </a:rPr>
              <a:t>Create</a:t>
            </a:r>
            <a:r>
              <a:rPr lang="en-US" sz="1700" dirty="0" smtClean="0">
                <a:latin typeface="Georgia" panose="02040502050405020303" pitchFamily="18" charset="0"/>
              </a:rPr>
              <a:t>” </a:t>
            </a:r>
            <a:r>
              <a:rPr lang="en-US" sz="1700" dirty="0">
                <a:latin typeface="Georgia" panose="02040502050405020303" pitchFamily="18" charset="0"/>
              </a:rPr>
              <a:t>button. </a:t>
            </a:r>
          </a:p>
        </p:txBody>
      </p:sp>
    </p:spTree>
    <p:extLst>
      <p:ext uri="{BB962C8B-B14F-4D97-AF65-F5344CB8AC3E}">
        <p14:creationId xmlns:p14="http://schemas.microsoft.com/office/powerpoint/2010/main" val="8602387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Create Tables Using </a:t>
            </a:r>
            <a:r>
              <a:rPr lang="en-US" sz="3200" dirty="0" err="1">
                <a:solidFill>
                  <a:srgbClr val="1F497D"/>
                </a:solidFill>
                <a:latin typeface="Georgia"/>
              </a:rPr>
              <a:t>phpMyAdmin</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2" name="Picture 1"/>
          <p:cNvPicPr>
            <a:picLocks noChangeAspect="1"/>
          </p:cNvPicPr>
          <p:nvPr/>
        </p:nvPicPr>
        <p:blipFill>
          <a:blip r:embed="rId2"/>
          <a:stretch>
            <a:fillRect/>
          </a:stretch>
        </p:blipFill>
        <p:spPr>
          <a:xfrm>
            <a:off x="152401" y="990601"/>
            <a:ext cx="8839200" cy="4800600"/>
          </a:xfrm>
          <a:prstGeom prst="rect">
            <a:avLst/>
          </a:prstGeom>
        </p:spPr>
      </p:pic>
      <p:sp>
        <p:nvSpPr>
          <p:cNvPr id="3" name="Rectangle 2"/>
          <p:cNvSpPr/>
          <p:nvPr/>
        </p:nvSpPr>
        <p:spPr>
          <a:xfrm>
            <a:off x="4038600" y="4419600"/>
            <a:ext cx="4572000" cy="1200329"/>
          </a:xfrm>
          <a:prstGeom prst="rect">
            <a:avLst/>
          </a:prstGeom>
        </p:spPr>
        <p:txBody>
          <a:bodyPr>
            <a:spAutoFit/>
          </a:bodyPr>
          <a:lstStyle/>
          <a:p>
            <a:r>
              <a:rPr lang="en-US" sz="2400" dirty="0">
                <a:solidFill>
                  <a:srgbClr val="FF0000"/>
                </a:solidFill>
                <a:latin typeface="Georgia" panose="02040502050405020303" pitchFamily="18" charset="0"/>
              </a:rPr>
              <a:t>By default the </a:t>
            </a:r>
            <a:r>
              <a:rPr lang="en-US" sz="2400" dirty="0" err="1">
                <a:solidFill>
                  <a:srgbClr val="FF0000"/>
                </a:solidFill>
                <a:latin typeface="Georgia" panose="02040502050405020303" pitchFamily="18" charset="0"/>
              </a:rPr>
              <a:t>HostName</a:t>
            </a:r>
            <a:r>
              <a:rPr lang="en-US" sz="2400" dirty="0">
                <a:solidFill>
                  <a:srgbClr val="FF0000"/>
                </a:solidFill>
                <a:latin typeface="Georgia" panose="02040502050405020303" pitchFamily="18" charset="0"/>
              </a:rPr>
              <a:t> is ‘</a:t>
            </a:r>
            <a:r>
              <a:rPr lang="en-US" sz="2400" i="1" dirty="0">
                <a:solidFill>
                  <a:srgbClr val="FF0000"/>
                </a:solidFill>
                <a:latin typeface="Georgia" panose="02040502050405020303" pitchFamily="18" charset="0"/>
              </a:rPr>
              <a:t>localhost</a:t>
            </a:r>
            <a:r>
              <a:rPr lang="en-US" sz="2400" dirty="0">
                <a:solidFill>
                  <a:srgbClr val="FF0000"/>
                </a:solidFill>
                <a:latin typeface="Georgia" panose="02040502050405020303" pitchFamily="18" charset="0"/>
              </a:rPr>
              <a:t>’, MySQL user is ‘</a:t>
            </a:r>
            <a:r>
              <a:rPr lang="en-US" sz="2400" i="1" dirty="0">
                <a:solidFill>
                  <a:srgbClr val="FF0000"/>
                </a:solidFill>
                <a:latin typeface="Georgia" panose="02040502050405020303" pitchFamily="18" charset="0"/>
              </a:rPr>
              <a:t>root</a:t>
            </a:r>
            <a:r>
              <a:rPr lang="en-US" sz="2400" dirty="0">
                <a:solidFill>
                  <a:srgbClr val="FF0000"/>
                </a:solidFill>
                <a:latin typeface="Georgia" panose="02040502050405020303" pitchFamily="18" charset="0"/>
              </a:rPr>
              <a:t>’ and have no password.</a:t>
            </a:r>
          </a:p>
        </p:txBody>
      </p:sp>
      <p:sp>
        <p:nvSpPr>
          <p:cNvPr id="5" name="Rectangle 4"/>
          <p:cNvSpPr/>
          <p:nvPr/>
        </p:nvSpPr>
        <p:spPr>
          <a:xfrm>
            <a:off x="36722" y="5825308"/>
            <a:ext cx="8855725" cy="923330"/>
          </a:xfrm>
          <a:prstGeom prst="rect">
            <a:avLst/>
          </a:prstGeom>
        </p:spPr>
        <p:txBody>
          <a:bodyPr wrap="square">
            <a:spAutoFit/>
          </a:bodyPr>
          <a:lstStyle/>
          <a:p>
            <a:r>
              <a:rPr lang="en-US" dirty="0">
                <a:latin typeface="Georgia" panose="02040502050405020303" pitchFamily="18" charset="0"/>
              </a:rPr>
              <a:t>In the </a:t>
            </a:r>
            <a:r>
              <a:rPr lang="en-US" dirty="0" err="1">
                <a:latin typeface="Georgia" panose="02040502050405020303" pitchFamily="18" charset="0"/>
              </a:rPr>
              <a:t>phpMyAdmin</a:t>
            </a:r>
            <a:r>
              <a:rPr lang="en-US" dirty="0">
                <a:latin typeface="Georgia" panose="02040502050405020303" pitchFamily="18" charset="0"/>
              </a:rPr>
              <a:t> click on the </a:t>
            </a:r>
            <a:r>
              <a:rPr lang="en-US" dirty="0" smtClean="0">
                <a:latin typeface="Georgia" panose="02040502050405020303" pitchFamily="18" charset="0"/>
              </a:rPr>
              <a:t>“</a:t>
            </a:r>
            <a:r>
              <a:rPr lang="en-US" i="1" dirty="0">
                <a:latin typeface="Georgia" panose="02040502050405020303" pitchFamily="18" charset="0"/>
              </a:rPr>
              <a:t>Structure</a:t>
            </a:r>
            <a:r>
              <a:rPr lang="en-US" dirty="0" smtClean="0">
                <a:latin typeface="Georgia" panose="02040502050405020303" pitchFamily="18" charset="0"/>
              </a:rPr>
              <a:t>” tab and click </a:t>
            </a:r>
            <a:r>
              <a:rPr lang="en-US" dirty="0">
                <a:latin typeface="Georgia" panose="02040502050405020303" pitchFamily="18" charset="0"/>
              </a:rPr>
              <a:t>on the </a:t>
            </a:r>
            <a:r>
              <a:rPr lang="en-US" dirty="0" smtClean="0">
                <a:latin typeface="Georgia" panose="02040502050405020303" pitchFamily="18" charset="0"/>
              </a:rPr>
              <a:t>“</a:t>
            </a:r>
            <a:r>
              <a:rPr lang="en-US" i="1" dirty="0">
                <a:latin typeface="Georgia" panose="02040502050405020303" pitchFamily="18" charset="0"/>
              </a:rPr>
              <a:t>Create new table on database</a:t>
            </a:r>
            <a:r>
              <a:rPr lang="en-US" dirty="0" smtClean="0">
                <a:latin typeface="Georgia" panose="02040502050405020303" pitchFamily="18" charset="0"/>
              </a:rPr>
              <a:t>” </a:t>
            </a:r>
            <a:r>
              <a:rPr lang="en-US" dirty="0">
                <a:latin typeface="Georgia" panose="02040502050405020303" pitchFamily="18" charset="0"/>
              </a:rPr>
              <a:t>wizard to get started. </a:t>
            </a:r>
            <a:r>
              <a:rPr lang="en-US" dirty="0" smtClean="0">
                <a:latin typeface="Georgia" panose="02040502050405020303" pitchFamily="18" charset="0"/>
              </a:rPr>
              <a:t>You can see above fields, you can add </a:t>
            </a:r>
            <a:r>
              <a:rPr lang="en-US" dirty="0">
                <a:latin typeface="Georgia" panose="02040502050405020303" pitchFamily="18" charset="0"/>
              </a:rPr>
              <a:t>the </a:t>
            </a:r>
            <a:r>
              <a:rPr lang="en-US" b="1" i="1" dirty="0">
                <a:latin typeface="Georgia" panose="02040502050405020303" pitchFamily="18" charset="0"/>
              </a:rPr>
              <a:t>table name </a:t>
            </a:r>
            <a:r>
              <a:rPr lang="en-US" dirty="0">
                <a:latin typeface="Georgia" panose="02040502050405020303" pitchFamily="18" charset="0"/>
              </a:rPr>
              <a:t>and the total number of </a:t>
            </a:r>
            <a:r>
              <a:rPr lang="en-US" dirty="0" smtClean="0">
                <a:latin typeface="Georgia" panose="02040502050405020303" pitchFamily="18" charset="0"/>
              </a:rPr>
              <a:t>fields (</a:t>
            </a:r>
            <a:r>
              <a:rPr lang="en-US" i="1" dirty="0" smtClean="0">
                <a:latin typeface="Georgia" panose="02040502050405020303" pitchFamily="18" charset="0"/>
              </a:rPr>
              <a:t>columns</a:t>
            </a:r>
            <a:r>
              <a:rPr lang="en-US" dirty="0" smtClean="0">
                <a:latin typeface="Georgia" panose="02040502050405020303" pitchFamily="18" charset="0"/>
              </a:rPr>
              <a:t>) </a:t>
            </a:r>
            <a:r>
              <a:rPr lang="en-US" dirty="0">
                <a:latin typeface="Georgia" panose="02040502050405020303" pitchFamily="18" charset="0"/>
              </a:rPr>
              <a:t>and </a:t>
            </a:r>
            <a:r>
              <a:rPr lang="en-US" dirty="0" smtClean="0">
                <a:latin typeface="Georgia" panose="02040502050405020303" pitchFamily="18" charset="0"/>
              </a:rPr>
              <a:t>click </a:t>
            </a:r>
            <a:r>
              <a:rPr lang="en-US" dirty="0">
                <a:latin typeface="Georgia" panose="02040502050405020303" pitchFamily="18" charset="0"/>
              </a:rPr>
              <a:t>the </a:t>
            </a:r>
            <a:r>
              <a:rPr lang="en-US" dirty="0" smtClean="0">
                <a:latin typeface="Georgia" panose="02040502050405020303" pitchFamily="18" charset="0"/>
              </a:rPr>
              <a:t>“</a:t>
            </a:r>
            <a:r>
              <a:rPr lang="en-US" dirty="0">
                <a:latin typeface="Georgia" panose="02040502050405020303" pitchFamily="18" charset="0"/>
              </a:rPr>
              <a:t>‘</a:t>
            </a:r>
            <a:r>
              <a:rPr lang="en-US" dirty="0" smtClean="0">
                <a:latin typeface="Georgia" panose="02040502050405020303" pitchFamily="18" charset="0"/>
              </a:rPr>
              <a:t>Go” button</a:t>
            </a:r>
            <a:r>
              <a:rPr lang="en-US" dirty="0">
                <a:latin typeface="Georgia" panose="02040502050405020303" pitchFamily="18" charset="0"/>
              </a:rPr>
              <a:t>.</a:t>
            </a:r>
          </a:p>
        </p:txBody>
      </p:sp>
      <p:sp>
        <p:nvSpPr>
          <p:cNvPr id="6" name="Rectangle 5"/>
          <p:cNvSpPr/>
          <p:nvPr/>
        </p:nvSpPr>
        <p:spPr>
          <a:xfrm>
            <a:off x="198304" y="2390660"/>
            <a:ext cx="1740665" cy="385592"/>
          </a:xfrm>
          <a:prstGeom prst="rect">
            <a:avLst/>
          </a:prstGeom>
          <a:solidFill>
            <a:schemeClr val="accent6">
              <a:lumMod val="60000"/>
              <a:lumOff val="40000"/>
              <a:alpha val="12000"/>
            </a:schemeClr>
          </a:solid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6432087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Specify Data Type</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2" name="Picture 1"/>
          <p:cNvPicPr>
            <a:picLocks noChangeAspect="1"/>
          </p:cNvPicPr>
          <p:nvPr/>
        </p:nvPicPr>
        <p:blipFill>
          <a:blip r:embed="rId2"/>
          <a:stretch>
            <a:fillRect/>
          </a:stretch>
        </p:blipFill>
        <p:spPr>
          <a:xfrm>
            <a:off x="169843" y="990601"/>
            <a:ext cx="8821757" cy="5105274"/>
          </a:xfrm>
          <a:prstGeom prst="rect">
            <a:avLst/>
          </a:prstGeom>
        </p:spPr>
      </p:pic>
      <p:sp>
        <p:nvSpPr>
          <p:cNvPr id="3" name="Rectangle 2"/>
          <p:cNvSpPr/>
          <p:nvPr/>
        </p:nvSpPr>
        <p:spPr>
          <a:xfrm>
            <a:off x="1663548" y="2566929"/>
            <a:ext cx="2941504" cy="1685581"/>
          </a:xfrm>
          <a:prstGeom prst="rect">
            <a:avLst/>
          </a:prstGeom>
          <a:solidFill>
            <a:schemeClr val="accent6">
              <a:lumMod val="60000"/>
              <a:lumOff val="40000"/>
              <a:alpha val="12000"/>
            </a:schemeClr>
          </a:solid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p:cNvSpPr/>
          <p:nvPr/>
        </p:nvSpPr>
        <p:spPr>
          <a:xfrm>
            <a:off x="82626" y="6168524"/>
            <a:ext cx="8908974" cy="369332"/>
          </a:xfrm>
          <a:prstGeom prst="rect">
            <a:avLst/>
          </a:prstGeom>
        </p:spPr>
        <p:txBody>
          <a:bodyPr wrap="square">
            <a:spAutoFit/>
          </a:bodyPr>
          <a:lstStyle/>
          <a:p>
            <a:r>
              <a:rPr lang="en-US" dirty="0">
                <a:latin typeface="Georgia" panose="02040502050405020303" pitchFamily="18" charset="0"/>
              </a:rPr>
              <a:t>After the data type, you can specify other optional attributes for each </a:t>
            </a:r>
            <a:r>
              <a:rPr lang="en-US" i="1" dirty="0" smtClean="0">
                <a:latin typeface="Georgia" panose="02040502050405020303" pitchFamily="18" charset="0"/>
              </a:rPr>
              <a:t>column</a:t>
            </a:r>
            <a:r>
              <a:rPr lang="en-US" dirty="0" smtClean="0">
                <a:latin typeface="Georgia" panose="02040502050405020303" pitchFamily="18" charset="0"/>
              </a:rPr>
              <a:t>.</a:t>
            </a:r>
            <a:endParaRPr lang="en-US" dirty="0">
              <a:latin typeface="Georgia" panose="02040502050405020303" pitchFamily="18" charset="0"/>
            </a:endParaRPr>
          </a:p>
        </p:txBody>
      </p:sp>
    </p:spTree>
    <p:extLst>
      <p:ext uri="{BB962C8B-B14F-4D97-AF65-F5344CB8AC3E}">
        <p14:creationId xmlns:p14="http://schemas.microsoft.com/office/powerpoint/2010/main" val="21986744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Table Structure</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2" name="Picture 1"/>
          <p:cNvPicPr>
            <a:picLocks noChangeAspect="1"/>
          </p:cNvPicPr>
          <p:nvPr/>
        </p:nvPicPr>
        <p:blipFill>
          <a:blip r:embed="rId2"/>
          <a:stretch>
            <a:fillRect/>
          </a:stretch>
        </p:blipFill>
        <p:spPr>
          <a:xfrm>
            <a:off x="152401" y="990600"/>
            <a:ext cx="8839200" cy="5082703"/>
          </a:xfrm>
          <a:prstGeom prst="rect">
            <a:avLst/>
          </a:prstGeom>
        </p:spPr>
      </p:pic>
    </p:spTree>
    <p:extLst>
      <p:ext uri="{BB962C8B-B14F-4D97-AF65-F5344CB8AC3E}">
        <p14:creationId xmlns:p14="http://schemas.microsoft.com/office/powerpoint/2010/main" val="22577095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MySQL Insert Data </a:t>
            </a:r>
            <a:r>
              <a:rPr lang="en-US" sz="3200" i="1" dirty="0">
                <a:solidFill>
                  <a:srgbClr val="1F497D"/>
                </a:solidFill>
                <a:latin typeface="Georgia"/>
              </a:rPr>
              <a:t>via</a:t>
            </a:r>
            <a:r>
              <a:rPr lang="en-US" sz="3200" dirty="0">
                <a:solidFill>
                  <a:srgbClr val="1F497D"/>
                </a:solidFill>
                <a:latin typeface="Georgia"/>
              </a:rPr>
              <a:t> SQL </a:t>
            </a:r>
            <a:r>
              <a:rPr lang="en-US" sz="3200" dirty="0" err="1" smtClean="0">
                <a:solidFill>
                  <a:srgbClr val="1F497D"/>
                </a:solidFill>
                <a:latin typeface="Georgia"/>
              </a:rPr>
              <a:t>Suery</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sp>
        <p:nvSpPr>
          <p:cNvPr id="3" name="Rectangle 2"/>
          <p:cNvSpPr/>
          <p:nvPr/>
        </p:nvSpPr>
        <p:spPr>
          <a:xfrm>
            <a:off x="50800" y="5795103"/>
            <a:ext cx="8940800" cy="938719"/>
          </a:xfrm>
          <a:prstGeom prst="rect">
            <a:avLst/>
          </a:prstGeom>
        </p:spPr>
        <p:txBody>
          <a:bodyPr wrap="square">
            <a:spAutoFit/>
          </a:bodyPr>
          <a:lstStyle/>
          <a:p>
            <a:r>
              <a:rPr lang="en-US" sz="1100" i="1" dirty="0">
                <a:latin typeface="Georgia" panose="02040502050405020303" pitchFamily="18" charset="0"/>
              </a:rPr>
              <a:t>INSERT INTO </a:t>
            </a:r>
            <a:r>
              <a:rPr lang="en-US" sz="1100" i="1" dirty="0" err="1">
                <a:latin typeface="Georgia" panose="02040502050405020303" pitchFamily="18" charset="0"/>
              </a:rPr>
              <a:t>tbl_lecturer</a:t>
            </a:r>
            <a:r>
              <a:rPr lang="en-US" sz="1100" i="1" dirty="0">
                <a:latin typeface="Georgia" panose="02040502050405020303" pitchFamily="18" charset="0"/>
              </a:rPr>
              <a:t> (id, name, email, phone) VALUES ('1001', '</a:t>
            </a:r>
            <a:r>
              <a:rPr lang="en-US" sz="1100" i="1" dirty="0" err="1">
                <a:latin typeface="Georgia" panose="02040502050405020303" pitchFamily="18" charset="0"/>
              </a:rPr>
              <a:t>Jhon</a:t>
            </a:r>
            <a:r>
              <a:rPr lang="en-US" sz="1100" i="1" dirty="0">
                <a:latin typeface="Georgia" panose="02040502050405020303" pitchFamily="18" charset="0"/>
              </a:rPr>
              <a:t> </a:t>
            </a:r>
            <a:r>
              <a:rPr lang="en-US" sz="1100" i="1" dirty="0" err="1">
                <a:latin typeface="Georgia" panose="02040502050405020303" pitchFamily="18" charset="0"/>
              </a:rPr>
              <a:t>Tegar</a:t>
            </a:r>
            <a:r>
              <a:rPr lang="en-US" sz="1100" i="1" dirty="0">
                <a:latin typeface="Georgia" panose="02040502050405020303" pitchFamily="18" charset="0"/>
              </a:rPr>
              <a:t>', 'john@example.com', '098121213');</a:t>
            </a:r>
          </a:p>
          <a:p>
            <a:r>
              <a:rPr lang="en-US" sz="1100" i="1" dirty="0">
                <a:latin typeface="Georgia" panose="02040502050405020303" pitchFamily="18" charset="0"/>
              </a:rPr>
              <a:t>INSERT INTO </a:t>
            </a:r>
            <a:r>
              <a:rPr lang="en-US" sz="1100" i="1" dirty="0" err="1">
                <a:latin typeface="Georgia" panose="02040502050405020303" pitchFamily="18" charset="0"/>
              </a:rPr>
              <a:t>tbl_lecturer</a:t>
            </a:r>
            <a:r>
              <a:rPr lang="en-US" sz="1100" i="1" dirty="0">
                <a:latin typeface="Georgia" panose="02040502050405020303" pitchFamily="18" charset="0"/>
              </a:rPr>
              <a:t> (id, name, email, phone) VALUES ('1002', '</a:t>
            </a:r>
            <a:r>
              <a:rPr lang="en-US" sz="1100" i="1" dirty="0" err="1">
                <a:latin typeface="Georgia" panose="02040502050405020303" pitchFamily="18" charset="0"/>
              </a:rPr>
              <a:t>Deti</a:t>
            </a:r>
            <a:r>
              <a:rPr lang="en-US" sz="1100" i="1" dirty="0">
                <a:latin typeface="Georgia" panose="02040502050405020303" pitchFamily="18" charset="0"/>
              </a:rPr>
              <a:t> </a:t>
            </a:r>
            <a:r>
              <a:rPr lang="en-US" sz="1100" i="1" dirty="0" err="1">
                <a:latin typeface="Georgia" panose="02040502050405020303" pitchFamily="18" charset="0"/>
              </a:rPr>
              <a:t>Tibar</a:t>
            </a:r>
            <a:r>
              <a:rPr lang="en-US" sz="1100" i="1" dirty="0">
                <a:latin typeface="Georgia" panose="02040502050405020303" pitchFamily="18" charset="0"/>
              </a:rPr>
              <a:t>', 'deti@example.com', '098121234');</a:t>
            </a:r>
          </a:p>
          <a:p>
            <a:r>
              <a:rPr lang="en-US" sz="1100" i="1" dirty="0">
                <a:latin typeface="Georgia" panose="02040502050405020303" pitchFamily="18" charset="0"/>
              </a:rPr>
              <a:t>INSERT INTO </a:t>
            </a:r>
            <a:r>
              <a:rPr lang="en-US" sz="1100" i="1" dirty="0" err="1">
                <a:latin typeface="Georgia" panose="02040502050405020303" pitchFamily="18" charset="0"/>
              </a:rPr>
              <a:t>tbl_lecturer</a:t>
            </a:r>
            <a:r>
              <a:rPr lang="en-US" sz="1100" i="1" dirty="0">
                <a:latin typeface="Georgia" panose="02040502050405020303" pitchFamily="18" charset="0"/>
              </a:rPr>
              <a:t> (id, name, email, phone) VALUES ('1003', '</a:t>
            </a:r>
            <a:r>
              <a:rPr lang="en-US" sz="1100" i="1" dirty="0" err="1">
                <a:latin typeface="Georgia" panose="02040502050405020303" pitchFamily="18" charset="0"/>
              </a:rPr>
              <a:t>Dony</a:t>
            </a:r>
            <a:r>
              <a:rPr lang="en-US" sz="1100" i="1" dirty="0">
                <a:latin typeface="Georgia" panose="02040502050405020303" pitchFamily="18" charset="0"/>
              </a:rPr>
              <a:t> </a:t>
            </a:r>
            <a:r>
              <a:rPr lang="en-US" sz="1100" i="1" dirty="0" err="1">
                <a:latin typeface="Georgia" panose="02040502050405020303" pitchFamily="18" charset="0"/>
              </a:rPr>
              <a:t>Desas</a:t>
            </a:r>
            <a:r>
              <a:rPr lang="en-US" sz="1100" i="1" dirty="0">
                <a:latin typeface="Georgia" panose="02040502050405020303" pitchFamily="18" charset="0"/>
              </a:rPr>
              <a:t>', 'dony@example.com', '098121345');</a:t>
            </a:r>
          </a:p>
          <a:p>
            <a:r>
              <a:rPr lang="en-US" sz="1100" i="1" dirty="0">
                <a:latin typeface="Georgia" panose="02040502050405020303" pitchFamily="18" charset="0"/>
              </a:rPr>
              <a:t>INSERT INTO </a:t>
            </a:r>
            <a:r>
              <a:rPr lang="en-US" sz="1100" i="1" dirty="0" err="1">
                <a:latin typeface="Georgia" panose="02040502050405020303" pitchFamily="18" charset="0"/>
              </a:rPr>
              <a:t>tbl_lecturer</a:t>
            </a:r>
            <a:r>
              <a:rPr lang="en-US" sz="1100" i="1" dirty="0">
                <a:latin typeface="Georgia" panose="02040502050405020303" pitchFamily="18" charset="0"/>
              </a:rPr>
              <a:t> (id, name, email, phone) VALUES ('1004', '</a:t>
            </a:r>
            <a:r>
              <a:rPr lang="en-US" sz="1100" i="1" dirty="0" err="1">
                <a:latin typeface="Georgia" panose="02040502050405020303" pitchFamily="18" charset="0"/>
              </a:rPr>
              <a:t>Pari</a:t>
            </a:r>
            <a:r>
              <a:rPr lang="en-US" sz="1100" i="1" dirty="0">
                <a:latin typeface="Georgia" panose="02040502050405020303" pitchFamily="18" charset="0"/>
              </a:rPr>
              <a:t> </a:t>
            </a:r>
            <a:r>
              <a:rPr lang="en-US" sz="1100" i="1" dirty="0" err="1">
                <a:latin typeface="Georgia" panose="02040502050405020303" pitchFamily="18" charset="0"/>
              </a:rPr>
              <a:t>Polos</a:t>
            </a:r>
            <a:r>
              <a:rPr lang="en-US" sz="1100" i="1" dirty="0">
                <a:latin typeface="Georgia" panose="02040502050405020303" pitchFamily="18" charset="0"/>
              </a:rPr>
              <a:t>', 'pari@example.com', '098121646');</a:t>
            </a:r>
          </a:p>
          <a:p>
            <a:r>
              <a:rPr lang="en-US" sz="1100" i="1" dirty="0">
                <a:latin typeface="Georgia" panose="02040502050405020303" pitchFamily="18" charset="0"/>
              </a:rPr>
              <a:t>INSERT INTO </a:t>
            </a:r>
            <a:r>
              <a:rPr lang="en-US" sz="1100" i="1" dirty="0" err="1">
                <a:latin typeface="Georgia" panose="02040502050405020303" pitchFamily="18" charset="0"/>
              </a:rPr>
              <a:t>tbl_lecturer</a:t>
            </a:r>
            <a:r>
              <a:rPr lang="en-US" sz="1100" i="1" dirty="0">
                <a:latin typeface="Georgia" panose="02040502050405020303" pitchFamily="18" charset="0"/>
              </a:rPr>
              <a:t> (id, name, email, phone) VALUES ('1005', '</a:t>
            </a:r>
            <a:r>
              <a:rPr lang="en-US" sz="1100" i="1" dirty="0" err="1">
                <a:latin typeface="Georgia" panose="02040502050405020303" pitchFamily="18" charset="0"/>
              </a:rPr>
              <a:t>Soei</a:t>
            </a:r>
            <a:r>
              <a:rPr lang="en-US" sz="1100" i="1" dirty="0">
                <a:latin typeface="Georgia" panose="02040502050405020303" pitchFamily="18" charset="0"/>
              </a:rPr>
              <a:t> </a:t>
            </a:r>
            <a:r>
              <a:rPr lang="en-US" sz="1100" i="1" dirty="0" err="1">
                <a:latin typeface="Georgia" panose="02040502050405020303" pitchFamily="18" charset="0"/>
              </a:rPr>
              <a:t>Siali</a:t>
            </a:r>
            <a:r>
              <a:rPr lang="en-US" sz="1100" i="1" dirty="0">
                <a:latin typeface="Georgia" panose="02040502050405020303" pitchFamily="18" charset="0"/>
              </a:rPr>
              <a:t>', 'soei@example.com', '098121890');</a:t>
            </a:r>
          </a:p>
        </p:txBody>
      </p:sp>
      <p:pic>
        <p:nvPicPr>
          <p:cNvPr id="5" name="Picture 4"/>
          <p:cNvPicPr>
            <a:picLocks noChangeAspect="1"/>
          </p:cNvPicPr>
          <p:nvPr/>
        </p:nvPicPr>
        <p:blipFill>
          <a:blip r:embed="rId2"/>
          <a:stretch>
            <a:fillRect/>
          </a:stretch>
        </p:blipFill>
        <p:spPr>
          <a:xfrm>
            <a:off x="152401" y="990600"/>
            <a:ext cx="8839200" cy="4733071"/>
          </a:xfrm>
          <a:prstGeom prst="rect">
            <a:avLst/>
          </a:prstGeom>
        </p:spPr>
      </p:pic>
    </p:spTree>
    <p:extLst>
      <p:ext uri="{BB962C8B-B14F-4D97-AF65-F5344CB8AC3E}">
        <p14:creationId xmlns:p14="http://schemas.microsoft.com/office/powerpoint/2010/main" val="18303523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a:solidFill>
                  <a:srgbClr val="1F497D"/>
                </a:solidFill>
                <a:latin typeface="Georgia"/>
              </a:rPr>
              <a:t>Data </a:t>
            </a:r>
            <a:r>
              <a:rPr lang="en-US" sz="3200" i="1" dirty="0" smtClean="0">
                <a:solidFill>
                  <a:srgbClr val="1F497D"/>
                </a:solidFill>
                <a:latin typeface="Georgia"/>
              </a:rPr>
              <a:t>from</a:t>
            </a:r>
            <a:r>
              <a:rPr lang="en-US" sz="3200" dirty="0" smtClean="0">
                <a:solidFill>
                  <a:srgbClr val="1F497D"/>
                </a:solidFill>
                <a:latin typeface="Georgia"/>
              </a:rPr>
              <a:t> </a:t>
            </a:r>
            <a:r>
              <a:rPr lang="en-US" sz="3200" dirty="0">
                <a:solidFill>
                  <a:srgbClr val="1F497D"/>
                </a:solidFill>
                <a:latin typeface="Georgia"/>
              </a:rPr>
              <a:t>a MySQL Database</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2" name="Picture 1"/>
          <p:cNvPicPr>
            <a:picLocks noChangeAspect="1"/>
          </p:cNvPicPr>
          <p:nvPr/>
        </p:nvPicPr>
        <p:blipFill>
          <a:blip r:embed="rId2"/>
          <a:stretch>
            <a:fillRect/>
          </a:stretch>
        </p:blipFill>
        <p:spPr>
          <a:xfrm>
            <a:off x="155223" y="990600"/>
            <a:ext cx="8836378" cy="5604979"/>
          </a:xfrm>
          <a:prstGeom prst="rect">
            <a:avLst/>
          </a:prstGeom>
        </p:spPr>
      </p:pic>
    </p:spTree>
    <p:extLst>
      <p:ext uri="{BB962C8B-B14F-4D97-AF65-F5344CB8AC3E}">
        <p14:creationId xmlns:p14="http://schemas.microsoft.com/office/powerpoint/2010/main" val="2751073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2895600"/>
            <a:ext cx="7620000" cy="1323439"/>
          </a:xfrm>
          <a:prstGeom prst="rect">
            <a:avLst/>
          </a:prstGeom>
        </p:spPr>
        <p:txBody>
          <a:bodyPr wrap="square">
            <a:spAutoFit/>
          </a:bodyPr>
          <a:lstStyle/>
          <a:p>
            <a:pPr lvl="0" algn="ctr">
              <a:defRPr/>
            </a:pPr>
            <a:r>
              <a:rPr kumimoji="0" lang="en-US" sz="4000" b="0" i="0" u="none" strike="noStrike" kern="1200" cap="none" spc="0" normalizeH="0" baseline="0" noProof="0" dirty="0" smtClean="0">
                <a:ln>
                  <a:noFill/>
                </a:ln>
                <a:solidFill>
                  <a:prstClr val="black"/>
                </a:solidFill>
                <a:effectLst/>
                <a:uLnTx/>
                <a:uFillTx/>
                <a:latin typeface="Georgia"/>
                <a:ea typeface="+mn-ea"/>
                <a:cs typeface="+mn-cs"/>
              </a:rPr>
              <a:t>2 – </a:t>
            </a:r>
            <a:r>
              <a:rPr lang="en-US" sz="4000" dirty="0">
                <a:solidFill>
                  <a:prstClr val="black"/>
                </a:solidFill>
              </a:rPr>
              <a:t>Set Password to </a:t>
            </a:r>
            <a:r>
              <a:rPr lang="en-US" sz="4000" dirty="0" err="1">
                <a:solidFill>
                  <a:prstClr val="black"/>
                </a:solidFill>
              </a:rPr>
              <a:t>phpMyAdmin</a:t>
            </a:r>
            <a:r>
              <a:rPr lang="en-US" sz="4000" dirty="0">
                <a:solidFill>
                  <a:prstClr val="black"/>
                </a:solidFill>
              </a:rPr>
              <a:t> </a:t>
            </a:r>
            <a:r>
              <a:rPr lang="en-US" sz="4000" i="1" dirty="0">
                <a:solidFill>
                  <a:prstClr val="black"/>
                </a:solidFill>
              </a:rPr>
              <a:t>on</a:t>
            </a:r>
            <a:r>
              <a:rPr lang="en-US" sz="4000" dirty="0">
                <a:solidFill>
                  <a:prstClr val="black"/>
                </a:solidFill>
              </a:rPr>
              <a:t> XAMPP</a:t>
            </a:r>
            <a:endParaRPr kumimoji="0" lang="en-US" sz="4000" b="0" i="0" u="none" strike="noStrike" kern="1200" cap="none" spc="0" normalizeH="0" baseline="0" noProof="0" dirty="0">
              <a:ln>
                <a:noFill/>
              </a:ln>
              <a:solidFill>
                <a:prstClr val="black"/>
              </a:solidFill>
              <a:effectLst/>
              <a:uLnTx/>
              <a:uFillTx/>
              <a:latin typeface="Georgia"/>
              <a:ea typeface="+mn-ea"/>
              <a:cs typeface="+mn-cs"/>
            </a:endParaRPr>
          </a:p>
        </p:txBody>
      </p:sp>
      <p:pic>
        <p:nvPicPr>
          <p:cNvPr id="307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a:off x="0" y="0"/>
            <a:ext cx="91440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resh Green Leaves Header On White Background Stock Photo, Picture And  Royalty Free Image. Image 78250847."/>
          <p:cNvPicPr>
            <a:picLocks noChangeAspect="1" noChangeArrowheads="1"/>
          </p:cNvPicPr>
          <p:nvPr/>
        </p:nvPicPr>
        <p:blipFill rotWithShape="1">
          <a:blip r:embed="rId2">
            <a:extLst>
              <a:ext uri="{28A0092B-C50C-407E-A947-70E740481C1C}">
                <a14:useLocalDpi xmlns:a14="http://schemas.microsoft.com/office/drawing/2010/main" val="0"/>
              </a:ext>
            </a:extLst>
          </a:blip>
          <a:srcRect b="37312"/>
          <a:stretch/>
        </p:blipFill>
        <p:spPr bwMode="auto">
          <a:xfrm rot="10800000">
            <a:off x="0" y="4419600"/>
            <a:ext cx="9144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7028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User Accounts</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3" name="Picture 2"/>
          <p:cNvPicPr>
            <a:picLocks noChangeAspect="1"/>
          </p:cNvPicPr>
          <p:nvPr/>
        </p:nvPicPr>
        <p:blipFill>
          <a:blip r:embed="rId2"/>
          <a:stretch>
            <a:fillRect/>
          </a:stretch>
        </p:blipFill>
        <p:spPr>
          <a:xfrm>
            <a:off x="152400" y="990601"/>
            <a:ext cx="8839200" cy="5105399"/>
          </a:xfrm>
          <a:prstGeom prst="rect">
            <a:avLst/>
          </a:prstGeom>
        </p:spPr>
      </p:pic>
      <p:sp>
        <p:nvSpPr>
          <p:cNvPr id="5" name="Rectangle 4"/>
          <p:cNvSpPr/>
          <p:nvPr/>
        </p:nvSpPr>
        <p:spPr>
          <a:xfrm>
            <a:off x="55085" y="6198825"/>
            <a:ext cx="8931008" cy="584775"/>
          </a:xfrm>
          <a:prstGeom prst="rect">
            <a:avLst/>
          </a:prstGeom>
        </p:spPr>
        <p:txBody>
          <a:bodyPr wrap="square">
            <a:spAutoFit/>
          </a:bodyPr>
          <a:lstStyle/>
          <a:p>
            <a:r>
              <a:rPr lang="en-US" sz="1600" dirty="0" smtClean="0">
                <a:latin typeface="Georgia" panose="02040502050405020303" pitchFamily="18" charset="0"/>
              </a:rPr>
              <a:t>Click </a:t>
            </a:r>
            <a:r>
              <a:rPr lang="en-US" sz="1600" dirty="0">
                <a:latin typeface="Georgia" panose="02040502050405020303" pitchFamily="18" charset="0"/>
              </a:rPr>
              <a:t>on the </a:t>
            </a:r>
            <a:r>
              <a:rPr lang="en-US" sz="1600" dirty="0" smtClean="0">
                <a:latin typeface="Georgia" panose="02040502050405020303" pitchFamily="18" charset="0"/>
              </a:rPr>
              <a:t>“</a:t>
            </a:r>
            <a:r>
              <a:rPr lang="en-US" sz="1600" i="1" dirty="0" smtClean="0">
                <a:latin typeface="Georgia" panose="02040502050405020303" pitchFamily="18" charset="0"/>
              </a:rPr>
              <a:t>user accounts</a:t>
            </a:r>
            <a:r>
              <a:rPr lang="en-US" sz="1600" dirty="0" smtClean="0">
                <a:latin typeface="Georgia" panose="02040502050405020303" pitchFamily="18" charset="0"/>
              </a:rPr>
              <a:t>” </a:t>
            </a:r>
            <a:r>
              <a:rPr lang="en-US" sz="1600" dirty="0">
                <a:latin typeface="Georgia" panose="02040502050405020303" pitchFamily="18" charset="0"/>
              </a:rPr>
              <a:t>option at the top of the </a:t>
            </a:r>
            <a:r>
              <a:rPr lang="en-US" sz="1600" dirty="0" smtClean="0">
                <a:latin typeface="Georgia" panose="02040502050405020303" pitchFamily="18" charset="0"/>
              </a:rPr>
              <a:t>page</a:t>
            </a:r>
            <a:r>
              <a:rPr lang="en-US" sz="1600" dirty="0">
                <a:latin typeface="Georgia" panose="02040502050405020303" pitchFamily="18" charset="0"/>
              </a:rPr>
              <a:t> and press the </a:t>
            </a:r>
            <a:r>
              <a:rPr lang="en-US" sz="1600" dirty="0" smtClean="0">
                <a:latin typeface="Georgia" panose="02040502050405020303" pitchFamily="18" charset="0"/>
              </a:rPr>
              <a:t>“</a:t>
            </a:r>
            <a:r>
              <a:rPr lang="en-US" sz="1600" i="1" dirty="0" smtClean="0">
                <a:latin typeface="Georgia" panose="02040502050405020303" pitchFamily="18" charset="0"/>
              </a:rPr>
              <a:t>edit privileges</a:t>
            </a:r>
            <a:r>
              <a:rPr lang="en-US" sz="1600" dirty="0" smtClean="0">
                <a:latin typeface="Georgia" panose="02040502050405020303" pitchFamily="18" charset="0"/>
              </a:rPr>
              <a:t>” </a:t>
            </a:r>
            <a:r>
              <a:rPr lang="en-US" sz="1600" dirty="0">
                <a:latin typeface="Georgia" panose="02040502050405020303" pitchFamily="18" charset="0"/>
              </a:rPr>
              <a:t>under </a:t>
            </a:r>
            <a:r>
              <a:rPr lang="en-US" sz="1600" dirty="0" smtClean="0">
                <a:latin typeface="Georgia" panose="02040502050405020303" pitchFamily="18" charset="0"/>
              </a:rPr>
              <a:t>“</a:t>
            </a:r>
            <a:r>
              <a:rPr lang="en-US" sz="1600" i="1" dirty="0" smtClean="0">
                <a:latin typeface="Georgia" panose="02040502050405020303" pitchFamily="18" charset="0"/>
              </a:rPr>
              <a:t>actions</a:t>
            </a:r>
            <a:r>
              <a:rPr lang="en-US" sz="1600" dirty="0" smtClean="0">
                <a:latin typeface="Georgia" panose="02040502050405020303" pitchFamily="18" charset="0"/>
              </a:rPr>
              <a:t>” </a:t>
            </a:r>
            <a:r>
              <a:rPr lang="en-US" sz="1600" dirty="0">
                <a:latin typeface="Georgia" panose="02040502050405020303" pitchFamily="18" charset="0"/>
              </a:rPr>
              <a:t>option for the Username </a:t>
            </a:r>
            <a:r>
              <a:rPr lang="en-US" sz="1600" dirty="0" smtClean="0">
                <a:latin typeface="Georgia" panose="02040502050405020303" pitchFamily="18" charset="0"/>
              </a:rPr>
              <a:t>“</a:t>
            </a:r>
            <a:r>
              <a:rPr lang="en-US" sz="1600" i="1" dirty="0">
                <a:latin typeface="Georgia" panose="02040502050405020303" pitchFamily="18" charset="0"/>
              </a:rPr>
              <a:t>root</a:t>
            </a:r>
            <a:r>
              <a:rPr lang="en-US" sz="1600" dirty="0" smtClean="0">
                <a:latin typeface="Georgia" panose="02040502050405020303" pitchFamily="18" charset="0"/>
              </a:rPr>
              <a:t>” </a:t>
            </a:r>
            <a:r>
              <a:rPr lang="en-US" sz="1600" dirty="0">
                <a:latin typeface="Georgia" panose="02040502050405020303" pitchFamily="18" charset="0"/>
              </a:rPr>
              <a:t>and Hostname </a:t>
            </a:r>
            <a:r>
              <a:rPr lang="en-US" sz="1600" dirty="0" smtClean="0">
                <a:latin typeface="Georgia" panose="02040502050405020303" pitchFamily="18" charset="0"/>
              </a:rPr>
              <a:t>“</a:t>
            </a:r>
            <a:r>
              <a:rPr lang="en-US" sz="1600" i="1" dirty="0">
                <a:latin typeface="Georgia" panose="02040502050405020303" pitchFamily="18" charset="0"/>
              </a:rPr>
              <a:t>localhost</a:t>
            </a:r>
            <a:r>
              <a:rPr lang="en-US" sz="1600" dirty="0" smtClean="0">
                <a:latin typeface="Georgia" panose="02040502050405020303" pitchFamily="18" charset="0"/>
              </a:rPr>
              <a:t>”.</a:t>
            </a:r>
            <a:endParaRPr lang="en-US" sz="1600" dirty="0">
              <a:latin typeface="Georgia" panose="02040502050405020303" pitchFamily="18" charset="0"/>
            </a:endParaRPr>
          </a:p>
        </p:txBody>
      </p:sp>
      <p:sp>
        <p:nvSpPr>
          <p:cNvPr id="6" name="Rectangle 5"/>
          <p:cNvSpPr/>
          <p:nvPr/>
        </p:nvSpPr>
        <p:spPr>
          <a:xfrm>
            <a:off x="2082189" y="3850394"/>
            <a:ext cx="6566052" cy="264406"/>
          </a:xfrm>
          <a:prstGeom prst="rect">
            <a:avLst/>
          </a:prstGeom>
          <a:solidFill>
            <a:schemeClr val="accent6">
              <a:lumMod val="60000"/>
              <a:lumOff val="40000"/>
              <a:alpha val="12000"/>
            </a:schemeClr>
          </a:solid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399514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Change/Edit Password</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2" name="Picture 1"/>
          <p:cNvPicPr>
            <a:picLocks noChangeAspect="1"/>
          </p:cNvPicPr>
          <p:nvPr/>
        </p:nvPicPr>
        <p:blipFill>
          <a:blip r:embed="rId2"/>
          <a:stretch>
            <a:fillRect/>
          </a:stretch>
        </p:blipFill>
        <p:spPr>
          <a:xfrm>
            <a:off x="152400" y="990600"/>
            <a:ext cx="8839200" cy="5189863"/>
          </a:xfrm>
          <a:prstGeom prst="rect">
            <a:avLst/>
          </a:prstGeom>
        </p:spPr>
      </p:pic>
      <p:sp>
        <p:nvSpPr>
          <p:cNvPr id="3" name="Rectangle 2"/>
          <p:cNvSpPr/>
          <p:nvPr/>
        </p:nvSpPr>
        <p:spPr>
          <a:xfrm>
            <a:off x="49576" y="6197025"/>
            <a:ext cx="8942024" cy="584775"/>
          </a:xfrm>
          <a:prstGeom prst="rect">
            <a:avLst/>
          </a:prstGeom>
        </p:spPr>
        <p:txBody>
          <a:bodyPr wrap="square">
            <a:spAutoFit/>
          </a:bodyPr>
          <a:lstStyle/>
          <a:p>
            <a:r>
              <a:rPr lang="en-US" sz="1600" dirty="0" smtClean="0">
                <a:latin typeface="Georgia" panose="02040502050405020303" pitchFamily="18" charset="0"/>
              </a:rPr>
              <a:t>Choose </a:t>
            </a:r>
            <a:r>
              <a:rPr lang="en-US" sz="1600" dirty="0">
                <a:latin typeface="Georgia" panose="02040502050405020303" pitchFamily="18" charset="0"/>
              </a:rPr>
              <a:t>the third tab </a:t>
            </a:r>
            <a:r>
              <a:rPr lang="en-US" sz="1600" dirty="0" smtClean="0">
                <a:latin typeface="Georgia" panose="02040502050405020303" pitchFamily="18" charset="0"/>
              </a:rPr>
              <a:t>“</a:t>
            </a:r>
            <a:r>
              <a:rPr lang="en-US" sz="1600" i="1" dirty="0">
                <a:latin typeface="Georgia" panose="02040502050405020303" pitchFamily="18" charset="0"/>
              </a:rPr>
              <a:t>change password</a:t>
            </a:r>
            <a:r>
              <a:rPr lang="en-US" sz="1600" dirty="0" smtClean="0">
                <a:latin typeface="Georgia" panose="02040502050405020303" pitchFamily="18" charset="0"/>
              </a:rPr>
              <a:t>” </a:t>
            </a:r>
            <a:r>
              <a:rPr lang="en-US" sz="1600" dirty="0">
                <a:latin typeface="Georgia" panose="02040502050405020303" pitchFamily="18" charset="0"/>
              </a:rPr>
              <a:t>and type your password in the provided field, retype the password to confirm it and then finally click on the </a:t>
            </a:r>
            <a:r>
              <a:rPr lang="en-US" sz="1600" dirty="0" smtClean="0">
                <a:latin typeface="Georgia" panose="02040502050405020303" pitchFamily="18" charset="0"/>
              </a:rPr>
              <a:t>“</a:t>
            </a:r>
            <a:r>
              <a:rPr lang="en-US" sz="1600" dirty="0">
                <a:latin typeface="Georgia" panose="02040502050405020303" pitchFamily="18" charset="0"/>
              </a:rPr>
              <a:t>Go</a:t>
            </a:r>
            <a:r>
              <a:rPr lang="en-US" sz="1600" dirty="0" smtClean="0">
                <a:latin typeface="Georgia" panose="02040502050405020303" pitchFamily="18" charset="0"/>
              </a:rPr>
              <a:t>” button </a:t>
            </a:r>
            <a:r>
              <a:rPr lang="en-US" sz="1600" dirty="0">
                <a:latin typeface="Georgia" panose="02040502050405020303" pitchFamily="18" charset="0"/>
              </a:rPr>
              <a:t>to conclude the process.</a:t>
            </a:r>
          </a:p>
        </p:txBody>
      </p:sp>
    </p:spTree>
    <p:extLst>
      <p:ext uri="{BB962C8B-B14F-4D97-AF65-F5344CB8AC3E}">
        <p14:creationId xmlns:p14="http://schemas.microsoft.com/office/powerpoint/2010/main" val="14893183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Error Access Denied</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2" name="Picture 1"/>
          <p:cNvPicPr>
            <a:picLocks noChangeAspect="1"/>
          </p:cNvPicPr>
          <p:nvPr/>
        </p:nvPicPr>
        <p:blipFill>
          <a:blip r:embed="rId2"/>
          <a:stretch>
            <a:fillRect/>
          </a:stretch>
        </p:blipFill>
        <p:spPr>
          <a:xfrm>
            <a:off x="152400" y="990600"/>
            <a:ext cx="8839200" cy="5282927"/>
          </a:xfrm>
          <a:prstGeom prst="rect">
            <a:avLst/>
          </a:prstGeom>
        </p:spPr>
      </p:pic>
    </p:spTree>
    <p:extLst>
      <p:ext uri="{BB962C8B-B14F-4D97-AF65-F5344CB8AC3E}">
        <p14:creationId xmlns:p14="http://schemas.microsoft.com/office/powerpoint/2010/main" val="8051491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2800" dirty="0" smtClean="0">
                <a:solidFill>
                  <a:srgbClr val="1F497D"/>
                </a:solidFill>
                <a:latin typeface="Georgia"/>
              </a:rPr>
              <a:t>Configuration Settings [</a:t>
            </a:r>
            <a:r>
              <a:rPr lang="en-US" sz="2800" i="1" dirty="0" smtClean="0">
                <a:solidFill>
                  <a:srgbClr val="1F497D"/>
                </a:solidFill>
                <a:latin typeface="Georgia"/>
              </a:rPr>
              <a:t>allow </a:t>
            </a:r>
            <a:r>
              <a:rPr lang="en-US" sz="2800" i="1" dirty="0">
                <a:solidFill>
                  <a:srgbClr val="1F497D"/>
                </a:solidFill>
                <a:latin typeface="Georgia"/>
              </a:rPr>
              <a:t>without </a:t>
            </a:r>
            <a:r>
              <a:rPr lang="en-US" sz="2800" i="1" dirty="0" smtClean="0">
                <a:solidFill>
                  <a:srgbClr val="1F497D"/>
                </a:solidFill>
                <a:latin typeface="Georgia"/>
              </a:rPr>
              <a:t>password</a:t>
            </a:r>
            <a:r>
              <a:rPr lang="en-US" sz="2800" dirty="0" smtClean="0">
                <a:solidFill>
                  <a:srgbClr val="1F497D"/>
                </a:solidFill>
                <a:latin typeface="Georgia"/>
              </a:rPr>
              <a:t>]</a:t>
            </a:r>
            <a:endParaRPr lang="en-US" sz="2800" dirty="0">
              <a:solidFill>
                <a:srgbClr val="1F497D"/>
              </a:solidFill>
              <a:latin typeface="Georgia"/>
            </a:endParaRPr>
          </a:p>
        </p:txBody>
      </p:sp>
      <p:sp>
        <p:nvSpPr>
          <p:cNvPr id="2" name="Rectangle 1"/>
          <p:cNvSpPr/>
          <p:nvPr/>
        </p:nvSpPr>
        <p:spPr>
          <a:xfrm>
            <a:off x="71610" y="896164"/>
            <a:ext cx="8919990" cy="584775"/>
          </a:xfrm>
          <a:prstGeom prst="rect">
            <a:avLst/>
          </a:prstGeom>
        </p:spPr>
        <p:txBody>
          <a:bodyPr wrap="square">
            <a:spAutoFit/>
          </a:bodyPr>
          <a:lstStyle/>
          <a:p>
            <a:r>
              <a:rPr lang="en-US" sz="1600" dirty="0">
                <a:latin typeface="Georgia" panose="02040502050405020303" pitchFamily="18" charset="0"/>
              </a:rPr>
              <a:t>ERROR #1045 - Access denied for user '</a:t>
            </a:r>
            <a:r>
              <a:rPr lang="en-US" sz="1600" dirty="0" err="1">
                <a:latin typeface="Georgia" panose="02040502050405020303" pitchFamily="18" charset="0"/>
              </a:rPr>
              <a:t>root'@'localhost</a:t>
            </a:r>
            <a:r>
              <a:rPr lang="en-US" sz="1600" dirty="0">
                <a:latin typeface="Georgia" panose="02040502050405020303" pitchFamily="18" charset="0"/>
              </a:rPr>
              <a:t>' (</a:t>
            </a:r>
            <a:r>
              <a:rPr lang="en-US" sz="1600" i="1" dirty="0">
                <a:latin typeface="Georgia" panose="02040502050405020303" pitchFamily="18" charset="0"/>
              </a:rPr>
              <a:t>using password: NO</a:t>
            </a:r>
            <a:r>
              <a:rPr lang="en-US" sz="1600" dirty="0">
                <a:latin typeface="Georgia" panose="02040502050405020303" pitchFamily="18" charset="0"/>
              </a:rPr>
              <a:t>) when opening http://</a:t>
            </a:r>
            <a:r>
              <a:rPr lang="en-US" sz="1600" dirty="0" smtClean="0">
                <a:latin typeface="Georgia" panose="02040502050405020303" pitchFamily="18" charset="0"/>
              </a:rPr>
              <a:t>localhost/phpmyadmin.</a:t>
            </a:r>
            <a:endParaRPr lang="en-US" sz="1600" dirty="0">
              <a:latin typeface="Georgia" panose="02040502050405020303" pitchFamily="18" charset="0"/>
            </a:endParaRPr>
          </a:p>
        </p:txBody>
      </p:sp>
      <p:pic>
        <p:nvPicPr>
          <p:cNvPr id="3" name="Picture 2"/>
          <p:cNvPicPr>
            <a:picLocks noChangeAspect="1"/>
          </p:cNvPicPr>
          <p:nvPr/>
        </p:nvPicPr>
        <p:blipFill>
          <a:blip r:embed="rId2"/>
          <a:stretch>
            <a:fillRect/>
          </a:stretch>
        </p:blipFill>
        <p:spPr>
          <a:xfrm>
            <a:off x="435168" y="2225669"/>
            <a:ext cx="4746432" cy="3989406"/>
          </a:xfrm>
          <a:prstGeom prst="rect">
            <a:avLst/>
          </a:prstGeom>
        </p:spPr>
      </p:pic>
      <p:sp>
        <p:nvSpPr>
          <p:cNvPr id="5" name="Rectangle 4"/>
          <p:cNvSpPr/>
          <p:nvPr/>
        </p:nvSpPr>
        <p:spPr>
          <a:xfrm>
            <a:off x="71610" y="1447800"/>
            <a:ext cx="8919990" cy="738664"/>
          </a:xfrm>
          <a:prstGeom prst="rect">
            <a:avLst/>
          </a:prstGeom>
        </p:spPr>
        <p:txBody>
          <a:bodyPr wrap="square">
            <a:spAutoFit/>
          </a:bodyPr>
          <a:lstStyle/>
          <a:p>
            <a:pPr marL="285750" indent="-285750">
              <a:buFont typeface="Wingdings" panose="05000000000000000000" pitchFamily="2" charset="2"/>
              <a:buChar char="v"/>
            </a:pPr>
            <a:r>
              <a:rPr lang="en-US" sz="1400" dirty="0">
                <a:latin typeface="Georgia" panose="02040502050405020303" pitchFamily="18" charset="0"/>
              </a:rPr>
              <a:t>Navigate to "</a:t>
            </a:r>
            <a:r>
              <a:rPr lang="en-US" sz="1400" i="1" dirty="0">
                <a:latin typeface="Georgia" panose="02040502050405020303" pitchFamily="18" charset="0"/>
              </a:rPr>
              <a:t>C:\xampp\phpMyAdmin</a:t>
            </a:r>
            <a:r>
              <a:rPr lang="en-US" sz="1400" dirty="0">
                <a:latin typeface="Georgia" panose="02040502050405020303" pitchFamily="18" charset="0"/>
              </a:rPr>
              <a:t>"</a:t>
            </a:r>
          </a:p>
          <a:p>
            <a:pPr marL="285750" indent="-285750">
              <a:buFont typeface="Wingdings" panose="05000000000000000000" pitchFamily="2" charset="2"/>
              <a:buChar char="v"/>
            </a:pPr>
            <a:r>
              <a:rPr lang="en-US" sz="1400" dirty="0">
                <a:latin typeface="Georgia" panose="02040502050405020303" pitchFamily="18" charset="0"/>
              </a:rPr>
              <a:t>Find the file "</a:t>
            </a:r>
            <a:r>
              <a:rPr lang="en-US" sz="1400" i="1" dirty="0" err="1">
                <a:latin typeface="Georgia" panose="02040502050405020303" pitchFamily="18" charset="0"/>
              </a:rPr>
              <a:t>config.inc.php</a:t>
            </a:r>
            <a:r>
              <a:rPr lang="en-US" sz="1400" dirty="0">
                <a:latin typeface="Georgia" panose="02040502050405020303" pitchFamily="18" charset="0"/>
              </a:rPr>
              <a:t>" and open in a Notepad or better, Notepad</a:t>
            </a:r>
            <a:r>
              <a:rPr lang="en-US" sz="1400" dirty="0" smtClean="0">
                <a:latin typeface="Georgia" panose="02040502050405020303" pitchFamily="18" charset="0"/>
              </a:rPr>
              <a:t>++ (</a:t>
            </a:r>
            <a:r>
              <a:rPr lang="en-US" sz="1400" b="1" i="1" dirty="0" smtClean="0">
                <a:solidFill>
                  <a:srgbClr val="FF0000"/>
                </a:solidFill>
                <a:latin typeface="Georgia" panose="02040502050405020303" pitchFamily="18" charset="0"/>
              </a:rPr>
              <a:t>run as </a:t>
            </a:r>
            <a:r>
              <a:rPr lang="en-US" sz="1400" b="1" i="1" dirty="0" err="1" smtClean="0">
                <a:solidFill>
                  <a:srgbClr val="FF0000"/>
                </a:solidFill>
                <a:latin typeface="Georgia" panose="02040502050405020303" pitchFamily="18" charset="0"/>
              </a:rPr>
              <a:t>adminstrator</a:t>
            </a:r>
            <a:r>
              <a:rPr lang="en-US" sz="1400" dirty="0" smtClean="0">
                <a:latin typeface="Georgia" panose="02040502050405020303" pitchFamily="18" charset="0"/>
              </a:rPr>
              <a:t>).</a:t>
            </a:r>
            <a:endParaRPr lang="en-US" sz="1400" dirty="0">
              <a:latin typeface="Georgia" panose="02040502050405020303" pitchFamily="18" charset="0"/>
            </a:endParaRPr>
          </a:p>
          <a:p>
            <a:pPr marL="285750" indent="-285750">
              <a:buFont typeface="Wingdings" panose="05000000000000000000" pitchFamily="2" charset="2"/>
              <a:buChar char="v"/>
            </a:pPr>
            <a:r>
              <a:rPr lang="en-US" sz="1400" dirty="0">
                <a:latin typeface="Georgia" panose="02040502050405020303" pitchFamily="18" charset="0"/>
              </a:rPr>
              <a:t>At line # 18 to 24, is the settings for </a:t>
            </a:r>
            <a:r>
              <a:rPr lang="en-US" sz="1400" dirty="0" smtClean="0">
                <a:latin typeface="Georgia" panose="02040502050405020303" pitchFamily="18" charset="0"/>
              </a:rPr>
              <a:t>user authentication.</a:t>
            </a:r>
            <a:endParaRPr lang="en-US" sz="1400" dirty="0">
              <a:latin typeface="Georgia" panose="02040502050405020303" pitchFamily="18" charset="0"/>
            </a:endParaRPr>
          </a:p>
        </p:txBody>
      </p:sp>
      <p:sp>
        <p:nvSpPr>
          <p:cNvPr id="7" name="Rectangle 6"/>
          <p:cNvSpPr/>
          <p:nvPr/>
        </p:nvSpPr>
        <p:spPr>
          <a:xfrm>
            <a:off x="5175174" y="4191000"/>
            <a:ext cx="3968826" cy="2092881"/>
          </a:xfrm>
          <a:prstGeom prst="rect">
            <a:avLst/>
          </a:prstGeom>
        </p:spPr>
        <p:txBody>
          <a:bodyPr wrap="square">
            <a:spAutoFit/>
          </a:bodyPr>
          <a:lstStyle/>
          <a:p>
            <a:r>
              <a:rPr lang="en-US" b="1" dirty="0"/>
              <a:t>Change the </a:t>
            </a:r>
            <a:r>
              <a:rPr lang="en-US" b="1" dirty="0" smtClean="0"/>
              <a:t>values </a:t>
            </a:r>
            <a:r>
              <a:rPr lang="en-US" b="1" dirty="0"/>
              <a:t>to </a:t>
            </a:r>
            <a:r>
              <a:rPr lang="en-US" b="1" dirty="0" smtClean="0"/>
              <a:t>:</a:t>
            </a:r>
            <a:r>
              <a:rPr lang="en-US" dirty="0" smtClean="0"/>
              <a:t> </a:t>
            </a:r>
          </a:p>
          <a:p>
            <a:r>
              <a:rPr lang="en-US" sz="1600" dirty="0" smtClean="0"/>
              <a:t>/* </a:t>
            </a:r>
            <a:r>
              <a:rPr lang="en-US" sz="1600" dirty="0"/>
              <a:t>Authentication type and info */</a:t>
            </a:r>
          </a:p>
          <a:p>
            <a:r>
              <a:rPr lang="en-US" sz="1600" dirty="0"/>
              <a:t>$</a:t>
            </a:r>
            <a:r>
              <a:rPr lang="en-US" sz="1600" dirty="0" err="1"/>
              <a:t>cfg</a:t>
            </a:r>
            <a:r>
              <a:rPr lang="en-US" sz="1600" dirty="0"/>
              <a:t>['Servers'][$</a:t>
            </a:r>
            <a:r>
              <a:rPr lang="en-US" sz="1600" dirty="0" err="1"/>
              <a:t>i</a:t>
            </a:r>
            <a:r>
              <a:rPr lang="en-US" sz="1600" dirty="0"/>
              <a:t>]['</a:t>
            </a:r>
            <a:r>
              <a:rPr lang="en-US" sz="1600" dirty="0" err="1"/>
              <a:t>auth_type</a:t>
            </a:r>
            <a:r>
              <a:rPr lang="en-US" sz="1600" dirty="0"/>
              <a:t>'] = </a:t>
            </a:r>
            <a:r>
              <a:rPr lang="en-US" sz="1600" b="1" dirty="0">
                <a:solidFill>
                  <a:srgbClr val="FF0000"/>
                </a:solidFill>
              </a:rPr>
              <a:t>'cookie</a:t>
            </a:r>
            <a:r>
              <a:rPr lang="en-US" sz="1600" dirty="0"/>
              <a:t>';</a:t>
            </a:r>
          </a:p>
          <a:p>
            <a:r>
              <a:rPr lang="en-US" sz="1600" dirty="0"/>
              <a:t>$</a:t>
            </a:r>
            <a:r>
              <a:rPr lang="en-US" sz="1600" dirty="0" err="1"/>
              <a:t>cfg</a:t>
            </a:r>
            <a:r>
              <a:rPr lang="en-US" sz="1600" dirty="0"/>
              <a:t>['Servers'][$</a:t>
            </a:r>
            <a:r>
              <a:rPr lang="en-US" sz="1600" dirty="0" err="1"/>
              <a:t>i</a:t>
            </a:r>
            <a:r>
              <a:rPr lang="en-US" sz="1600" dirty="0"/>
              <a:t>]['user'] = 'root';</a:t>
            </a:r>
          </a:p>
          <a:p>
            <a:r>
              <a:rPr lang="en-US" sz="1600" dirty="0"/>
              <a:t>$</a:t>
            </a:r>
            <a:r>
              <a:rPr lang="en-US" sz="1600" dirty="0" err="1"/>
              <a:t>cfg</a:t>
            </a:r>
            <a:r>
              <a:rPr lang="en-US" sz="1600" dirty="0"/>
              <a:t>['Servers'][$</a:t>
            </a:r>
            <a:r>
              <a:rPr lang="en-US" sz="1600" dirty="0" err="1"/>
              <a:t>i</a:t>
            </a:r>
            <a:r>
              <a:rPr lang="en-US" sz="1600" dirty="0"/>
              <a:t>]['password'] = </a:t>
            </a:r>
            <a:r>
              <a:rPr lang="en-US" sz="1600" b="1" dirty="0" smtClean="0">
                <a:solidFill>
                  <a:srgbClr val="FF0000"/>
                </a:solidFill>
              </a:rPr>
              <a:t>12345</a:t>
            </a:r>
            <a:r>
              <a:rPr lang="en-US" sz="1600" dirty="0" smtClean="0"/>
              <a:t> </a:t>
            </a:r>
            <a:r>
              <a:rPr lang="en-US" sz="1600" dirty="0"/>
              <a:t>';</a:t>
            </a:r>
          </a:p>
          <a:p>
            <a:r>
              <a:rPr lang="en-US" sz="1600" dirty="0"/>
              <a:t>$</a:t>
            </a:r>
            <a:r>
              <a:rPr lang="en-US" sz="1600" dirty="0" err="1"/>
              <a:t>cfg</a:t>
            </a:r>
            <a:r>
              <a:rPr lang="en-US" sz="1600" dirty="0"/>
              <a:t>['Servers'][$</a:t>
            </a:r>
            <a:r>
              <a:rPr lang="en-US" sz="1600" dirty="0" err="1"/>
              <a:t>i</a:t>
            </a:r>
            <a:r>
              <a:rPr lang="en-US" sz="1600" dirty="0"/>
              <a:t>]['extension'] = '</a:t>
            </a:r>
            <a:r>
              <a:rPr lang="en-US" sz="1600" dirty="0" err="1"/>
              <a:t>mysqli</a:t>
            </a:r>
            <a:r>
              <a:rPr lang="en-US" sz="1600" dirty="0"/>
              <a:t>';</a:t>
            </a:r>
          </a:p>
          <a:p>
            <a:r>
              <a:rPr lang="en-US" sz="1600" dirty="0"/>
              <a:t>$</a:t>
            </a:r>
            <a:r>
              <a:rPr lang="en-US" sz="1600" dirty="0" err="1"/>
              <a:t>cfg</a:t>
            </a:r>
            <a:r>
              <a:rPr lang="en-US" sz="1600" dirty="0"/>
              <a:t>['Servers'][$</a:t>
            </a:r>
            <a:r>
              <a:rPr lang="en-US" sz="1600" dirty="0" err="1"/>
              <a:t>i</a:t>
            </a:r>
            <a:r>
              <a:rPr lang="en-US" sz="1600" dirty="0"/>
              <a:t>]['</a:t>
            </a:r>
            <a:r>
              <a:rPr lang="en-US" sz="1600" dirty="0" err="1"/>
              <a:t>AllowNoPassword</a:t>
            </a:r>
            <a:r>
              <a:rPr lang="en-US" sz="1600" dirty="0"/>
              <a:t>'] = </a:t>
            </a:r>
            <a:r>
              <a:rPr lang="en-US" sz="1600" b="1" dirty="0">
                <a:solidFill>
                  <a:srgbClr val="FF0000"/>
                </a:solidFill>
              </a:rPr>
              <a:t>false</a:t>
            </a:r>
            <a:r>
              <a:rPr lang="en-US" sz="1600" dirty="0"/>
              <a:t>;</a:t>
            </a:r>
          </a:p>
          <a:p>
            <a:r>
              <a:rPr lang="en-US" sz="1600" dirty="0"/>
              <a:t>$</a:t>
            </a:r>
            <a:r>
              <a:rPr lang="en-US" sz="1600" dirty="0" err="1"/>
              <a:t>cfg</a:t>
            </a:r>
            <a:r>
              <a:rPr lang="en-US" sz="1600" dirty="0"/>
              <a:t>['Lang'] = '';</a:t>
            </a:r>
          </a:p>
        </p:txBody>
      </p:sp>
      <p:sp>
        <p:nvSpPr>
          <p:cNvPr id="8" name="Rectangle 7"/>
          <p:cNvSpPr/>
          <p:nvPr/>
        </p:nvSpPr>
        <p:spPr>
          <a:xfrm>
            <a:off x="353687" y="6210626"/>
            <a:ext cx="4821487" cy="276999"/>
          </a:xfrm>
          <a:prstGeom prst="rect">
            <a:avLst/>
          </a:prstGeom>
        </p:spPr>
        <p:txBody>
          <a:bodyPr wrap="square">
            <a:spAutoFit/>
          </a:bodyPr>
          <a:lstStyle/>
          <a:p>
            <a:r>
              <a:rPr lang="en-US" sz="1200" b="1" i="1" dirty="0" smtClean="0">
                <a:latin typeface="Georgia" panose="02040502050405020303" pitchFamily="18" charset="0"/>
              </a:rPr>
              <a:t>password</a:t>
            </a:r>
            <a:r>
              <a:rPr lang="en-US" sz="1200" dirty="0">
                <a:latin typeface="Georgia" panose="02040502050405020303" pitchFamily="18" charset="0"/>
              </a:rPr>
              <a:t>: password is not set in the configuration </a:t>
            </a:r>
            <a:r>
              <a:rPr lang="en-US" sz="1200" dirty="0" smtClean="0">
                <a:latin typeface="Georgia" panose="02040502050405020303" pitchFamily="18" charset="0"/>
              </a:rPr>
              <a:t>file.</a:t>
            </a:r>
            <a:endParaRPr lang="en-US" sz="1200" dirty="0">
              <a:latin typeface="Georgia" panose="02040502050405020303" pitchFamily="18" charset="0"/>
            </a:endParaRPr>
          </a:p>
        </p:txBody>
      </p:sp>
    </p:spTree>
    <p:extLst>
      <p:ext uri="{BB962C8B-B14F-4D97-AF65-F5344CB8AC3E}">
        <p14:creationId xmlns:p14="http://schemas.microsoft.com/office/powerpoint/2010/main" val="18588847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a:spLocks/>
          </p:cNvSpPr>
          <p:nvPr/>
        </p:nvSpPr>
        <p:spPr bwMode="auto">
          <a:xfrm>
            <a:off x="152400" y="152400"/>
            <a:ext cx="8839200" cy="685800"/>
          </a:xfrm>
          <a:prstGeom prst="rect">
            <a:avLst/>
          </a:prstGeom>
          <a:ln/>
          <a:extLst/>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n-lt"/>
                <a:ea typeface="+mn-ea"/>
                <a:cs typeface="+mn-cs"/>
              </a:defRPr>
            </a:lvl1pPr>
            <a:lvl2pPr algn="l" rtl="0" eaLnBrk="0" fontAlgn="base" hangingPunct="0">
              <a:spcBef>
                <a:spcPct val="0"/>
              </a:spcBef>
              <a:spcAft>
                <a:spcPct val="0"/>
              </a:spcAft>
              <a:defRPr sz="4000">
                <a:solidFill>
                  <a:schemeClr val="dk1"/>
                </a:solidFill>
                <a:latin typeface="+mn-lt"/>
                <a:ea typeface="+mn-ea"/>
                <a:cs typeface="+mn-cs"/>
              </a:defRPr>
            </a:lvl2pPr>
            <a:lvl3pPr algn="l" rtl="0" eaLnBrk="0" fontAlgn="base" hangingPunct="0">
              <a:spcBef>
                <a:spcPct val="0"/>
              </a:spcBef>
              <a:spcAft>
                <a:spcPct val="0"/>
              </a:spcAft>
              <a:defRPr sz="4000">
                <a:solidFill>
                  <a:schemeClr val="dk1"/>
                </a:solidFill>
                <a:latin typeface="+mn-lt"/>
                <a:ea typeface="+mn-ea"/>
                <a:cs typeface="+mn-cs"/>
              </a:defRPr>
            </a:lvl3pPr>
            <a:lvl4pPr algn="l" rtl="0" eaLnBrk="0" fontAlgn="base" hangingPunct="0">
              <a:spcBef>
                <a:spcPct val="0"/>
              </a:spcBef>
              <a:spcAft>
                <a:spcPct val="0"/>
              </a:spcAft>
              <a:defRPr sz="4000">
                <a:solidFill>
                  <a:schemeClr val="dk1"/>
                </a:solidFill>
                <a:latin typeface="+mn-lt"/>
                <a:ea typeface="+mn-ea"/>
                <a:cs typeface="+mn-cs"/>
              </a:defRPr>
            </a:lvl4pPr>
            <a:lvl5pPr algn="l" rtl="0" eaLnBrk="0" fontAlgn="base" hangingPunct="0">
              <a:spcBef>
                <a:spcPct val="0"/>
              </a:spcBef>
              <a:spcAft>
                <a:spcPct val="0"/>
              </a:spcAft>
              <a:defRPr sz="4000">
                <a:solidFill>
                  <a:schemeClr val="dk1"/>
                </a:solidFill>
                <a:latin typeface="+mn-lt"/>
                <a:ea typeface="+mn-ea"/>
                <a:cs typeface="+mn-cs"/>
              </a:defRPr>
            </a:lvl5pPr>
            <a:lvl6pPr marL="457200" algn="l" rtl="0" fontAlgn="base">
              <a:spcBef>
                <a:spcPct val="0"/>
              </a:spcBef>
              <a:spcAft>
                <a:spcPct val="0"/>
              </a:spcAft>
              <a:defRPr sz="4000">
                <a:solidFill>
                  <a:schemeClr val="dk1"/>
                </a:solidFill>
                <a:latin typeface="+mn-lt"/>
                <a:ea typeface="+mn-ea"/>
                <a:cs typeface="+mn-cs"/>
              </a:defRPr>
            </a:lvl6pPr>
            <a:lvl7pPr marL="914400" algn="l" rtl="0" fontAlgn="base">
              <a:spcBef>
                <a:spcPct val="0"/>
              </a:spcBef>
              <a:spcAft>
                <a:spcPct val="0"/>
              </a:spcAft>
              <a:defRPr sz="4000">
                <a:solidFill>
                  <a:schemeClr val="dk1"/>
                </a:solidFill>
                <a:latin typeface="+mn-lt"/>
                <a:ea typeface="+mn-ea"/>
                <a:cs typeface="+mn-cs"/>
              </a:defRPr>
            </a:lvl7pPr>
            <a:lvl8pPr marL="1371600" algn="l" rtl="0" fontAlgn="base">
              <a:spcBef>
                <a:spcPct val="0"/>
              </a:spcBef>
              <a:spcAft>
                <a:spcPct val="0"/>
              </a:spcAft>
              <a:defRPr sz="4000">
                <a:solidFill>
                  <a:schemeClr val="dk1"/>
                </a:solidFill>
                <a:latin typeface="+mn-lt"/>
                <a:ea typeface="+mn-ea"/>
                <a:cs typeface="+mn-cs"/>
              </a:defRPr>
            </a:lvl8pPr>
            <a:lvl9pPr marL="1828800" algn="l" rtl="0" fontAlgn="base">
              <a:spcBef>
                <a:spcPct val="0"/>
              </a:spcBef>
              <a:spcAft>
                <a:spcPct val="0"/>
              </a:spcAft>
              <a:defRPr sz="4000">
                <a:solidFill>
                  <a:schemeClr val="dk1"/>
                </a:solidFill>
                <a:latin typeface="+mn-lt"/>
                <a:ea typeface="+mn-ea"/>
                <a:cs typeface="+mn-cs"/>
              </a:defRPr>
            </a:lvl9pPr>
          </a:lstStyle>
          <a:p>
            <a:pPr lvl="0" algn="ctr">
              <a:defRPr/>
            </a:pPr>
            <a:r>
              <a:rPr lang="en-US" sz="3200" dirty="0" smtClean="0">
                <a:solidFill>
                  <a:srgbClr val="1F497D"/>
                </a:solidFill>
                <a:latin typeface="Georgia"/>
              </a:rPr>
              <a:t>Testing</a:t>
            </a:r>
            <a:endParaRPr kumimoji="0" lang="en-US" sz="3200" b="0" i="0" u="none" strike="noStrike" kern="1200" cap="none" spc="0" normalizeH="0" baseline="0" noProof="0" dirty="0">
              <a:ln>
                <a:noFill/>
              </a:ln>
              <a:solidFill>
                <a:srgbClr val="1F497D"/>
              </a:solidFill>
              <a:effectLst/>
              <a:uLnTx/>
              <a:uFillTx/>
              <a:latin typeface="Georgia"/>
              <a:ea typeface="+mn-ea"/>
              <a:cs typeface="+mn-cs"/>
            </a:endParaRPr>
          </a:p>
        </p:txBody>
      </p:sp>
      <p:pic>
        <p:nvPicPr>
          <p:cNvPr id="2" name="Picture 1"/>
          <p:cNvPicPr>
            <a:picLocks noChangeAspect="1"/>
          </p:cNvPicPr>
          <p:nvPr/>
        </p:nvPicPr>
        <p:blipFill>
          <a:blip r:embed="rId2"/>
          <a:stretch>
            <a:fillRect/>
          </a:stretch>
        </p:blipFill>
        <p:spPr>
          <a:xfrm>
            <a:off x="152400" y="990600"/>
            <a:ext cx="8839200" cy="5282927"/>
          </a:xfrm>
          <a:prstGeom prst="rect">
            <a:avLst/>
          </a:prstGeom>
        </p:spPr>
      </p:pic>
    </p:spTree>
    <p:extLst>
      <p:ext uri="{BB962C8B-B14F-4D97-AF65-F5344CB8AC3E}">
        <p14:creationId xmlns:p14="http://schemas.microsoft.com/office/powerpoint/2010/main" val="12682515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2971800"/>
            <a:ext cx="5530215" cy="1035745"/>
          </a:xfrm>
          <a:prstGeom prst="wedgeRoundRectCallout">
            <a:avLst>
              <a:gd name="adj1" fmla="val 51225"/>
              <a:gd name="adj2" fmla="val 132447"/>
              <a:gd name="adj3" fmla="val 16667"/>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vert="horz" wrap="square" lIns="0" tIns="12700" rIns="0" bIns="0" rtlCol="0">
            <a:spAutoFit/>
          </a:bodyPr>
          <a:lstStyle/>
          <a:p>
            <a:pPr marL="12700" algn="ctr">
              <a:lnSpc>
                <a:spcPct val="100000"/>
              </a:lnSpc>
              <a:spcBef>
                <a:spcPts val="100"/>
              </a:spcBef>
            </a:pPr>
            <a:r>
              <a:rPr sz="6000" dirty="0">
                <a:solidFill>
                  <a:srgbClr val="30859C"/>
                </a:solidFill>
              </a:rPr>
              <a:t>THANK</a:t>
            </a:r>
            <a:r>
              <a:rPr sz="6000" spc="-355" dirty="0">
                <a:solidFill>
                  <a:srgbClr val="30859C"/>
                </a:solidFill>
              </a:rPr>
              <a:t> </a:t>
            </a:r>
            <a:r>
              <a:rPr sz="6000" spc="-5" dirty="0" smtClean="0">
                <a:solidFill>
                  <a:srgbClr val="30859C"/>
                </a:solidFill>
              </a:rPr>
              <a:t>YOU</a:t>
            </a:r>
            <a:endParaRPr sz="6000" dirty="0"/>
          </a:p>
        </p:txBody>
      </p:sp>
      <p:pic>
        <p:nvPicPr>
          <p:cNvPr id="3" name="Picture 2" descr="Download Free png Photography Person Clip art - thinking clipart png  download - 645 ... - DLPNG.co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6615" y="4476896"/>
            <a:ext cx="1719273" cy="213243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903914" y="76200"/>
            <a:ext cx="8021974"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5000" b="0" i="0" u="none" strike="noStrike" kern="1200" cap="all" spc="100" normalizeH="0" baseline="0" noProof="0" dirty="0" smtClean="0">
                <a:ln>
                  <a:noFill/>
                </a:ln>
                <a:solidFill>
                  <a:sysClr val="windowText" lastClr="000000">
                    <a:lumMod val="95000"/>
                    <a:lumOff val="5000"/>
                  </a:sysClr>
                </a:solidFill>
                <a:effectLst/>
                <a:uLnTx/>
                <a:uFillTx/>
                <a:latin typeface="Tw Cen MT Condensed" panose="020B0606020104020203"/>
                <a:ea typeface="+mj-ea"/>
                <a:cs typeface="+mj-cs"/>
              </a:rPr>
              <a:t>END PRESENTATION</a:t>
            </a:r>
            <a:endParaRPr kumimoji="0" lang="en-US" sz="5000" b="0" i="0" u="none" strike="noStrike" kern="1200" cap="all" spc="100" normalizeH="0" baseline="0" noProof="0" dirty="0">
              <a:ln>
                <a:noFill/>
              </a:ln>
              <a:solidFill>
                <a:sysClr val="windowText" lastClr="000000">
                  <a:lumMod val="95000"/>
                  <a:lumOff val="5000"/>
                </a:sysClr>
              </a:solidFill>
              <a:effectLst/>
              <a:uLnTx/>
              <a:uFillTx/>
              <a:latin typeface="Tw Cen MT Condensed" panose="020B0606020104020203"/>
              <a:ea typeface="+mj-ea"/>
              <a:cs typeface="+mj-cs"/>
            </a:endParaRPr>
          </a:p>
        </p:txBody>
      </p:sp>
      <p:grpSp>
        <p:nvGrpSpPr>
          <p:cNvPr id="5" name="Group 4"/>
          <p:cNvGrpSpPr/>
          <p:nvPr/>
        </p:nvGrpSpPr>
        <p:grpSpPr>
          <a:xfrm>
            <a:off x="903913" y="1186434"/>
            <a:ext cx="3041667" cy="670501"/>
            <a:chOff x="1024128" y="2917984"/>
            <a:chExt cx="3041667" cy="670501"/>
          </a:xfrm>
        </p:grpSpPr>
        <p:sp>
          <p:nvSpPr>
            <p:cNvPr id="6" name="Rectangle 5"/>
            <p:cNvSpPr/>
            <p:nvPr/>
          </p:nvSpPr>
          <p:spPr>
            <a:xfrm>
              <a:off x="1024128" y="3188375"/>
              <a:ext cx="2252861" cy="400110"/>
            </a:xfrm>
            <a:prstGeom prst="rect">
              <a:avLst/>
            </a:prstGeom>
          </p:spPr>
          <p:txBody>
            <a:bodyPr wrap="none">
              <a:spAutoFit/>
            </a:bodyPr>
            <a:lstStyle/>
            <a:p>
              <a:pPr defTabSz="457200"/>
              <a:r>
                <a:rPr lang="en-US" sz="2000" dirty="0" smtClean="0">
                  <a:solidFill>
                    <a:prstClr val="black"/>
                  </a:solidFill>
                  <a:latin typeface="Tw Cen MT" panose="020B0602020104020603"/>
                </a:rPr>
                <a:t>Instructor: S – W </a:t>
              </a:r>
              <a:r>
                <a:rPr lang="en-US" sz="2000" dirty="0">
                  <a:solidFill>
                    <a:prstClr val="black"/>
                  </a:solidFill>
                  <a:latin typeface="Tw Cen MT" panose="020B0602020104020603"/>
                </a:rPr>
                <a:t>–</a:t>
              </a:r>
              <a:r>
                <a:rPr lang="en-US" sz="2000" dirty="0" smtClean="0">
                  <a:solidFill>
                    <a:prstClr val="black"/>
                  </a:solidFill>
                  <a:latin typeface="Tw Cen MT" panose="020B0602020104020603"/>
                </a:rPr>
                <a:t> T</a:t>
              </a:r>
            </a:p>
          </p:txBody>
        </p:sp>
        <p:sp>
          <p:nvSpPr>
            <p:cNvPr id="7" name="Rectangle 6"/>
            <p:cNvSpPr/>
            <p:nvPr/>
          </p:nvSpPr>
          <p:spPr>
            <a:xfrm>
              <a:off x="1024128" y="2917984"/>
              <a:ext cx="3041667" cy="400110"/>
            </a:xfrm>
            <a:prstGeom prst="rect">
              <a:avLst/>
            </a:prstGeom>
          </p:spPr>
          <p:txBody>
            <a:bodyPr wrap="none">
              <a:spAutoFit/>
            </a:bodyPr>
            <a:lstStyle/>
            <a:p>
              <a:pPr defTabSz="457200"/>
              <a:r>
                <a:rPr lang="en-US" sz="2000" dirty="0">
                  <a:solidFill>
                    <a:srgbClr val="FF0000"/>
                  </a:solidFill>
                  <a:latin typeface="Tw Cen MT" panose="020B0602020104020603"/>
                </a:rPr>
                <a:t>Thank you for your attention</a:t>
              </a:r>
            </a:p>
          </p:txBody>
        </p:sp>
      </p:grpSp>
      <p:sp>
        <p:nvSpPr>
          <p:cNvPr id="8" name="Rectangle 7"/>
          <p:cNvSpPr/>
          <p:nvPr/>
        </p:nvSpPr>
        <p:spPr>
          <a:xfrm>
            <a:off x="470335" y="540135"/>
            <a:ext cx="304599" cy="1316800"/>
          </a:xfrm>
          <a:prstGeom prst="rect">
            <a:avLst/>
          </a:prstGeom>
          <a:solidFill>
            <a:sysClr val="windowText" lastClr="000000"/>
          </a:solidFill>
          <a:ln w="15875" cap="flat" cmpd="sng" algn="ctr">
            <a:solidFill>
              <a:sysClr val="windowText" lastClr="000000">
                <a:shade val="50000"/>
              </a:sys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Tw Cen MT" panose="020B0602020104020603"/>
              <a:ea typeface="+mn-ea"/>
              <a:cs typeface="+mn-cs"/>
            </a:endParaRPr>
          </a:p>
        </p:txBody>
      </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rb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1770</TotalTime>
  <Words>1238</Words>
  <Application>Microsoft Office PowerPoint</Application>
  <PresentationFormat>On-screen Show (4:3)</PresentationFormat>
  <Paragraphs>86</Paragraphs>
  <Slides>23</Slides>
  <Notes>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23</vt:i4>
      </vt:variant>
    </vt:vector>
  </HeadingPairs>
  <TitlesOfParts>
    <vt:vector size="36" baseType="lpstr">
      <vt:lpstr>Carlito</vt:lpstr>
      <vt:lpstr>Calibri</vt:lpstr>
      <vt:lpstr>Georgia</vt:lpstr>
      <vt:lpstr>Tahoma</vt:lpstr>
      <vt:lpstr>Times New Roman</vt:lpstr>
      <vt:lpstr>Trebuchet MS</vt:lpstr>
      <vt:lpstr>Tw Cen MT</vt:lpstr>
      <vt:lpstr>Tw Cen MT Condensed</vt:lpstr>
      <vt:lpstr>Wingdings</vt:lpstr>
      <vt:lpstr>Wingdings 2</vt:lpstr>
      <vt:lpstr>Wingdings 3</vt:lpstr>
      <vt:lpstr>Office Theme</vt:lpstr>
      <vt:lpstr>Urban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NL</dc:creator>
  <cp:lastModifiedBy>NL</cp:lastModifiedBy>
  <cp:revision>441</cp:revision>
  <dcterms:created xsi:type="dcterms:W3CDTF">2021-03-23T22:28:06Z</dcterms:created>
  <dcterms:modified xsi:type="dcterms:W3CDTF">2021-06-25T05:32:31Z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2018-01-22T00:00:00Z</vt:filetime>
  </property>
  <property fmtid="{D5CDD505-2E9C-101B-9397-08002B2CF9AE}" pid="3" name="Creator">
    <vt:lpwstr>Microsoft® PowerPoint® 2013</vt:lpwstr>
  </property>
  <property fmtid="{D5CDD505-2E9C-101B-9397-08002B2CF9AE}" pid="4" name="LastSaved">
    <vt:filetime>2021-03-23T00:00:00Z</vt:filetime>
  </property>
</Properties>
</file>