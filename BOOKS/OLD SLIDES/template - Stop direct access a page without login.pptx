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  <p:sldMasterId id="2147483678" r:id="rId3"/>
  </p:sldMasterIdLst>
  <p:notesMasterIdLst>
    <p:notesMasterId r:id="rId20"/>
  </p:notesMasterIdLst>
  <p:sldIdLst>
    <p:sldId id="285" r:id="rId4"/>
    <p:sldId id="286" r:id="rId5"/>
    <p:sldId id="302" r:id="rId6"/>
    <p:sldId id="257" r:id="rId7"/>
    <p:sldId id="258" r:id="rId8"/>
    <p:sldId id="296" r:id="rId9"/>
    <p:sldId id="303" r:id="rId10"/>
    <p:sldId id="304" r:id="rId11"/>
    <p:sldId id="295" r:id="rId12"/>
    <p:sldId id="301" r:id="rId13"/>
    <p:sldId id="299" r:id="rId14"/>
    <p:sldId id="298" r:id="rId15"/>
    <p:sldId id="300" r:id="rId16"/>
    <p:sldId id="297" r:id="rId17"/>
    <p:sldId id="294" r:id="rId18"/>
    <p:sldId id="284" r:id="rId19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441" autoAdjust="0"/>
  </p:normalViewPr>
  <p:slideViewPr>
    <p:cSldViewPr>
      <p:cViewPr varScale="1">
        <p:scale>
          <a:sx n="83" d="100"/>
          <a:sy n="83" d="100"/>
        </p:scale>
        <p:origin x="1536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4A8E67-C31F-4B3F-AE22-4E6EEE62189F}" type="datetimeFigureOut">
              <a:rPr lang="en-US" smtClean="0"/>
              <a:t>6/18/2021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6D6AE2-3021-4755-9483-33FED85582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410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318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5640802-FA98-427B-B9DA-D5CD3C58A5EC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0" marR="0" lvl="0" indent="0" algn="r" defTabSz="9318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990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AF5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AF5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AF5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2843" y="1078991"/>
            <a:ext cx="8066537" cy="32575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 flipV="1">
            <a:off x="5410200" y="3810000"/>
            <a:ext cx="3733800" cy="904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 flipV="1">
            <a:off x="5410200" y="3897313"/>
            <a:ext cx="3733800" cy="19208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 flipV="1">
            <a:off x="5410200" y="4114800"/>
            <a:ext cx="3733800" cy="9525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5410200" y="4164013"/>
            <a:ext cx="1965325" cy="19050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 flipV="1">
            <a:off x="5410200" y="4198938"/>
            <a:ext cx="1965325" cy="9525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11" name="Rounded Rectangle 10"/>
          <p:cNvSpPr/>
          <p:nvPr/>
        </p:nvSpPr>
        <p:spPr bwMode="white">
          <a:xfrm>
            <a:off x="5410200" y="3962400"/>
            <a:ext cx="3063875" cy="26988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12" name="Rounded Rectangle 11"/>
          <p:cNvSpPr/>
          <p:nvPr/>
        </p:nvSpPr>
        <p:spPr bwMode="white">
          <a:xfrm>
            <a:off x="7377113" y="4060825"/>
            <a:ext cx="1600200" cy="36513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0" y="3649663"/>
            <a:ext cx="9144000" cy="24447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0" y="3675063"/>
            <a:ext cx="9144000" cy="1412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Rectangle 14"/>
          <p:cNvSpPr/>
          <p:nvPr/>
        </p:nvSpPr>
        <p:spPr>
          <a:xfrm flipV="1">
            <a:off x="6413500" y="3643313"/>
            <a:ext cx="2730500" cy="2476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9144000" cy="370205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7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875"/>
            <a:ext cx="960438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7A5911-318A-42B0-BD23-6D9EB7D0CA04}" type="datetimeFigureOut">
              <a:rPr lang="en-US"/>
              <a:pPr>
                <a:defRPr/>
              </a:pPr>
              <a:t>6/18/2021</a:t>
            </a:fld>
            <a:endParaRPr lang="en-US"/>
          </a:p>
        </p:txBody>
      </p:sp>
      <p:sp>
        <p:nvSpPr>
          <p:cNvPr id="18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588"/>
            <a:ext cx="74771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4458D9D-7997-48C9-9AC8-3F90B58B8F5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4431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4A82B4-6618-4215-93D9-CEB563386B8B}" type="datetimeFigureOut">
              <a:rPr lang="en-US"/>
              <a:pPr>
                <a:defRPr/>
              </a:pPr>
              <a:t>6/18/2021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7DC8DC-866E-4B93-B469-7F06B822183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2998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CF3936-C19B-44C7-9907-C0E7C284152D}" type="datetimeFigureOut">
              <a:rPr lang="en-US"/>
              <a:pPr>
                <a:defRPr/>
              </a:pPr>
              <a:t>6/18/2021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D50082-0BCC-45F0-8D95-A24D80F2B49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5859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314A90-AFC1-4E63-8122-57311A38DF42}" type="datetimeFigureOut">
              <a:rPr lang="en-US"/>
              <a:pPr>
                <a:defRPr/>
              </a:pPr>
              <a:t>6/18/2021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78D1BD-67A6-4741-9925-0FDB9D00201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2786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/>
          <a:lstStyle>
            <a:lvl1pPr>
              <a:defRPr sz="4000" b="0" i="0" cap="none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7A2782CB-796F-4B39-B3A1-A580BB814B6D}" type="datetimeFigureOut">
              <a:rPr lang="en-US"/>
              <a:pPr>
                <a:defRPr/>
              </a:pPr>
              <a:t>6/18/2021</a:t>
            </a:fld>
            <a:endParaRPr lang="en-US"/>
          </a:p>
        </p:txBody>
      </p:sp>
      <p:sp>
        <p:nvSpPr>
          <p:cNvPr id="8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2235CFA-2E95-41A8-BAE8-E6B82C409E5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706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363" y="612775"/>
            <a:ext cx="957262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89DFEC-1725-49C8-B349-7936A7B6C619}" type="datetimeFigureOut">
              <a:rPr lang="en-US"/>
              <a:pPr>
                <a:defRPr/>
              </a:pPr>
              <a:t>6/18/2021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7C593E-29F5-4DB5-AA21-09B3E16427D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86860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C4EACB-F0B1-430E-814E-618E1FB95B3F}" type="datetimeFigureOut">
              <a:rPr lang="en-US"/>
              <a:pPr>
                <a:defRPr/>
              </a:pPr>
              <a:t>6/18/2021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62F2B9-77ED-4645-81E1-35508EBB26E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49780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F83054-3FDA-4EA6-BDCD-F6F20A348F07}" type="datetimeFigureOut">
              <a:rPr lang="en-US"/>
              <a:pPr>
                <a:defRPr/>
              </a:pPr>
              <a:t>6/18/2021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4040EC-DEFE-48A7-8B41-72679CFEB6E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0578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3B4C38-6B7A-4435-A3AF-075D8A2102F3}" type="datetimeFigureOut">
              <a:rPr lang="en-US"/>
              <a:pPr>
                <a:defRPr/>
              </a:pPr>
              <a:t>6/18/2021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95D01F-80C4-4EF3-9C3E-4AB2D853C16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79253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F07E67-5493-4B92-9FD9-CEF01D49F27C}" type="datetimeFigureOut">
              <a:rPr lang="en-US"/>
              <a:pPr>
                <a:defRPr/>
              </a:pPr>
              <a:t>6/18/2021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CC2162-9904-4CE2-ADF7-C5DB601A18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25030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37261E-68CB-4B7F-AB36-DC4916C10FE0}" type="datetimeFigureOut">
              <a:rPr lang="en-US"/>
              <a:pPr>
                <a:defRPr/>
              </a:pPr>
              <a:t>6/18/2021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2EC959-A47F-459F-8D4B-AA4F723E346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51712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49026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3545" y="3648456"/>
            <a:ext cx="7296911" cy="492481"/>
          </a:xfr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Bookman Uralic"/>
                <a:cs typeface="Bookman Ur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44041" y="2828671"/>
            <a:ext cx="5455919" cy="400148"/>
          </a:xfrm>
        </p:spPr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02435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3545" y="3648456"/>
            <a:ext cx="7296911" cy="492481"/>
          </a:xfr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Bookman Uralic"/>
                <a:cs typeface="Bookman Ur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02377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3545" y="3648456"/>
            <a:ext cx="7296911" cy="492481"/>
          </a:xfr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Bookman Uralic"/>
                <a:cs typeface="Bookman Ur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418997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6634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42769" y="484758"/>
            <a:ext cx="4458461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0AF5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49426" y="3362909"/>
            <a:ext cx="6645147" cy="20218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0" y="366713"/>
            <a:ext cx="9144000" cy="8413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200" y="360363"/>
            <a:ext cx="3733800" cy="904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39738"/>
            <a:ext cx="3733800" cy="18097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025" y="496888"/>
            <a:ext cx="3063875" cy="28575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938" y="588963"/>
            <a:ext cx="1600200" cy="3651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5263" y="-1588"/>
            <a:ext cx="57150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3988" y="-1588"/>
            <a:ext cx="28575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4938" y="-1588"/>
            <a:ext cx="9525" cy="620713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725" y="-1588"/>
            <a:ext cx="26988" cy="620713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400" y="0"/>
            <a:ext cx="55563" cy="585788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4125" y="0"/>
            <a:ext cx="7938" cy="585788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207" name="Title Placeholder 21"/>
          <p:cNvSpPr>
            <a:spLocks noGrp="1"/>
          </p:cNvSpPr>
          <p:nvPr>
            <p:ph type="title"/>
          </p:nvPr>
        </p:nvSpPr>
        <p:spPr bwMode="auto"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8208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2249488"/>
            <a:ext cx="8229600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800">
                <a:solidFill>
                  <a:schemeClr val="accent2"/>
                </a:solidFill>
                <a:latin typeface="+mn-lt"/>
              </a:defRPr>
            </a:lvl1pPr>
          </a:lstStyle>
          <a:p>
            <a:pPr>
              <a:defRPr/>
            </a:pPr>
            <a:fld id="{076F8D71-EA83-45CB-9292-976A9C8DA0C3}" type="datetimeFigureOut">
              <a:rPr lang="en-US"/>
              <a:pPr>
                <a:defRPr/>
              </a:pPr>
              <a:t>6/18/2021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 vert="horz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800">
                <a:solidFill>
                  <a:schemeClr val="accent2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038" y="1588"/>
            <a:ext cx="762000" cy="3667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>
                <a:solidFill>
                  <a:srgbClr val="FFFFFF"/>
                </a:solidFill>
                <a:latin typeface="Georgia" panose="02040502050405020303" pitchFamily="18" charset="0"/>
              </a:defRPr>
            </a:lvl1pPr>
          </a:lstStyle>
          <a:p>
            <a:fld id="{C36EDDF5-661D-4F0D-A8FC-08CDEA6AF9C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3112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9pPr>
    </p:titleStyle>
    <p:bodyStyle>
      <a:lvl1pPr marL="365125" indent="-255588" algn="l" rtl="0" eaLnBrk="0" fontAlgn="base" hangingPunct="0">
        <a:spcBef>
          <a:spcPts val="300"/>
        </a:spcBef>
        <a:spcAft>
          <a:spcPct val="0"/>
        </a:spcAft>
        <a:buClr>
          <a:srgbClr val="9BBB59"/>
        </a:buClr>
        <a:buFont typeface="Georgia" panose="02040502050405020303" pitchFamily="18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7225" indent="-246063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Font typeface="Georgia" panose="02040502050405020303" pitchFamily="18" charset="0"/>
        <a:buChar char="▫"/>
        <a:defRPr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2338" indent="-219075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13" indent="-200025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ts val="300"/>
        </a:spcBef>
        <a:spcAft>
          <a:spcPct val="0"/>
        </a:spcAft>
        <a:buClr>
          <a:srgbClr val="9BBB59"/>
        </a:buClr>
        <a:buFont typeface="Georgia" panose="02040502050405020303" pitchFamily="18" charset="0"/>
        <a:buChar char="▫"/>
        <a:defRPr sz="2000" kern="1200">
          <a:solidFill>
            <a:srgbClr val="9BBB59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3545" y="3648455"/>
            <a:ext cx="7296911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Bookman Uralic"/>
                <a:cs typeface="Bookman Ur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44041" y="2828670"/>
            <a:ext cx="5455919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4151" y="5726336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71047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196">
        <a:defRPr>
          <a:latin typeface="+mn-lt"/>
          <a:ea typeface="+mn-ea"/>
          <a:cs typeface="+mn-cs"/>
        </a:defRPr>
      </a:lvl2pPr>
      <a:lvl3pPr marL="914391">
        <a:defRPr>
          <a:latin typeface="+mn-lt"/>
          <a:ea typeface="+mn-ea"/>
          <a:cs typeface="+mn-cs"/>
        </a:defRPr>
      </a:lvl3pPr>
      <a:lvl4pPr marL="1371587">
        <a:defRPr>
          <a:latin typeface="+mn-lt"/>
          <a:ea typeface="+mn-ea"/>
          <a:cs typeface="+mn-cs"/>
        </a:defRPr>
      </a:lvl4pPr>
      <a:lvl5pPr marL="1828782">
        <a:defRPr>
          <a:latin typeface="+mn-lt"/>
          <a:ea typeface="+mn-ea"/>
          <a:cs typeface="+mn-cs"/>
        </a:defRPr>
      </a:lvl5pPr>
      <a:lvl6pPr marL="2285978">
        <a:defRPr>
          <a:latin typeface="+mn-lt"/>
          <a:ea typeface="+mn-ea"/>
          <a:cs typeface="+mn-cs"/>
        </a:defRPr>
      </a:lvl6pPr>
      <a:lvl7pPr marL="2743173">
        <a:defRPr>
          <a:latin typeface="+mn-lt"/>
          <a:ea typeface="+mn-ea"/>
          <a:cs typeface="+mn-cs"/>
        </a:defRPr>
      </a:lvl7pPr>
      <a:lvl8pPr marL="3200368">
        <a:defRPr>
          <a:latin typeface="+mn-lt"/>
          <a:ea typeface="+mn-ea"/>
          <a:cs typeface="+mn-cs"/>
        </a:defRPr>
      </a:lvl8pPr>
      <a:lvl9pPr marL="365756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196">
        <a:defRPr>
          <a:latin typeface="+mn-lt"/>
          <a:ea typeface="+mn-ea"/>
          <a:cs typeface="+mn-cs"/>
        </a:defRPr>
      </a:lvl2pPr>
      <a:lvl3pPr marL="914391">
        <a:defRPr>
          <a:latin typeface="+mn-lt"/>
          <a:ea typeface="+mn-ea"/>
          <a:cs typeface="+mn-cs"/>
        </a:defRPr>
      </a:lvl3pPr>
      <a:lvl4pPr marL="1371587">
        <a:defRPr>
          <a:latin typeface="+mn-lt"/>
          <a:ea typeface="+mn-ea"/>
          <a:cs typeface="+mn-cs"/>
        </a:defRPr>
      </a:lvl4pPr>
      <a:lvl5pPr marL="1828782">
        <a:defRPr>
          <a:latin typeface="+mn-lt"/>
          <a:ea typeface="+mn-ea"/>
          <a:cs typeface="+mn-cs"/>
        </a:defRPr>
      </a:lvl5pPr>
      <a:lvl6pPr marL="2285978">
        <a:defRPr>
          <a:latin typeface="+mn-lt"/>
          <a:ea typeface="+mn-ea"/>
          <a:cs typeface="+mn-cs"/>
        </a:defRPr>
      </a:lvl6pPr>
      <a:lvl7pPr marL="2743173">
        <a:defRPr>
          <a:latin typeface="+mn-lt"/>
          <a:ea typeface="+mn-ea"/>
          <a:cs typeface="+mn-cs"/>
        </a:defRPr>
      </a:lvl7pPr>
      <a:lvl8pPr marL="3200368">
        <a:defRPr>
          <a:latin typeface="+mn-lt"/>
          <a:ea typeface="+mn-ea"/>
          <a:cs typeface="+mn-cs"/>
        </a:defRPr>
      </a:lvl8pPr>
      <a:lvl9pPr marL="3657563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journaldev.com/1079/multithreading-in-java" TargetMode="External"/><Relationship Id="rId3" Type="http://schemas.openxmlformats.org/officeDocument/2006/relationships/hyperlink" Target="https://www.javatpoint.com/multithreading-in-java" TargetMode="External"/><Relationship Id="rId7" Type="http://schemas.openxmlformats.org/officeDocument/2006/relationships/hyperlink" Target="https://www.geeksforgeeks.org/multithreading-in-java/" TargetMode="External"/><Relationship Id="rId2" Type="http://schemas.openxmlformats.org/officeDocument/2006/relationships/hyperlink" Target="https://beginnersbook.com/2013/03/multithreading-in-java/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tutorialspoint.com/java/java_multithreading.htm" TargetMode="External"/><Relationship Id="rId5" Type="http://schemas.openxmlformats.org/officeDocument/2006/relationships/hyperlink" Target="https://www.guru99.com/multithreading-java.html#:~:text=MULTITHREADING%20in%20Java%20is%20a,runs%20parallel%20to%20each%20other" TargetMode="External"/><Relationship Id="rId10" Type="http://schemas.openxmlformats.org/officeDocument/2006/relationships/hyperlink" Target="https://www.sinaungoding.com/konsep-multithreading-java/" TargetMode="External"/><Relationship Id="rId4" Type="http://schemas.openxmlformats.org/officeDocument/2006/relationships/hyperlink" Target="https://medium.com/@ranggaantok/pengenalan-multi-threading-pada-java-66127283b7f1" TargetMode="External"/><Relationship Id="rId9" Type="http://schemas.openxmlformats.org/officeDocument/2006/relationships/hyperlink" Target="http://tutorials.jenkov.com/java-concurrency/index.html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444" b="-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3276600" y="3308350"/>
            <a:ext cx="5867400" cy="1819275"/>
          </a:xfrm>
          <a:prstGeom prst="rect">
            <a:avLst/>
          </a:prstGeom>
          <a:solidFill>
            <a:schemeClr val="dk1">
              <a:alpha val="42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grpSp>
        <p:nvGrpSpPr>
          <p:cNvPr id="7172" name="Group 8"/>
          <p:cNvGrpSpPr>
            <a:grpSpLocks/>
          </p:cNvGrpSpPr>
          <p:nvPr/>
        </p:nvGrpSpPr>
        <p:grpSpPr bwMode="auto">
          <a:xfrm>
            <a:off x="3428998" y="3429001"/>
            <a:ext cx="5638798" cy="1490376"/>
            <a:chOff x="4966856" y="5954268"/>
            <a:chExt cx="4100945" cy="1258675"/>
          </a:xfrm>
        </p:grpSpPr>
        <p:sp>
          <p:nvSpPr>
            <p:cNvPr id="4" name="Rectangle 3"/>
            <p:cNvSpPr/>
            <p:nvPr/>
          </p:nvSpPr>
          <p:spPr>
            <a:xfrm>
              <a:off x="4966856" y="5954268"/>
              <a:ext cx="4052205" cy="492038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Fakultas</a:t>
              </a:r>
              <a:r>
                <a: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 </a:t>
              </a:r>
              <a:r>
                <a:rPr kumimoji="0" lang="en-US" sz="4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Ilmu</a:t>
              </a:r>
              <a:r>
                <a: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 </a:t>
              </a:r>
              <a:r>
                <a:rPr kumimoji="0" lang="en-US" sz="4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Komputer</a:t>
              </a:r>
              <a:endPara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7178" name="TextBox 5"/>
            <p:cNvSpPr txBox="1">
              <a:spLocks noChangeArrowheads="1"/>
            </p:cNvSpPr>
            <p:nvPr/>
          </p:nvSpPr>
          <p:spPr bwMode="auto">
            <a:xfrm>
              <a:off x="5576457" y="6511136"/>
              <a:ext cx="3491344" cy="701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1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Learning </a:t>
              </a:r>
              <a:r>
                <a:rPr kumimoji="0" lang="en-US" altLang="en-US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is the process of acquiring new understanding, knowledge, behaviors, skills, values, attitudes, and preferences.</a:t>
              </a:r>
              <a:endParaRPr kumimoji="0" lang="en-US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cxnSp>
        <p:nvCxnSpPr>
          <p:cNvPr id="14" name="Straight Connector 13"/>
          <p:cNvCxnSpPr/>
          <p:nvPr/>
        </p:nvCxnSpPr>
        <p:spPr>
          <a:xfrm>
            <a:off x="0" y="5213325"/>
            <a:ext cx="9144000" cy="15875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174" name="Rectangle 1"/>
          <p:cNvSpPr>
            <a:spLocks noChangeArrowheads="1"/>
          </p:cNvSpPr>
          <p:nvPr/>
        </p:nvSpPr>
        <p:spPr bwMode="auto">
          <a:xfrm>
            <a:off x="23446" y="5801380"/>
            <a:ext cx="9144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800" b="1" dirty="0" smtClean="0">
                <a:solidFill>
                  <a:srgbClr val="000000"/>
                </a:solidFill>
                <a:latin typeface="+mn-lt"/>
              </a:rPr>
              <a:t>Course </a:t>
            </a:r>
            <a:r>
              <a:rPr lang="en-US" altLang="en-US" sz="2800" b="1" dirty="0">
                <a:solidFill>
                  <a:srgbClr val="000000"/>
                </a:solidFill>
                <a:latin typeface="+mn-lt"/>
              </a:rPr>
              <a:t>Information &amp; Overview</a:t>
            </a:r>
            <a:endParaRPr kumimoji="0" lang="en-US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67810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8"/>
          <p:cNvSpPr>
            <a:spLocks noChangeArrowheads="1"/>
          </p:cNvSpPr>
          <p:nvPr/>
        </p:nvSpPr>
        <p:spPr bwMode="auto">
          <a:xfrm>
            <a:off x="609600" y="4724400"/>
            <a:ext cx="79248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27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0" algn="ctr" fontAlgn="base">
              <a:spcBef>
                <a:spcPts val="2388"/>
              </a:spcBef>
              <a:spcAft>
                <a:spcPct val="0"/>
              </a:spcAft>
              <a:defRPr/>
            </a:pPr>
            <a:r>
              <a:rPr lang="en-US" sz="3600" b="1" dirty="0">
                <a:solidFill>
                  <a:srgbClr val="1F497D">
                    <a:satMod val="200000"/>
                  </a:srgbClr>
                </a:solidFill>
                <a:latin typeface="+mn-lt"/>
              </a:rPr>
              <a:t>Welcome to the Framework Programming </a:t>
            </a:r>
            <a:r>
              <a:rPr lang="en-US" sz="3600" b="1" i="1" dirty="0">
                <a:solidFill>
                  <a:srgbClr val="1F497D">
                    <a:satMod val="200000"/>
                  </a:srgbClr>
                </a:solidFill>
                <a:latin typeface="+mn-lt"/>
              </a:rPr>
              <a:t>course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11113" y="3789040"/>
            <a:ext cx="9132887" cy="2096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245" name="Picture 2" descr="Teens and Technology – Cavalier Chronic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70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604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00400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1 -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Penggunaan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Metode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Load()</a:t>
            </a:r>
          </a:p>
        </p:txBody>
      </p:sp>
      <p:pic>
        <p:nvPicPr>
          <p:cNvPr id="3074" name="Picture 2" descr="Fresh Green Leaves Header On White Background Stock Photo, Picture And  Royalty Free Image. Image 78250847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312"/>
          <a:stretch/>
        </p:blipFill>
        <p:spPr bwMode="auto">
          <a:xfrm>
            <a:off x="0" y="0"/>
            <a:ext cx="9144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Fresh Green Leaves Header On White Background Stock Photo, Picture And  Royalty Free Image. Image 78250847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312"/>
          <a:stretch/>
        </p:blipFill>
        <p:spPr bwMode="auto">
          <a:xfrm rot="10800000">
            <a:off x="0" y="4419600"/>
            <a:ext cx="9144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4977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dirty="0">
                <a:solidFill>
                  <a:srgbClr val="1F497D"/>
                </a:solidFill>
                <a:latin typeface="Georgia"/>
              </a:rPr>
              <a:t>Introduction to </a:t>
            </a:r>
            <a:r>
              <a:rPr lang="en-US" dirty="0" smtClean="0">
                <a:solidFill>
                  <a:srgbClr val="1F497D"/>
                </a:solidFill>
                <a:latin typeface="Georgia"/>
              </a:rPr>
              <a:t>Computer Vision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1F497D"/>
                </a:solidFill>
                <a:latin typeface="Georgia"/>
              </a:rPr>
              <a:t>Instructors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1F497D"/>
                </a:solidFill>
                <a:latin typeface="Georgia"/>
              </a:rPr>
              <a:t>Contact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4263433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86200"/>
            <a:ext cx="914399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3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exercise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for students</a:t>
            </a:r>
          </a:p>
        </p:txBody>
      </p:sp>
      <p:pic>
        <p:nvPicPr>
          <p:cNvPr id="6148" name="Picture 4" descr="Clipboard checklist clipart letters example gif - Cliparti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1" y="1143001"/>
            <a:ext cx="1752600" cy="2609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4410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1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9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Latihan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4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untuk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4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Students</a:t>
            </a:r>
            <a:endParaRPr kumimoji="0" lang="en-US" sz="4000" b="0" i="1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5776" y="1167211"/>
            <a:ext cx="88658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Create directory	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C:\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xampp\htdocs\lecture9\latihan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{1,2</a:t>
            </a:r>
            <a:r>
              <a:rPr kumimoji="0" lang="en-US" sz="2000" b="0" i="0" u="none" strike="noStrike" kern="1200" cap="none" spc="0" normalizeH="0" baseline="-25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}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\</a:t>
            </a:r>
            <a:endParaRPr kumimoji="0" lang="en-US" sz="24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  <a:p>
            <a:pPr marL="0" marR="0" lvl="0" indent="0" algn="l" defTabSz="9143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Create file		: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_.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php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400" y="2194560"/>
            <a:ext cx="8991600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82296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4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Buat</a:t>
            </a:r>
            <a:r>
              <a:rPr kumimoji="0" lang="en-US" sz="144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</a:t>
            </a:r>
            <a:r>
              <a:rPr kumimoji="0" lang="en-US" sz="144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contoh</a:t>
            </a:r>
            <a:r>
              <a:rPr kumimoji="0" lang="en-US" sz="144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</a:t>
            </a:r>
            <a:r>
              <a:rPr kumimoji="0" lang="en-US" sz="144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penggunaan</a:t>
            </a:r>
            <a:r>
              <a:rPr kumimoji="0" lang="en-US" sz="14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</a:t>
            </a:r>
            <a:r>
              <a:rPr kumimoji="0" lang="en-US" sz="144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fungsi</a:t>
            </a:r>
            <a:r>
              <a:rPr kumimoji="0" lang="en-US" sz="144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</a:t>
            </a:r>
            <a:r>
              <a:rPr kumimoji="0" lang="en-US" sz="144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require_once</a:t>
            </a:r>
            <a:r>
              <a:rPr kumimoji="0" lang="en-US" sz="144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() </a:t>
            </a:r>
            <a:r>
              <a:rPr kumimoji="0" lang="en-US" sz="144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dan</a:t>
            </a:r>
            <a:r>
              <a:rPr kumimoji="0" lang="en-US" sz="14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</a:t>
            </a:r>
            <a:r>
              <a:rPr kumimoji="0" lang="en-US" sz="14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Sample MVC </a:t>
            </a:r>
            <a:r>
              <a:rPr kumimoji="0" lang="en-US" sz="144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Application </a:t>
            </a:r>
            <a:r>
              <a:rPr kumimoji="0" lang="en-US" sz="144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yang </a:t>
            </a:r>
            <a:r>
              <a:rPr kumimoji="0" lang="en-US" sz="144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sudah</a:t>
            </a:r>
            <a:r>
              <a:rPr kumimoji="0" lang="en-US" sz="144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di </a:t>
            </a:r>
            <a:r>
              <a:rPr kumimoji="0" lang="en-US" sz="144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pelajari</a:t>
            </a:r>
            <a:r>
              <a:rPr kumimoji="0" lang="en-US" sz="144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</a:t>
            </a:r>
            <a:r>
              <a:rPr kumimoji="0" lang="en-US" sz="144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sebelumnya</a:t>
            </a:r>
            <a:r>
              <a:rPr kumimoji="0" lang="en-US" sz="144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.</a:t>
            </a:r>
            <a:endParaRPr kumimoji="0" lang="en-US" sz="144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4901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1F497D"/>
                </a:solidFill>
                <a:latin typeface="Georgia"/>
              </a:rPr>
              <a:t>Lectures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pic>
        <p:nvPicPr>
          <p:cNvPr id="2052" name="Picture 4" descr="Calendar Time Schedule Event Planning Ga #1311774 - PNG Images - PNGi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012" y="137606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Location Icons – Free Vector Download, PNG, SVG, 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012" y="313313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Free Icon | Business presentati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831" y="4890195"/>
            <a:ext cx="1193290" cy="1193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2514600" y="1639669"/>
            <a:ext cx="6248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Georgia" panose="02040502050405020303" pitchFamily="18" charset="0"/>
                <a:sym typeface="Wingdings 3" panose="05040102010807070707" pitchFamily="18" charset="2"/>
              </a:rPr>
              <a:t> </a:t>
            </a:r>
            <a:r>
              <a:rPr lang="en-US" b="1" dirty="0" smtClean="0">
                <a:latin typeface="Georgia" panose="02040502050405020303" pitchFamily="18" charset="0"/>
              </a:rPr>
              <a:t>When</a:t>
            </a:r>
            <a:r>
              <a:rPr lang="en-US" b="1" dirty="0">
                <a:latin typeface="Georgia" panose="02040502050405020303" pitchFamily="18" charset="0"/>
              </a:rPr>
              <a:t>: </a:t>
            </a:r>
            <a:endParaRPr lang="en-US" b="1" dirty="0" smtClean="0">
              <a:latin typeface="Georgia" panose="02040502050405020303" pitchFamily="18" charset="0"/>
            </a:endParaRPr>
          </a:p>
          <a:p>
            <a:r>
              <a:rPr lang="en-US" dirty="0" smtClean="0">
                <a:latin typeface="Georgia" panose="02040502050405020303" pitchFamily="18" charset="0"/>
              </a:rPr>
              <a:t>Mondays </a:t>
            </a:r>
            <a:r>
              <a:rPr lang="en-US" dirty="0" smtClean="0">
                <a:latin typeface="Georgia" panose="02040502050405020303" pitchFamily="18" charset="0"/>
                <a:sym typeface="Wingdings 3" panose="05040102010807070707" pitchFamily="18" charset="2"/>
              </a:rPr>
              <a:t>~</a:t>
            </a:r>
            <a:r>
              <a:rPr lang="en-US" dirty="0" smtClean="0">
                <a:latin typeface="Georgia" panose="02040502050405020303" pitchFamily="18" charset="0"/>
              </a:rPr>
              <a:t> Fridays </a:t>
            </a:r>
            <a:r>
              <a:rPr lang="en-US" dirty="0">
                <a:latin typeface="Georgia" panose="02040502050405020303" pitchFamily="18" charset="0"/>
              </a:rPr>
              <a:t>from </a:t>
            </a:r>
            <a:r>
              <a:rPr lang="en-US" dirty="0" smtClean="0">
                <a:latin typeface="Georgia" panose="02040502050405020303" pitchFamily="18" charset="0"/>
              </a:rPr>
              <a:t>3:10pm-5:00pm.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514600" y="3276600"/>
            <a:ext cx="6248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Georgia" panose="02040502050405020303" pitchFamily="18" charset="0"/>
                <a:sym typeface="Wingdings 3" panose="05040102010807070707" pitchFamily="18" charset="2"/>
              </a:rPr>
              <a:t> </a:t>
            </a:r>
            <a:r>
              <a:rPr lang="en-US" b="1" dirty="0" smtClean="0">
                <a:latin typeface="Georgia" panose="02040502050405020303" pitchFamily="18" charset="0"/>
              </a:rPr>
              <a:t>Where</a:t>
            </a:r>
            <a:r>
              <a:rPr lang="en-US" b="1" dirty="0">
                <a:latin typeface="Georgia" panose="02040502050405020303" pitchFamily="18" charset="0"/>
              </a:rPr>
              <a:t>: </a:t>
            </a:r>
            <a:r>
              <a:rPr lang="en-US" dirty="0" smtClean="0">
                <a:latin typeface="Georgia" panose="02040502050405020303" pitchFamily="18" charset="0"/>
              </a:rPr>
              <a:t/>
            </a:r>
            <a:br>
              <a:rPr lang="en-US" dirty="0" smtClean="0">
                <a:latin typeface="Georgia" panose="02040502050405020303" pitchFamily="18" charset="0"/>
              </a:rPr>
            </a:br>
            <a:r>
              <a:rPr lang="en-US" dirty="0" smtClean="0">
                <a:latin typeface="Georgia" panose="02040502050405020303" pitchFamily="18" charset="0"/>
              </a:rPr>
              <a:t>Lectures </a:t>
            </a:r>
            <a:r>
              <a:rPr lang="en-US" dirty="0">
                <a:latin typeface="Georgia" panose="02040502050405020303" pitchFamily="18" charset="0"/>
              </a:rPr>
              <a:t>will be on </a:t>
            </a:r>
            <a:r>
              <a:rPr lang="en-US" dirty="0" smtClean="0">
                <a:latin typeface="Georgia" panose="02040502050405020303" pitchFamily="18" charset="0"/>
              </a:rPr>
              <a:t>Google Meet (</a:t>
            </a:r>
            <a:r>
              <a:rPr lang="en-US" i="1" dirty="0" smtClean="0">
                <a:latin typeface="Georgia" panose="02040502050405020303" pitchFamily="18" charset="0"/>
              </a:rPr>
              <a:t>virtual room</a:t>
            </a:r>
            <a:r>
              <a:rPr lang="en-US" dirty="0" smtClean="0">
                <a:latin typeface="Georgia" panose="02040502050405020303" pitchFamily="18" charset="0"/>
              </a:rPr>
              <a:t>) </a:t>
            </a:r>
            <a:r>
              <a:rPr lang="en-US" dirty="0">
                <a:latin typeface="Georgia" panose="02040502050405020303" pitchFamily="18" charset="0"/>
              </a:rPr>
              <a:t>this </a:t>
            </a:r>
            <a:r>
              <a:rPr lang="en-US" dirty="0" smtClean="0">
                <a:latin typeface="Georgia" panose="02040502050405020303" pitchFamily="18" charset="0"/>
              </a:rPr>
              <a:t>Summer.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514600" y="5029200"/>
            <a:ext cx="6096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Georgia" panose="02040502050405020303" pitchFamily="18" charset="0"/>
                <a:sym typeface="Wingdings 3" panose="05040102010807070707" pitchFamily="18" charset="2"/>
              </a:rPr>
              <a:t> </a:t>
            </a:r>
            <a:r>
              <a:rPr lang="en-US" b="1" dirty="0" smtClean="0">
                <a:latin typeface="Georgia" panose="02040502050405020303" pitchFamily="18" charset="0"/>
              </a:rPr>
              <a:t>How</a:t>
            </a:r>
            <a:r>
              <a:rPr lang="en-US" b="1" dirty="0">
                <a:latin typeface="Georgia" panose="02040502050405020303" pitchFamily="18" charset="0"/>
              </a:rPr>
              <a:t>: </a:t>
            </a:r>
            <a:r>
              <a:rPr lang="en-US" dirty="0" smtClean="0">
                <a:latin typeface="Georgia" panose="02040502050405020303" pitchFamily="18" charset="0"/>
              </a:rPr>
              <a:t/>
            </a:r>
            <a:br>
              <a:rPr lang="en-US" dirty="0" smtClean="0">
                <a:latin typeface="Georgia" panose="02040502050405020303" pitchFamily="18" charset="0"/>
              </a:rPr>
            </a:br>
            <a:r>
              <a:rPr lang="en-US" dirty="0" smtClean="0">
                <a:latin typeface="Georgia" panose="02040502050405020303" pitchFamily="18" charset="0"/>
              </a:rPr>
              <a:t>Check Google Classroom </a:t>
            </a:r>
            <a:r>
              <a:rPr lang="en-US" dirty="0">
                <a:latin typeface="Georgia" panose="02040502050405020303" pitchFamily="18" charset="0"/>
              </a:rPr>
              <a:t>for a link to the </a:t>
            </a:r>
            <a:r>
              <a:rPr lang="en-US" dirty="0" smtClean="0">
                <a:latin typeface="Georgia" panose="02040502050405020303" pitchFamily="18" charset="0"/>
              </a:rPr>
              <a:t>Google Meet </a:t>
            </a:r>
            <a:r>
              <a:rPr lang="en-US" dirty="0">
                <a:latin typeface="Georgia" panose="02040502050405020303" pitchFamily="18" charset="0"/>
              </a:rPr>
              <a:t>lecture.</a:t>
            </a:r>
          </a:p>
        </p:txBody>
      </p:sp>
    </p:spTree>
    <p:extLst>
      <p:ext uri="{BB962C8B-B14F-4D97-AF65-F5344CB8AC3E}">
        <p14:creationId xmlns:p14="http://schemas.microsoft.com/office/powerpoint/2010/main" val="690074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1F497D"/>
                </a:solidFill>
                <a:latin typeface="Georgia"/>
              </a:rPr>
              <a:t>Prerequisites (</a:t>
            </a:r>
            <a:r>
              <a:rPr lang="en-US" sz="3200" i="1" dirty="0" err="1">
                <a:solidFill>
                  <a:srgbClr val="1F497D"/>
                </a:solidFill>
                <a:latin typeface="Georgia"/>
              </a:rPr>
              <a:t>Prasyarat</a:t>
            </a:r>
            <a:r>
              <a:rPr lang="en-US" sz="3200" dirty="0">
                <a:solidFill>
                  <a:srgbClr val="1F497D"/>
                </a:solidFill>
                <a:latin typeface="Georgia"/>
              </a:rPr>
              <a:t>)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657600" y="1752600"/>
            <a:ext cx="51816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Georgia" panose="02040502050405020303" pitchFamily="18" charset="0"/>
              </a:rPr>
              <a:t>Data </a:t>
            </a:r>
            <a:r>
              <a:rPr lang="en-US" sz="2400" dirty="0" smtClean="0">
                <a:latin typeface="Georgia" panose="02040502050405020303" pitchFamily="18" charset="0"/>
              </a:rPr>
              <a:t>structures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400" dirty="0">
              <a:latin typeface="Georgia" panose="020405020504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Georgia" panose="02040502050405020303" pitchFamily="18" charset="0"/>
              </a:rPr>
              <a:t>A good working knowledge of </a:t>
            </a:r>
            <a:r>
              <a:rPr lang="en-US" sz="2400" dirty="0" smtClean="0">
                <a:latin typeface="Georgia" panose="02040502050405020303" pitchFamily="18" charset="0"/>
              </a:rPr>
              <a:t>Java and Python programming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400" dirty="0">
              <a:latin typeface="Georgia" panose="020405020504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Georgia" panose="02040502050405020303" pitchFamily="18" charset="0"/>
              </a:rPr>
              <a:t>Linear </a:t>
            </a:r>
            <a:r>
              <a:rPr lang="en-US" sz="2400" dirty="0" smtClean="0">
                <a:latin typeface="Georgia" panose="02040502050405020303" pitchFamily="18" charset="0"/>
              </a:rPr>
              <a:t>algebra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400" dirty="0">
              <a:latin typeface="Georgia" panose="020405020504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Georgia" panose="02040502050405020303" pitchFamily="18" charset="0"/>
              </a:rPr>
              <a:t>Vector </a:t>
            </a:r>
            <a:r>
              <a:rPr lang="en-US" sz="2400" dirty="0" smtClean="0">
                <a:latin typeface="Georgia" panose="02040502050405020303" pitchFamily="18" charset="0"/>
              </a:rPr>
              <a:t>and matrix calculations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400" dirty="0">
              <a:latin typeface="Georgia" panose="020405020504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Georgia" panose="02040502050405020303" pitchFamily="18" charset="0"/>
              </a:rPr>
              <a:t>No prior knowledge of vision is assumed.</a:t>
            </a:r>
          </a:p>
        </p:txBody>
      </p:sp>
      <p:pic>
        <p:nvPicPr>
          <p:cNvPr id="5" name="Picture 4" descr="Question mark 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06" y="1737910"/>
            <a:ext cx="3212694" cy="4283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63906" y="908758"/>
            <a:ext cx="839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Georgia" panose="02040502050405020303" pitchFamily="18" charset="0"/>
              </a:rPr>
              <a:t>The </a:t>
            </a:r>
            <a:r>
              <a:rPr lang="en-US" dirty="0">
                <a:latin typeface="Georgia" panose="02040502050405020303" pitchFamily="18" charset="0"/>
              </a:rPr>
              <a:t>student must have </a:t>
            </a:r>
            <a:r>
              <a:rPr lang="en-US" dirty="0" smtClean="0">
                <a:latin typeface="Georgia" panose="02040502050405020303" pitchFamily="18" charset="0"/>
              </a:rPr>
              <a:t>some </a:t>
            </a:r>
            <a:r>
              <a:rPr lang="en-US" dirty="0">
                <a:latin typeface="Georgia" panose="02040502050405020303" pitchFamily="18" charset="0"/>
              </a:rPr>
              <a:t>prerequisite skills and required as a prior </a:t>
            </a:r>
            <a:r>
              <a:rPr lang="en-US" dirty="0" smtClean="0">
                <a:latin typeface="Georgia" panose="02040502050405020303" pitchFamily="18" charset="0"/>
              </a:rPr>
              <a:t>condition.</a:t>
            </a:r>
            <a:endParaRPr lang="en-US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7287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9906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1F497D"/>
                </a:solidFill>
                <a:latin typeface="Georgia"/>
              </a:rPr>
              <a:t>Student Conduct </a:t>
            </a: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Code</a:t>
            </a:r>
            <a:br>
              <a:rPr lang="en-US" sz="3200" dirty="0" smtClean="0">
                <a:solidFill>
                  <a:srgbClr val="1F497D"/>
                </a:solidFill>
                <a:latin typeface="Georgia"/>
              </a:rPr>
            </a:br>
            <a:r>
              <a:rPr lang="en-US" sz="2400" dirty="0" smtClean="0">
                <a:solidFill>
                  <a:srgbClr val="1F497D"/>
                </a:solidFill>
                <a:latin typeface="Georgia"/>
              </a:rPr>
              <a:t>(</a:t>
            </a:r>
            <a:r>
              <a:rPr lang="en-US" sz="2400" i="1" dirty="0" smtClean="0">
                <a:solidFill>
                  <a:srgbClr val="1F497D"/>
                </a:solidFill>
                <a:latin typeface="Georgia"/>
              </a:rPr>
              <a:t>framework </a:t>
            </a:r>
            <a:r>
              <a:rPr lang="en-US" sz="2400" i="1" dirty="0">
                <a:solidFill>
                  <a:srgbClr val="1F497D"/>
                </a:solidFill>
                <a:latin typeface="Georgia"/>
              </a:rPr>
              <a:t>for student behavior</a:t>
            </a:r>
            <a:r>
              <a:rPr lang="en-US" sz="2400" dirty="0">
                <a:solidFill>
                  <a:srgbClr val="1F497D"/>
                </a:solidFill>
                <a:latin typeface="Georgia"/>
              </a:rPr>
              <a:t>)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600200" y="1676400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Students </a:t>
            </a:r>
            <a:r>
              <a:rPr lang="en-US" dirty="0"/>
              <a:t>will practice high standards of professional honesty and </a:t>
            </a:r>
            <a:r>
              <a:rPr lang="en-US" dirty="0" smtClean="0"/>
              <a:t>integrity.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In </a:t>
            </a:r>
            <a:r>
              <a:rPr lang="en-US" dirty="0"/>
              <a:t>particular, all work (homework and exams) is to be </a:t>
            </a:r>
            <a:r>
              <a:rPr lang="en-US" dirty="0" smtClean="0"/>
              <a:t>your own </a:t>
            </a:r>
            <a:r>
              <a:rPr lang="en-US" dirty="0"/>
              <a:t>individual work. </a:t>
            </a: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You </a:t>
            </a:r>
            <a:r>
              <a:rPr lang="en-US" dirty="0"/>
              <a:t>may discuss </a:t>
            </a:r>
            <a:r>
              <a:rPr lang="en-US" dirty="0" smtClean="0"/>
              <a:t>programs </a:t>
            </a:r>
            <a:r>
              <a:rPr lang="en-US" dirty="0"/>
              <a:t>but NOT copy any code.</a:t>
            </a:r>
          </a:p>
        </p:txBody>
      </p:sp>
    </p:spTree>
    <p:extLst>
      <p:ext uri="{BB962C8B-B14F-4D97-AF65-F5344CB8AC3E}">
        <p14:creationId xmlns:p14="http://schemas.microsoft.com/office/powerpoint/2010/main" val="1516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1F497D"/>
                </a:solidFill>
                <a:latin typeface="Georgia"/>
              </a:rPr>
              <a:t>Course Textbook &amp; Recommended Readings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1735710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Evaluation &amp; Grading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45972" y="990600"/>
            <a:ext cx="884562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We will have </a:t>
            </a:r>
            <a:r>
              <a:rPr lang="en-US" i="1" dirty="0" smtClean="0">
                <a:latin typeface="Georgia" panose="02040502050405020303" pitchFamily="18" charset="0"/>
              </a:rPr>
              <a:t>mid</a:t>
            </a:r>
            <a:r>
              <a:rPr lang="en-US" dirty="0" smtClean="0">
                <a:latin typeface="Georgia" panose="02040502050405020303" pitchFamily="18" charset="0"/>
              </a:rPr>
              <a:t> and </a:t>
            </a:r>
            <a:r>
              <a:rPr lang="en-US" i="1" dirty="0" smtClean="0">
                <a:latin typeface="Georgia" panose="02040502050405020303" pitchFamily="18" charset="0"/>
              </a:rPr>
              <a:t>final</a:t>
            </a:r>
            <a:r>
              <a:rPr lang="en-US" dirty="0" smtClean="0">
                <a:latin typeface="Georgia" panose="02040502050405020303" pitchFamily="18" charset="0"/>
              </a:rPr>
              <a:t> </a:t>
            </a:r>
            <a:r>
              <a:rPr lang="en-US" i="1" dirty="0" smtClean="0">
                <a:latin typeface="Georgia" panose="02040502050405020303" pitchFamily="18" charset="0"/>
              </a:rPr>
              <a:t>exams</a:t>
            </a:r>
            <a:r>
              <a:rPr lang="en-US" dirty="0" smtClean="0">
                <a:latin typeface="Georgia" panose="02040502050405020303" pitchFamily="18" charset="0"/>
              </a:rPr>
              <a:t>, so Grading </a:t>
            </a:r>
            <a:r>
              <a:rPr lang="en-US" dirty="0">
                <a:latin typeface="Georgia" panose="02040502050405020303" pitchFamily="18" charset="0"/>
              </a:rPr>
              <a:t>is based on </a:t>
            </a:r>
            <a:r>
              <a:rPr lang="en-US" dirty="0" smtClean="0">
                <a:latin typeface="Georgia" panose="02040502050405020303" pitchFamily="18" charset="0"/>
              </a:rPr>
              <a:t>midterm score, final score, homework/assignments, attendance and final project </a:t>
            </a:r>
            <a:r>
              <a:rPr lang="en-US" dirty="0">
                <a:latin typeface="Georgia" panose="02040502050405020303" pitchFamily="18" charset="0"/>
              </a:rPr>
              <a:t>only</a:t>
            </a:r>
            <a:r>
              <a:rPr lang="en-US" dirty="0" smtClean="0">
                <a:latin typeface="Georgia" panose="02040502050405020303" pitchFamily="18" charset="0"/>
              </a:rPr>
              <a:t>.</a:t>
            </a:r>
            <a:endParaRPr lang="en-US" dirty="0">
              <a:latin typeface="Georgia" panose="02040502050405020303" pitchFamily="18" charset="0"/>
            </a:endParaRPr>
          </a:p>
        </p:txBody>
      </p:sp>
      <p:pic>
        <p:nvPicPr>
          <p:cNvPr id="1026" name="Picture 2" descr="Download Kendrick Lamar Facts - Good Grades - Full Size PNG Image - PNGki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09800"/>
            <a:ext cx="1998079" cy="1650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2" descr="Download Free png Woman Girl Clip Art - Girl Thinking Clipart Png Free PNG  Images ... - DLPNG.com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616" y="4705407"/>
            <a:ext cx="1607545" cy="2136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2133600" y="1905000"/>
            <a:ext cx="6858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defTabSz="457200">
              <a:buFont typeface="Wingdings" panose="05000000000000000000" pitchFamily="2" charset="2"/>
              <a:buChar char="Ø"/>
            </a:pPr>
            <a:r>
              <a:rPr lang="en-US" b="1" dirty="0" smtClean="0">
                <a:solidFill>
                  <a:prstClr val="black"/>
                </a:solidFill>
                <a:latin typeface="Georgia" panose="02040502050405020303" pitchFamily="18" charset="0"/>
              </a:rPr>
              <a:t>Grading</a:t>
            </a:r>
            <a:r>
              <a:rPr lang="en-US" dirty="0" smtClean="0">
                <a:solidFill>
                  <a:prstClr val="black"/>
                </a:solidFill>
                <a:latin typeface="Georgia" panose="02040502050405020303" pitchFamily="18" charset="0"/>
              </a:rPr>
              <a:t> </a:t>
            </a:r>
          </a:p>
          <a:p>
            <a:pPr marL="742950" lvl="1" indent="-285750" defTabSz="45720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prstClr val="black"/>
                </a:solidFill>
                <a:latin typeface="Georgia" panose="02040502050405020303" pitchFamily="18" charset="0"/>
              </a:rPr>
              <a:t>Mid-term </a:t>
            </a:r>
            <a:r>
              <a:rPr lang="en-US" dirty="0">
                <a:solidFill>
                  <a:prstClr val="black"/>
                </a:solidFill>
                <a:latin typeface="Georgia" panose="02040502050405020303" pitchFamily="18" charset="0"/>
              </a:rPr>
              <a:t>exam: </a:t>
            </a:r>
            <a:r>
              <a:rPr lang="en-US" dirty="0" smtClean="0">
                <a:solidFill>
                  <a:prstClr val="black"/>
                </a:solidFill>
                <a:latin typeface="Georgia" panose="02040502050405020303" pitchFamily="18" charset="0"/>
              </a:rPr>
              <a:t>25% </a:t>
            </a:r>
            <a:endParaRPr lang="en-US" dirty="0">
              <a:solidFill>
                <a:prstClr val="black"/>
              </a:solidFill>
              <a:latin typeface="Georgia" panose="02040502050405020303" pitchFamily="18" charset="0"/>
            </a:endParaRPr>
          </a:p>
          <a:p>
            <a:pPr marL="742950" lvl="1" indent="-285750" defTabSz="4572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prstClr val="black"/>
                </a:solidFill>
                <a:latin typeface="Georgia" panose="02040502050405020303" pitchFamily="18" charset="0"/>
              </a:rPr>
              <a:t>Final-term exam: </a:t>
            </a:r>
            <a:r>
              <a:rPr lang="en-US" dirty="0" smtClean="0">
                <a:solidFill>
                  <a:prstClr val="black"/>
                </a:solidFill>
                <a:latin typeface="Georgia" panose="02040502050405020303" pitchFamily="18" charset="0"/>
              </a:rPr>
              <a:t>30% </a:t>
            </a:r>
            <a:endParaRPr lang="en-US" dirty="0">
              <a:solidFill>
                <a:prstClr val="black"/>
              </a:solidFill>
              <a:latin typeface="Georgia" panose="02040502050405020303" pitchFamily="18" charset="0"/>
            </a:endParaRPr>
          </a:p>
          <a:p>
            <a:pPr marL="742950" lvl="1" indent="-285750" defTabSz="45720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prstClr val="black"/>
                </a:solidFill>
                <a:latin typeface="Georgia" panose="02040502050405020303" pitchFamily="18" charset="0"/>
              </a:rPr>
              <a:t>Homework/assignments &amp; Class activity </a:t>
            </a:r>
            <a:r>
              <a:rPr lang="en-US" dirty="0">
                <a:solidFill>
                  <a:prstClr val="black"/>
                </a:solidFill>
                <a:latin typeface="Georgia" panose="02040502050405020303" pitchFamily="18" charset="0"/>
              </a:rPr>
              <a:t>(</a:t>
            </a:r>
            <a:r>
              <a:rPr lang="en-US" dirty="0" smtClean="0">
                <a:solidFill>
                  <a:prstClr val="black"/>
                </a:solidFill>
                <a:latin typeface="Georgia" panose="02040502050405020303" pitchFamily="18" charset="0"/>
              </a:rPr>
              <a:t>3-6): 15% </a:t>
            </a:r>
          </a:p>
          <a:p>
            <a:pPr marL="1200150" lvl="2" indent="-285750" defTabSz="45720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prstClr val="black"/>
                </a:solidFill>
                <a:latin typeface="Georgia" panose="02040502050405020303" pitchFamily="18" charset="0"/>
              </a:rPr>
              <a:t>Programming </a:t>
            </a:r>
            <a:r>
              <a:rPr lang="en-US" dirty="0">
                <a:solidFill>
                  <a:prstClr val="black"/>
                </a:solidFill>
                <a:latin typeface="Georgia" panose="02040502050405020303" pitchFamily="18" charset="0"/>
              </a:rPr>
              <a:t>assignments </a:t>
            </a:r>
            <a:r>
              <a:rPr lang="en-US" dirty="0" smtClean="0">
                <a:solidFill>
                  <a:prstClr val="black"/>
                </a:solidFill>
                <a:latin typeface="Georgia" panose="02040502050405020303" pitchFamily="18" charset="0"/>
              </a:rPr>
              <a:t>/ words</a:t>
            </a:r>
          </a:p>
          <a:p>
            <a:pPr marL="742950" lvl="1" indent="-285750" defTabSz="45720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prstClr val="black"/>
                </a:solidFill>
                <a:latin typeface="Georgia" panose="02040502050405020303" pitchFamily="18" charset="0"/>
              </a:rPr>
              <a:t>Attendance: 10%</a:t>
            </a:r>
          </a:p>
          <a:p>
            <a:pPr marL="742950" lvl="1" indent="-285750" defTabSz="457200">
              <a:buFont typeface="Wingdings" panose="05000000000000000000" pitchFamily="2" charset="2"/>
              <a:buChar char="Ø"/>
            </a:pPr>
            <a:r>
              <a:rPr lang="en-US" dirty="0" smtClean="0">
                <a:latin typeface="Georgia" panose="02040502050405020303" pitchFamily="18" charset="0"/>
              </a:rPr>
              <a:t>Final </a:t>
            </a:r>
            <a:r>
              <a:rPr lang="en-US" dirty="0">
                <a:latin typeface="Georgia" panose="02040502050405020303" pitchFamily="18" charset="0"/>
              </a:rPr>
              <a:t>P</a:t>
            </a:r>
            <a:r>
              <a:rPr lang="en-US" dirty="0" smtClean="0">
                <a:latin typeface="Georgia" panose="02040502050405020303" pitchFamily="18" charset="0"/>
              </a:rPr>
              <a:t>roject: 20%</a:t>
            </a:r>
          </a:p>
          <a:p>
            <a:pPr marL="742950" lvl="1" indent="-285750" defTabSz="457200">
              <a:buFont typeface="Wingdings" panose="05000000000000000000" pitchFamily="2" charset="2"/>
              <a:buChar char="Ø"/>
            </a:pPr>
            <a:r>
              <a:rPr lang="en-US" b="1" i="1" dirty="0" smtClean="0">
                <a:solidFill>
                  <a:prstClr val="black"/>
                </a:solidFill>
                <a:latin typeface="Georgia" panose="02040502050405020303" pitchFamily="18" charset="0"/>
              </a:rPr>
              <a:t>Bonus</a:t>
            </a:r>
            <a:r>
              <a:rPr lang="en-US" dirty="0" smtClean="0">
                <a:solidFill>
                  <a:prstClr val="black"/>
                </a:solidFill>
                <a:latin typeface="Georgia" panose="02040502050405020303" pitchFamily="18" charset="0"/>
              </a:rPr>
              <a:t>: Class </a:t>
            </a:r>
            <a:r>
              <a:rPr lang="en-US" dirty="0">
                <a:solidFill>
                  <a:prstClr val="black"/>
                </a:solidFill>
                <a:latin typeface="Georgia" panose="02040502050405020303" pitchFamily="18" charset="0"/>
              </a:rPr>
              <a:t>participation and Student </a:t>
            </a:r>
            <a:r>
              <a:rPr lang="en-US" dirty="0" smtClean="0">
                <a:solidFill>
                  <a:prstClr val="black"/>
                </a:solidFill>
                <a:latin typeface="Georgia" panose="02040502050405020303" pitchFamily="18" charset="0"/>
              </a:rPr>
              <a:t>Conduct</a:t>
            </a:r>
            <a:r>
              <a:rPr lang="en-US" strike="sngStrike" dirty="0" smtClean="0">
                <a:solidFill>
                  <a:prstClr val="black"/>
                </a:solidFill>
                <a:latin typeface="Georgia" panose="02040502050405020303" pitchFamily="18" charset="0"/>
              </a:rPr>
              <a:t> </a:t>
            </a:r>
            <a:br>
              <a:rPr lang="en-US" strike="sngStrike" dirty="0" smtClean="0">
                <a:solidFill>
                  <a:prstClr val="black"/>
                </a:solidFill>
                <a:latin typeface="Georgia" panose="02040502050405020303" pitchFamily="18" charset="0"/>
              </a:rPr>
            </a:br>
            <a:r>
              <a:rPr lang="en-US" dirty="0" smtClean="0">
                <a:solidFill>
                  <a:prstClr val="black"/>
                </a:solidFill>
                <a:latin typeface="Georgia" panose="02040502050405020303" pitchFamily="18" charset="0"/>
              </a:rPr>
              <a:t>                </a:t>
            </a:r>
            <a:r>
              <a:rPr lang="en-US" strike="sngStrike" dirty="0" smtClean="0">
                <a:solidFill>
                  <a:prstClr val="black"/>
                </a:solidFill>
                <a:latin typeface="Georgia" panose="02040502050405020303" pitchFamily="18" charset="0"/>
              </a:rPr>
              <a:t>(</a:t>
            </a:r>
            <a:r>
              <a:rPr lang="en-US" i="1" strike="sngStrike" dirty="0">
                <a:solidFill>
                  <a:prstClr val="black"/>
                </a:solidFill>
                <a:latin typeface="Georgia" panose="02040502050405020303" pitchFamily="18" charset="0"/>
              </a:rPr>
              <a:t>professional </a:t>
            </a:r>
            <a:r>
              <a:rPr lang="en-US" i="1" strike="sngStrike" dirty="0" smtClean="0">
                <a:solidFill>
                  <a:prstClr val="black"/>
                </a:solidFill>
                <a:latin typeface="Georgia" panose="02040502050405020303" pitchFamily="18" charset="0"/>
              </a:rPr>
              <a:t>behavior &amp; honesty</a:t>
            </a:r>
            <a:r>
              <a:rPr lang="en-US" strike="sngStrike" dirty="0" smtClean="0">
                <a:solidFill>
                  <a:prstClr val="black"/>
                </a:solidFill>
                <a:latin typeface="Georgia" panose="02040502050405020303" pitchFamily="18" charset="0"/>
              </a:rPr>
              <a:t>): </a:t>
            </a:r>
            <a:r>
              <a:rPr lang="en-US" strike="sngStrike" dirty="0">
                <a:solidFill>
                  <a:prstClr val="black"/>
                </a:solidFill>
                <a:latin typeface="Georgia" panose="02040502050405020303" pitchFamily="18" charset="0"/>
              </a:rPr>
              <a:t>5% </a:t>
            </a:r>
          </a:p>
          <a:p>
            <a:pPr marL="742950" lvl="1" indent="-285750" defTabSz="457200">
              <a:buFont typeface="Wingdings" panose="05000000000000000000" pitchFamily="2" charset="2"/>
              <a:buChar char="Ø"/>
            </a:pPr>
            <a:endParaRPr lang="en-US" dirty="0" smtClean="0">
              <a:solidFill>
                <a:prstClr val="black"/>
              </a:solidFill>
              <a:latin typeface="Georgia" panose="02040502050405020303" pitchFamily="18" charset="0"/>
            </a:endParaRPr>
          </a:p>
          <a:p>
            <a:pPr marL="285750" indent="-285750" defTabSz="457200">
              <a:buFont typeface="Wingdings" panose="05000000000000000000" pitchFamily="2" charset="2"/>
              <a:buChar char="Ø"/>
            </a:pPr>
            <a:endParaRPr lang="en-US" dirty="0">
              <a:solidFill>
                <a:prstClr val="black"/>
              </a:solidFill>
              <a:latin typeface="Georgia" panose="02040502050405020303" pitchFamily="18" charset="0"/>
            </a:endParaRPr>
          </a:p>
          <a:p>
            <a:pPr marL="285750" indent="-285750" defTabSz="457200">
              <a:buFont typeface="Wingdings" panose="05000000000000000000" pitchFamily="2" charset="2"/>
              <a:buChar char="Ø"/>
            </a:pPr>
            <a:r>
              <a:rPr lang="en-US" b="1" dirty="0" smtClean="0">
                <a:solidFill>
                  <a:prstClr val="black"/>
                </a:solidFill>
                <a:latin typeface="Georgia" panose="02040502050405020303" pitchFamily="18" charset="0"/>
              </a:rPr>
              <a:t>Important</a:t>
            </a:r>
            <a:r>
              <a:rPr lang="en-US" dirty="0" smtClean="0">
                <a:solidFill>
                  <a:prstClr val="black"/>
                </a:solidFill>
                <a:latin typeface="Georgia" panose="02040502050405020303" pitchFamily="18" charset="0"/>
              </a:rPr>
              <a:t> </a:t>
            </a:r>
            <a:r>
              <a:rPr lang="en-US" b="1" dirty="0" smtClean="0">
                <a:solidFill>
                  <a:prstClr val="black"/>
                </a:solidFill>
                <a:latin typeface="Georgia" panose="02040502050405020303" pitchFamily="18" charset="0"/>
              </a:rPr>
              <a:t>Notes</a:t>
            </a:r>
          </a:p>
          <a:p>
            <a:pPr marL="742950" lvl="1" indent="-285750" defTabSz="45720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prstClr val="black"/>
                </a:solidFill>
                <a:latin typeface="Georgia" panose="02040502050405020303" pitchFamily="18" charset="0"/>
              </a:rPr>
              <a:t>You </a:t>
            </a:r>
            <a:r>
              <a:rPr lang="en-US" dirty="0">
                <a:solidFill>
                  <a:prstClr val="black"/>
                </a:solidFill>
                <a:latin typeface="Georgia" panose="02040502050405020303" pitchFamily="18" charset="0"/>
              </a:rPr>
              <a:t>may </a:t>
            </a:r>
            <a:r>
              <a:rPr lang="en-US" b="1" i="1" dirty="0">
                <a:solidFill>
                  <a:prstClr val="black"/>
                </a:solidFill>
                <a:latin typeface="Georgia" panose="02040502050405020303" pitchFamily="18" charset="0"/>
              </a:rPr>
              <a:t>fail</a:t>
            </a:r>
            <a:r>
              <a:rPr lang="en-US" dirty="0">
                <a:solidFill>
                  <a:prstClr val="black"/>
                </a:solidFill>
                <a:latin typeface="Georgia" panose="02040502050405020303" pitchFamily="18" charset="0"/>
              </a:rPr>
              <a:t> this course if you miss (</a:t>
            </a:r>
            <a:r>
              <a:rPr lang="en-US" i="1" dirty="0">
                <a:solidFill>
                  <a:prstClr val="black"/>
                </a:solidFill>
                <a:latin typeface="Georgia" panose="02040502050405020303" pitchFamily="18" charset="0"/>
              </a:rPr>
              <a:t>more than</a:t>
            </a:r>
            <a:r>
              <a:rPr lang="en-US" dirty="0">
                <a:solidFill>
                  <a:prstClr val="black"/>
                </a:solidFill>
                <a:latin typeface="Georgia" panose="02040502050405020303" pitchFamily="18" charset="0"/>
              </a:rPr>
              <a:t>) </a:t>
            </a:r>
            <a:r>
              <a:rPr lang="en-US" dirty="0" smtClean="0">
                <a:solidFill>
                  <a:prstClr val="black"/>
                </a:solidFill>
                <a:latin typeface="Georgia" panose="02040502050405020303" pitchFamily="18" charset="0"/>
              </a:rPr>
              <a:t>7 classes </a:t>
            </a:r>
            <a:r>
              <a:rPr lang="en-US" dirty="0">
                <a:solidFill>
                  <a:prstClr val="black"/>
                </a:solidFill>
                <a:latin typeface="Georgia" panose="02040502050405020303" pitchFamily="18" charset="0"/>
              </a:rPr>
              <a:t>of the whole </a:t>
            </a:r>
            <a:r>
              <a:rPr lang="en-US" dirty="0" smtClean="0">
                <a:solidFill>
                  <a:prstClr val="black"/>
                </a:solidFill>
                <a:latin typeface="Georgia" panose="02040502050405020303" pitchFamily="18" charset="0"/>
              </a:rPr>
              <a:t>classes.</a:t>
            </a:r>
            <a:endParaRPr lang="en-US" dirty="0">
              <a:solidFill>
                <a:prstClr val="black"/>
              </a:solidFill>
              <a:latin typeface="Georgia" panose="02040502050405020303" pitchFamily="18" charset="0"/>
            </a:endParaRPr>
          </a:p>
          <a:p>
            <a:pPr marL="742950" lvl="1" indent="-285750" defTabSz="45720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prstClr val="black"/>
                </a:solidFill>
                <a:latin typeface="Georgia" panose="02040502050405020303" pitchFamily="18" charset="0"/>
              </a:rPr>
              <a:t>Academic </a:t>
            </a:r>
            <a:r>
              <a:rPr lang="en-US" dirty="0">
                <a:solidFill>
                  <a:prstClr val="black"/>
                </a:solidFill>
                <a:latin typeface="Georgia" panose="02040502050405020303" pitchFamily="18" charset="0"/>
              </a:rPr>
              <a:t>dishonesty (e.g. </a:t>
            </a:r>
            <a:r>
              <a:rPr lang="en-US" i="1" dirty="0">
                <a:solidFill>
                  <a:prstClr val="black"/>
                </a:solidFill>
                <a:latin typeface="Georgia" panose="02040502050405020303" pitchFamily="18" charset="0"/>
              </a:rPr>
              <a:t>cheating</a:t>
            </a:r>
            <a:r>
              <a:rPr lang="en-US" dirty="0">
                <a:solidFill>
                  <a:prstClr val="black"/>
                </a:solidFill>
                <a:latin typeface="Georgia" panose="02040502050405020303" pitchFamily="18" charset="0"/>
              </a:rPr>
              <a:t>, </a:t>
            </a:r>
            <a:r>
              <a:rPr lang="en-US" i="1" dirty="0">
                <a:solidFill>
                  <a:prstClr val="black"/>
                </a:solidFill>
                <a:latin typeface="Georgia" panose="02040502050405020303" pitchFamily="18" charset="0"/>
              </a:rPr>
              <a:t>plagiarism</a:t>
            </a:r>
            <a:r>
              <a:rPr lang="en-US" dirty="0">
                <a:solidFill>
                  <a:prstClr val="black"/>
                </a:solidFill>
                <a:latin typeface="Georgia" panose="02040502050405020303" pitchFamily="18" charset="0"/>
              </a:rPr>
              <a:t>, and </a:t>
            </a:r>
            <a:r>
              <a:rPr lang="en-US" i="1" dirty="0">
                <a:solidFill>
                  <a:prstClr val="black"/>
                </a:solidFill>
                <a:latin typeface="Georgia" panose="02040502050405020303" pitchFamily="18" charset="0"/>
              </a:rPr>
              <a:t>etc</a:t>
            </a:r>
            <a:r>
              <a:rPr lang="en-US" dirty="0">
                <a:solidFill>
                  <a:prstClr val="black"/>
                </a:solidFill>
                <a:latin typeface="Georgia" panose="02040502050405020303" pitchFamily="18" charset="0"/>
              </a:rPr>
              <a:t>.) will be taken seriously, and heavy penalty can be imposed.</a:t>
            </a:r>
          </a:p>
        </p:txBody>
      </p:sp>
    </p:spTree>
    <p:extLst>
      <p:ext uri="{BB962C8B-B14F-4D97-AF65-F5344CB8AC3E}">
        <p14:creationId xmlns:p14="http://schemas.microsoft.com/office/powerpoint/2010/main" val="3174415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Text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154995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Reference (#1)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400" y="990600"/>
            <a:ext cx="8839200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Multithreading in java with examples</a:t>
            </a:r>
          </a:p>
          <a:p>
            <a:r>
              <a:rPr lang="en-US" sz="1100" dirty="0">
                <a:hlinkClick r:id="rId2"/>
              </a:rPr>
              <a:t>https://beginnersbook.com/2013/03/multithreading-in-java</a:t>
            </a:r>
            <a:r>
              <a:rPr lang="en-US" sz="1100" dirty="0" smtClean="0">
                <a:hlinkClick r:id="rId2"/>
              </a:rPr>
              <a:t>/</a:t>
            </a:r>
            <a:endParaRPr lang="en-US" sz="1100" dirty="0" smtClean="0"/>
          </a:p>
          <a:p>
            <a:endParaRPr lang="en-US" sz="1400" dirty="0"/>
          </a:p>
          <a:p>
            <a:r>
              <a:rPr lang="en-US" sz="1400" b="1" dirty="0"/>
              <a:t>Multithreading in Java</a:t>
            </a:r>
          </a:p>
          <a:p>
            <a:r>
              <a:rPr lang="en-US" sz="1100" dirty="0">
                <a:hlinkClick r:id="rId3"/>
              </a:rPr>
              <a:t>https://</a:t>
            </a:r>
            <a:r>
              <a:rPr lang="en-US" sz="1100" dirty="0" smtClean="0">
                <a:hlinkClick r:id="rId3"/>
              </a:rPr>
              <a:t>www.javatpoint.com/multithreading-in-java</a:t>
            </a:r>
            <a:endParaRPr lang="en-US" sz="1100" dirty="0" smtClean="0"/>
          </a:p>
          <a:p>
            <a:endParaRPr lang="en-US" sz="1400" dirty="0"/>
          </a:p>
          <a:p>
            <a:r>
              <a:rPr lang="en-US" sz="1400" b="1" dirty="0" err="1"/>
              <a:t>Pengenalan</a:t>
            </a:r>
            <a:r>
              <a:rPr lang="en-US" sz="1400" b="1" dirty="0"/>
              <a:t> Multi threading </a:t>
            </a:r>
            <a:r>
              <a:rPr lang="en-US" sz="1400" b="1" dirty="0" err="1"/>
              <a:t>pada</a:t>
            </a:r>
            <a:r>
              <a:rPr lang="en-US" sz="1400" b="1" dirty="0"/>
              <a:t> Java</a:t>
            </a:r>
          </a:p>
          <a:p>
            <a:r>
              <a:rPr lang="en-US" sz="1100" dirty="0">
                <a:hlinkClick r:id="rId4"/>
              </a:rPr>
              <a:t>https://medium.com/@</a:t>
            </a:r>
            <a:r>
              <a:rPr lang="en-US" sz="1100" dirty="0" smtClean="0">
                <a:hlinkClick r:id="rId4"/>
              </a:rPr>
              <a:t>ranggaantok/pengenalan-multi-threading-pada-java-66127283b7f1</a:t>
            </a:r>
            <a:endParaRPr lang="en-US" sz="1100" dirty="0" smtClean="0"/>
          </a:p>
          <a:p>
            <a:endParaRPr lang="en-US" sz="1400" dirty="0"/>
          </a:p>
          <a:p>
            <a:r>
              <a:rPr lang="en-US" sz="1400" b="1" dirty="0"/>
              <a:t>Multithreading in Java Tutorial with Examples</a:t>
            </a:r>
          </a:p>
          <a:p>
            <a:r>
              <a:rPr lang="en-US" sz="1100" dirty="0">
                <a:hlinkClick r:id="rId5"/>
              </a:rPr>
              <a:t>https://www.guru99.com/multithreading-java.html#:~:text=MULTITHREADING%20in%20Java%20is%20a,runs%20parallel%20to%20each%20other</a:t>
            </a:r>
            <a:r>
              <a:rPr lang="en-US" sz="1100" dirty="0" smtClean="0"/>
              <a:t>.</a:t>
            </a:r>
          </a:p>
          <a:p>
            <a:endParaRPr lang="en-US" sz="1400" dirty="0"/>
          </a:p>
          <a:p>
            <a:r>
              <a:rPr lang="en-US" sz="1400" b="1" dirty="0"/>
              <a:t>Java - Multithreading</a:t>
            </a:r>
          </a:p>
          <a:p>
            <a:r>
              <a:rPr lang="en-US" sz="1100" dirty="0">
                <a:hlinkClick r:id="rId6"/>
              </a:rPr>
              <a:t>https://</a:t>
            </a:r>
            <a:r>
              <a:rPr lang="en-US" sz="1100" dirty="0" smtClean="0">
                <a:hlinkClick r:id="rId6"/>
              </a:rPr>
              <a:t>www.tutorialspoint.com/java/java_multithreading.htm</a:t>
            </a:r>
            <a:endParaRPr lang="en-US" sz="1100" dirty="0" smtClean="0"/>
          </a:p>
          <a:p>
            <a:endParaRPr lang="en-US" sz="1400" dirty="0"/>
          </a:p>
          <a:p>
            <a:r>
              <a:rPr lang="en-US" sz="1400" b="1" dirty="0"/>
              <a:t>Multithreading in Java</a:t>
            </a:r>
          </a:p>
          <a:p>
            <a:r>
              <a:rPr lang="en-US" sz="1100" dirty="0">
                <a:hlinkClick r:id="rId7"/>
              </a:rPr>
              <a:t>https://www.geeksforgeeks.org/multithreading-in-java</a:t>
            </a:r>
            <a:r>
              <a:rPr lang="en-US" sz="1100" dirty="0" smtClean="0">
                <a:hlinkClick r:id="rId7"/>
              </a:rPr>
              <a:t>/</a:t>
            </a:r>
            <a:endParaRPr lang="en-US" sz="1100" dirty="0" smtClean="0"/>
          </a:p>
          <a:p>
            <a:endParaRPr lang="en-US" sz="1400" dirty="0"/>
          </a:p>
          <a:p>
            <a:r>
              <a:rPr lang="en-US" sz="1400" b="1" dirty="0"/>
              <a:t>Multithreading in Java</a:t>
            </a:r>
          </a:p>
          <a:p>
            <a:r>
              <a:rPr lang="en-US" sz="1100" dirty="0">
                <a:hlinkClick r:id="rId8"/>
              </a:rPr>
              <a:t>https://</a:t>
            </a:r>
            <a:r>
              <a:rPr lang="en-US" sz="1100" dirty="0" smtClean="0">
                <a:hlinkClick r:id="rId8"/>
              </a:rPr>
              <a:t>www.journaldev.com/1079/multithreading-in-java</a:t>
            </a:r>
            <a:endParaRPr lang="en-US" sz="1100" dirty="0" smtClean="0"/>
          </a:p>
          <a:p>
            <a:endParaRPr lang="en-US" sz="1400" dirty="0"/>
          </a:p>
          <a:p>
            <a:r>
              <a:rPr lang="en-US" sz="1400" b="1" dirty="0"/>
              <a:t>Java Concurrency and Multithreading Tutorial</a:t>
            </a:r>
          </a:p>
          <a:p>
            <a:r>
              <a:rPr lang="en-US" sz="1100" dirty="0">
                <a:hlinkClick r:id="rId9"/>
              </a:rPr>
              <a:t>http://</a:t>
            </a:r>
            <a:r>
              <a:rPr lang="en-US" sz="1100" dirty="0" smtClean="0">
                <a:hlinkClick r:id="rId9"/>
              </a:rPr>
              <a:t>tutorials.jenkov.com/java-concurrency/index.html</a:t>
            </a:r>
            <a:endParaRPr lang="en-US" sz="1100" dirty="0" smtClean="0"/>
          </a:p>
          <a:p>
            <a:endParaRPr lang="en-US" sz="1400" dirty="0"/>
          </a:p>
          <a:p>
            <a:r>
              <a:rPr lang="en-US" sz="1400" b="1" dirty="0" err="1"/>
              <a:t>Konsep</a:t>
            </a:r>
            <a:r>
              <a:rPr lang="en-US" sz="1400" b="1" dirty="0"/>
              <a:t> Multithreading Java</a:t>
            </a:r>
          </a:p>
          <a:p>
            <a:r>
              <a:rPr lang="en-US" sz="1100" dirty="0">
                <a:hlinkClick r:id="rId10"/>
              </a:rPr>
              <a:t>https://www.sinaungoding.com/konsep-multithreading-java</a:t>
            </a:r>
            <a:r>
              <a:rPr lang="en-US" sz="1100" dirty="0" smtClean="0">
                <a:hlinkClick r:id="rId10"/>
              </a:rPr>
              <a:t>/</a:t>
            </a:r>
            <a:endParaRPr lang="en-US" sz="1100" dirty="0" smtClean="0"/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18614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6400" y="2971800"/>
            <a:ext cx="5530215" cy="1035745"/>
          </a:xfrm>
          <a:prstGeom prst="wedgeRoundRectCallout">
            <a:avLst>
              <a:gd name="adj1" fmla="val 51225"/>
              <a:gd name="adj2" fmla="val 132447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6000" dirty="0">
                <a:solidFill>
                  <a:srgbClr val="30859C"/>
                </a:solidFill>
              </a:rPr>
              <a:t>THANK</a:t>
            </a:r>
            <a:r>
              <a:rPr sz="6000" spc="-355" dirty="0">
                <a:solidFill>
                  <a:srgbClr val="30859C"/>
                </a:solidFill>
              </a:rPr>
              <a:t> </a:t>
            </a:r>
            <a:r>
              <a:rPr sz="6000" spc="-5" dirty="0" smtClean="0">
                <a:solidFill>
                  <a:srgbClr val="30859C"/>
                </a:solidFill>
              </a:rPr>
              <a:t>YOU</a:t>
            </a:r>
            <a:endParaRPr sz="6000" dirty="0"/>
          </a:p>
        </p:txBody>
      </p:sp>
      <p:pic>
        <p:nvPicPr>
          <p:cNvPr id="3" name="Picture 2" descr="Download Free png Photography Person Clip art - thinking clipart png  download - 645 ... - DLPNG.co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6615" y="4476896"/>
            <a:ext cx="1719273" cy="2132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903914" y="76200"/>
            <a:ext cx="802197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0" i="0" u="none" strike="noStrike" kern="1200" cap="all" spc="100" normalizeH="0" baseline="0" noProof="0" dirty="0" smtClean="0">
                <a:ln>
                  <a:noFill/>
                </a:ln>
                <a:solidFill>
                  <a:sysClr val="windowText" lastClr="000000">
                    <a:lumMod val="95000"/>
                    <a:lumOff val="5000"/>
                  </a:sysClr>
                </a:solidFill>
                <a:effectLst/>
                <a:uLnTx/>
                <a:uFillTx/>
                <a:latin typeface="Tw Cen MT Condensed" panose="020B0606020104020203"/>
                <a:ea typeface="+mj-ea"/>
                <a:cs typeface="+mj-cs"/>
              </a:rPr>
              <a:t>END PRESENTATION</a:t>
            </a:r>
            <a:endParaRPr kumimoji="0" lang="en-US" sz="5000" b="0" i="0" u="none" strike="noStrike" kern="1200" cap="all" spc="100" normalizeH="0" baseline="0" noProof="0" dirty="0">
              <a:ln>
                <a:noFill/>
              </a:ln>
              <a:solidFill>
                <a:sysClr val="windowText" lastClr="000000">
                  <a:lumMod val="95000"/>
                  <a:lumOff val="5000"/>
                </a:sysClr>
              </a:solidFill>
              <a:effectLst/>
              <a:uLnTx/>
              <a:uFillTx/>
              <a:latin typeface="Tw Cen MT Condensed" panose="020B0606020104020203"/>
              <a:ea typeface="+mj-ea"/>
              <a:cs typeface="+mj-cs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903913" y="1186434"/>
            <a:ext cx="3041667" cy="670501"/>
            <a:chOff x="1024128" y="2917984"/>
            <a:chExt cx="3041667" cy="670501"/>
          </a:xfrm>
        </p:grpSpPr>
        <p:sp>
          <p:nvSpPr>
            <p:cNvPr id="6" name="Rectangle 5"/>
            <p:cNvSpPr/>
            <p:nvPr/>
          </p:nvSpPr>
          <p:spPr>
            <a:xfrm>
              <a:off x="1024128" y="3188375"/>
              <a:ext cx="225286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457200"/>
              <a:r>
                <a:rPr lang="en-US" sz="2000" dirty="0" smtClean="0">
                  <a:solidFill>
                    <a:prstClr val="black"/>
                  </a:solidFill>
                  <a:latin typeface="Tw Cen MT" panose="020B0602020104020603"/>
                </a:rPr>
                <a:t>Instructor: S – W </a:t>
              </a:r>
              <a:r>
                <a:rPr lang="en-US" sz="2000" dirty="0">
                  <a:solidFill>
                    <a:prstClr val="black"/>
                  </a:solidFill>
                  <a:latin typeface="Tw Cen MT" panose="020B0602020104020603"/>
                </a:rPr>
                <a:t>–</a:t>
              </a:r>
              <a:r>
                <a:rPr lang="en-US" sz="2000" dirty="0" smtClean="0">
                  <a:solidFill>
                    <a:prstClr val="black"/>
                  </a:solidFill>
                  <a:latin typeface="Tw Cen MT" panose="020B0602020104020603"/>
                </a:rPr>
                <a:t> T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024128" y="2917984"/>
              <a:ext cx="304166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457200"/>
              <a:r>
                <a:rPr lang="en-US" sz="2000" dirty="0">
                  <a:solidFill>
                    <a:srgbClr val="FF0000"/>
                  </a:solidFill>
                  <a:latin typeface="Tw Cen MT" panose="020B0602020104020603"/>
                </a:rPr>
                <a:t>Thank you for your attention</a:t>
              </a:r>
            </a:p>
          </p:txBody>
        </p:sp>
      </p:grpSp>
      <p:sp>
        <p:nvSpPr>
          <p:cNvPr id="8" name="Rectangle 7"/>
          <p:cNvSpPr/>
          <p:nvPr/>
        </p:nvSpPr>
        <p:spPr>
          <a:xfrm>
            <a:off x="470335" y="540135"/>
            <a:ext cx="304599" cy="1316800"/>
          </a:xfrm>
          <a:prstGeom prst="rect">
            <a:avLst/>
          </a:prstGeom>
          <a:solidFill>
            <a:sysClr val="windowText" lastClr="000000"/>
          </a:solidFill>
          <a:ln w="15875" cap="flat" cmpd="sng" algn="ctr">
            <a:solidFill>
              <a:sysClr val="windowText" lastClr="000000">
                <a:shade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Urb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873</TotalTime>
  <Words>445</Words>
  <Application>Microsoft Office PowerPoint</Application>
  <PresentationFormat>On-screen Show (4:3)</PresentationFormat>
  <Paragraphs>82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32" baseType="lpstr">
      <vt:lpstr>Bookman Uralic</vt:lpstr>
      <vt:lpstr>Carlito</vt:lpstr>
      <vt:lpstr>Arial</vt:lpstr>
      <vt:lpstr>Calibri</vt:lpstr>
      <vt:lpstr>Georgia</vt:lpstr>
      <vt:lpstr>Tahoma</vt:lpstr>
      <vt:lpstr>Times New Roman</vt:lpstr>
      <vt:lpstr>Trebuchet MS</vt:lpstr>
      <vt:lpstr>Tw Cen MT</vt:lpstr>
      <vt:lpstr>Tw Cen MT Condensed</vt:lpstr>
      <vt:lpstr>Wingdings</vt:lpstr>
      <vt:lpstr>Wingdings 2</vt:lpstr>
      <vt:lpstr>Wingdings 3</vt:lpstr>
      <vt:lpstr>Office Theme</vt:lpstr>
      <vt:lpstr>Urban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NL</dc:creator>
  <cp:lastModifiedBy>NL</cp:lastModifiedBy>
  <cp:revision>92</cp:revision>
  <dcterms:created xsi:type="dcterms:W3CDTF">2021-03-23T22:28:06Z</dcterms:created>
  <dcterms:modified xsi:type="dcterms:W3CDTF">2021-06-18T03:13:32Z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2018-01-22T00:00:00Z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2021-03-23T00:00:00Z</vt:filetime>
  </property>
</Properties>
</file>