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6" r:id="rId2"/>
    <p:sldMasterId id="2147483678" r:id="rId3"/>
  </p:sldMasterIdLst>
  <p:notesMasterIdLst>
    <p:notesMasterId r:id="rId43"/>
  </p:notesMasterIdLst>
  <p:sldIdLst>
    <p:sldId id="285" r:id="rId4"/>
    <p:sldId id="286" r:id="rId5"/>
    <p:sldId id="302" r:id="rId6"/>
    <p:sldId id="305" r:id="rId7"/>
    <p:sldId id="306" r:id="rId8"/>
    <p:sldId id="307" r:id="rId9"/>
    <p:sldId id="308" r:id="rId10"/>
    <p:sldId id="309" r:id="rId11"/>
    <p:sldId id="257" r:id="rId12"/>
    <p:sldId id="310" r:id="rId13"/>
    <p:sldId id="258" r:id="rId14"/>
    <p:sldId id="296" r:id="rId15"/>
    <p:sldId id="313" r:id="rId16"/>
    <p:sldId id="312" r:id="rId17"/>
    <p:sldId id="298" r:id="rId18"/>
    <p:sldId id="317" r:id="rId19"/>
    <p:sldId id="316" r:id="rId20"/>
    <p:sldId id="319" r:id="rId21"/>
    <p:sldId id="318" r:id="rId22"/>
    <p:sldId id="315" r:id="rId23"/>
    <p:sldId id="320" r:id="rId24"/>
    <p:sldId id="323" r:id="rId25"/>
    <p:sldId id="324" r:id="rId26"/>
    <p:sldId id="325" r:id="rId27"/>
    <p:sldId id="326" r:id="rId28"/>
    <p:sldId id="327" r:id="rId29"/>
    <p:sldId id="322" r:id="rId30"/>
    <p:sldId id="330" r:id="rId31"/>
    <p:sldId id="331" r:id="rId32"/>
    <p:sldId id="329" r:id="rId33"/>
    <p:sldId id="328" r:id="rId34"/>
    <p:sldId id="332" r:id="rId35"/>
    <p:sldId id="333" r:id="rId36"/>
    <p:sldId id="321" r:id="rId37"/>
    <p:sldId id="337" r:id="rId38"/>
    <p:sldId id="338" r:id="rId39"/>
    <p:sldId id="303" r:id="rId40"/>
    <p:sldId id="304" r:id="rId41"/>
    <p:sldId id="284" r:id="rId42"/>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441" autoAdjust="0"/>
  </p:normalViewPr>
  <p:slideViewPr>
    <p:cSldViewPr>
      <p:cViewPr>
        <p:scale>
          <a:sx n="80" d="100"/>
          <a:sy n="80" d="100"/>
        </p:scale>
        <p:origin x="1626" y="25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notesMaster" Target="notesMasters/notesMaster1.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theme" Target="theme/theme1.xml"/><Relationship Id="rId20" Type="http://schemas.openxmlformats.org/officeDocument/2006/relationships/slide" Target="slides/slide17.xml"/><Relationship Id="rId41"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454A8E67-C31F-4B3F-AE22-4E6EEE62189F}" type="datetimeFigureOut">
              <a:rPr lang="en-US" smtClean="0"/>
              <a:t>6/24/2021</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086D6AE2-3021-4755-9483-33FED855821B}" type="slidenum">
              <a:rPr lang="en-US" smtClean="0"/>
              <a:t>‹#›</a:t>
            </a:fld>
            <a:endParaRPr lang="en-US"/>
          </a:p>
        </p:txBody>
      </p:sp>
    </p:spTree>
    <p:extLst>
      <p:ext uri="{BB962C8B-B14F-4D97-AF65-F5344CB8AC3E}">
        <p14:creationId xmlns:p14="http://schemas.microsoft.com/office/powerpoint/2010/main" val="543410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TextEdit="1"/>
          </p:cNvSpPr>
          <p:nvPr>
            <p:ph type="sldImg"/>
          </p:nvPr>
        </p:nvSpPr>
        <p:spPr>
          <a:ln/>
        </p:spPr>
      </p:sp>
      <p:sp>
        <p:nvSpPr>
          <p:cNvPr id="81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81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sz="2400">
                <a:solidFill>
                  <a:schemeClr val="tx1"/>
                </a:solidFill>
                <a:latin typeface="Tahoma" panose="020B0604030504040204" pitchFamily="34" charset="0"/>
              </a:defRPr>
            </a:lvl1pPr>
            <a:lvl2pPr marL="742950" indent="-285750" defTabSz="931863">
              <a:defRPr sz="2400">
                <a:solidFill>
                  <a:schemeClr val="tx1"/>
                </a:solidFill>
                <a:latin typeface="Tahoma" panose="020B0604030504040204" pitchFamily="34" charset="0"/>
              </a:defRPr>
            </a:lvl2pPr>
            <a:lvl3pPr marL="1143000" indent="-228600" defTabSz="931863">
              <a:defRPr sz="2400">
                <a:solidFill>
                  <a:schemeClr val="tx1"/>
                </a:solidFill>
                <a:latin typeface="Tahoma" panose="020B0604030504040204" pitchFamily="34" charset="0"/>
              </a:defRPr>
            </a:lvl3pPr>
            <a:lvl4pPr marL="1600200" indent="-228600" defTabSz="931863">
              <a:defRPr sz="2400">
                <a:solidFill>
                  <a:schemeClr val="tx1"/>
                </a:solidFill>
                <a:latin typeface="Tahoma" panose="020B0604030504040204" pitchFamily="34" charset="0"/>
              </a:defRPr>
            </a:lvl4pPr>
            <a:lvl5pPr marL="2057400" indent="-228600" defTabSz="931863">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r" defTabSz="931863" rtl="0" eaLnBrk="0" fontAlgn="base" latinLnBrk="0" hangingPunct="0">
              <a:lnSpc>
                <a:spcPct val="100000"/>
              </a:lnSpc>
              <a:spcBef>
                <a:spcPct val="0"/>
              </a:spcBef>
              <a:spcAft>
                <a:spcPct val="0"/>
              </a:spcAft>
              <a:buClrTx/>
              <a:buSzTx/>
              <a:buFontTx/>
              <a:buNone/>
              <a:tabLst/>
              <a:defRPr/>
            </a:pPr>
            <a:fld id="{05640802-FA98-427B-B9DA-D5CD3C58A5EC}"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pPr marL="0" marR="0" lvl="0" indent="0" algn="r" defTabSz="931863" rtl="0" eaLnBrk="0" fontAlgn="base" latinLnBrk="0" hangingPunct="0">
                <a:lnSpc>
                  <a:spcPct val="100000"/>
                </a:lnSpc>
                <a:spcBef>
                  <a:spcPct val="0"/>
                </a:spcBef>
                <a:spcAft>
                  <a:spcPct val="0"/>
                </a:spcAft>
                <a:buClrTx/>
                <a:buSzTx/>
                <a:buFontTx/>
                <a:buNone/>
                <a:tabLst/>
                <a:defRPr/>
              </a:pPr>
              <a:t>1</a:t>
            </a:fld>
            <a:endPar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8119908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6/24/2021</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00AF50"/>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3500" b="0" i="0">
                <a:solidFill>
                  <a:schemeClr val="tx1"/>
                </a:solidFill>
                <a:latin typeface="Carlito"/>
                <a:cs typeface="Carlito"/>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6/24/2021</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00AF50"/>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6/24/2021</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00AF50"/>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6/24/2021</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72843" y="1078991"/>
            <a:ext cx="8066537" cy="3257550"/>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6/24/2021</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p:nvSpPr>
        <p:spPr>
          <a:xfrm flipV="1">
            <a:off x="5410200" y="3810000"/>
            <a:ext cx="3733800" cy="90488"/>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p:cNvSpPr/>
          <p:nvPr/>
        </p:nvSpPr>
        <p:spPr>
          <a:xfrm flipV="1">
            <a:off x="5410200" y="3897313"/>
            <a:ext cx="3733800" cy="19208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p:cNvSpPr/>
          <p:nvPr/>
        </p:nvSpPr>
        <p:spPr>
          <a:xfrm flipV="1">
            <a:off x="5410200" y="4114800"/>
            <a:ext cx="3733800" cy="9525"/>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p:cNvSpPr/>
          <p:nvPr/>
        </p:nvSpPr>
        <p:spPr>
          <a:xfrm flipV="1">
            <a:off x="5410200" y="4164013"/>
            <a:ext cx="1965325" cy="19050"/>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 name="Rectangle 9"/>
          <p:cNvSpPr/>
          <p:nvPr/>
        </p:nvSpPr>
        <p:spPr>
          <a:xfrm flipV="1">
            <a:off x="5410200" y="4198938"/>
            <a:ext cx="1965325" cy="9525"/>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11" name="Rounded Rectangle 10"/>
          <p:cNvSpPr/>
          <p:nvPr/>
        </p:nvSpPr>
        <p:spPr bwMode="white">
          <a:xfrm>
            <a:off x="5410200" y="3962400"/>
            <a:ext cx="3063875" cy="26988"/>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12" name="Rounded Rectangle 11"/>
          <p:cNvSpPr/>
          <p:nvPr/>
        </p:nvSpPr>
        <p:spPr bwMode="white">
          <a:xfrm>
            <a:off x="7377113" y="4060825"/>
            <a:ext cx="1600200" cy="36513"/>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3" name="Rectangle 12"/>
          <p:cNvSpPr/>
          <p:nvPr/>
        </p:nvSpPr>
        <p:spPr>
          <a:xfrm>
            <a:off x="0" y="3649663"/>
            <a:ext cx="9144000" cy="24447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4" name="Rectangle 13"/>
          <p:cNvSpPr/>
          <p:nvPr/>
        </p:nvSpPr>
        <p:spPr>
          <a:xfrm>
            <a:off x="0" y="3675063"/>
            <a:ext cx="9144000" cy="1412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5" name="Rectangle 14"/>
          <p:cNvSpPr/>
          <p:nvPr/>
        </p:nvSpPr>
        <p:spPr>
          <a:xfrm flipV="1">
            <a:off x="6413500" y="3643313"/>
            <a:ext cx="2730500" cy="247650"/>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6" name="Rectangle 15"/>
          <p:cNvSpPr/>
          <p:nvPr/>
        </p:nvSpPr>
        <p:spPr>
          <a:xfrm>
            <a:off x="0" y="0"/>
            <a:ext cx="9144000" cy="370205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lang="en-US" smtClean="0"/>
              <a:t>Click to edit Master title style</a:t>
            </a:r>
            <a:endParaRPr lang="en-US"/>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17" name="Date Placeholder 27"/>
          <p:cNvSpPr>
            <a:spLocks noGrp="1"/>
          </p:cNvSpPr>
          <p:nvPr>
            <p:ph type="dt" sz="half" idx="10"/>
          </p:nvPr>
        </p:nvSpPr>
        <p:spPr>
          <a:xfrm>
            <a:off x="6705600" y="4206875"/>
            <a:ext cx="960438" cy="457200"/>
          </a:xfrm>
        </p:spPr>
        <p:txBody>
          <a:bodyPr/>
          <a:lstStyle>
            <a:lvl1pPr>
              <a:defRPr/>
            </a:lvl1pPr>
          </a:lstStyle>
          <a:p>
            <a:pPr>
              <a:defRPr/>
            </a:pPr>
            <a:fld id="{A17A5911-318A-42B0-BD23-6D9EB7D0CA04}" type="datetimeFigureOut">
              <a:rPr lang="en-US"/>
              <a:pPr>
                <a:defRPr/>
              </a:pPr>
              <a:t>6/24/2021</a:t>
            </a:fld>
            <a:endParaRPr lang="en-US"/>
          </a:p>
        </p:txBody>
      </p:sp>
      <p:sp>
        <p:nvSpPr>
          <p:cNvPr id="18" name="Footer Placeholder 16"/>
          <p:cNvSpPr>
            <a:spLocks noGrp="1"/>
          </p:cNvSpPr>
          <p:nvPr>
            <p:ph type="ftr" sz="quarter" idx="11"/>
          </p:nvPr>
        </p:nvSpPr>
        <p:spPr>
          <a:xfrm>
            <a:off x="5410200" y="4205288"/>
            <a:ext cx="1295400" cy="457200"/>
          </a:xfrm>
        </p:spPr>
        <p:txBody>
          <a:bodyPr/>
          <a:lstStyle>
            <a:lvl1pPr>
              <a:defRPr/>
            </a:lvl1pPr>
          </a:lstStyle>
          <a:p>
            <a:pPr>
              <a:defRPr/>
            </a:pPr>
            <a:endParaRPr lang="en-US"/>
          </a:p>
        </p:txBody>
      </p:sp>
      <p:sp>
        <p:nvSpPr>
          <p:cNvPr id="19" name="Slide Number Placeholder 28"/>
          <p:cNvSpPr>
            <a:spLocks noGrp="1"/>
          </p:cNvSpPr>
          <p:nvPr>
            <p:ph type="sldNum" sz="quarter" idx="12"/>
          </p:nvPr>
        </p:nvSpPr>
        <p:spPr>
          <a:xfrm>
            <a:off x="8320088" y="1588"/>
            <a:ext cx="747712" cy="365125"/>
          </a:xfrm>
        </p:spPr>
        <p:txBody>
          <a:bodyPr/>
          <a:lstStyle>
            <a:lvl1pPr>
              <a:defRPr>
                <a:solidFill>
                  <a:schemeClr val="bg1"/>
                </a:solidFill>
              </a:defRPr>
            </a:lvl1pPr>
          </a:lstStyle>
          <a:p>
            <a:fld id="{A4458D9D-7997-48C9-9AC8-3F90B58B8F56}" type="slidenum">
              <a:rPr lang="en-US" altLang="en-US"/>
              <a:pPr/>
              <a:t>‹#›</a:t>
            </a:fld>
            <a:endParaRPr lang="en-US" altLang="en-US"/>
          </a:p>
        </p:txBody>
      </p:sp>
    </p:spTree>
    <p:extLst>
      <p:ext uri="{BB962C8B-B14F-4D97-AF65-F5344CB8AC3E}">
        <p14:creationId xmlns:p14="http://schemas.microsoft.com/office/powerpoint/2010/main" val="644431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fld id="{9F4A82B4-6618-4215-93D9-CEB563386B8B}" type="datetimeFigureOut">
              <a:rPr lang="en-US"/>
              <a:pPr>
                <a:defRPr/>
              </a:pPr>
              <a:t>6/24/2021</a:t>
            </a:fld>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fld id="{187DC8DC-866E-4B93-B469-7F06B822183F}" type="slidenum">
              <a:rPr lang="en-US" altLang="en-US"/>
              <a:pPr/>
              <a:t>‹#›</a:t>
            </a:fld>
            <a:endParaRPr lang="en-US" altLang="en-US"/>
          </a:p>
        </p:txBody>
      </p:sp>
    </p:spTree>
    <p:extLst>
      <p:ext uri="{BB962C8B-B14F-4D97-AF65-F5344CB8AC3E}">
        <p14:creationId xmlns:p14="http://schemas.microsoft.com/office/powerpoint/2010/main" val="1262998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lang="en-US" smtClean="0"/>
              <a:t>Click to edit Master title style</a:t>
            </a:r>
            <a:endParaRPr lang="en-US"/>
          </a:p>
        </p:txBody>
      </p:sp>
      <p:sp>
        <p:nvSpPr>
          <p:cNvPr id="3" name="Text Placeholder 2"/>
          <p:cNvSpPr>
            <a:spLocks noGrp="1"/>
          </p:cNvSpPr>
          <p:nvPr>
            <p:ph type="body" idx="1"/>
          </p:nvPr>
        </p:nvSpPr>
        <p:spPr>
          <a:xfrm>
            <a:off x="722313" y="3367088"/>
            <a:ext cx="7772400" cy="1509712"/>
          </a:xfrm>
        </p:spPr>
        <p:txBody>
          <a:bodyPr/>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4" name="Date Placeholder 13"/>
          <p:cNvSpPr>
            <a:spLocks noGrp="1"/>
          </p:cNvSpPr>
          <p:nvPr>
            <p:ph type="dt" sz="half" idx="10"/>
          </p:nvPr>
        </p:nvSpPr>
        <p:spPr/>
        <p:txBody>
          <a:bodyPr/>
          <a:lstStyle>
            <a:lvl1pPr>
              <a:defRPr/>
            </a:lvl1pPr>
          </a:lstStyle>
          <a:p>
            <a:pPr>
              <a:defRPr/>
            </a:pPr>
            <a:fld id="{C2CF3936-C19B-44C7-9907-C0E7C284152D}" type="datetimeFigureOut">
              <a:rPr lang="en-US"/>
              <a:pPr>
                <a:defRPr/>
              </a:pPr>
              <a:t>6/24/2021</a:t>
            </a:fld>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fld id="{DAD50082-0BCC-45F0-8D95-A24D80F2B494}" type="slidenum">
              <a:rPr lang="en-US" altLang="en-US"/>
              <a:pPr/>
              <a:t>‹#›</a:t>
            </a:fld>
            <a:endParaRPr lang="en-US" altLang="en-US"/>
          </a:p>
        </p:txBody>
      </p:sp>
    </p:spTree>
    <p:extLst>
      <p:ext uri="{BB962C8B-B14F-4D97-AF65-F5344CB8AC3E}">
        <p14:creationId xmlns:p14="http://schemas.microsoft.com/office/powerpoint/2010/main" val="21758595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13"/>
          <p:cNvSpPr>
            <a:spLocks noGrp="1"/>
          </p:cNvSpPr>
          <p:nvPr>
            <p:ph type="dt" sz="half" idx="10"/>
          </p:nvPr>
        </p:nvSpPr>
        <p:spPr/>
        <p:txBody>
          <a:bodyPr/>
          <a:lstStyle>
            <a:lvl1pPr>
              <a:defRPr/>
            </a:lvl1pPr>
          </a:lstStyle>
          <a:p>
            <a:pPr>
              <a:defRPr/>
            </a:pPr>
            <a:fld id="{03314A90-AFC1-4E63-8122-57311A38DF42}" type="datetimeFigureOut">
              <a:rPr lang="en-US"/>
              <a:pPr>
                <a:defRPr/>
              </a:pPr>
              <a:t>6/24/2021</a:t>
            </a:fld>
            <a:endParaRPr lang="en-US"/>
          </a:p>
        </p:txBody>
      </p:sp>
      <p:sp>
        <p:nvSpPr>
          <p:cNvPr id="6" name="Footer Placeholder 2"/>
          <p:cNvSpPr>
            <a:spLocks noGrp="1"/>
          </p:cNvSpPr>
          <p:nvPr>
            <p:ph type="ftr" sz="quarter" idx="11"/>
          </p:nvPr>
        </p:nvSpPr>
        <p:spPr/>
        <p:txBody>
          <a:bodyPr/>
          <a:lstStyle>
            <a:lvl1pPr>
              <a:defRPr/>
            </a:lvl1pPr>
          </a:lstStyle>
          <a:p>
            <a:pPr>
              <a:defRPr/>
            </a:pPr>
            <a:endParaRPr lang="en-US"/>
          </a:p>
        </p:txBody>
      </p:sp>
      <p:sp>
        <p:nvSpPr>
          <p:cNvPr id="7" name="Slide Number Placeholder 22"/>
          <p:cNvSpPr>
            <a:spLocks noGrp="1"/>
          </p:cNvSpPr>
          <p:nvPr>
            <p:ph type="sldNum" sz="quarter" idx="12"/>
          </p:nvPr>
        </p:nvSpPr>
        <p:spPr/>
        <p:txBody>
          <a:bodyPr/>
          <a:lstStyle>
            <a:lvl1pPr>
              <a:defRPr/>
            </a:lvl1pPr>
          </a:lstStyle>
          <a:p>
            <a:fld id="{C178D1BD-67A6-4741-9925-0FDB9D00201C}" type="slidenum">
              <a:rPr lang="en-US" altLang="en-US"/>
              <a:pPr/>
              <a:t>‹#›</a:t>
            </a:fld>
            <a:endParaRPr lang="en-US" altLang="en-US"/>
          </a:p>
        </p:txBody>
      </p:sp>
    </p:spTree>
    <p:extLst>
      <p:ext uri="{BB962C8B-B14F-4D97-AF65-F5344CB8AC3E}">
        <p14:creationId xmlns:p14="http://schemas.microsoft.com/office/powerpoint/2010/main" val="1962786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lstStyle>
            <a:lvl1pPr>
              <a:defRPr sz="4000" b="0" i="0" cap="none" baseline="0"/>
            </a:lvl1pPr>
          </a:lstStyle>
          <a:p>
            <a:r>
              <a:rPr lang="en-US" smtClean="0"/>
              <a:t>Click to edit Master title style</a:t>
            </a:r>
            <a:endParaRPr lang="en-US"/>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25"/>
          <p:cNvSpPr>
            <a:spLocks noGrp="1"/>
          </p:cNvSpPr>
          <p:nvPr>
            <p:ph type="dt" sz="half" idx="10"/>
          </p:nvPr>
        </p:nvSpPr>
        <p:spPr/>
        <p:txBody>
          <a:bodyPr rtlCol="0"/>
          <a:lstStyle>
            <a:lvl1pPr>
              <a:defRPr/>
            </a:lvl1pPr>
          </a:lstStyle>
          <a:p>
            <a:pPr>
              <a:defRPr/>
            </a:pPr>
            <a:fld id="{7A2782CB-796F-4B39-B3A1-A580BB814B6D}" type="datetimeFigureOut">
              <a:rPr lang="en-US"/>
              <a:pPr>
                <a:defRPr/>
              </a:pPr>
              <a:t>6/24/2021</a:t>
            </a:fld>
            <a:endParaRPr lang="en-US"/>
          </a:p>
        </p:txBody>
      </p:sp>
      <p:sp>
        <p:nvSpPr>
          <p:cNvPr id="8" name="Slide Number Placeholder 26"/>
          <p:cNvSpPr>
            <a:spLocks noGrp="1"/>
          </p:cNvSpPr>
          <p:nvPr>
            <p:ph type="sldNum" sz="quarter" idx="11"/>
          </p:nvPr>
        </p:nvSpPr>
        <p:spPr/>
        <p:txBody>
          <a:bodyPr/>
          <a:lstStyle>
            <a:lvl1pPr>
              <a:defRPr/>
            </a:lvl1pPr>
          </a:lstStyle>
          <a:p>
            <a:fld id="{22235CFA-2E95-41A8-BAE8-E6B82C409E5A}" type="slidenum">
              <a:rPr lang="en-US" altLang="en-US"/>
              <a:pPr/>
              <a:t>‹#›</a:t>
            </a:fld>
            <a:endParaRPr lang="en-US" altLang="en-US"/>
          </a:p>
        </p:txBody>
      </p:sp>
      <p:sp>
        <p:nvSpPr>
          <p:cNvPr id="9" name="Footer Placeholder 27"/>
          <p:cNvSpPr>
            <a:spLocks noGrp="1"/>
          </p:cNvSpPr>
          <p:nvPr>
            <p:ph type="ftr" sz="quarter" idx="12"/>
          </p:nvPr>
        </p:nvSpPr>
        <p:spPr/>
        <p:txBody>
          <a:bodyPr rtlCol="0"/>
          <a:lstStyle>
            <a:lvl1pPr>
              <a:defRPr/>
            </a:lvl1pPr>
          </a:lstStyle>
          <a:p>
            <a:pPr>
              <a:defRPr/>
            </a:pPr>
            <a:endParaRPr lang="en-US"/>
          </a:p>
        </p:txBody>
      </p:sp>
    </p:spTree>
    <p:extLst>
      <p:ext uri="{BB962C8B-B14F-4D97-AF65-F5344CB8AC3E}">
        <p14:creationId xmlns:p14="http://schemas.microsoft.com/office/powerpoint/2010/main" val="8667067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lstStyle>
            <a:lvl1pPr>
              <a:defRPr sz="4000">
                <a:solidFill>
                  <a:schemeClr val="tx2"/>
                </a:solidFill>
              </a:defRPr>
            </a:lvl1pPr>
          </a:lstStyle>
          <a:p>
            <a:r>
              <a:rPr lang="en-US" smtClean="0"/>
              <a:t>Click to edit Master title style</a:t>
            </a:r>
            <a:endParaRPr lang="en-US"/>
          </a:p>
        </p:txBody>
      </p:sp>
      <p:sp>
        <p:nvSpPr>
          <p:cNvPr id="3" name="Date Placeholder 2"/>
          <p:cNvSpPr>
            <a:spLocks noGrp="1"/>
          </p:cNvSpPr>
          <p:nvPr>
            <p:ph type="dt" sz="half" idx="10"/>
          </p:nvPr>
        </p:nvSpPr>
        <p:spPr>
          <a:xfrm>
            <a:off x="6583363" y="612775"/>
            <a:ext cx="957262" cy="457200"/>
          </a:xfrm>
        </p:spPr>
        <p:txBody>
          <a:bodyPr/>
          <a:lstStyle>
            <a:lvl1pPr>
              <a:defRPr/>
            </a:lvl1pPr>
          </a:lstStyle>
          <a:p>
            <a:pPr>
              <a:defRPr/>
            </a:pPr>
            <a:fld id="{4B89DFEC-1725-49C8-B349-7936A7B6C619}" type="datetimeFigureOut">
              <a:rPr lang="en-US"/>
              <a:pPr>
                <a:defRPr/>
              </a:pPr>
              <a:t>6/24/2021</a:t>
            </a:fld>
            <a:endParaRPr lang="en-US"/>
          </a:p>
        </p:txBody>
      </p:sp>
      <p:sp>
        <p:nvSpPr>
          <p:cNvPr id="4" name="Footer Placeholder 3"/>
          <p:cNvSpPr>
            <a:spLocks noGrp="1"/>
          </p:cNvSpPr>
          <p:nvPr>
            <p:ph type="ftr" sz="quarter" idx="11"/>
          </p:nvPr>
        </p:nvSpPr>
        <p:spPr/>
        <p:txBody>
          <a:bodyPr/>
          <a:lstStyle>
            <a:lvl1pPr>
              <a:defRPr/>
            </a:lvl1pPr>
          </a:lstStyle>
          <a:p>
            <a:pPr>
              <a:defRPr/>
            </a:pPr>
            <a:endParaRPr lang="en-US"/>
          </a:p>
        </p:txBody>
      </p:sp>
      <p:sp>
        <p:nvSpPr>
          <p:cNvPr id="5" name="Slide Number Placeholder 4"/>
          <p:cNvSpPr>
            <a:spLocks noGrp="1"/>
          </p:cNvSpPr>
          <p:nvPr>
            <p:ph type="sldNum" sz="quarter" idx="12"/>
          </p:nvPr>
        </p:nvSpPr>
        <p:spPr/>
        <p:txBody>
          <a:bodyPr/>
          <a:lstStyle>
            <a:lvl1pPr>
              <a:defRPr/>
            </a:lvl1pPr>
          </a:lstStyle>
          <a:p>
            <a:fld id="{637C593E-29F5-4DB5-AA21-09B3E16427D1}" type="slidenum">
              <a:rPr lang="en-US" altLang="en-US"/>
              <a:pPr/>
              <a:t>‹#›</a:t>
            </a:fld>
            <a:endParaRPr lang="en-US" altLang="en-US"/>
          </a:p>
        </p:txBody>
      </p:sp>
    </p:spTree>
    <p:extLst>
      <p:ext uri="{BB962C8B-B14F-4D97-AF65-F5344CB8AC3E}">
        <p14:creationId xmlns:p14="http://schemas.microsoft.com/office/powerpoint/2010/main" val="16386860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3"/>
          <p:cNvSpPr>
            <a:spLocks noGrp="1"/>
          </p:cNvSpPr>
          <p:nvPr>
            <p:ph type="dt" sz="half" idx="10"/>
          </p:nvPr>
        </p:nvSpPr>
        <p:spPr/>
        <p:txBody>
          <a:bodyPr/>
          <a:lstStyle>
            <a:lvl1pPr>
              <a:defRPr/>
            </a:lvl1pPr>
          </a:lstStyle>
          <a:p>
            <a:pPr>
              <a:defRPr/>
            </a:pPr>
            <a:fld id="{48C4EACB-F0B1-430E-814E-618E1FB95B3F}" type="datetimeFigureOut">
              <a:rPr lang="en-US"/>
              <a:pPr>
                <a:defRPr/>
              </a:pPr>
              <a:t>6/24/2021</a:t>
            </a:fld>
            <a:endParaRPr lang="en-US"/>
          </a:p>
        </p:txBody>
      </p:sp>
      <p:sp>
        <p:nvSpPr>
          <p:cNvPr id="3" name="Footer Placeholder 2"/>
          <p:cNvSpPr>
            <a:spLocks noGrp="1"/>
          </p:cNvSpPr>
          <p:nvPr>
            <p:ph type="ftr" sz="quarter" idx="11"/>
          </p:nvPr>
        </p:nvSpPr>
        <p:spPr/>
        <p:txBody>
          <a:bodyPr/>
          <a:lstStyle>
            <a:lvl1pPr>
              <a:defRPr/>
            </a:lvl1pPr>
          </a:lstStyle>
          <a:p>
            <a:pPr>
              <a:defRPr/>
            </a:pPr>
            <a:endParaRPr lang="en-US"/>
          </a:p>
        </p:txBody>
      </p:sp>
      <p:sp>
        <p:nvSpPr>
          <p:cNvPr id="4" name="Slide Number Placeholder 22"/>
          <p:cNvSpPr>
            <a:spLocks noGrp="1"/>
          </p:cNvSpPr>
          <p:nvPr>
            <p:ph type="sldNum" sz="quarter" idx="12"/>
          </p:nvPr>
        </p:nvSpPr>
        <p:spPr/>
        <p:txBody>
          <a:bodyPr/>
          <a:lstStyle>
            <a:lvl1pPr>
              <a:defRPr/>
            </a:lvl1pPr>
          </a:lstStyle>
          <a:p>
            <a:fld id="{6662F2B9-77ED-4645-81E1-35508EBB26EA}" type="slidenum">
              <a:rPr lang="en-US" altLang="en-US"/>
              <a:pPr/>
              <a:t>‹#›</a:t>
            </a:fld>
            <a:endParaRPr lang="en-US" altLang="en-US"/>
          </a:p>
        </p:txBody>
      </p:sp>
    </p:spTree>
    <p:extLst>
      <p:ext uri="{BB962C8B-B14F-4D97-AF65-F5344CB8AC3E}">
        <p14:creationId xmlns:p14="http://schemas.microsoft.com/office/powerpoint/2010/main" val="8449780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lang="en-US" smtClean="0"/>
              <a:t>Click to edit Master title style</a:t>
            </a:r>
            <a:endParaRPr lang="en-US"/>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a:r>
              <a:rPr lang="en-US" smtClean="0"/>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13"/>
          <p:cNvSpPr>
            <a:spLocks noGrp="1"/>
          </p:cNvSpPr>
          <p:nvPr>
            <p:ph type="dt" sz="half" idx="10"/>
          </p:nvPr>
        </p:nvSpPr>
        <p:spPr/>
        <p:txBody>
          <a:bodyPr/>
          <a:lstStyle>
            <a:lvl1pPr>
              <a:defRPr/>
            </a:lvl1pPr>
          </a:lstStyle>
          <a:p>
            <a:pPr>
              <a:defRPr/>
            </a:pPr>
            <a:fld id="{CBF83054-3FDA-4EA6-BDCD-F6F20A348F07}" type="datetimeFigureOut">
              <a:rPr lang="en-US"/>
              <a:pPr>
                <a:defRPr/>
              </a:pPr>
              <a:t>6/24/2021</a:t>
            </a:fld>
            <a:endParaRPr lang="en-US"/>
          </a:p>
        </p:txBody>
      </p:sp>
      <p:sp>
        <p:nvSpPr>
          <p:cNvPr id="6" name="Footer Placeholder 2"/>
          <p:cNvSpPr>
            <a:spLocks noGrp="1"/>
          </p:cNvSpPr>
          <p:nvPr>
            <p:ph type="ftr" sz="quarter" idx="11"/>
          </p:nvPr>
        </p:nvSpPr>
        <p:spPr/>
        <p:txBody>
          <a:bodyPr/>
          <a:lstStyle>
            <a:lvl1pPr>
              <a:defRPr/>
            </a:lvl1pPr>
          </a:lstStyle>
          <a:p>
            <a:pPr>
              <a:defRPr/>
            </a:pPr>
            <a:endParaRPr lang="en-US"/>
          </a:p>
        </p:txBody>
      </p:sp>
      <p:sp>
        <p:nvSpPr>
          <p:cNvPr id="7" name="Slide Number Placeholder 22"/>
          <p:cNvSpPr>
            <a:spLocks noGrp="1"/>
          </p:cNvSpPr>
          <p:nvPr>
            <p:ph type="sldNum" sz="quarter" idx="12"/>
          </p:nvPr>
        </p:nvSpPr>
        <p:spPr/>
        <p:txBody>
          <a:bodyPr/>
          <a:lstStyle>
            <a:lvl1pPr>
              <a:defRPr/>
            </a:lvl1pPr>
          </a:lstStyle>
          <a:p>
            <a:fld id="{234040EC-DEFE-48A7-8B41-72679CFEB6E4}" type="slidenum">
              <a:rPr lang="en-US" altLang="en-US"/>
              <a:pPr/>
              <a:t>‹#›</a:t>
            </a:fld>
            <a:endParaRPr lang="en-US" altLang="en-US"/>
          </a:p>
        </p:txBody>
      </p:sp>
    </p:spTree>
    <p:extLst>
      <p:ext uri="{BB962C8B-B14F-4D97-AF65-F5344CB8AC3E}">
        <p14:creationId xmlns:p14="http://schemas.microsoft.com/office/powerpoint/2010/main" val="1550578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normAutofit/>
          </a:bodyPr>
          <a:lstStyle>
            <a:lvl1pPr marL="0" indent="0">
              <a:buNone/>
              <a:defRPr sz="3200"/>
            </a:lvl1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6088443" y="3274308"/>
            <a:ext cx="2590800" cy="2516489"/>
          </a:xfrm>
        </p:spPr>
        <p:txBody>
          <a:bodyPr lIns="0" tIns="0" rIns="45720"/>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a:r>
              <a:rPr lang="en-US" smtClean="0"/>
              <a:t>Click to edit Master text styles</a:t>
            </a:r>
          </a:p>
        </p:txBody>
      </p:sp>
      <p:sp>
        <p:nvSpPr>
          <p:cNvPr id="5" name="Date Placeholder 13"/>
          <p:cNvSpPr>
            <a:spLocks noGrp="1"/>
          </p:cNvSpPr>
          <p:nvPr>
            <p:ph type="dt" sz="half" idx="10"/>
          </p:nvPr>
        </p:nvSpPr>
        <p:spPr/>
        <p:txBody>
          <a:bodyPr/>
          <a:lstStyle>
            <a:lvl1pPr>
              <a:defRPr/>
            </a:lvl1pPr>
          </a:lstStyle>
          <a:p>
            <a:pPr>
              <a:defRPr/>
            </a:pPr>
            <a:fld id="{703B4C38-6B7A-4435-A3AF-075D8A2102F3}" type="datetimeFigureOut">
              <a:rPr lang="en-US"/>
              <a:pPr>
                <a:defRPr/>
              </a:pPr>
              <a:t>6/24/2021</a:t>
            </a:fld>
            <a:endParaRPr lang="en-US"/>
          </a:p>
        </p:txBody>
      </p:sp>
      <p:sp>
        <p:nvSpPr>
          <p:cNvPr id="6" name="Footer Placeholder 2"/>
          <p:cNvSpPr>
            <a:spLocks noGrp="1"/>
          </p:cNvSpPr>
          <p:nvPr>
            <p:ph type="ftr" sz="quarter" idx="11"/>
          </p:nvPr>
        </p:nvSpPr>
        <p:spPr/>
        <p:txBody>
          <a:bodyPr/>
          <a:lstStyle>
            <a:lvl1pPr>
              <a:defRPr/>
            </a:lvl1pPr>
          </a:lstStyle>
          <a:p>
            <a:pPr>
              <a:defRPr/>
            </a:pPr>
            <a:endParaRPr lang="en-US"/>
          </a:p>
        </p:txBody>
      </p:sp>
      <p:sp>
        <p:nvSpPr>
          <p:cNvPr id="7" name="Slide Number Placeholder 22"/>
          <p:cNvSpPr>
            <a:spLocks noGrp="1"/>
          </p:cNvSpPr>
          <p:nvPr>
            <p:ph type="sldNum" sz="quarter" idx="12"/>
          </p:nvPr>
        </p:nvSpPr>
        <p:spPr/>
        <p:txBody>
          <a:bodyPr/>
          <a:lstStyle>
            <a:lvl1pPr>
              <a:defRPr/>
            </a:lvl1pPr>
          </a:lstStyle>
          <a:p>
            <a:fld id="{9295D01F-80C4-4EF3-9C3E-4AB2D853C167}" type="slidenum">
              <a:rPr lang="en-US" altLang="en-US"/>
              <a:pPr/>
              <a:t>‹#›</a:t>
            </a:fld>
            <a:endParaRPr lang="en-US" altLang="en-US"/>
          </a:p>
        </p:txBody>
      </p:sp>
    </p:spTree>
    <p:extLst>
      <p:ext uri="{BB962C8B-B14F-4D97-AF65-F5344CB8AC3E}">
        <p14:creationId xmlns:p14="http://schemas.microsoft.com/office/powerpoint/2010/main" val="8479253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fld id="{65F07E67-5493-4B92-9FD9-CEF01D49F27C}" type="datetimeFigureOut">
              <a:rPr lang="en-US"/>
              <a:pPr>
                <a:defRPr/>
              </a:pPr>
              <a:t>6/24/2021</a:t>
            </a:fld>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fld id="{8FCC2162-9904-4CE2-ADF7-C5DB601A180B}" type="slidenum">
              <a:rPr lang="en-US" altLang="en-US"/>
              <a:pPr/>
              <a:t>‹#›</a:t>
            </a:fld>
            <a:endParaRPr lang="en-US" altLang="en-US"/>
          </a:p>
        </p:txBody>
      </p:sp>
    </p:spTree>
    <p:extLst>
      <p:ext uri="{BB962C8B-B14F-4D97-AF65-F5344CB8AC3E}">
        <p14:creationId xmlns:p14="http://schemas.microsoft.com/office/powerpoint/2010/main" val="40325030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143000"/>
            <a:ext cx="62484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fld id="{B637261E-68CB-4B7F-AB36-DC4916C10FE0}" type="datetimeFigureOut">
              <a:rPr lang="en-US"/>
              <a:pPr>
                <a:defRPr/>
              </a:pPr>
              <a:t>6/24/2021</a:t>
            </a:fld>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fld id="{672EC959-A47F-459F-8D4B-AA4F723E3468}" type="slidenum">
              <a:rPr lang="en-US" altLang="en-US"/>
              <a:pPr/>
              <a:t>‹#›</a:t>
            </a:fld>
            <a:endParaRPr lang="en-US" altLang="en-US"/>
          </a:p>
        </p:txBody>
      </p:sp>
    </p:spTree>
    <p:extLst>
      <p:ext uri="{BB962C8B-B14F-4D97-AF65-F5344CB8AC3E}">
        <p14:creationId xmlns:p14="http://schemas.microsoft.com/office/powerpoint/2010/main" val="9051712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492443"/>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40011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6/24/2021</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5149026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923545" y="3648456"/>
            <a:ext cx="7296911" cy="492481"/>
          </a:xfrm>
        </p:spPr>
        <p:txBody>
          <a:bodyPr lIns="0" tIns="0" rIns="0" bIns="0"/>
          <a:lstStyle>
            <a:lvl1pPr>
              <a:defRPr sz="3200" b="0" i="0">
                <a:solidFill>
                  <a:schemeClr val="tx1"/>
                </a:solidFill>
                <a:latin typeface="Bookman Uralic"/>
                <a:cs typeface="Bookman Uralic"/>
              </a:defRPr>
            </a:lvl1pPr>
          </a:lstStyle>
          <a:p>
            <a:endParaRPr/>
          </a:p>
        </p:txBody>
      </p:sp>
      <p:sp>
        <p:nvSpPr>
          <p:cNvPr id="3" name="Holder 3"/>
          <p:cNvSpPr>
            <a:spLocks noGrp="1"/>
          </p:cNvSpPr>
          <p:nvPr>
            <p:ph type="body" idx="1"/>
          </p:nvPr>
        </p:nvSpPr>
        <p:spPr>
          <a:xfrm>
            <a:off x="1844041" y="2828671"/>
            <a:ext cx="5455919" cy="400148"/>
          </a:xfrm>
        </p:spPr>
        <p:txBody>
          <a:bodyPr lIns="0" tIns="0" rIns="0" bIns="0"/>
          <a:lstStyle>
            <a:lvl1pPr>
              <a:defRPr sz="26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6/24/2021</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7302435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923545" y="3648456"/>
            <a:ext cx="7296911" cy="492481"/>
          </a:xfrm>
        </p:spPr>
        <p:txBody>
          <a:bodyPr lIns="0" tIns="0" rIns="0" bIns="0"/>
          <a:lstStyle>
            <a:lvl1pPr>
              <a:defRPr sz="3200" b="0" i="0">
                <a:solidFill>
                  <a:schemeClr val="tx1"/>
                </a:solidFill>
                <a:latin typeface="Bookman Uralic"/>
                <a:cs typeface="Bookman Uralic"/>
              </a:defRPr>
            </a:lvl1pPr>
          </a:lstStyle>
          <a:p>
            <a:endParaRPr/>
          </a:p>
        </p:txBody>
      </p:sp>
      <p:sp>
        <p:nvSpPr>
          <p:cNvPr id="3" name="Holder 3"/>
          <p:cNvSpPr>
            <a:spLocks noGrp="1"/>
          </p:cNvSpPr>
          <p:nvPr>
            <p:ph sz="half" idx="2"/>
          </p:nvPr>
        </p:nvSpPr>
        <p:spPr>
          <a:xfrm>
            <a:off x="457200" y="1577340"/>
            <a:ext cx="3977640" cy="4001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001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6/24/2021</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3802377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923545" y="3648456"/>
            <a:ext cx="7296911" cy="492481"/>
          </a:xfrm>
        </p:spPr>
        <p:txBody>
          <a:bodyPr lIns="0" tIns="0" rIns="0" bIns="0"/>
          <a:lstStyle>
            <a:lvl1pPr>
              <a:defRPr sz="3200" b="0" i="0">
                <a:solidFill>
                  <a:schemeClr val="tx1"/>
                </a:solidFill>
                <a:latin typeface="Bookman Uralic"/>
                <a:cs typeface="Bookman Uralic"/>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6/24/2021</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7418997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6/24/2021</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35663482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theme" Target="../theme/theme3.xml"/><Relationship Id="rId5" Type="http://schemas.openxmlformats.org/officeDocument/2006/relationships/slideLayout" Target="../slideLayouts/slideLayout21.xml"/><Relationship Id="rId4"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342769" y="484758"/>
            <a:ext cx="4458461" cy="696594"/>
          </a:xfrm>
          <a:prstGeom prst="rect">
            <a:avLst/>
          </a:prstGeom>
        </p:spPr>
        <p:txBody>
          <a:bodyPr wrap="square" lIns="0" tIns="0" rIns="0" bIns="0">
            <a:spAutoFit/>
          </a:bodyPr>
          <a:lstStyle>
            <a:lvl1pPr>
              <a:defRPr sz="4400" b="1" i="0">
                <a:solidFill>
                  <a:srgbClr val="00AF50"/>
                </a:solidFill>
                <a:latin typeface="Times New Roman"/>
                <a:cs typeface="Times New Roman"/>
              </a:defRPr>
            </a:lvl1pPr>
          </a:lstStyle>
          <a:p>
            <a:endParaRPr/>
          </a:p>
        </p:txBody>
      </p:sp>
      <p:sp>
        <p:nvSpPr>
          <p:cNvPr id="3" name="Holder 3"/>
          <p:cNvSpPr>
            <a:spLocks noGrp="1"/>
          </p:cNvSpPr>
          <p:nvPr>
            <p:ph type="body" idx="1"/>
          </p:nvPr>
        </p:nvSpPr>
        <p:spPr>
          <a:xfrm>
            <a:off x="1249426" y="3362909"/>
            <a:ext cx="6645147" cy="2021839"/>
          </a:xfrm>
          <a:prstGeom prst="rect">
            <a:avLst/>
          </a:prstGeom>
        </p:spPr>
        <p:txBody>
          <a:bodyPr wrap="square" lIns="0" tIns="0" rIns="0" bIns="0">
            <a:spAutoFit/>
          </a:bodyPr>
          <a:lstStyle>
            <a:lvl1pPr>
              <a:defRPr sz="3500" b="0" i="0">
                <a:solidFill>
                  <a:schemeClr val="tx1"/>
                </a:solidFill>
                <a:latin typeface="Carlito"/>
                <a:cs typeface="Carlito"/>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6/24/2021</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27"/>
          <p:cNvSpPr/>
          <p:nvPr/>
        </p:nvSpPr>
        <p:spPr>
          <a:xfrm>
            <a:off x="0" y="366713"/>
            <a:ext cx="9144000" cy="8413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9" name="Rectangle 28"/>
          <p:cNvSpPr/>
          <p:nvPr/>
        </p:nvSpPr>
        <p:spPr>
          <a:xfrm>
            <a:off x="0" y="0"/>
            <a:ext cx="9144000" cy="31115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0" name="Rectangle 29"/>
          <p:cNvSpPr/>
          <p:nvPr/>
        </p:nvSpPr>
        <p:spPr>
          <a:xfrm>
            <a:off x="0" y="307975"/>
            <a:ext cx="9144000" cy="92075"/>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1" name="Rectangle 30"/>
          <p:cNvSpPr/>
          <p:nvPr/>
        </p:nvSpPr>
        <p:spPr>
          <a:xfrm flipV="1">
            <a:off x="5410200" y="360363"/>
            <a:ext cx="3733800" cy="904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2" name="Rectangle 31"/>
          <p:cNvSpPr/>
          <p:nvPr/>
        </p:nvSpPr>
        <p:spPr>
          <a:xfrm flipV="1">
            <a:off x="5410200" y="439738"/>
            <a:ext cx="3733800" cy="18097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33" name="Rounded Rectangle 32"/>
          <p:cNvSpPr/>
          <p:nvPr/>
        </p:nvSpPr>
        <p:spPr bwMode="white">
          <a:xfrm>
            <a:off x="5407025" y="496888"/>
            <a:ext cx="3063875" cy="28575"/>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34" name="Rounded Rectangle 33"/>
          <p:cNvSpPr/>
          <p:nvPr/>
        </p:nvSpPr>
        <p:spPr bwMode="white">
          <a:xfrm>
            <a:off x="7373938" y="588963"/>
            <a:ext cx="1600200" cy="3651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5" name="Rectangle 34"/>
          <p:cNvSpPr/>
          <p:nvPr/>
        </p:nvSpPr>
        <p:spPr bwMode="invGray">
          <a:xfrm>
            <a:off x="9085263" y="-1588"/>
            <a:ext cx="57150" cy="620713"/>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36" name="Rectangle 35"/>
          <p:cNvSpPr/>
          <p:nvPr/>
        </p:nvSpPr>
        <p:spPr bwMode="invGray">
          <a:xfrm>
            <a:off x="9043988" y="-1588"/>
            <a:ext cx="28575" cy="620713"/>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37" name="Rectangle 36"/>
          <p:cNvSpPr/>
          <p:nvPr/>
        </p:nvSpPr>
        <p:spPr bwMode="invGray">
          <a:xfrm>
            <a:off x="9024938" y="-1588"/>
            <a:ext cx="9525" cy="620713"/>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8" name="Rectangle 37"/>
          <p:cNvSpPr/>
          <p:nvPr/>
        </p:nvSpPr>
        <p:spPr bwMode="invGray">
          <a:xfrm>
            <a:off x="8975725" y="-1588"/>
            <a:ext cx="26988" cy="620713"/>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9" name="Rectangle 38"/>
          <p:cNvSpPr/>
          <p:nvPr/>
        </p:nvSpPr>
        <p:spPr bwMode="invGray">
          <a:xfrm>
            <a:off x="8915400" y="0"/>
            <a:ext cx="55563" cy="585788"/>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0" name="Rectangle 39"/>
          <p:cNvSpPr/>
          <p:nvPr/>
        </p:nvSpPr>
        <p:spPr bwMode="invGray">
          <a:xfrm>
            <a:off x="8874125" y="0"/>
            <a:ext cx="7938" cy="585788"/>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207" name="Title Placeholder 21"/>
          <p:cNvSpPr>
            <a:spLocks noGrp="1"/>
          </p:cNvSpPr>
          <p:nvPr>
            <p:ph type="title"/>
          </p:nvPr>
        </p:nvSpPr>
        <p:spPr bwMode="auto">
          <a:xfrm>
            <a:off x="457200" y="1143000"/>
            <a:ext cx="8229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8208" name="Text Placeholder 12"/>
          <p:cNvSpPr>
            <a:spLocks noGrp="1"/>
          </p:cNvSpPr>
          <p:nvPr>
            <p:ph type="body" idx="1"/>
          </p:nvPr>
        </p:nvSpPr>
        <p:spPr bwMode="auto">
          <a:xfrm>
            <a:off x="457200" y="2249488"/>
            <a:ext cx="8229600" cy="432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4" name="Date Placeholder 13"/>
          <p:cNvSpPr>
            <a:spLocks noGrp="1"/>
          </p:cNvSpPr>
          <p:nvPr>
            <p:ph type="dt" sz="half" idx="2"/>
          </p:nvPr>
        </p:nvSpPr>
        <p:spPr>
          <a:xfrm>
            <a:off x="6586538" y="612775"/>
            <a:ext cx="957262" cy="457200"/>
          </a:xfrm>
          <a:prstGeom prst="rect">
            <a:avLst/>
          </a:prstGeom>
        </p:spPr>
        <p:txBody>
          <a:bodyPr vert="horz"/>
          <a:lstStyle>
            <a:lvl1pPr algn="l" eaLnBrk="1" fontAlgn="auto" latinLnBrk="0" hangingPunct="1">
              <a:spcBef>
                <a:spcPts val="0"/>
              </a:spcBef>
              <a:spcAft>
                <a:spcPts val="0"/>
              </a:spcAft>
              <a:defRPr kumimoji="0" sz="800">
                <a:solidFill>
                  <a:schemeClr val="accent2"/>
                </a:solidFill>
                <a:latin typeface="+mn-lt"/>
              </a:defRPr>
            </a:lvl1pPr>
          </a:lstStyle>
          <a:p>
            <a:pPr>
              <a:defRPr/>
            </a:pPr>
            <a:fld id="{076F8D71-EA83-45CB-9292-976A9C8DA0C3}" type="datetimeFigureOut">
              <a:rPr lang="en-US"/>
              <a:pPr>
                <a:defRPr/>
              </a:pPr>
              <a:t>6/24/2021</a:t>
            </a:fld>
            <a:endParaRPr lang="en-US"/>
          </a:p>
        </p:txBody>
      </p:sp>
      <p:sp>
        <p:nvSpPr>
          <p:cNvPr id="3" name="Footer Placeholder 2"/>
          <p:cNvSpPr>
            <a:spLocks noGrp="1"/>
          </p:cNvSpPr>
          <p:nvPr>
            <p:ph type="ftr" sz="quarter" idx="3"/>
          </p:nvPr>
        </p:nvSpPr>
        <p:spPr>
          <a:xfrm>
            <a:off x="5257800" y="612775"/>
            <a:ext cx="1325563" cy="457200"/>
          </a:xfrm>
          <a:prstGeom prst="rect">
            <a:avLst/>
          </a:prstGeom>
        </p:spPr>
        <p:txBody>
          <a:bodyPr vert="horz"/>
          <a:lstStyle>
            <a:lvl1pPr algn="r" eaLnBrk="1" fontAlgn="auto" latinLnBrk="0" hangingPunct="1">
              <a:spcBef>
                <a:spcPts val="0"/>
              </a:spcBef>
              <a:spcAft>
                <a:spcPts val="0"/>
              </a:spcAft>
              <a:defRPr kumimoji="0" sz="800">
                <a:solidFill>
                  <a:schemeClr val="accent2"/>
                </a:solidFill>
                <a:latin typeface="+mn-lt"/>
              </a:defRPr>
            </a:lvl1pPr>
          </a:lstStyle>
          <a:p>
            <a:pPr>
              <a:defRPr/>
            </a:pPr>
            <a:endParaRPr lang="en-US"/>
          </a:p>
        </p:txBody>
      </p:sp>
      <p:sp>
        <p:nvSpPr>
          <p:cNvPr id="23" name="Slide Number Placeholder 22"/>
          <p:cNvSpPr>
            <a:spLocks noGrp="1"/>
          </p:cNvSpPr>
          <p:nvPr>
            <p:ph type="sldNum" sz="quarter" idx="4"/>
          </p:nvPr>
        </p:nvSpPr>
        <p:spPr>
          <a:xfrm>
            <a:off x="8174038" y="1588"/>
            <a:ext cx="762000" cy="366712"/>
          </a:xfrm>
          <a:prstGeom prst="rect">
            <a:avLst/>
          </a:prstGeom>
        </p:spPr>
        <p:txBody>
          <a:bodyPr vert="horz" wrap="square" lIns="91440" tIns="45720" rIns="91440" bIns="45720" numCol="1" anchor="b" anchorCtr="0" compatLnSpc="1">
            <a:prstTxWarp prst="textNoShape">
              <a:avLst/>
            </a:prstTxWarp>
          </a:bodyPr>
          <a:lstStyle>
            <a:lvl1pPr algn="r">
              <a:defRPr>
                <a:solidFill>
                  <a:srgbClr val="FFFFFF"/>
                </a:solidFill>
                <a:latin typeface="Georgia" panose="02040502050405020303" pitchFamily="18" charset="0"/>
              </a:defRPr>
            </a:lvl1pPr>
          </a:lstStyle>
          <a:p>
            <a:fld id="{C36EDDF5-661D-4F0D-A8FC-08CDEA6AF9C9}" type="slidenum">
              <a:rPr lang="en-US" altLang="en-US"/>
              <a:pPr/>
              <a:t>‹#›</a:t>
            </a:fld>
            <a:endParaRPr lang="en-US" altLang="en-US"/>
          </a:p>
        </p:txBody>
      </p:sp>
    </p:spTree>
    <p:extLst>
      <p:ext uri="{BB962C8B-B14F-4D97-AF65-F5344CB8AC3E}">
        <p14:creationId xmlns:p14="http://schemas.microsoft.com/office/powerpoint/2010/main" val="3693112495"/>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Trebuchet MS" pitchFamily="34" charset="0"/>
        </a:defRPr>
      </a:lvl2pPr>
      <a:lvl3pPr algn="l" rtl="0" eaLnBrk="0" fontAlgn="base" hangingPunct="0">
        <a:spcBef>
          <a:spcPct val="0"/>
        </a:spcBef>
        <a:spcAft>
          <a:spcPct val="0"/>
        </a:spcAft>
        <a:defRPr sz="4000">
          <a:solidFill>
            <a:schemeClr val="tx2"/>
          </a:solidFill>
          <a:latin typeface="Trebuchet MS" pitchFamily="34" charset="0"/>
        </a:defRPr>
      </a:lvl3pPr>
      <a:lvl4pPr algn="l" rtl="0" eaLnBrk="0" fontAlgn="base" hangingPunct="0">
        <a:spcBef>
          <a:spcPct val="0"/>
        </a:spcBef>
        <a:spcAft>
          <a:spcPct val="0"/>
        </a:spcAft>
        <a:defRPr sz="4000">
          <a:solidFill>
            <a:schemeClr val="tx2"/>
          </a:solidFill>
          <a:latin typeface="Trebuchet MS" pitchFamily="34" charset="0"/>
        </a:defRPr>
      </a:lvl4pPr>
      <a:lvl5pPr algn="l" rtl="0" eaLnBrk="0" fontAlgn="base" hangingPunct="0">
        <a:spcBef>
          <a:spcPct val="0"/>
        </a:spcBef>
        <a:spcAft>
          <a:spcPct val="0"/>
        </a:spcAft>
        <a:defRPr sz="4000">
          <a:solidFill>
            <a:schemeClr val="tx2"/>
          </a:solidFill>
          <a:latin typeface="Trebuchet MS" pitchFamily="34" charset="0"/>
        </a:defRPr>
      </a:lvl5pPr>
      <a:lvl6pPr marL="457200" algn="l" rtl="0" fontAlgn="base">
        <a:spcBef>
          <a:spcPct val="0"/>
        </a:spcBef>
        <a:spcAft>
          <a:spcPct val="0"/>
        </a:spcAft>
        <a:defRPr sz="4000">
          <a:solidFill>
            <a:schemeClr val="tx2"/>
          </a:solidFill>
          <a:latin typeface="Trebuchet MS" pitchFamily="34" charset="0"/>
        </a:defRPr>
      </a:lvl6pPr>
      <a:lvl7pPr marL="914400" algn="l" rtl="0" fontAlgn="base">
        <a:spcBef>
          <a:spcPct val="0"/>
        </a:spcBef>
        <a:spcAft>
          <a:spcPct val="0"/>
        </a:spcAft>
        <a:defRPr sz="4000">
          <a:solidFill>
            <a:schemeClr val="tx2"/>
          </a:solidFill>
          <a:latin typeface="Trebuchet MS" pitchFamily="34" charset="0"/>
        </a:defRPr>
      </a:lvl7pPr>
      <a:lvl8pPr marL="1371600" algn="l" rtl="0" fontAlgn="base">
        <a:spcBef>
          <a:spcPct val="0"/>
        </a:spcBef>
        <a:spcAft>
          <a:spcPct val="0"/>
        </a:spcAft>
        <a:defRPr sz="4000">
          <a:solidFill>
            <a:schemeClr val="tx2"/>
          </a:solidFill>
          <a:latin typeface="Trebuchet MS" pitchFamily="34" charset="0"/>
        </a:defRPr>
      </a:lvl8pPr>
      <a:lvl9pPr marL="1828800" algn="l" rtl="0" fontAlgn="base">
        <a:spcBef>
          <a:spcPct val="0"/>
        </a:spcBef>
        <a:spcAft>
          <a:spcPct val="0"/>
        </a:spcAft>
        <a:defRPr sz="4000">
          <a:solidFill>
            <a:schemeClr val="tx2"/>
          </a:solidFill>
          <a:latin typeface="Trebuchet MS" pitchFamily="34" charset="0"/>
        </a:defRPr>
      </a:lvl9pPr>
    </p:titleStyle>
    <p:bodyStyle>
      <a:lvl1pPr marL="365125" indent="-255588" algn="l" rtl="0" eaLnBrk="0" fontAlgn="base" hangingPunct="0">
        <a:spcBef>
          <a:spcPts val="300"/>
        </a:spcBef>
        <a:spcAft>
          <a:spcPct val="0"/>
        </a:spcAft>
        <a:buClr>
          <a:srgbClr val="9BBB59"/>
        </a:buClr>
        <a:buFont typeface="Georgia" panose="02040502050405020303" pitchFamily="18" charset="0"/>
        <a:buChar char="•"/>
        <a:defRPr sz="2800" kern="1200">
          <a:solidFill>
            <a:schemeClr val="tx1"/>
          </a:solidFill>
          <a:latin typeface="+mn-lt"/>
          <a:ea typeface="+mn-ea"/>
          <a:cs typeface="+mn-cs"/>
        </a:defRPr>
      </a:lvl1pPr>
      <a:lvl2pPr marL="657225" indent="-246063"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2"/>
          </a:solidFill>
          <a:latin typeface="+mn-lt"/>
          <a:ea typeface="+mn-ea"/>
          <a:cs typeface="+mn-cs"/>
        </a:defRPr>
      </a:lvl2pPr>
      <a:lvl3pPr marL="922338"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513"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063" indent="-182563" algn="l" rtl="0" eaLnBrk="0" fontAlgn="base" hangingPunct="0">
        <a:spcBef>
          <a:spcPts val="300"/>
        </a:spcBef>
        <a:spcAft>
          <a:spcPct val="0"/>
        </a:spcAft>
        <a:buClr>
          <a:srgbClr val="9BBB59"/>
        </a:buClr>
        <a:buFont typeface="Georgia" panose="02040502050405020303" pitchFamily="18" charset="0"/>
        <a:buChar char="▫"/>
        <a:defRPr sz="2000" kern="1200">
          <a:solidFill>
            <a:srgbClr val="9BBB59"/>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923545" y="3648455"/>
            <a:ext cx="7296911" cy="492443"/>
          </a:xfrm>
          <a:prstGeom prst="rect">
            <a:avLst/>
          </a:prstGeom>
        </p:spPr>
        <p:txBody>
          <a:bodyPr wrap="square" lIns="0" tIns="0" rIns="0" bIns="0">
            <a:spAutoFit/>
          </a:bodyPr>
          <a:lstStyle>
            <a:lvl1pPr>
              <a:defRPr sz="3200" b="0" i="0">
                <a:solidFill>
                  <a:schemeClr val="tx1"/>
                </a:solidFill>
                <a:latin typeface="Bookman Uralic"/>
                <a:cs typeface="Bookman Uralic"/>
              </a:defRPr>
            </a:lvl1pPr>
          </a:lstStyle>
          <a:p>
            <a:endParaRPr/>
          </a:p>
        </p:txBody>
      </p:sp>
      <p:sp>
        <p:nvSpPr>
          <p:cNvPr id="3" name="Holder 3"/>
          <p:cNvSpPr>
            <a:spLocks noGrp="1"/>
          </p:cNvSpPr>
          <p:nvPr>
            <p:ph type="body" idx="1"/>
          </p:nvPr>
        </p:nvSpPr>
        <p:spPr>
          <a:xfrm>
            <a:off x="1844041" y="2828670"/>
            <a:ext cx="5455919" cy="400110"/>
          </a:xfrm>
          <a:prstGeom prst="rect">
            <a:avLst/>
          </a:prstGeom>
        </p:spPr>
        <p:txBody>
          <a:bodyPr wrap="square" lIns="0" tIns="0" rIns="0" bIns="0">
            <a:spAutoFit/>
          </a:bodyPr>
          <a:lstStyle>
            <a:lvl1pPr>
              <a:defRPr sz="2600" b="0" i="0">
                <a:solidFill>
                  <a:schemeClr val="tx1"/>
                </a:solidFill>
                <a:latin typeface="Arial"/>
                <a:cs typeface="Arial"/>
              </a:defRPr>
            </a:lvl1pPr>
          </a:lstStyle>
          <a:p>
            <a:endParaRPr/>
          </a:p>
        </p:txBody>
      </p:sp>
      <p:sp>
        <p:nvSpPr>
          <p:cNvPr id="4" name="Holder 4"/>
          <p:cNvSpPr>
            <a:spLocks noGrp="1"/>
          </p:cNvSpPr>
          <p:nvPr>
            <p:ph type="ftr" sz="quarter" idx="5"/>
          </p:nvPr>
        </p:nvSpPr>
        <p:spPr>
          <a:xfrm>
            <a:off x="3108960" y="6377940"/>
            <a:ext cx="292608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4151" y="5726336"/>
            <a:ext cx="210312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6/24/2021</a:t>
            </a:fld>
            <a:endParaRPr lang="en-US"/>
          </a:p>
        </p:txBody>
      </p:sp>
      <p:sp>
        <p:nvSpPr>
          <p:cNvPr id="6" name="Holder 6"/>
          <p:cNvSpPr>
            <a:spLocks noGrp="1"/>
          </p:cNvSpPr>
          <p:nvPr>
            <p:ph type="sldNum" sz="quarter" idx="7"/>
          </p:nvPr>
        </p:nvSpPr>
        <p:spPr>
          <a:xfrm>
            <a:off x="6583680" y="6377940"/>
            <a:ext cx="210312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771047837"/>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Lst>
  <p:txStyles>
    <p:titleStyle>
      <a:lvl1pPr>
        <a:defRPr>
          <a:latin typeface="+mj-lt"/>
          <a:ea typeface="+mj-ea"/>
          <a:cs typeface="+mj-cs"/>
        </a:defRPr>
      </a:lvl1pPr>
    </p:titleStyle>
    <p:bodyStyle>
      <a:lvl1pPr marL="0">
        <a:defRPr>
          <a:latin typeface="+mn-lt"/>
          <a:ea typeface="+mn-ea"/>
          <a:cs typeface="+mn-cs"/>
        </a:defRPr>
      </a:lvl1pPr>
      <a:lvl2pPr marL="457196">
        <a:defRPr>
          <a:latin typeface="+mn-lt"/>
          <a:ea typeface="+mn-ea"/>
          <a:cs typeface="+mn-cs"/>
        </a:defRPr>
      </a:lvl2pPr>
      <a:lvl3pPr marL="914391">
        <a:defRPr>
          <a:latin typeface="+mn-lt"/>
          <a:ea typeface="+mn-ea"/>
          <a:cs typeface="+mn-cs"/>
        </a:defRPr>
      </a:lvl3pPr>
      <a:lvl4pPr marL="1371587">
        <a:defRPr>
          <a:latin typeface="+mn-lt"/>
          <a:ea typeface="+mn-ea"/>
          <a:cs typeface="+mn-cs"/>
        </a:defRPr>
      </a:lvl4pPr>
      <a:lvl5pPr marL="1828782">
        <a:defRPr>
          <a:latin typeface="+mn-lt"/>
          <a:ea typeface="+mn-ea"/>
          <a:cs typeface="+mn-cs"/>
        </a:defRPr>
      </a:lvl5pPr>
      <a:lvl6pPr marL="2285978">
        <a:defRPr>
          <a:latin typeface="+mn-lt"/>
          <a:ea typeface="+mn-ea"/>
          <a:cs typeface="+mn-cs"/>
        </a:defRPr>
      </a:lvl6pPr>
      <a:lvl7pPr marL="2743173">
        <a:defRPr>
          <a:latin typeface="+mn-lt"/>
          <a:ea typeface="+mn-ea"/>
          <a:cs typeface="+mn-cs"/>
        </a:defRPr>
      </a:lvl7pPr>
      <a:lvl8pPr marL="3200368">
        <a:defRPr>
          <a:latin typeface="+mn-lt"/>
          <a:ea typeface="+mn-ea"/>
          <a:cs typeface="+mn-cs"/>
        </a:defRPr>
      </a:lvl8pPr>
      <a:lvl9pPr marL="3657563">
        <a:defRPr>
          <a:latin typeface="+mn-lt"/>
          <a:ea typeface="+mn-ea"/>
          <a:cs typeface="+mn-cs"/>
        </a:defRPr>
      </a:lvl9pPr>
    </p:bodyStyle>
    <p:otherStyle>
      <a:lvl1pPr marL="0">
        <a:defRPr>
          <a:latin typeface="+mn-lt"/>
          <a:ea typeface="+mn-ea"/>
          <a:cs typeface="+mn-cs"/>
        </a:defRPr>
      </a:lvl1pPr>
      <a:lvl2pPr marL="457196">
        <a:defRPr>
          <a:latin typeface="+mn-lt"/>
          <a:ea typeface="+mn-ea"/>
          <a:cs typeface="+mn-cs"/>
        </a:defRPr>
      </a:lvl2pPr>
      <a:lvl3pPr marL="914391">
        <a:defRPr>
          <a:latin typeface="+mn-lt"/>
          <a:ea typeface="+mn-ea"/>
          <a:cs typeface="+mn-cs"/>
        </a:defRPr>
      </a:lvl3pPr>
      <a:lvl4pPr marL="1371587">
        <a:defRPr>
          <a:latin typeface="+mn-lt"/>
          <a:ea typeface="+mn-ea"/>
          <a:cs typeface="+mn-cs"/>
        </a:defRPr>
      </a:lvl4pPr>
      <a:lvl5pPr marL="1828782">
        <a:defRPr>
          <a:latin typeface="+mn-lt"/>
          <a:ea typeface="+mn-ea"/>
          <a:cs typeface="+mn-cs"/>
        </a:defRPr>
      </a:lvl5pPr>
      <a:lvl6pPr marL="2285978">
        <a:defRPr>
          <a:latin typeface="+mn-lt"/>
          <a:ea typeface="+mn-ea"/>
          <a:cs typeface="+mn-cs"/>
        </a:defRPr>
      </a:lvl6pPr>
      <a:lvl7pPr marL="2743173">
        <a:defRPr>
          <a:latin typeface="+mn-lt"/>
          <a:ea typeface="+mn-ea"/>
          <a:cs typeface="+mn-cs"/>
        </a:defRPr>
      </a:lvl7pPr>
      <a:lvl8pPr marL="3200368">
        <a:defRPr>
          <a:latin typeface="+mn-lt"/>
          <a:ea typeface="+mn-ea"/>
          <a:cs typeface="+mn-cs"/>
        </a:defRPr>
      </a:lvl8pPr>
      <a:lvl9pPr marL="3657563">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tekslate.com/many-types-view-mvc"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localhost/lecture19/aimvc/public/home" TargetMode="External"/><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hyperlink" Target="http://localhost/lecture19/aimvc/public/home/index/"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localhost/lecture19/aimvc/public/home/page/" TargetMode="External"/><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localhost/lecture19/aimvc/public/home/nani/17/" TargetMode="External"/><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hyperlink" Target="http://localhost/lecture19/aimvc/public/home/index/nani/17/"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localhost/lecture19/aimvc/public/home/page/12/13/11/" TargetMode="External"/><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170" name="Picture 4"/>
          <p:cNvPicPr>
            <a:picLocks noChangeAspect="1"/>
          </p:cNvPicPr>
          <p:nvPr/>
        </p:nvPicPr>
        <p:blipFill>
          <a:blip r:embed="rId3" cstate="print">
            <a:extLst>
              <a:ext uri="{28A0092B-C50C-407E-A947-70E740481C1C}">
                <a14:useLocalDpi xmlns:a14="http://schemas.microsoft.com/office/drawing/2010/main" val="0"/>
              </a:ext>
            </a:extLst>
          </a:blip>
          <a:srcRect r="52444" b="-2"/>
          <a:stretch>
            <a:fillRect/>
          </a:stretch>
        </p:blipFill>
        <p:spPr bwMode="auto">
          <a:xfrm>
            <a:off x="0" y="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3276600" y="3308350"/>
            <a:ext cx="5867400" cy="1819275"/>
          </a:xfrm>
          <a:prstGeom prst="rect">
            <a:avLst/>
          </a:prstGeom>
          <a:solidFill>
            <a:schemeClr val="dk1">
              <a:alpha val="42000"/>
            </a:schemeClr>
          </a:solidFill>
          <a:ln>
            <a:noFill/>
          </a:ln>
        </p:spPr>
        <p:style>
          <a:lnRef idx="2">
            <a:schemeClr val="dk1">
              <a:shade val="50000"/>
            </a:schemeClr>
          </a:lnRef>
          <a:fillRef idx="1">
            <a:schemeClr val="dk1"/>
          </a:fillRef>
          <a:effectRef idx="0">
            <a:schemeClr val="dk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ahoma"/>
              <a:ea typeface="+mn-ea"/>
              <a:cs typeface="+mn-cs"/>
            </a:endParaRPr>
          </a:p>
        </p:txBody>
      </p:sp>
      <p:grpSp>
        <p:nvGrpSpPr>
          <p:cNvPr id="7172" name="Group 8"/>
          <p:cNvGrpSpPr>
            <a:grpSpLocks/>
          </p:cNvGrpSpPr>
          <p:nvPr/>
        </p:nvGrpSpPr>
        <p:grpSpPr bwMode="auto">
          <a:xfrm>
            <a:off x="3428998" y="3429001"/>
            <a:ext cx="5638798" cy="1490376"/>
            <a:chOff x="4966856" y="5954268"/>
            <a:chExt cx="4100945" cy="1258675"/>
          </a:xfrm>
        </p:grpSpPr>
        <p:sp>
          <p:nvSpPr>
            <p:cNvPr id="4" name="Rectangle 3"/>
            <p:cNvSpPr/>
            <p:nvPr/>
          </p:nvSpPr>
          <p:spPr>
            <a:xfrm>
              <a:off x="4966856" y="5954268"/>
              <a:ext cx="4052205" cy="492038"/>
            </a:xfrm>
            <a:prstGeom prst="rect">
              <a:avLst/>
            </a:prstGeom>
          </p:spPr>
          <p:style>
            <a:lnRef idx="1">
              <a:schemeClr val="accent2"/>
            </a:lnRef>
            <a:fillRef idx="3">
              <a:schemeClr val="accent2"/>
            </a:fillRef>
            <a:effectRef idx="2">
              <a:schemeClr val="accent2"/>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4000" b="0" i="0" u="none" strike="noStrike" kern="1200" cap="none" spc="0" normalizeH="0" baseline="0" noProof="0" dirty="0" err="1">
                  <a:ln>
                    <a:noFill/>
                  </a:ln>
                  <a:solidFill>
                    <a:srgbClr val="C00000"/>
                  </a:solidFill>
                  <a:effectLst/>
                  <a:uLnTx/>
                  <a:uFillTx/>
                  <a:latin typeface="Tahoma"/>
                  <a:ea typeface="+mn-ea"/>
                  <a:cs typeface="+mn-cs"/>
                </a:rPr>
                <a:t>Fakultas</a:t>
              </a:r>
              <a:r>
                <a:rPr kumimoji="0" lang="en-US" sz="4000" b="0" i="0" u="none" strike="noStrike" kern="1200" cap="none" spc="0" normalizeH="0" baseline="0" noProof="0" dirty="0">
                  <a:ln>
                    <a:noFill/>
                  </a:ln>
                  <a:solidFill>
                    <a:srgbClr val="C00000"/>
                  </a:solidFill>
                  <a:effectLst/>
                  <a:uLnTx/>
                  <a:uFillTx/>
                  <a:latin typeface="Tahoma"/>
                  <a:ea typeface="+mn-ea"/>
                  <a:cs typeface="+mn-cs"/>
                </a:rPr>
                <a:t> </a:t>
              </a:r>
              <a:r>
                <a:rPr kumimoji="0" lang="en-US" sz="4000" b="0" i="0" u="none" strike="noStrike" kern="1200" cap="none" spc="0" normalizeH="0" baseline="0" noProof="0" dirty="0" err="1">
                  <a:ln>
                    <a:noFill/>
                  </a:ln>
                  <a:solidFill>
                    <a:srgbClr val="C00000"/>
                  </a:solidFill>
                  <a:effectLst/>
                  <a:uLnTx/>
                  <a:uFillTx/>
                  <a:latin typeface="Tahoma"/>
                  <a:ea typeface="+mn-ea"/>
                  <a:cs typeface="+mn-cs"/>
                </a:rPr>
                <a:t>Ilmu</a:t>
              </a:r>
              <a:r>
                <a:rPr kumimoji="0" lang="en-US" sz="4000" b="0" i="0" u="none" strike="noStrike" kern="1200" cap="none" spc="0" normalizeH="0" baseline="0" noProof="0" dirty="0">
                  <a:ln>
                    <a:noFill/>
                  </a:ln>
                  <a:solidFill>
                    <a:srgbClr val="C00000"/>
                  </a:solidFill>
                  <a:effectLst/>
                  <a:uLnTx/>
                  <a:uFillTx/>
                  <a:latin typeface="Tahoma"/>
                  <a:ea typeface="+mn-ea"/>
                  <a:cs typeface="+mn-cs"/>
                </a:rPr>
                <a:t> </a:t>
              </a:r>
              <a:r>
                <a:rPr kumimoji="0" lang="en-US" sz="4000" b="0" i="0" u="none" strike="noStrike" kern="1200" cap="none" spc="0" normalizeH="0" baseline="0" noProof="0" dirty="0" err="1">
                  <a:ln>
                    <a:noFill/>
                  </a:ln>
                  <a:solidFill>
                    <a:srgbClr val="C00000"/>
                  </a:solidFill>
                  <a:effectLst/>
                  <a:uLnTx/>
                  <a:uFillTx/>
                  <a:latin typeface="Tahoma"/>
                  <a:ea typeface="+mn-ea"/>
                  <a:cs typeface="+mn-cs"/>
                </a:rPr>
                <a:t>Komputer</a:t>
              </a:r>
              <a:endParaRPr kumimoji="0" lang="en-US" sz="4000" b="0" i="0" u="none" strike="noStrike" kern="1200" cap="none" spc="0" normalizeH="0" baseline="0" noProof="0" dirty="0">
                <a:ln>
                  <a:noFill/>
                </a:ln>
                <a:solidFill>
                  <a:srgbClr val="C00000"/>
                </a:solidFill>
                <a:effectLst/>
                <a:uLnTx/>
                <a:uFillTx/>
                <a:latin typeface="Tahoma"/>
                <a:ea typeface="+mn-ea"/>
                <a:cs typeface="+mn-cs"/>
              </a:endParaRPr>
            </a:p>
          </p:txBody>
        </p:sp>
        <p:sp>
          <p:nvSpPr>
            <p:cNvPr id="7178" name="TextBox 5"/>
            <p:cNvSpPr txBox="1">
              <a:spLocks noChangeArrowheads="1"/>
            </p:cNvSpPr>
            <p:nvPr/>
          </p:nvSpPr>
          <p:spPr bwMode="auto">
            <a:xfrm>
              <a:off x="5576457" y="6511136"/>
              <a:ext cx="3491344" cy="701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1600" b="1" i="1" u="none" strike="noStrike" kern="1200" cap="none" spc="0" normalizeH="0" baseline="0" noProof="0" dirty="0" smtClean="0">
                  <a:ln>
                    <a:noFill/>
                  </a:ln>
                  <a:solidFill>
                    <a:srgbClr val="000000"/>
                  </a:solidFill>
                  <a:effectLst/>
                  <a:uLnTx/>
                  <a:uFillTx/>
                  <a:latin typeface="+mn-lt"/>
                  <a:ea typeface="+mn-ea"/>
                  <a:cs typeface="+mn-cs"/>
                </a:rPr>
                <a:t>Learning </a:t>
              </a:r>
              <a:r>
                <a:rPr kumimoji="0" lang="en-US" altLang="en-US" sz="1600" b="0" i="0" u="none" strike="noStrike" kern="1200" cap="none" spc="0" normalizeH="0" baseline="0" noProof="0" dirty="0" smtClean="0">
                  <a:ln>
                    <a:noFill/>
                  </a:ln>
                  <a:solidFill>
                    <a:srgbClr val="000000"/>
                  </a:solidFill>
                  <a:effectLst/>
                  <a:uLnTx/>
                  <a:uFillTx/>
                  <a:latin typeface="+mn-lt"/>
                  <a:ea typeface="+mn-ea"/>
                  <a:cs typeface="+mn-cs"/>
                </a:rPr>
                <a:t>is the process of acquiring new understanding, knowledge, behaviors, skills, values, attitudes, and preferences.</a:t>
              </a:r>
              <a:endParaRPr kumimoji="0" lang="en-US" altLang="en-US" sz="1600" b="0" i="0" u="none" strike="noStrike" kern="1200" cap="none" spc="0" normalizeH="0" baseline="0" noProof="0" dirty="0" smtClean="0">
                <a:ln>
                  <a:noFill/>
                </a:ln>
                <a:solidFill>
                  <a:srgbClr val="FFFFFF"/>
                </a:solidFill>
                <a:effectLst/>
                <a:uLnTx/>
                <a:uFillTx/>
                <a:latin typeface="+mn-lt"/>
                <a:ea typeface="+mn-ea"/>
                <a:cs typeface="+mn-cs"/>
              </a:endParaRPr>
            </a:p>
          </p:txBody>
        </p:sp>
      </p:grpSp>
      <p:cxnSp>
        <p:nvCxnSpPr>
          <p:cNvPr id="14" name="Straight Connector 13"/>
          <p:cNvCxnSpPr/>
          <p:nvPr/>
        </p:nvCxnSpPr>
        <p:spPr>
          <a:xfrm>
            <a:off x="0" y="5213325"/>
            <a:ext cx="9144000" cy="15875"/>
          </a:xfrm>
          <a:prstGeom prst="line">
            <a:avLst/>
          </a:prstGeom>
          <a:ln w="76200"/>
        </p:spPr>
        <p:style>
          <a:lnRef idx="3">
            <a:schemeClr val="dk1"/>
          </a:lnRef>
          <a:fillRef idx="0">
            <a:schemeClr val="dk1"/>
          </a:fillRef>
          <a:effectRef idx="2">
            <a:schemeClr val="dk1"/>
          </a:effectRef>
          <a:fontRef idx="minor">
            <a:schemeClr val="tx1"/>
          </a:fontRef>
        </p:style>
      </p:cxnSp>
      <p:sp>
        <p:nvSpPr>
          <p:cNvPr id="7174" name="Rectangle 1"/>
          <p:cNvSpPr>
            <a:spLocks noChangeArrowheads="1"/>
          </p:cNvSpPr>
          <p:nvPr/>
        </p:nvSpPr>
        <p:spPr bwMode="auto">
          <a:xfrm>
            <a:off x="23446" y="5801380"/>
            <a:ext cx="914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lvl="0" algn="ctr" fontAlgn="base">
              <a:spcBef>
                <a:spcPct val="0"/>
              </a:spcBef>
              <a:spcAft>
                <a:spcPct val="0"/>
              </a:spcAft>
              <a:defRPr/>
            </a:pPr>
            <a:r>
              <a:rPr lang="en-US" altLang="en-US" sz="2800" b="1" dirty="0" smtClean="0">
                <a:solidFill>
                  <a:srgbClr val="000000"/>
                </a:solidFill>
                <a:latin typeface="+mn-lt"/>
              </a:rPr>
              <a:t>Framework </a:t>
            </a:r>
            <a:r>
              <a:rPr lang="en-US" altLang="en-US" sz="2800" b="1" dirty="0">
                <a:solidFill>
                  <a:srgbClr val="000000"/>
                </a:solidFill>
                <a:latin typeface="+mn-lt"/>
              </a:rPr>
              <a:t>#5 View</a:t>
            </a:r>
            <a:endParaRPr kumimoji="0" lang="en-US" altLang="en-US" sz="1600" b="0" i="0" u="none" strike="noStrike" kern="1200" cap="none" spc="0" normalizeH="0" baseline="0" noProof="0" dirty="0" smtClean="0">
              <a:ln>
                <a:noFill/>
              </a:ln>
              <a:solidFill>
                <a:srgbClr val="000000"/>
              </a:solidFill>
              <a:effectLst/>
              <a:uLnTx/>
              <a:uFillTx/>
              <a:latin typeface="+mn-lt"/>
            </a:endParaRPr>
          </a:p>
        </p:txBody>
      </p:sp>
    </p:spTree>
    <p:extLst>
      <p:ext uri="{BB962C8B-B14F-4D97-AF65-F5344CB8AC3E}">
        <p14:creationId xmlns:p14="http://schemas.microsoft.com/office/powerpoint/2010/main" val="15678107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2" name="Rectangle 8"/>
          <p:cNvSpPr>
            <a:spLocks noChangeArrowheads="1"/>
          </p:cNvSpPr>
          <p:nvPr/>
        </p:nvSpPr>
        <p:spPr bwMode="auto">
          <a:xfrm>
            <a:off x="609600" y="4724400"/>
            <a:ext cx="79248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2700">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lvl="0" algn="ctr" fontAlgn="base">
              <a:spcBef>
                <a:spcPts val="2388"/>
              </a:spcBef>
              <a:spcAft>
                <a:spcPct val="0"/>
              </a:spcAft>
              <a:defRPr/>
            </a:pPr>
            <a:r>
              <a:rPr lang="en-US" sz="3600" b="1" dirty="0">
                <a:solidFill>
                  <a:srgbClr val="1F497D">
                    <a:satMod val="200000"/>
                  </a:srgbClr>
                </a:solidFill>
                <a:latin typeface="+mn-lt"/>
              </a:rPr>
              <a:t>Welcome to the Framework Programming </a:t>
            </a:r>
            <a:r>
              <a:rPr lang="en-US" sz="3600" b="1" i="1" dirty="0">
                <a:solidFill>
                  <a:srgbClr val="1F497D">
                    <a:satMod val="200000"/>
                  </a:srgbClr>
                </a:solidFill>
                <a:latin typeface="+mn-lt"/>
              </a:rPr>
              <a:t>course</a:t>
            </a:r>
          </a:p>
        </p:txBody>
      </p:sp>
      <p:cxnSp>
        <p:nvCxnSpPr>
          <p:cNvPr id="10" name="Straight Connector 9"/>
          <p:cNvCxnSpPr/>
          <p:nvPr/>
        </p:nvCxnSpPr>
        <p:spPr>
          <a:xfrm flipV="1">
            <a:off x="11113" y="3789040"/>
            <a:ext cx="9132887" cy="20960"/>
          </a:xfrm>
          <a:prstGeom prst="line">
            <a:avLst/>
          </a:prstGeom>
          <a:ln w="76200"/>
        </p:spPr>
        <p:style>
          <a:lnRef idx="3">
            <a:schemeClr val="dk1"/>
          </a:lnRef>
          <a:fillRef idx="0">
            <a:schemeClr val="dk1"/>
          </a:fillRef>
          <a:effectRef idx="2">
            <a:schemeClr val="dk1"/>
          </a:effectRef>
          <a:fontRef idx="minor">
            <a:schemeClr val="tx1"/>
          </a:fontRef>
        </p:style>
      </p:cxnSp>
      <p:pic>
        <p:nvPicPr>
          <p:cNvPr id="10245" name="Picture 2" descr="Teens and Technology – Cavalier Chronic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3703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26046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0" y="2895600"/>
            <a:ext cx="7620000" cy="1323439"/>
          </a:xfrm>
          <a:prstGeom prst="rect">
            <a:avLst/>
          </a:prstGeom>
        </p:spPr>
        <p:txBody>
          <a:bodyPr wrap="square">
            <a:spAutoFit/>
          </a:bodyPr>
          <a:lstStyle/>
          <a:p>
            <a:pPr lvl="0" algn="ctr">
              <a:defRPr/>
            </a:pPr>
            <a:r>
              <a:rPr kumimoji="0" lang="en-US" sz="4000" b="0" i="0" u="none" strike="noStrike" kern="1200" cap="none" spc="0" normalizeH="0" baseline="0" noProof="0" dirty="0">
                <a:ln>
                  <a:noFill/>
                </a:ln>
                <a:solidFill>
                  <a:prstClr val="black"/>
                </a:solidFill>
                <a:effectLst/>
                <a:uLnTx/>
                <a:uFillTx/>
                <a:latin typeface="Georgia"/>
                <a:ea typeface="+mn-ea"/>
                <a:cs typeface="+mn-cs"/>
              </a:rPr>
              <a:t>1 - </a:t>
            </a:r>
            <a:r>
              <a:rPr lang="en-US" sz="4000" dirty="0" smtClean="0">
                <a:solidFill>
                  <a:prstClr val="black"/>
                </a:solidFill>
              </a:rPr>
              <a:t>What </a:t>
            </a:r>
            <a:r>
              <a:rPr lang="en-US" sz="4000" dirty="0">
                <a:solidFill>
                  <a:prstClr val="black"/>
                </a:solidFill>
              </a:rPr>
              <a:t>is the view in </a:t>
            </a:r>
            <a:r>
              <a:rPr lang="en-US" sz="4000" dirty="0" smtClean="0">
                <a:solidFill>
                  <a:prstClr val="black"/>
                </a:solidFill>
              </a:rPr>
              <a:t>MVC </a:t>
            </a:r>
            <a:r>
              <a:rPr lang="en-US" sz="4000" dirty="0">
                <a:solidFill>
                  <a:prstClr val="black"/>
                </a:solidFill>
              </a:rPr>
              <a:t>framework </a:t>
            </a:r>
            <a:r>
              <a:rPr lang="en-US" sz="4000" dirty="0" smtClean="0">
                <a:solidFill>
                  <a:prstClr val="black"/>
                </a:solidFill>
              </a:rPr>
              <a:t>architecture?</a:t>
            </a:r>
            <a:endParaRPr kumimoji="0" lang="en-US" sz="4000" b="0" i="0" u="none" strike="noStrike" kern="1200" cap="none" spc="0" normalizeH="0" baseline="0" noProof="0" dirty="0">
              <a:ln>
                <a:noFill/>
              </a:ln>
              <a:solidFill>
                <a:prstClr val="black"/>
              </a:solidFill>
              <a:effectLst/>
              <a:uLnTx/>
              <a:uFillTx/>
              <a:latin typeface="Georgia"/>
              <a:ea typeface="+mn-ea"/>
              <a:cs typeface="+mn-cs"/>
            </a:endParaRPr>
          </a:p>
        </p:txBody>
      </p:sp>
      <p:pic>
        <p:nvPicPr>
          <p:cNvPr id="3074" name="Picture 2" descr="Fresh Green Leaves Header On White Background Stock Photo, Picture And  Royalty Free Image. Image 78250847."/>
          <p:cNvPicPr>
            <a:picLocks noChangeAspect="1" noChangeArrowheads="1"/>
          </p:cNvPicPr>
          <p:nvPr/>
        </p:nvPicPr>
        <p:blipFill rotWithShape="1">
          <a:blip r:embed="rId2">
            <a:extLst>
              <a:ext uri="{28A0092B-C50C-407E-A947-70E740481C1C}">
                <a14:useLocalDpi xmlns:a14="http://schemas.microsoft.com/office/drawing/2010/main" val="0"/>
              </a:ext>
            </a:extLst>
          </a:blip>
          <a:srcRect b="37312"/>
          <a:stretch/>
        </p:blipFill>
        <p:spPr bwMode="auto">
          <a:xfrm>
            <a:off x="0" y="0"/>
            <a:ext cx="91440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Fresh Green Leaves Header On White Background Stock Photo, Picture And  Royalty Free Image. Image 78250847."/>
          <p:cNvPicPr>
            <a:picLocks noChangeAspect="1" noChangeArrowheads="1"/>
          </p:cNvPicPr>
          <p:nvPr/>
        </p:nvPicPr>
        <p:blipFill rotWithShape="1">
          <a:blip r:embed="rId2">
            <a:extLst>
              <a:ext uri="{28A0092B-C50C-407E-A947-70E740481C1C}">
                <a14:useLocalDpi xmlns:a14="http://schemas.microsoft.com/office/drawing/2010/main" val="0"/>
              </a:ext>
            </a:extLst>
          </a:blip>
          <a:srcRect b="37312"/>
          <a:stretch/>
        </p:blipFill>
        <p:spPr bwMode="auto">
          <a:xfrm rot="10800000">
            <a:off x="0" y="4419600"/>
            <a:ext cx="9144000"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497764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0" i="0" u="none" strike="noStrike" kern="1200" cap="none" spc="0" normalizeH="0" baseline="0" noProof="0" dirty="0">
                <a:ln>
                  <a:noFill/>
                </a:ln>
                <a:solidFill>
                  <a:srgbClr val="1F497D"/>
                </a:solidFill>
                <a:effectLst/>
                <a:uLnTx/>
                <a:uFillTx/>
                <a:latin typeface="Georgia"/>
                <a:ea typeface="+mn-ea"/>
                <a:cs typeface="+mn-cs"/>
              </a:rPr>
              <a:t>Three </a:t>
            </a:r>
            <a:r>
              <a:rPr kumimoji="0" lang="en-US" sz="3200" b="0" i="0" u="none" strike="noStrike" kern="1200" cap="none" spc="0" normalizeH="0" baseline="0" noProof="0" dirty="0" smtClean="0">
                <a:ln>
                  <a:noFill/>
                </a:ln>
                <a:solidFill>
                  <a:srgbClr val="1F497D"/>
                </a:solidFill>
                <a:effectLst/>
                <a:uLnTx/>
                <a:uFillTx/>
                <a:latin typeface="Georgia"/>
                <a:ea typeface="+mn-ea"/>
                <a:cs typeface="+mn-cs"/>
              </a:rPr>
              <a:t>Important </a:t>
            </a:r>
            <a:r>
              <a:rPr kumimoji="0" lang="en-US" sz="3200" b="0" i="0" u="none" strike="noStrike" kern="1200" cap="none" spc="0" normalizeH="0" baseline="0" noProof="0" dirty="0">
                <a:ln>
                  <a:noFill/>
                </a:ln>
                <a:solidFill>
                  <a:srgbClr val="1F497D"/>
                </a:solidFill>
                <a:effectLst/>
                <a:uLnTx/>
                <a:uFillTx/>
                <a:latin typeface="Georgia"/>
                <a:ea typeface="+mn-ea"/>
                <a:cs typeface="+mn-cs"/>
              </a:rPr>
              <a:t>MVC </a:t>
            </a:r>
            <a:r>
              <a:rPr kumimoji="0" lang="en-US" sz="3200" b="0" i="0" u="none" strike="noStrike" kern="1200" cap="none" spc="0" normalizeH="0" baseline="0" noProof="0" dirty="0" smtClean="0">
                <a:ln>
                  <a:noFill/>
                </a:ln>
                <a:solidFill>
                  <a:srgbClr val="1F497D"/>
                </a:solidFill>
                <a:effectLst/>
                <a:uLnTx/>
                <a:uFillTx/>
                <a:latin typeface="Georgia"/>
                <a:ea typeface="+mn-ea"/>
                <a:cs typeface="+mn-cs"/>
              </a:rPr>
              <a:t>Components (</a:t>
            </a:r>
            <a:r>
              <a:rPr kumimoji="0" lang="en-US" sz="3200" b="0" i="1" u="none" strike="noStrike" kern="1200" cap="none" spc="0" normalizeH="0" baseline="0" noProof="0" dirty="0" smtClean="0">
                <a:ln>
                  <a:noFill/>
                </a:ln>
                <a:solidFill>
                  <a:srgbClr val="1F497D"/>
                </a:solidFill>
                <a:effectLst/>
                <a:uLnTx/>
                <a:uFillTx/>
                <a:latin typeface="Georgia"/>
                <a:ea typeface="+mn-ea"/>
                <a:cs typeface="+mn-cs"/>
              </a:rPr>
              <a:t>layers</a:t>
            </a:r>
            <a:r>
              <a:rPr kumimoji="0" lang="en-US" sz="3200" b="0" i="0" u="none" strike="noStrike" kern="1200" cap="none" spc="0" normalizeH="0" baseline="0" noProof="0" dirty="0" smtClean="0">
                <a:ln>
                  <a:noFill/>
                </a:ln>
                <a:solidFill>
                  <a:srgbClr val="1F497D"/>
                </a:solidFill>
                <a:effectLst/>
                <a:uLnTx/>
                <a:uFillTx/>
                <a:latin typeface="Georgia"/>
                <a:ea typeface="+mn-ea"/>
                <a:cs typeface="+mn-cs"/>
              </a:rPr>
              <a:t>) </a:t>
            </a:r>
            <a:endParaRPr kumimoji="0" lang="en-US" sz="3200" b="0" i="0" u="none" strike="noStrike" kern="1200" cap="none" spc="0" normalizeH="0" baseline="0" noProof="0" dirty="0">
              <a:ln>
                <a:noFill/>
              </a:ln>
              <a:solidFill>
                <a:srgbClr val="1F497D"/>
              </a:solidFill>
              <a:effectLst/>
              <a:uLnTx/>
              <a:uFillTx/>
              <a:latin typeface="Georgia"/>
              <a:ea typeface="+mn-ea"/>
              <a:cs typeface="+mn-cs"/>
            </a:endParaRPr>
          </a:p>
        </p:txBody>
      </p:sp>
      <p:sp>
        <p:nvSpPr>
          <p:cNvPr id="2" name="Rounded Rectangle 1"/>
          <p:cNvSpPr/>
          <p:nvPr/>
        </p:nvSpPr>
        <p:spPr>
          <a:xfrm>
            <a:off x="152400" y="2913519"/>
            <a:ext cx="8839200" cy="1470541"/>
          </a:xfrm>
          <a:prstGeom prst="roundRect">
            <a:avLst>
              <a:gd name="adj" fmla="val 7786"/>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Component #2 </a:t>
            </a:r>
            <a:r>
              <a:rPr kumimoji="0" lang="en-US" sz="1600" b="1"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sym typeface="Wingdings 3" panose="05040102010807070707" pitchFamily="18" charset="2"/>
              </a:rPr>
              <a:t> </a:t>
            </a:r>
            <a:r>
              <a:rPr kumimoji="0" lang="en-US" sz="1600" b="1"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View :</a:t>
            </a:r>
            <a:endParaRPr kumimoji="0" lang="en-US" sz="1600" b="1" i="0" u="none" strike="noStrike" kern="1200" cap="none" spc="0" normalizeH="0" baseline="0" noProof="0" dirty="0">
              <a:ln>
                <a:noFill/>
              </a:ln>
              <a:solidFill>
                <a:prstClr val="black"/>
              </a:solidFill>
              <a:effectLst/>
              <a:uLnTx/>
              <a:uFillTx/>
              <a:latin typeface="Georgia" panose="02040502050405020303" pitchFamily="18"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400" b="0"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The </a:t>
            </a:r>
            <a:r>
              <a:rPr kumimoji="0" lang="en-US" sz="14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View is that part of the application that represents the presentation of data</a:t>
            </a:r>
            <a:r>
              <a:rPr kumimoji="0" lang="en-US" sz="1400" b="0"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a:t>
            </a:r>
            <a:endParaRPr kumimoji="0" lang="en-US" sz="14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4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Views are created by the data collected from the model data. A view requests the model to give information so that it resents the output presentation to the user</a:t>
            </a:r>
            <a:r>
              <a:rPr kumimoji="0" lang="en-US" sz="1400" b="0"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a:t>
            </a:r>
            <a:endParaRPr kumimoji="0" lang="en-US" sz="14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4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The view also represents the data from chats, diagrams, and table. For example, any customer view will include all the UI components like text boxes, drop downs, etc</a:t>
            </a:r>
            <a:r>
              <a:rPr kumimoji="0" lang="en-US" sz="1400" b="0"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a:t>
            </a:r>
            <a:endParaRPr kumimoji="0" lang="en-US" sz="14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endParaRPr>
          </a:p>
        </p:txBody>
      </p:sp>
      <p:sp>
        <p:nvSpPr>
          <p:cNvPr id="3" name="Rounded Rectangle 2"/>
          <p:cNvSpPr/>
          <p:nvPr/>
        </p:nvSpPr>
        <p:spPr>
          <a:xfrm>
            <a:off x="152400" y="4536460"/>
            <a:ext cx="8839200" cy="1456849"/>
          </a:xfrm>
          <a:prstGeom prst="roundRect">
            <a:avLst>
              <a:gd name="adj" fmla="val 5151"/>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Component </a:t>
            </a:r>
            <a:r>
              <a:rPr kumimoji="0" lang="en-US" sz="1600" b="1"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#3 </a:t>
            </a:r>
            <a:r>
              <a:rPr kumimoji="0" lang="en-US" sz="1600" b="1" i="0" u="none" strike="noStrike" kern="1200" cap="none" spc="0" normalizeH="0" baseline="0" noProof="0" dirty="0">
                <a:ln>
                  <a:noFill/>
                </a:ln>
                <a:solidFill>
                  <a:prstClr val="black"/>
                </a:solidFill>
                <a:effectLst/>
                <a:uLnTx/>
                <a:uFillTx/>
                <a:latin typeface="Georgia" panose="02040502050405020303" pitchFamily="18" charset="0"/>
                <a:ea typeface="+mn-ea"/>
                <a:cs typeface="+mn-cs"/>
                <a:sym typeface="Wingdings 3" panose="05040102010807070707" pitchFamily="18" charset="2"/>
              </a:rPr>
              <a:t> </a:t>
            </a:r>
            <a:r>
              <a:rPr kumimoji="0" lang="en-US" sz="1600" b="1"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Controller</a:t>
            </a:r>
            <a:r>
              <a:rPr kumimoji="0" lang="en-US" sz="1600" b="1"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 :</a:t>
            </a:r>
            <a:endParaRPr kumimoji="0" lang="en-US" sz="1600" b="1"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400" b="0"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The </a:t>
            </a:r>
            <a:r>
              <a:rPr kumimoji="0" lang="en-US" sz="14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Controller is that part of the application that handles the user interaction. The controller interprets the mouse and keyboard inputs from the user, informing model and the view to change as appropriate.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4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A Controller send's commands to the model to update its </a:t>
            </a:r>
            <a:r>
              <a:rPr kumimoji="0" lang="en-US" sz="1400" b="0"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state (</a:t>
            </a:r>
            <a:r>
              <a:rPr kumimoji="0" lang="en-US" sz="1400" b="0" i="1" u="none" strike="noStrike" kern="1200" cap="none" spc="0" normalizeH="0" baseline="0" noProof="0" dirty="0">
                <a:ln>
                  <a:noFill/>
                </a:ln>
                <a:solidFill>
                  <a:prstClr val="black"/>
                </a:solidFill>
                <a:effectLst/>
                <a:uLnTx/>
                <a:uFillTx/>
                <a:latin typeface="Georgia" panose="02040502050405020303" pitchFamily="18" charset="0"/>
                <a:ea typeface="+mn-ea"/>
                <a:cs typeface="+mn-cs"/>
              </a:rPr>
              <a:t>E.g., Saving a specific document</a:t>
            </a:r>
            <a:r>
              <a:rPr kumimoji="0" lang="en-US" sz="14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 The controller also sends commands to its associated view to change the view's presentation (</a:t>
            </a:r>
            <a:r>
              <a:rPr kumimoji="0" lang="en-US" sz="1400" b="0" i="1" u="none" strike="noStrike" kern="1200" cap="none" spc="0" normalizeH="0" baseline="0" noProof="0" dirty="0">
                <a:ln>
                  <a:noFill/>
                </a:ln>
                <a:solidFill>
                  <a:prstClr val="black"/>
                </a:solidFill>
                <a:effectLst/>
                <a:uLnTx/>
                <a:uFillTx/>
                <a:latin typeface="Georgia" panose="02040502050405020303" pitchFamily="18" charset="0"/>
                <a:ea typeface="+mn-ea"/>
                <a:cs typeface="+mn-cs"/>
              </a:rPr>
              <a:t>For example scrolling a particular document</a:t>
            </a:r>
            <a:r>
              <a:rPr kumimoji="0" lang="en-US" sz="1400" b="0"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a:t>
            </a:r>
            <a:endParaRPr kumimoji="0" lang="en-US" sz="14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endParaRPr>
          </a:p>
        </p:txBody>
      </p:sp>
      <p:sp>
        <p:nvSpPr>
          <p:cNvPr id="5" name="Rounded Rectangle 4"/>
          <p:cNvSpPr/>
          <p:nvPr/>
        </p:nvSpPr>
        <p:spPr>
          <a:xfrm>
            <a:off x="162499" y="1066800"/>
            <a:ext cx="8839200" cy="1694319"/>
          </a:xfrm>
          <a:prstGeom prst="roundRect">
            <a:avLst>
              <a:gd name="adj" fmla="val 6526"/>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Component </a:t>
            </a:r>
            <a:r>
              <a:rPr kumimoji="0" lang="en-US" sz="1600" b="1"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#1 </a:t>
            </a:r>
            <a:r>
              <a:rPr kumimoji="0" lang="en-US" sz="1600" b="1" i="0" u="none" strike="noStrike" kern="1200" cap="none" spc="0" normalizeH="0" baseline="0" noProof="0" dirty="0">
                <a:ln>
                  <a:noFill/>
                </a:ln>
                <a:solidFill>
                  <a:prstClr val="black"/>
                </a:solidFill>
                <a:effectLst/>
                <a:uLnTx/>
                <a:uFillTx/>
                <a:latin typeface="Georgia" panose="02040502050405020303" pitchFamily="18" charset="0"/>
                <a:ea typeface="+mn-ea"/>
                <a:cs typeface="+mn-cs"/>
                <a:sym typeface="Wingdings 3" panose="05040102010807070707" pitchFamily="18" charset="2"/>
              </a:rPr>
              <a:t> </a:t>
            </a:r>
            <a:r>
              <a:rPr kumimoji="0" lang="en-US" sz="1600" b="1"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Model</a:t>
            </a:r>
            <a:r>
              <a:rPr kumimoji="0" lang="en-US" sz="1600" b="1"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4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The model component stores data and its related logic. It represents data that is being transferred between controller components or any other related business logic. For example, a Controller object will retrieve the customer info from the database. It manipulates data and send back to the database or use it to render the same data.</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4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It responds to the request from the views and also responds to instructions from the controller to update itself. It is also the lowest level of the pattern which is responsible for maintaining data.</a:t>
            </a:r>
          </a:p>
        </p:txBody>
      </p:sp>
      <p:sp>
        <p:nvSpPr>
          <p:cNvPr id="6" name="Rectangle 5"/>
          <p:cNvSpPr/>
          <p:nvPr/>
        </p:nvSpPr>
        <p:spPr>
          <a:xfrm>
            <a:off x="55085" y="6267671"/>
            <a:ext cx="8991600" cy="492443"/>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222222"/>
                </a:solidFill>
                <a:effectLst/>
                <a:uLnTx/>
                <a:uFillTx/>
                <a:latin typeface="Georgia" panose="02040502050405020303" pitchFamily="18" charset="0"/>
                <a:ea typeface="+mn-ea"/>
                <a:cs typeface="+mn-cs"/>
              </a:rPr>
              <a:t>The paper was published under the </a:t>
            </a:r>
            <a:r>
              <a:rPr kumimoji="0" lang="en-US" sz="1600" b="1" i="0" u="none" strike="noStrike" kern="1200" cap="none" spc="0" normalizeH="0" baseline="0" noProof="0" dirty="0" smtClean="0">
                <a:ln>
                  <a:noFill/>
                </a:ln>
                <a:solidFill>
                  <a:srgbClr val="222222"/>
                </a:solidFill>
                <a:effectLst/>
                <a:uLnTx/>
                <a:uFillTx/>
                <a:latin typeface="Georgia" panose="02040502050405020303" pitchFamily="18" charset="0"/>
                <a:ea typeface="+mn-ea"/>
                <a:cs typeface="+mn-cs"/>
              </a:rPr>
              <a:t>title: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err="1" smtClean="0">
                <a:ln>
                  <a:noFill/>
                </a:ln>
                <a:solidFill>
                  <a:srgbClr val="222222"/>
                </a:solidFill>
                <a:effectLst/>
                <a:uLnTx/>
                <a:uFillTx/>
                <a:latin typeface="Georgia" panose="02040502050405020303" pitchFamily="18" charset="0"/>
                <a:ea typeface="+mn-ea"/>
                <a:cs typeface="+mn-cs"/>
              </a:rPr>
              <a:t>Burbeck</a:t>
            </a:r>
            <a:r>
              <a:rPr kumimoji="0" lang="en-US" sz="1000" b="0" i="0" u="none" strike="noStrike" kern="1200" cap="none" spc="0" normalizeH="0" baseline="0" noProof="0" dirty="0">
                <a:ln>
                  <a:noFill/>
                </a:ln>
                <a:solidFill>
                  <a:srgbClr val="222222"/>
                </a:solidFill>
                <a:effectLst/>
                <a:uLnTx/>
                <a:uFillTx/>
                <a:latin typeface="Georgia" panose="02040502050405020303" pitchFamily="18" charset="0"/>
                <a:ea typeface="+mn-ea"/>
                <a:cs typeface="+mn-cs"/>
              </a:rPr>
              <a:t>, Steve. "</a:t>
            </a:r>
            <a:r>
              <a:rPr kumimoji="0" lang="en-US" sz="1000" b="1" i="0" u="none" strike="noStrike" kern="1200" cap="none" spc="0" normalizeH="0" baseline="0" noProof="0" dirty="0">
                <a:ln>
                  <a:noFill/>
                </a:ln>
                <a:solidFill>
                  <a:srgbClr val="222222"/>
                </a:solidFill>
                <a:effectLst/>
                <a:uLnTx/>
                <a:uFillTx/>
                <a:latin typeface="Georgia" panose="02040502050405020303" pitchFamily="18" charset="0"/>
                <a:ea typeface="+mn-ea"/>
                <a:cs typeface="+mn-cs"/>
              </a:rPr>
              <a:t>Applications programming in smalltalk-80 (</a:t>
            </a:r>
            <a:r>
              <a:rPr kumimoji="0" lang="en-US" sz="1000" b="1" i="1" u="none" strike="noStrike" kern="1200" cap="none" spc="0" normalizeH="0" baseline="0" noProof="0" dirty="0">
                <a:ln>
                  <a:noFill/>
                </a:ln>
                <a:solidFill>
                  <a:srgbClr val="222222"/>
                </a:solidFill>
                <a:effectLst/>
                <a:uLnTx/>
                <a:uFillTx/>
                <a:latin typeface="Georgia" panose="02040502050405020303" pitchFamily="18" charset="0"/>
                <a:ea typeface="+mn-ea"/>
                <a:cs typeface="+mn-cs"/>
              </a:rPr>
              <a:t>tm</a:t>
            </a:r>
            <a:r>
              <a:rPr kumimoji="0" lang="en-US" sz="1000" b="1" i="0" u="none" strike="noStrike" kern="1200" cap="none" spc="0" normalizeH="0" baseline="0" noProof="0" dirty="0">
                <a:ln>
                  <a:noFill/>
                </a:ln>
                <a:solidFill>
                  <a:srgbClr val="222222"/>
                </a:solidFill>
                <a:effectLst/>
                <a:uLnTx/>
                <a:uFillTx/>
                <a:latin typeface="Georgia" panose="02040502050405020303" pitchFamily="18" charset="0"/>
                <a:ea typeface="+mn-ea"/>
                <a:cs typeface="+mn-cs"/>
              </a:rPr>
              <a:t>): How to use model-view-controller (</a:t>
            </a:r>
            <a:r>
              <a:rPr kumimoji="0" lang="en-US" sz="1000" b="1" i="0" u="none" strike="noStrike" kern="1200" cap="none" spc="0" normalizeH="0" baseline="0" noProof="0" dirty="0" err="1">
                <a:ln>
                  <a:noFill/>
                </a:ln>
                <a:solidFill>
                  <a:srgbClr val="222222"/>
                </a:solidFill>
                <a:effectLst/>
                <a:uLnTx/>
                <a:uFillTx/>
                <a:latin typeface="Georgia" panose="02040502050405020303" pitchFamily="18" charset="0"/>
                <a:ea typeface="+mn-ea"/>
                <a:cs typeface="+mn-cs"/>
              </a:rPr>
              <a:t>mvc</a:t>
            </a:r>
            <a:r>
              <a:rPr kumimoji="0" lang="en-US" sz="1000" b="1" i="0" u="none" strike="noStrike" kern="1200" cap="none" spc="0" normalizeH="0" baseline="0" noProof="0" dirty="0">
                <a:ln>
                  <a:noFill/>
                </a:ln>
                <a:solidFill>
                  <a:srgbClr val="222222"/>
                </a:solidFill>
                <a:effectLst/>
                <a:uLnTx/>
                <a:uFillTx/>
                <a:latin typeface="Georgia" panose="02040502050405020303" pitchFamily="18" charset="0"/>
                <a:ea typeface="+mn-ea"/>
                <a:cs typeface="+mn-cs"/>
              </a:rPr>
              <a:t>).</a:t>
            </a:r>
            <a:r>
              <a:rPr kumimoji="0" lang="en-US" sz="1000" b="0" i="0" u="none" strike="noStrike" kern="1200" cap="none" spc="0" normalizeH="0" baseline="0" noProof="0" dirty="0">
                <a:ln>
                  <a:noFill/>
                </a:ln>
                <a:solidFill>
                  <a:srgbClr val="222222"/>
                </a:solidFill>
                <a:effectLst/>
                <a:uLnTx/>
                <a:uFillTx/>
                <a:latin typeface="Georgia" panose="02040502050405020303" pitchFamily="18" charset="0"/>
                <a:ea typeface="+mn-ea"/>
                <a:cs typeface="+mn-cs"/>
              </a:rPr>
              <a:t>" </a:t>
            </a:r>
            <a:r>
              <a:rPr kumimoji="0" lang="en-US" sz="1000" b="0" i="1" u="none" strike="noStrike" kern="1200" cap="none" spc="0" normalizeH="0" baseline="0" noProof="0" dirty="0">
                <a:ln>
                  <a:noFill/>
                </a:ln>
                <a:solidFill>
                  <a:srgbClr val="222222"/>
                </a:solidFill>
                <a:effectLst/>
                <a:uLnTx/>
                <a:uFillTx/>
                <a:latin typeface="Georgia" panose="02040502050405020303" pitchFamily="18" charset="0"/>
                <a:ea typeface="+mn-ea"/>
                <a:cs typeface="+mn-cs"/>
              </a:rPr>
              <a:t>Smalltalk-80 v2</a:t>
            </a:r>
            <a:r>
              <a:rPr kumimoji="0" lang="en-US" sz="1000" b="0" i="0" u="none" strike="noStrike" kern="1200" cap="none" spc="0" normalizeH="0" baseline="0" noProof="0" dirty="0">
                <a:ln>
                  <a:noFill/>
                </a:ln>
                <a:solidFill>
                  <a:srgbClr val="222222"/>
                </a:solidFill>
                <a:effectLst/>
                <a:uLnTx/>
                <a:uFillTx/>
                <a:latin typeface="Georgia" panose="02040502050405020303" pitchFamily="18" charset="0"/>
                <a:ea typeface="+mn-ea"/>
                <a:cs typeface="+mn-cs"/>
              </a:rPr>
              <a:t> 5 (</a:t>
            </a:r>
            <a:r>
              <a:rPr kumimoji="0" lang="en-US" sz="1000" b="1" i="0" u="none" strike="noStrike" kern="1200" cap="none" spc="0" normalizeH="0" baseline="0" noProof="0" dirty="0">
                <a:ln>
                  <a:noFill/>
                </a:ln>
                <a:solidFill>
                  <a:srgbClr val="222222"/>
                </a:solidFill>
                <a:effectLst/>
                <a:uLnTx/>
                <a:uFillTx/>
                <a:latin typeface="Georgia" panose="02040502050405020303" pitchFamily="18" charset="0"/>
                <a:ea typeface="+mn-ea"/>
                <a:cs typeface="+mn-cs"/>
              </a:rPr>
              <a:t>1992</a:t>
            </a:r>
            <a:r>
              <a:rPr kumimoji="0" lang="en-US" sz="1000" b="0" i="0" u="none" strike="noStrike" kern="1200" cap="none" spc="0" normalizeH="0" baseline="0" noProof="0" dirty="0">
                <a:ln>
                  <a:noFill/>
                </a:ln>
                <a:solidFill>
                  <a:srgbClr val="222222"/>
                </a:solidFill>
                <a:effectLst/>
                <a:uLnTx/>
                <a:uFillTx/>
                <a:latin typeface="Georgia" panose="02040502050405020303" pitchFamily="18" charset="0"/>
                <a:ea typeface="+mn-ea"/>
                <a:cs typeface="+mn-cs"/>
              </a:rPr>
              <a:t>): 1-11.</a:t>
            </a:r>
            <a:endParaRPr kumimoji="0" lang="en-US" sz="10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endParaRPr>
          </a:p>
        </p:txBody>
      </p:sp>
    </p:spTree>
    <p:extLst>
      <p:ext uri="{BB962C8B-B14F-4D97-AF65-F5344CB8AC3E}">
        <p14:creationId xmlns:p14="http://schemas.microsoft.com/office/powerpoint/2010/main" val="331033803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0" i="0" u="none" strike="noStrike" kern="1200" cap="none" spc="0" normalizeH="0" baseline="0" noProof="0" dirty="0">
                <a:ln>
                  <a:noFill/>
                </a:ln>
                <a:solidFill>
                  <a:srgbClr val="1F497D"/>
                </a:solidFill>
                <a:effectLst/>
                <a:uLnTx/>
                <a:uFillTx/>
                <a:latin typeface="Georgia"/>
                <a:ea typeface="+mn-ea"/>
                <a:cs typeface="+mn-cs"/>
              </a:rPr>
              <a:t>Three </a:t>
            </a:r>
            <a:r>
              <a:rPr kumimoji="0" lang="en-US" sz="3200" b="0" i="0" u="none" strike="noStrike" kern="1200" cap="none" spc="0" normalizeH="0" baseline="0" noProof="0" dirty="0" smtClean="0">
                <a:ln>
                  <a:noFill/>
                </a:ln>
                <a:solidFill>
                  <a:srgbClr val="1F497D"/>
                </a:solidFill>
                <a:effectLst/>
                <a:uLnTx/>
                <a:uFillTx/>
                <a:latin typeface="Georgia"/>
                <a:ea typeface="+mn-ea"/>
                <a:cs typeface="+mn-cs"/>
              </a:rPr>
              <a:t>Important </a:t>
            </a:r>
            <a:r>
              <a:rPr kumimoji="0" lang="en-US" sz="3200" b="0" i="0" u="none" strike="noStrike" kern="1200" cap="none" spc="0" normalizeH="0" baseline="0" noProof="0" dirty="0">
                <a:ln>
                  <a:noFill/>
                </a:ln>
                <a:solidFill>
                  <a:srgbClr val="1F497D"/>
                </a:solidFill>
                <a:effectLst/>
                <a:uLnTx/>
                <a:uFillTx/>
                <a:latin typeface="Georgia"/>
                <a:ea typeface="+mn-ea"/>
                <a:cs typeface="+mn-cs"/>
              </a:rPr>
              <a:t>MVC Components (</a:t>
            </a:r>
            <a:r>
              <a:rPr kumimoji="0" lang="en-US" sz="3200" b="0" i="1" u="none" strike="noStrike" kern="1200" cap="none" spc="0" normalizeH="0" baseline="0" noProof="0" dirty="0">
                <a:ln>
                  <a:noFill/>
                </a:ln>
                <a:solidFill>
                  <a:srgbClr val="1F497D"/>
                </a:solidFill>
                <a:effectLst/>
                <a:uLnTx/>
                <a:uFillTx/>
                <a:latin typeface="Georgia"/>
                <a:ea typeface="+mn-ea"/>
                <a:cs typeface="+mn-cs"/>
              </a:rPr>
              <a:t>layers</a:t>
            </a:r>
            <a:r>
              <a:rPr kumimoji="0" lang="en-US" sz="3200" b="0" i="0" u="none" strike="noStrike" kern="1200" cap="none" spc="0" normalizeH="0" baseline="0" noProof="0" dirty="0">
                <a:ln>
                  <a:noFill/>
                </a:ln>
                <a:solidFill>
                  <a:srgbClr val="1F497D"/>
                </a:solidFill>
                <a:effectLst/>
                <a:uLnTx/>
                <a:uFillTx/>
                <a:latin typeface="Georgia"/>
                <a:ea typeface="+mn-ea"/>
                <a:cs typeface="+mn-cs"/>
              </a:rPr>
              <a:t>) </a:t>
            </a:r>
          </a:p>
        </p:txBody>
      </p:sp>
      <p:sp>
        <p:nvSpPr>
          <p:cNvPr id="6" name="Rectangle 5"/>
          <p:cNvSpPr/>
          <p:nvPr/>
        </p:nvSpPr>
        <p:spPr>
          <a:xfrm>
            <a:off x="2743200" y="1571685"/>
            <a:ext cx="6019800" cy="452431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Model: </a:t>
            </a:r>
            <a:r>
              <a:rPr kumimoji="0" lang="en-US" sz="24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It includes all the data and its related </a:t>
            </a:r>
            <a:r>
              <a:rPr kumimoji="0" lang="en-US" sz="2400" b="0"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logic.</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View: </a:t>
            </a:r>
            <a:r>
              <a:rPr kumimoji="0" lang="en-US" sz="24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Present data to the user or handles user </a:t>
            </a:r>
            <a:r>
              <a:rPr kumimoji="0" lang="en-US" sz="2400" b="0"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interaction.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Controller: </a:t>
            </a:r>
            <a:r>
              <a:rPr kumimoji="0" lang="en-US" sz="24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An interface between Model and View </a:t>
            </a:r>
            <a:r>
              <a:rPr kumimoji="0" lang="en-US" sz="2400" b="0"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components.</a:t>
            </a:r>
            <a:endParaRPr kumimoji="0" lang="en-US" sz="24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endParaRPr>
          </a:p>
        </p:txBody>
      </p:sp>
      <p:pic>
        <p:nvPicPr>
          <p:cNvPr id="7" name="Picture 4" descr="Calendar Time Schedule Event Planning Ga #1311774 - PNG Images - PNGi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9012" y="1376065"/>
            <a:ext cx="1219200" cy="12192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Location Icons – Free Vector Download, PNG, SVG, 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9012" y="3276600"/>
            <a:ext cx="1219200" cy="12192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Free Icon | Business presentati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3831" y="5055110"/>
            <a:ext cx="1193290" cy="11932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42094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0" i="0" u="none" strike="noStrike" kern="1200" cap="none" spc="0" normalizeH="0" baseline="0" noProof="0" dirty="0">
                <a:ln>
                  <a:noFill/>
                </a:ln>
                <a:solidFill>
                  <a:srgbClr val="1F497D"/>
                </a:solidFill>
                <a:effectLst/>
                <a:uLnTx/>
                <a:uFillTx/>
                <a:latin typeface="Georgia"/>
                <a:ea typeface="+mn-ea"/>
                <a:cs typeface="+mn-cs"/>
              </a:rPr>
              <a:t>Three </a:t>
            </a:r>
            <a:r>
              <a:rPr kumimoji="0" lang="en-US" sz="3200" b="0" i="0" u="none" strike="noStrike" kern="1200" cap="none" spc="0" normalizeH="0" baseline="0" noProof="0" dirty="0" smtClean="0">
                <a:ln>
                  <a:noFill/>
                </a:ln>
                <a:solidFill>
                  <a:srgbClr val="1F497D"/>
                </a:solidFill>
                <a:effectLst/>
                <a:uLnTx/>
                <a:uFillTx/>
                <a:latin typeface="Georgia"/>
                <a:ea typeface="+mn-ea"/>
                <a:cs typeface="+mn-cs"/>
              </a:rPr>
              <a:t>Important </a:t>
            </a:r>
            <a:r>
              <a:rPr kumimoji="0" lang="en-US" sz="3200" b="0" i="0" u="none" strike="noStrike" kern="1200" cap="none" spc="0" normalizeH="0" baseline="0" noProof="0" dirty="0">
                <a:ln>
                  <a:noFill/>
                </a:ln>
                <a:solidFill>
                  <a:srgbClr val="1F497D"/>
                </a:solidFill>
                <a:effectLst/>
                <a:uLnTx/>
                <a:uFillTx/>
                <a:latin typeface="Georgia"/>
                <a:ea typeface="+mn-ea"/>
                <a:cs typeface="+mn-cs"/>
              </a:rPr>
              <a:t>MVC Components (</a:t>
            </a:r>
            <a:r>
              <a:rPr kumimoji="0" lang="en-US" sz="3200" b="0" i="1" u="none" strike="noStrike" kern="1200" cap="none" spc="0" normalizeH="0" baseline="0" noProof="0" dirty="0">
                <a:ln>
                  <a:noFill/>
                </a:ln>
                <a:solidFill>
                  <a:srgbClr val="1F497D"/>
                </a:solidFill>
                <a:effectLst/>
                <a:uLnTx/>
                <a:uFillTx/>
                <a:latin typeface="Georgia"/>
                <a:ea typeface="+mn-ea"/>
                <a:cs typeface="+mn-cs"/>
              </a:rPr>
              <a:t>layers</a:t>
            </a:r>
            <a:r>
              <a:rPr kumimoji="0" lang="en-US" sz="3200" b="0" i="0" u="none" strike="noStrike" kern="1200" cap="none" spc="0" normalizeH="0" baseline="0" noProof="0" dirty="0">
                <a:ln>
                  <a:noFill/>
                </a:ln>
                <a:solidFill>
                  <a:srgbClr val="1F497D"/>
                </a:solidFill>
                <a:effectLst/>
                <a:uLnTx/>
                <a:uFillTx/>
                <a:latin typeface="Georgia"/>
                <a:ea typeface="+mn-ea"/>
                <a:cs typeface="+mn-cs"/>
              </a:rPr>
              <a:t>) </a:t>
            </a:r>
          </a:p>
        </p:txBody>
      </p:sp>
      <p:sp>
        <p:nvSpPr>
          <p:cNvPr id="10" name="object 3"/>
          <p:cNvSpPr/>
          <p:nvPr/>
        </p:nvSpPr>
        <p:spPr>
          <a:xfrm>
            <a:off x="685800" y="1969532"/>
            <a:ext cx="7632700" cy="3733800"/>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lumMod val="95000"/>
                  <a:lumOff val="5000"/>
                </a:prstClr>
              </a:solidFill>
              <a:effectLst/>
              <a:uLnTx/>
              <a:uFillTx/>
              <a:latin typeface="Calibri"/>
              <a:ea typeface="+mn-ea"/>
              <a:cs typeface="+mn-cs"/>
            </a:endParaRPr>
          </a:p>
        </p:txBody>
      </p:sp>
      <p:sp>
        <p:nvSpPr>
          <p:cNvPr id="2" name="Rectangle 1"/>
          <p:cNvSpPr/>
          <p:nvPr/>
        </p:nvSpPr>
        <p:spPr>
          <a:xfrm>
            <a:off x="2911929" y="1219200"/>
            <a:ext cx="3320140"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logic program </a:t>
            </a:r>
            <a:r>
              <a:rPr kumimoji="0" lang="en-US" sz="1800" b="1"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a:t>
            </a:r>
            <a:r>
              <a:rPr kumimoji="0" lang="en-US" sz="1800" b="1" i="1"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controller</a:t>
            </a:r>
            <a:r>
              <a:rPr kumimoji="0" lang="en-US" sz="1800" b="1"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a:t>
            </a:r>
            <a:endParaRPr kumimoji="0" lang="en-US" sz="1800" b="1" i="0" u="none" strike="noStrike" kern="1200" cap="none" spc="0" normalizeH="0" baseline="0" noProof="0" dirty="0">
              <a:ln>
                <a:noFill/>
              </a:ln>
              <a:solidFill>
                <a:prstClr val="black"/>
              </a:solidFill>
              <a:effectLst/>
              <a:uLnTx/>
              <a:uFillTx/>
              <a:latin typeface="Georgia" panose="02040502050405020303" pitchFamily="18" charset="0"/>
              <a:ea typeface="+mn-ea"/>
              <a:cs typeface="+mn-cs"/>
            </a:endParaRPr>
          </a:p>
        </p:txBody>
      </p:sp>
      <p:sp>
        <p:nvSpPr>
          <p:cNvPr id="3" name="Rectangle 2"/>
          <p:cNvSpPr/>
          <p:nvPr/>
        </p:nvSpPr>
        <p:spPr>
          <a:xfrm>
            <a:off x="304800" y="6031468"/>
            <a:ext cx="2871299"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smtClean="0">
                <a:ln>
                  <a:noFill/>
                </a:ln>
                <a:solidFill>
                  <a:prstClr val="black"/>
                </a:solidFill>
                <a:effectLst/>
                <a:uLnTx/>
                <a:uFillTx/>
                <a:latin typeface="Georgia" panose="02040502050405020303" pitchFamily="18" charset="0"/>
                <a:ea typeface="+mn-ea"/>
                <a:cs typeface="+mn-cs"/>
              </a:rPr>
              <a:t>Tampilan</a:t>
            </a:r>
            <a:r>
              <a:rPr kumimoji="0" lang="en-US" sz="1800" b="1"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 </a:t>
            </a:r>
            <a:r>
              <a:rPr kumimoji="0" lang="en-US" sz="1800" b="1"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a:t>
            </a:r>
            <a:r>
              <a:rPr kumimoji="0" lang="en-US" sz="1800" b="1" i="1" u="none" strike="noStrike" kern="1200" cap="none" spc="0" normalizeH="0" baseline="0" noProof="0" dirty="0">
                <a:ln>
                  <a:noFill/>
                </a:ln>
                <a:solidFill>
                  <a:prstClr val="black"/>
                </a:solidFill>
                <a:effectLst/>
                <a:uLnTx/>
                <a:uFillTx/>
                <a:latin typeface="Georgia" panose="02040502050405020303" pitchFamily="18" charset="0"/>
                <a:ea typeface="+mn-ea"/>
                <a:cs typeface="+mn-cs"/>
              </a:rPr>
              <a:t>view</a:t>
            </a:r>
            <a:r>
              <a:rPr kumimoji="0" lang="en-US" sz="1800" b="1"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 =&gt; UI</a:t>
            </a:r>
            <a:endParaRPr kumimoji="0" lang="en-US" sz="1800" b="1" i="0" u="none" strike="noStrike" kern="1200" cap="none" spc="0" normalizeH="0" baseline="0" noProof="0" dirty="0">
              <a:ln>
                <a:noFill/>
              </a:ln>
              <a:solidFill>
                <a:prstClr val="black"/>
              </a:solidFill>
              <a:effectLst/>
              <a:uLnTx/>
              <a:uFillTx/>
              <a:latin typeface="Georgia" panose="02040502050405020303" pitchFamily="18" charset="0"/>
              <a:ea typeface="+mn-ea"/>
              <a:cs typeface="+mn-cs"/>
            </a:endParaRPr>
          </a:p>
        </p:txBody>
      </p:sp>
      <p:sp>
        <p:nvSpPr>
          <p:cNvPr id="5" name="Rectangle 4"/>
          <p:cNvSpPr/>
          <p:nvPr/>
        </p:nvSpPr>
        <p:spPr>
          <a:xfrm>
            <a:off x="6324600" y="6031468"/>
            <a:ext cx="2137124"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M</a:t>
            </a:r>
            <a:r>
              <a:rPr kumimoji="0" lang="en-US" sz="1800" b="1"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anage </a:t>
            </a:r>
            <a:r>
              <a:rPr kumimoji="0" lang="en-US" sz="1800" b="1"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the data</a:t>
            </a:r>
          </a:p>
        </p:txBody>
      </p:sp>
    </p:spTree>
    <p:extLst>
      <p:ext uri="{BB962C8B-B14F-4D97-AF65-F5344CB8AC3E}">
        <p14:creationId xmlns:p14="http://schemas.microsoft.com/office/powerpoint/2010/main" val="173638812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0" i="0" u="none" strike="noStrike" kern="1200" cap="none" spc="0" normalizeH="0" baseline="0" noProof="0" dirty="0">
                <a:ln>
                  <a:noFill/>
                </a:ln>
                <a:solidFill>
                  <a:srgbClr val="1F497D"/>
                </a:solidFill>
                <a:effectLst/>
                <a:uLnTx/>
                <a:uFillTx/>
                <a:latin typeface="Georgia"/>
                <a:ea typeface="+mn-ea"/>
                <a:cs typeface="+mn-cs"/>
              </a:rPr>
              <a:t>Component </a:t>
            </a:r>
            <a:r>
              <a:rPr kumimoji="0" lang="en-US" sz="3200" b="0" i="0" u="none" strike="noStrike" kern="1200" cap="none" spc="0" normalizeH="0" baseline="0" noProof="0" dirty="0" smtClean="0">
                <a:ln>
                  <a:noFill/>
                </a:ln>
                <a:solidFill>
                  <a:srgbClr val="1F497D"/>
                </a:solidFill>
                <a:effectLst/>
                <a:uLnTx/>
                <a:uFillTx/>
                <a:latin typeface="Georgia"/>
                <a:ea typeface="+mn-ea"/>
                <a:cs typeface="+mn-cs"/>
              </a:rPr>
              <a:t>#2 </a:t>
            </a:r>
            <a:r>
              <a:rPr kumimoji="0" lang="en-US" sz="3200" b="0" i="0" u="none" strike="noStrike" kern="1200" cap="none" spc="0" normalizeH="0" baseline="0" noProof="0" dirty="0" smtClean="0">
                <a:ln>
                  <a:noFill/>
                </a:ln>
                <a:solidFill>
                  <a:srgbClr val="1F497D"/>
                </a:solidFill>
                <a:effectLst/>
                <a:uLnTx/>
                <a:uFillTx/>
                <a:latin typeface="Georgia"/>
                <a:ea typeface="+mn-ea"/>
                <a:cs typeface="+mn-cs"/>
                <a:sym typeface="Wingdings 3" panose="05040102010807070707" pitchFamily="18" charset="2"/>
              </a:rPr>
              <a:t></a:t>
            </a:r>
            <a:r>
              <a:rPr kumimoji="0" lang="en-US" sz="3200" b="0" i="0" u="none" strike="noStrike" kern="1200" cap="none" spc="0" normalizeH="0" baseline="0" noProof="0" dirty="0">
                <a:ln>
                  <a:noFill/>
                </a:ln>
                <a:solidFill>
                  <a:srgbClr val="1F497D"/>
                </a:solidFill>
                <a:effectLst/>
                <a:uLnTx/>
                <a:uFillTx/>
                <a:latin typeface="Georgia"/>
                <a:ea typeface="+mn-ea"/>
                <a:cs typeface="+mn-cs"/>
              </a:rPr>
              <a:t> View (Presentation</a:t>
            </a:r>
            <a:r>
              <a:rPr kumimoji="0" lang="en-US" sz="3200" b="0" i="0" u="none" strike="noStrike" kern="1200" cap="none" spc="0" normalizeH="0" baseline="0" noProof="0" dirty="0" smtClean="0">
                <a:ln>
                  <a:noFill/>
                </a:ln>
                <a:solidFill>
                  <a:srgbClr val="1F497D"/>
                </a:solidFill>
                <a:effectLst/>
                <a:uLnTx/>
                <a:uFillTx/>
                <a:latin typeface="Georgia"/>
                <a:ea typeface="+mn-ea"/>
                <a:cs typeface="+mn-cs"/>
              </a:rPr>
              <a:t>)</a:t>
            </a:r>
            <a:endParaRPr kumimoji="0" lang="en-US" sz="3200" b="0" i="0" u="none" strike="noStrike" kern="1200" cap="none" spc="0" normalizeH="0" baseline="0" noProof="0" dirty="0">
              <a:ln>
                <a:noFill/>
              </a:ln>
              <a:solidFill>
                <a:srgbClr val="1F497D"/>
              </a:solidFill>
              <a:effectLst/>
              <a:uLnTx/>
              <a:uFillTx/>
              <a:latin typeface="Georgia"/>
              <a:ea typeface="+mn-ea"/>
              <a:cs typeface="+mn-cs"/>
            </a:endParaRPr>
          </a:p>
        </p:txBody>
      </p:sp>
      <p:pic>
        <p:nvPicPr>
          <p:cNvPr id="3" name="Picture 2" descr="Question mark 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542" y="1143000"/>
            <a:ext cx="3212694" cy="428359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3352800" y="1371600"/>
            <a:ext cx="5638800" cy="120032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Responsible to display the data provided by the  model in a specific </a:t>
            </a:r>
            <a:r>
              <a:rPr kumimoji="0" lang="en-US" sz="2400" b="0"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format.</a:t>
            </a:r>
            <a:endParaRPr kumimoji="0" lang="en-US" sz="24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endParaRPr>
          </a:p>
        </p:txBody>
      </p:sp>
      <p:sp>
        <p:nvSpPr>
          <p:cNvPr id="6" name="object 4"/>
          <p:cNvSpPr/>
          <p:nvPr/>
        </p:nvSpPr>
        <p:spPr>
          <a:xfrm>
            <a:off x="4166870" y="2571929"/>
            <a:ext cx="4824730" cy="3517900"/>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lumMod val="95000"/>
                  <a:lumOff val="5000"/>
                </a:prstClr>
              </a:solidFill>
              <a:effectLst/>
              <a:uLnTx/>
              <a:uFillTx/>
              <a:latin typeface="Calibri"/>
              <a:ea typeface="+mn-ea"/>
              <a:cs typeface="+mn-cs"/>
            </a:endParaRPr>
          </a:p>
        </p:txBody>
      </p:sp>
      <p:sp>
        <p:nvSpPr>
          <p:cNvPr id="2" name="Rectangle 1"/>
          <p:cNvSpPr/>
          <p:nvPr/>
        </p:nvSpPr>
        <p:spPr>
          <a:xfrm>
            <a:off x="984078" y="5919036"/>
            <a:ext cx="6365584" cy="707886"/>
          </a:xfrm>
          <a:prstGeom prst="rect">
            <a:avLst/>
          </a:prstGeom>
        </p:spPr>
        <p:txBody>
          <a:bodyPr wrap="square">
            <a:spAutoFit/>
          </a:bodyPr>
          <a:lstStyle/>
          <a:p>
            <a:pPr algn="ctr"/>
            <a:r>
              <a:rPr lang="en-US" sz="2000" dirty="0">
                <a:latin typeface="Georgia" panose="02040502050405020303" pitchFamily="18" charset="0"/>
              </a:rPr>
              <a:t>A view is responsible for </a:t>
            </a:r>
            <a:r>
              <a:rPr lang="en-US" sz="2000" dirty="0" smtClean="0">
                <a:latin typeface="Georgia" panose="02040502050405020303" pitchFamily="18" charset="0"/>
              </a:rPr>
              <a:t>UI (</a:t>
            </a:r>
            <a:r>
              <a:rPr lang="en-US" sz="2000" i="1" dirty="0">
                <a:latin typeface="Georgia" panose="02040502050405020303" pitchFamily="18" charset="0"/>
              </a:rPr>
              <a:t>user interface</a:t>
            </a:r>
            <a:r>
              <a:rPr lang="en-US" sz="2000" dirty="0" smtClean="0">
                <a:latin typeface="Georgia" panose="02040502050405020303" pitchFamily="18" charset="0"/>
              </a:rPr>
              <a:t>). </a:t>
            </a:r>
            <a:r>
              <a:rPr lang="en-US" sz="2000" dirty="0">
                <a:latin typeface="Georgia" panose="02040502050405020303" pitchFamily="18" charset="0"/>
              </a:rPr>
              <a:t>View displays the data coming from the model.</a:t>
            </a:r>
          </a:p>
        </p:txBody>
      </p:sp>
    </p:spTree>
    <p:extLst>
      <p:ext uri="{BB962C8B-B14F-4D97-AF65-F5344CB8AC3E}">
        <p14:creationId xmlns:p14="http://schemas.microsoft.com/office/powerpoint/2010/main" val="305885530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0" i="0" u="none" strike="noStrike" kern="1200" cap="none" spc="0" normalizeH="0" baseline="0" noProof="0" dirty="0">
                <a:ln>
                  <a:noFill/>
                </a:ln>
                <a:solidFill>
                  <a:srgbClr val="1F497D"/>
                </a:solidFill>
                <a:effectLst/>
                <a:uLnTx/>
                <a:uFillTx/>
                <a:latin typeface="Georgia"/>
                <a:ea typeface="+mn-ea"/>
                <a:cs typeface="+mn-cs"/>
              </a:rPr>
              <a:t>Component </a:t>
            </a:r>
            <a:r>
              <a:rPr kumimoji="0" lang="en-US" sz="3200" b="0" i="0" u="none" strike="noStrike" kern="1200" cap="none" spc="0" normalizeH="0" baseline="0" noProof="0" dirty="0" smtClean="0">
                <a:ln>
                  <a:noFill/>
                </a:ln>
                <a:solidFill>
                  <a:srgbClr val="1F497D"/>
                </a:solidFill>
                <a:effectLst/>
                <a:uLnTx/>
                <a:uFillTx/>
                <a:latin typeface="Georgia"/>
                <a:ea typeface="+mn-ea"/>
                <a:cs typeface="+mn-cs"/>
              </a:rPr>
              <a:t>#2 </a:t>
            </a:r>
            <a:r>
              <a:rPr kumimoji="0" lang="en-US" sz="3200" b="0" i="0" u="none" strike="noStrike" kern="1200" cap="none" spc="0" normalizeH="0" baseline="0" noProof="0" dirty="0" smtClean="0">
                <a:ln>
                  <a:noFill/>
                </a:ln>
                <a:solidFill>
                  <a:srgbClr val="1F497D"/>
                </a:solidFill>
                <a:effectLst/>
                <a:uLnTx/>
                <a:uFillTx/>
                <a:latin typeface="Georgia"/>
                <a:ea typeface="+mn-ea"/>
                <a:cs typeface="+mn-cs"/>
                <a:sym typeface="Wingdings 3" panose="05040102010807070707" pitchFamily="18" charset="2"/>
              </a:rPr>
              <a:t></a:t>
            </a:r>
            <a:r>
              <a:rPr kumimoji="0" lang="en-US" sz="3200" b="0" i="0" u="none" strike="noStrike" kern="1200" cap="none" spc="0" normalizeH="0" baseline="0" noProof="0" dirty="0">
                <a:ln>
                  <a:noFill/>
                </a:ln>
                <a:solidFill>
                  <a:srgbClr val="1F497D"/>
                </a:solidFill>
                <a:effectLst/>
                <a:uLnTx/>
                <a:uFillTx/>
                <a:latin typeface="Georgia"/>
                <a:ea typeface="+mn-ea"/>
                <a:cs typeface="+mn-cs"/>
              </a:rPr>
              <a:t> View (Presentation</a:t>
            </a:r>
            <a:r>
              <a:rPr kumimoji="0" lang="en-US" sz="3200" b="0" i="0" u="none" strike="noStrike" kern="1200" cap="none" spc="0" normalizeH="0" baseline="0" noProof="0" dirty="0" smtClean="0">
                <a:ln>
                  <a:noFill/>
                </a:ln>
                <a:solidFill>
                  <a:srgbClr val="1F497D"/>
                </a:solidFill>
                <a:effectLst/>
                <a:uLnTx/>
                <a:uFillTx/>
                <a:latin typeface="Georgia"/>
                <a:ea typeface="+mn-ea"/>
                <a:cs typeface="+mn-cs"/>
              </a:rPr>
              <a:t>)</a:t>
            </a:r>
            <a:endParaRPr kumimoji="0" lang="en-US" sz="3200" b="0" i="0" u="none" strike="noStrike" kern="1200" cap="none" spc="0" normalizeH="0" baseline="0" noProof="0" dirty="0">
              <a:ln>
                <a:noFill/>
              </a:ln>
              <a:solidFill>
                <a:srgbClr val="1F497D"/>
              </a:solidFill>
              <a:effectLst/>
              <a:uLnTx/>
              <a:uFillTx/>
              <a:latin typeface="Georgia"/>
              <a:ea typeface="+mn-ea"/>
              <a:cs typeface="+mn-cs"/>
            </a:endParaRPr>
          </a:p>
        </p:txBody>
      </p:sp>
      <p:pic>
        <p:nvPicPr>
          <p:cNvPr id="3" name="Picture 2" descr="Question mark 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542" y="1143000"/>
            <a:ext cx="3212694" cy="428359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4038600" y="1447800"/>
            <a:ext cx="4572000" cy="3539430"/>
          </a:xfrm>
          <a:prstGeom prst="rect">
            <a:avLst/>
          </a:prstGeom>
        </p:spPr>
        <p:txBody>
          <a:bodyPr>
            <a:spAutoFit/>
          </a:bodyPr>
          <a:lstStyle/>
          <a:p>
            <a:r>
              <a:rPr lang="en-US" sz="3200" b="1" dirty="0">
                <a:solidFill>
                  <a:srgbClr val="202124"/>
                </a:solidFill>
                <a:latin typeface="Georgia" panose="02040502050405020303" pitchFamily="18" charset="0"/>
              </a:rPr>
              <a:t>View in MVC</a:t>
            </a:r>
            <a:r>
              <a:rPr lang="en-US" sz="3200" dirty="0">
                <a:solidFill>
                  <a:srgbClr val="202124"/>
                </a:solidFill>
                <a:latin typeface="Georgia" panose="02040502050405020303" pitchFamily="18" charset="0"/>
              </a:rPr>
              <a:t> is a user interface. A view is used to display data to the user </a:t>
            </a:r>
            <a:r>
              <a:rPr lang="en-US" sz="3200" dirty="0" smtClean="0">
                <a:solidFill>
                  <a:srgbClr val="202124"/>
                </a:solidFill>
                <a:latin typeface="Georgia" panose="02040502050405020303" pitchFamily="18" charset="0"/>
              </a:rPr>
              <a:t>using </a:t>
            </a:r>
            <a:r>
              <a:rPr lang="en-US" sz="3200" dirty="0">
                <a:solidFill>
                  <a:srgbClr val="202124"/>
                </a:solidFill>
                <a:latin typeface="Georgia" panose="02040502050405020303" pitchFamily="18" charset="0"/>
              </a:rPr>
              <a:t>the model class </a:t>
            </a:r>
            <a:r>
              <a:rPr lang="en-US" sz="3200" dirty="0" smtClean="0">
                <a:solidFill>
                  <a:srgbClr val="202124"/>
                </a:solidFill>
                <a:latin typeface="Georgia" panose="02040502050405020303" pitchFamily="18" charset="0"/>
              </a:rPr>
              <a:t>object </a:t>
            </a:r>
            <a:r>
              <a:rPr lang="en-US" sz="3200" dirty="0">
                <a:solidFill>
                  <a:srgbClr val="202124"/>
                </a:solidFill>
                <a:latin typeface="Georgia" panose="02040502050405020303" pitchFamily="18" charset="0"/>
              </a:rPr>
              <a:t>and also enables </a:t>
            </a:r>
            <a:r>
              <a:rPr lang="en-US" sz="3200" dirty="0" smtClean="0">
                <a:solidFill>
                  <a:srgbClr val="202124"/>
                </a:solidFill>
                <a:latin typeface="Georgia" panose="02040502050405020303" pitchFamily="18" charset="0"/>
              </a:rPr>
              <a:t>users </a:t>
            </a:r>
            <a:r>
              <a:rPr lang="en-US" sz="3200" dirty="0">
                <a:solidFill>
                  <a:srgbClr val="202124"/>
                </a:solidFill>
                <a:latin typeface="Georgia" panose="02040502050405020303" pitchFamily="18" charset="0"/>
              </a:rPr>
              <a:t>to modify </a:t>
            </a:r>
            <a:r>
              <a:rPr lang="en-US" sz="3200" dirty="0" smtClean="0">
                <a:solidFill>
                  <a:srgbClr val="202124"/>
                </a:solidFill>
                <a:latin typeface="Georgia" panose="02040502050405020303" pitchFamily="18" charset="0"/>
              </a:rPr>
              <a:t>them.</a:t>
            </a:r>
            <a:endParaRPr lang="en-US" sz="3200" dirty="0">
              <a:latin typeface="Georgia" panose="02040502050405020303" pitchFamily="18" charset="0"/>
            </a:endParaRPr>
          </a:p>
        </p:txBody>
      </p:sp>
    </p:spTree>
    <p:extLst>
      <p:ext uri="{BB962C8B-B14F-4D97-AF65-F5344CB8AC3E}">
        <p14:creationId xmlns:p14="http://schemas.microsoft.com/office/powerpoint/2010/main" val="67769820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9144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lang="en-US" dirty="0" smtClean="0">
                <a:solidFill>
                  <a:srgbClr val="1F497D"/>
                </a:solidFill>
                <a:latin typeface="Georgia"/>
              </a:rPr>
              <a:t>Types </a:t>
            </a:r>
            <a:r>
              <a:rPr lang="en-US" dirty="0">
                <a:solidFill>
                  <a:srgbClr val="1F497D"/>
                </a:solidFill>
                <a:latin typeface="Georgia"/>
              </a:rPr>
              <a:t>of Views</a:t>
            </a:r>
            <a:endParaRPr kumimoji="0" lang="en-US" sz="4000" b="0" i="0" u="none" strike="noStrike" kern="1200" cap="none" spc="0" normalizeH="0" baseline="0" noProof="0" dirty="0">
              <a:ln>
                <a:noFill/>
              </a:ln>
              <a:solidFill>
                <a:srgbClr val="1F497D"/>
              </a:solidFill>
              <a:effectLst/>
              <a:uLnTx/>
              <a:uFillTx/>
              <a:latin typeface="Georgia"/>
              <a:ea typeface="+mn-ea"/>
              <a:cs typeface="+mn-cs"/>
            </a:endParaRPr>
          </a:p>
        </p:txBody>
      </p:sp>
      <p:sp>
        <p:nvSpPr>
          <p:cNvPr id="2" name="Rectangle 1"/>
          <p:cNvSpPr/>
          <p:nvPr/>
        </p:nvSpPr>
        <p:spPr>
          <a:xfrm>
            <a:off x="153318" y="1295400"/>
            <a:ext cx="8838282" cy="2585323"/>
          </a:xfrm>
          <a:prstGeom prst="rect">
            <a:avLst/>
          </a:prstGeom>
        </p:spPr>
        <p:txBody>
          <a:bodyPr wrap="square">
            <a:spAutoFit/>
          </a:bodyPr>
          <a:lstStyle/>
          <a:p>
            <a:pPr marL="342900" indent="-342900">
              <a:buFont typeface="+mj-lt"/>
              <a:buAutoNum type="arabicParenR"/>
            </a:pPr>
            <a:r>
              <a:rPr lang="en-US" b="1" dirty="0">
                <a:latin typeface="Georgia" panose="02040502050405020303" pitchFamily="18" charset="0"/>
              </a:rPr>
              <a:t>Normal </a:t>
            </a:r>
            <a:r>
              <a:rPr lang="en-US" b="1" dirty="0" smtClean="0">
                <a:latin typeface="Georgia" panose="02040502050405020303" pitchFamily="18" charset="0"/>
              </a:rPr>
              <a:t>view</a:t>
            </a:r>
            <a:br>
              <a:rPr lang="en-US" b="1" dirty="0" smtClean="0">
                <a:latin typeface="Georgia" panose="02040502050405020303" pitchFamily="18" charset="0"/>
              </a:rPr>
            </a:br>
            <a:r>
              <a:rPr lang="en-US" dirty="0" smtClean="0">
                <a:latin typeface="Georgia" panose="02040502050405020303" pitchFamily="18" charset="0"/>
              </a:rPr>
              <a:t>It's </a:t>
            </a:r>
            <a:r>
              <a:rPr lang="en-US" dirty="0">
                <a:latin typeface="Georgia" panose="02040502050405020303" pitchFamily="18" charset="0"/>
              </a:rPr>
              <a:t>the same as web page. </a:t>
            </a:r>
            <a:r>
              <a:rPr lang="en-US" dirty="0" smtClean="0">
                <a:latin typeface="Georgia" panose="02040502050405020303" pitchFamily="18" charset="0"/>
              </a:rPr>
              <a:t>To </a:t>
            </a:r>
            <a:r>
              <a:rPr lang="en-US" dirty="0">
                <a:latin typeface="Georgia" panose="02040502050405020303" pitchFamily="18" charset="0"/>
              </a:rPr>
              <a:t>create this view we use the view page template, </a:t>
            </a:r>
            <a:r>
              <a:rPr lang="en-US" dirty="0" smtClean="0">
                <a:latin typeface="Georgia" panose="02040502050405020303" pitchFamily="18" charset="0"/>
              </a:rPr>
              <a:t>(</a:t>
            </a:r>
            <a:r>
              <a:rPr lang="en-US" i="1" dirty="0" smtClean="0">
                <a:latin typeface="Georgia" panose="02040502050405020303" pitchFamily="18" charset="0"/>
              </a:rPr>
              <a:t>MVC </a:t>
            </a:r>
            <a:r>
              <a:rPr lang="en-US" i="1" dirty="0">
                <a:latin typeface="Georgia" panose="02040502050405020303" pitchFamily="18" charset="0"/>
              </a:rPr>
              <a:t>to view page template in MVC </a:t>
            </a:r>
            <a:r>
              <a:rPr lang="en-US" i="1" dirty="0" smtClean="0">
                <a:latin typeface="Georgia" panose="02040502050405020303" pitchFamily="18" charset="0"/>
              </a:rPr>
              <a:t>application</a:t>
            </a:r>
            <a:r>
              <a:rPr lang="en-US" dirty="0" smtClean="0">
                <a:latin typeface="Georgia" panose="02040502050405020303" pitchFamily="18" charset="0"/>
              </a:rPr>
              <a:t>).</a:t>
            </a:r>
          </a:p>
          <a:p>
            <a:pPr marL="342900" indent="-342900">
              <a:buFont typeface="+mj-lt"/>
              <a:buAutoNum type="arabicParenR"/>
            </a:pPr>
            <a:endParaRPr lang="en-US" dirty="0">
              <a:latin typeface="Georgia" panose="02040502050405020303" pitchFamily="18" charset="0"/>
            </a:endParaRPr>
          </a:p>
          <a:p>
            <a:pPr marL="342900" indent="-342900">
              <a:buFont typeface="+mj-lt"/>
              <a:buAutoNum type="arabicParenR"/>
            </a:pPr>
            <a:r>
              <a:rPr lang="en-US" b="1" dirty="0">
                <a:latin typeface="Georgia" panose="02040502050405020303" pitchFamily="18" charset="0"/>
              </a:rPr>
              <a:t>Partial </a:t>
            </a:r>
            <a:r>
              <a:rPr lang="en-US" b="1" dirty="0" smtClean="0">
                <a:latin typeface="Georgia" panose="02040502050405020303" pitchFamily="18" charset="0"/>
              </a:rPr>
              <a:t>view </a:t>
            </a:r>
            <a:r>
              <a:rPr lang="en-US" dirty="0" smtClean="0">
                <a:latin typeface="Georgia" panose="02040502050405020303" pitchFamily="18" charset="0"/>
              </a:rPr>
              <a:t/>
            </a:r>
            <a:br>
              <a:rPr lang="en-US" dirty="0" smtClean="0">
                <a:latin typeface="Georgia" panose="02040502050405020303" pitchFamily="18" charset="0"/>
              </a:rPr>
            </a:br>
            <a:r>
              <a:rPr lang="en-US" dirty="0" smtClean="0">
                <a:latin typeface="Georgia" panose="02040502050405020303" pitchFamily="18" charset="0"/>
              </a:rPr>
              <a:t>It's </a:t>
            </a:r>
            <a:r>
              <a:rPr lang="en-US" dirty="0">
                <a:latin typeface="Georgia" panose="02040502050405020303" pitchFamily="18" charset="0"/>
              </a:rPr>
              <a:t>the same as user </a:t>
            </a:r>
            <a:r>
              <a:rPr lang="en-US" dirty="0" smtClean="0">
                <a:latin typeface="Georgia" panose="02040502050405020303" pitchFamily="18" charset="0"/>
              </a:rPr>
              <a:t>control</a:t>
            </a:r>
            <a:r>
              <a:rPr lang="en-US" dirty="0">
                <a:latin typeface="Georgia" panose="02040502050405020303" pitchFamily="18" charset="0"/>
              </a:rPr>
              <a:t>. Partial views are similar to the user </a:t>
            </a:r>
            <a:r>
              <a:rPr lang="en-US" dirty="0" smtClean="0">
                <a:latin typeface="Georgia" panose="02040502050405020303" pitchFamily="18" charset="0"/>
              </a:rPr>
              <a:t>controller.</a:t>
            </a:r>
          </a:p>
          <a:p>
            <a:pPr marL="342900" indent="-342900">
              <a:buFont typeface="+mj-lt"/>
              <a:buAutoNum type="arabicParenR"/>
            </a:pPr>
            <a:endParaRPr lang="en-US" dirty="0">
              <a:latin typeface="Georgia" panose="02040502050405020303" pitchFamily="18" charset="0"/>
            </a:endParaRPr>
          </a:p>
          <a:p>
            <a:pPr marL="342900" indent="-342900">
              <a:buFont typeface="+mj-lt"/>
              <a:buAutoNum type="arabicParenR"/>
            </a:pPr>
            <a:r>
              <a:rPr lang="en-US" b="1" dirty="0">
                <a:latin typeface="Georgia" panose="02040502050405020303" pitchFamily="18" charset="0"/>
              </a:rPr>
              <a:t>Layout </a:t>
            </a:r>
            <a:r>
              <a:rPr lang="en-US" b="1" dirty="0" smtClean="0">
                <a:latin typeface="Georgia" panose="02040502050405020303" pitchFamily="18" charset="0"/>
              </a:rPr>
              <a:t>View </a:t>
            </a:r>
            <a:br>
              <a:rPr lang="en-US" b="1" dirty="0" smtClean="0">
                <a:latin typeface="Georgia" panose="02040502050405020303" pitchFamily="18" charset="0"/>
              </a:rPr>
            </a:br>
            <a:r>
              <a:rPr lang="en-US" dirty="0" smtClean="0">
                <a:latin typeface="Georgia" panose="02040502050405020303" pitchFamily="18" charset="0"/>
              </a:rPr>
              <a:t>It's </a:t>
            </a:r>
            <a:r>
              <a:rPr lang="en-US" dirty="0">
                <a:latin typeface="Georgia" panose="02040502050405020303" pitchFamily="18" charset="0"/>
              </a:rPr>
              <a:t>the same as a master </a:t>
            </a:r>
            <a:r>
              <a:rPr lang="en-US" dirty="0" smtClean="0">
                <a:latin typeface="Georgia" panose="02040502050405020303" pitchFamily="18" charset="0"/>
              </a:rPr>
              <a:t>page. </a:t>
            </a:r>
            <a:r>
              <a:rPr lang="en-US" dirty="0">
                <a:latin typeface="Georgia" panose="02040502050405020303" pitchFamily="18" charset="0"/>
              </a:rPr>
              <a:t>To create a master page view we use a </a:t>
            </a:r>
            <a:r>
              <a:rPr lang="en-US" dirty="0" smtClean="0">
                <a:latin typeface="Georgia" panose="02040502050405020303" pitchFamily="18" charset="0"/>
              </a:rPr>
              <a:t>template.</a:t>
            </a:r>
            <a:endParaRPr lang="en-US" dirty="0">
              <a:latin typeface="Georgia" panose="02040502050405020303" pitchFamily="18" charset="0"/>
            </a:endParaRPr>
          </a:p>
        </p:txBody>
      </p:sp>
      <p:sp>
        <p:nvSpPr>
          <p:cNvPr id="3" name="Rectangle 2"/>
          <p:cNvSpPr/>
          <p:nvPr/>
        </p:nvSpPr>
        <p:spPr>
          <a:xfrm>
            <a:off x="304800" y="6019800"/>
            <a:ext cx="4650632" cy="646331"/>
          </a:xfrm>
          <a:prstGeom prst="rect">
            <a:avLst/>
          </a:prstGeom>
        </p:spPr>
        <p:txBody>
          <a:bodyPr wrap="none">
            <a:spAutoFit/>
          </a:bodyPr>
          <a:lstStyle/>
          <a:p>
            <a:r>
              <a:rPr lang="en-US" b="1" dirty="0" smtClean="0">
                <a:latin typeface="Georgia" panose="02040502050405020303" pitchFamily="18" charset="0"/>
              </a:rPr>
              <a:t>Read Source:</a:t>
            </a:r>
          </a:p>
          <a:p>
            <a:r>
              <a:rPr lang="en-US" dirty="0" smtClean="0">
                <a:latin typeface="Georgia" panose="02040502050405020303" pitchFamily="18" charset="0"/>
                <a:hlinkClick r:id="rId2"/>
              </a:rPr>
              <a:t>https</a:t>
            </a:r>
            <a:r>
              <a:rPr lang="en-US" dirty="0">
                <a:latin typeface="Georgia" panose="02040502050405020303" pitchFamily="18" charset="0"/>
                <a:hlinkClick r:id="rId2"/>
              </a:rPr>
              <a:t>://</a:t>
            </a:r>
            <a:r>
              <a:rPr lang="en-US" dirty="0" smtClean="0">
                <a:latin typeface="Georgia" panose="02040502050405020303" pitchFamily="18" charset="0"/>
                <a:hlinkClick r:id="rId2"/>
              </a:rPr>
              <a:t>tekslate.com/many-types-view-mvc</a:t>
            </a:r>
            <a:endParaRPr lang="en-US" dirty="0">
              <a:latin typeface="Georgia" panose="02040502050405020303"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0" y="2895600"/>
            <a:ext cx="7620000" cy="1323439"/>
          </a:xfrm>
          <a:prstGeom prst="rect">
            <a:avLst/>
          </a:prstGeom>
        </p:spPr>
        <p:txBody>
          <a:bodyPr wrap="square">
            <a:spAutoFit/>
          </a:bodyPr>
          <a:lstStyle/>
          <a:p>
            <a:pPr lvl="0" algn="ctr">
              <a:defRPr/>
            </a:pPr>
            <a:r>
              <a:rPr kumimoji="0" lang="en-US" sz="4000" b="0" i="0" u="none" strike="noStrike" kern="1200" cap="none" spc="0" normalizeH="0" baseline="0" noProof="0" dirty="0" smtClean="0">
                <a:ln>
                  <a:noFill/>
                </a:ln>
                <a:solidFill>
                  <a:prstClr val="black"/>
                </a:solidFill>
                <a:effectLst/>
                <a:uLnTx/>
                <a:uFillTx/>
                <a:latin typeface="Georgia"/>
                <a:ea typeface="+mn-ea"/>
                <a:cs typeface="+mn-cs"/>
              </a:rPr>
              <a:t>2 – Basic </a:t>
            </a:r>
            <a:r>
              <a:rPr lang="en-US" sz="4000" b="1" i="1" noProof="0" dirty="0" smtClean="0">
                <a:solidFill>
                  <a:prstClr val="black"/>
                </a:solidFill>
              </a:rPr>
              <a:t>d</a:t>
            </a:r>
            <a:r>
              <a:rPr lang="en-US" sz="4000" b="1" i="1" dirty="0" err="1" smtClean="0">
                <a:solidFill>
                  <a:prstClr val="black"/>
                </a:solidFill>
              </a:rPr>
              <a:t>isplay</a:t>
            </a:r>
            <a:r>
              <a:rPr lang="en-US" sz="4000" dirty="0" smtClean="0">
                <a:solidFill>
                  <a:prstClr val="black"/>
                </a:solidFill>
              </a:rPr>
              <a:t> </a:t>
            </a:r>
            <a:r>
              <a:rPr lang="en-US" sz="4000" dirty="0">
                <a:solidFill>
                  <a:prstClr val="black"/>
                </a:solidFill>
              </a:rPr>
              <a:t>the </a:t>
            </a:r>
            <a:r>
              <a:rPr lang="en-US" sz="4000" dirty="0" smtClean="0">
                <a:solidFill>
                  <a:prstClr val="black"/>
                </a:solidFill>
              </a:rPr>
              <a:t>page from </a:t>
            </a:r>
          </a:p>
          <a:p>
            <a:pPr lvl="0" algn="ctr">
              <a:defRPr/>
            </a:pPr>
            <a:r>
              <a:rPr lang="en-US" sz="4000" dirty="0" smtClean="0">
                <a:solidFill>
                  <a:prstClr val="black"/>
                </a:solidFill>
              </a:rPr>
              <a:t>“</a:t>
            </a:r>
            <a:r>
              <a:rPr lang="en-US" sz="4000" i="1" dirty="0" smtClean="0">
                <a:solidFill>
                  <a:prstClr val="black"/>
                </a:solidFill>
              </a:rPr>
              <a:t>home &amp; project</a:t>
            </a:r>
            <a:r>
              <a:rPr lang="en-US" sz="4000" dirty="0" smtClean="0">
                <a:solidFill>
                  <a:prstClr val="black"/>
                </a:solidFill>
              </a:rPr>
              <a:t>” view. </a:t>
            </a:r>
            <a:endParaRPr kumimoji="0" lang="en-US" sz="4000" b="0" i="0" u="none" strike="noStrike" kern="1200" cap="none" spc="0" normalizeH="0" baseline="0" noProof="0" dirty="0">
              <a:ln>
                <a:noFill/>
              </a:ln>
              <a:solidFill>
                <a:prstClr val="black"/>
              </a:solidFill>
              <a:effectLst/>
              <a:uLnTx/>
              <a:uFillTx/>
              <a:latin typeface="Georgia"/>
              <a:ea typeface="+mn-ea"/>
              <a:cs typeface="+mn-cs"/>
            </a:endParaRPr>
          </a:p>
        </p:txBody>
      </p:sp>
      <p:pic>
        <p:nvPicPr>
          <p:cNvPr id="3074" name="Picture 2" descr="Fresh Green Leaves Header On White Background Stock Photo, Picture And  Royalty Free Image. Image 78250847."/>
          <p:cNvPicPr>
            <a:picLocks noChangeAspect="1" noChangeArrowheads="1"/>
          </p:cNvPicPr>
          <p:nvPr/>
        </p:nvPicPr>
        <p:blipFill rotWithShape="1">
          <a:blip r:embed="rId2">
            <a:extLst>
              <a:ext uri="{28A0092B-C50C-407E-A947-70E740481C1C}">
                <a14:useLocalDpi xmlns:a14="http://schemas.microsoft.com/office/drawing/2010/main" val="0"/>
              </a:ext>
            </a:extLst>
          </a:blip>
          <a:srcRect b="37312"/>
          <a:stretch/>
        </p:blipFill>
        <p:spPr bwMode="auto">
          <a:xfrm>
            <a:off x="0" y="0"/>
            <a:ext cx="91440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Fresh Green Leaves Header On White Background Stock Photo, Picture And  Royalty Free Image. Image 78250847."/>
          <p:cNvPicPr>
            <a:picLocks noChangeAspect="1" noChangeArrowheads="1"/>
          </p:cNvPicPr>
          <p:nvPr/>
        </p:nvPicPr>
        <p:blipFill rotWithShape="1">
          <a:blip r:embed="rId2">
            <a:extLst>
              <a:ext uri="{28A0092B-C50C-407E-A947-70E740481C1C}">
                <a14:useLocalDpi xmlns:a14="http://schemas.microsoft.com/office/drawing/2010/main" val="0"/>
              </a:ext>
            </a:extLst>
          </a:blip>
          <a:srcRect b="37312"/>
          <a:stretch/>
        </p:blipFill>
        <p:spPr bwMode="auto">
          <a:xfrm rot="10800000">
            <a:off x="0" y="4419600"/>
            <a:ext cx="9144000"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520650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lang="en-US" sz="3200" dirty="0" smtClean="0">
                <a:solidFill>
                  <a:srgbClr val="1F497D"/>
                </a:solidFill>
                <a:latin typeface="Georgia"/>
              </a:rPr>
              <a:t>1 - Create Subdirectory in View</a:t>
            </a:r>
            <a:endParaRPr kumimoji="0" lang="en-US" sz="3200" b="0" i="0" u="none" strike="noStrike" kern="1200" cap="none" spc="0" normalizeH="0" baseline="0" noProof="0" dirty="0">
              <a:ln>
                <a:noFill/>
              </a:ln>
              <a:solidFill>
                <a:srgbClr val="1F497D"/>
              </a:solidFill>
              <a:effectLst/>
              <a:uLnTx/>
              <a:uFillTx/>
              <a:latin typeface="Georgia"/>
            </a:endParaRPr>
          </a:p>
        </p:txBody>
      </p:sp>
      <p:pic>
        <p:nvPicPr>
          <p:cNvPr id="3" name="Picture 2"/>
          <p:cNvPicPr>
            <a:picLocks noChangeAspect="1"/>
          </p:cNvPicPr>
          <p:nvPr/>
        </p:nvPicPr>
        <p:blipFill>
          <a:blip r:embed="rId2"/>
          <a:stretch>
            <a:fillRect/>
          </a:stretch>
        </p:blipFill>
        <p:spPr>
          <a:xfrm>
            <a:off x="4724400" y="1295400"/>
            <a:ext cx="4267200" cy="3520287"/>
          </a:xfrm>
          <a:prstGeom prst="rect">
            <a:avLst/>
          </a:prstGeom>
        </p:spPr>
      </p:pic>
      <p:sp>
        <p:nvSpPr>
          <p:cNvPr id="5" name="TextBox 4"/>
          <p:cNvSpPr txBox="1"/>
          <p:nvPr/>
        </p:nvSpPr>
        <p:spPr>
          <a:xfrm>
            <a:off x="678456" y="929089"/>
            <a:ext cx="2922595" cy="369332"/>
          </a:xfrm>
          <a:prstGeom prst="rect">
            <a:avLst/>
          </a:prstGeom>
          <a:noFill/>
        </p:spPr>
        <p:txBody>
          <a:bodyPr wrap="none" rtlCol="0">
            <a:spAutoFit/>
          </a:bodyPr>
          <a:lstStyle/>
          <a:p>
            <a:r>
              <a:rPr lang="en-US" b="1" i="1" dirty="0" smtClean="0">
                <a:latin typeface="Georgia" panose="02040502050405020303" pitchFamily="18" charset="0"/>
              </a:rPr>
              <a:t>/view/home/</a:t>
            </a:r>
            <a:r>
              <a:rPr lang="en-US" b="1" i="1" dirty="0" err="1" smtClean="0">
                <a:latin typeface="Georgia" panose="02040502050405020303" pitchFamily="18" charset="0"/>
              </a:rPr>
              <a:t>index.php</a:t>
            </a:r>
            <a:endParaRPr lang="en-US" b="1" i="1" dirty="0">
              <a:latin typeface="Georgia" panose="02040502050405020303" pitchFamily="18" charset="0"/>
            </a:endParaRPr>
          </a:p>
        </p:txBody>
      </p:sp>
      <p:sp>
        <p:nvSpPr>
          <p:cNvPr id="6" name="TextBox 5"/>
          <p:cNvSpPr txBox="1"/>
          <p:nvPr/>
        </p:nvSpPr>
        <p:spPr>
          <a:xfrm>
            <a:off x="5206875" y="929089"/>
            <a:ext cx="3130985" cy="369332"/>
          </a:xfrm>
          <a:prstGeom prst="rect">
            <a:avLst/>
          </a:prstGeom>
          <a:noFill/>
        </p:spPr>
        <p:txBody>
          <a:bodyPr wrap="none" rtlCol="0">
            <a:spAutoFit/>
          </a:bodyPr>
          <a:lstStyle/>
          <a:p>
            <a:r>
              <a:rPr lang="en-US" b="1" i="1" dirty="0" smtClean="0">
                <a:latin typeface="Georgia" panose="02040502050405020303" pitchFamily="18" charset="0"/>
              </a:rPr>
              <a:t>/view/project/</a:t>
            </a:r>
            <a:r>
              <a:rPr lang="en-US" b="1" i="1" dirty="0" err="1" smtClean="0">
                <a:latin typeface="Georgia" panose="02040502050405020303" pitchFamily="18" charset="0"/>
              </a:rPr>
              <a:t>index.php</a:t>
            </a:r>
            <a:endParaRPr lang="en-US" b="1" i="1" dirty="0">
              <a:latin typeface="Georgia" panose="02040502050405020303" pitchFamily="18" charset="0"/>
            </a:endParaRPr>
          </a:p>
        </p:txBody>
      </p:sp>
      <p:pic>
        <p:nvPicPr>
          <p:cNvPr id="7" name="Picture 6"/>
          <p:cNvPicPr>
            <a:picLocks noChangeAspect="1"/>
          </p:cNvPicPr>
          <p:nvPr/>
        </p:nvPicPr>
        <p:blipFill>
          <a:blip r:embed="rId3"/>
          <a:stretch>
            <a:fillRect/>
          </a:stretch>
        </p:blipFill>
        <p:spPr>
          <a:xfrm>
            <a:off x="152401" y="1295400"/>
            <a:ext cx="4267200" cy="3520287"/>
          </a:xfrm>
          <a:prstGeom prst="rect">
            <a:avLst/>
          </a:prstGeom>
        </p:spPr>
      </p:pic>
      <p:sp>
        <p:nvSpPr>
          <p:cNvPr id="8" name="Rectangle 7"/>
          <p:cNvSpPr/>
          <p:nvPr/>
        </p:nvSpPr>
        <p:spPr>
          <a:xfrm>
            <a:off x="82626" y="4918874"/>
            <a:ext cx="8908973" cy="1569660"/>
          </a:xfrm>
          <a:prstGeom prst="rect">
            <a:avLst/>
          </a:prstGeom>
        </p:spPr>
        <p:txBody>
          <a:bodyPr wrap="square">
            <a:spAutoFit/>
          </a:bodyPr>
          <a:lstStyle/>
          <a:p>
            <a:pPr marL="231775" indent="-231775">
              <a:buFont typeface="+mj-lt"/>
              <a:buAutoNum type="arabicParenR"/>
            </a:pPr>
            <a:r>
              <a:rPr lang="en-US" sz="1200" dirty="0">
                <a:latin typeface="Georgia" panose="02040502050405020303" pitchFamily="18" charset="0"/>
              </a:rPr>
              <a:t>The </a:t>
            </a:r>
            <a:r>
              <a:rPr lang="en-US" sz="1200" b="1" dirty="0">
                <a:latin typeface="Georgia" panose="02040502050405020303" pitchFamily="18" charset="0"/>
              </a:rPr>
              <a:t>&lt;!DOCTYPE html&gt;</a:t>
            </a:r>
            <a:r>
              <a:rPr lang="en-US" sz="1200" dirty="0">
                <a:latin typeface="Georgia" panose="02040502050405020303" pitchFamily="18" charset="0"/>
              </a:rPr>
              <a:t> declaration defines that this document is an HTML5 document</a:t>
            </a:r>
          </a:p>
          <a:p>
            <a:pPr marL="231775" indent="-231775">
              <a:buFont typeface="+mj-lt"/>
              <a:buAutoNum type="arabicParenR"/>
            </a:pPr>
            <a:r>
              <a:rPr lang="en-US" sz="1200" dirty="0">
                <a:latin typeface="Georgia" panose="02040502050405020303" pitchFamily="18" charset="0"/>
              </a:rPr>
              <a:t>The </a:t>
            </a:r>
            <a:r>
              <a:rPr lang="en-US" sz="1200" b="1" dirty="0">
                <a:latin typeface="Georgia" panose="02040502050405020303" pitchFamily="18" charset="0"/>
              </a:rPr>
              <a:t>&lt;html&gt;</a:t>
            </a:r>
            <a:r>
              <a:rPr lang="en-US" sz="1200" dirty="0">
                <a:latin typeface="Georgia" panose="02040502050405020303" pitchFamily="18" charset="0"/>
              </a:rPr>
              <a:t> element is the root element of an HTML page</a:t>
            </a:r>
          </a:p>
          <a:p>
            <a:pPr marL="231775" indent="-231775">
              <a:buFont typeface="+mj-lt"/>
              <a:buAutoNum type="arabicParenR"/>
            </a:pPr>
            <a:r>
              <a:rPr lang="en-US" sz="1200" dirty="0">
                <a:latin typeface="Georgia" panose="02040502050405020303" pitchFamily="18" charset="0"/>
              </a:rPr>
              <a:t>The </a:t>
            </a:r>
            <a:r>
              <a:rPr lang="en-US" sz="1200" b="1" dirty="0">
                <a:latin typeface="Georgia" panose="02040502050405020303" pitchFamily="18" charset="0"/>
              </a:rPr>
              <a:t>&lt;head&gt;</a:t>
            </a:r>
            <a:r>
              <a:rPr lang="en-US" sz="1200" dirty="0">
                <a:latin typeface="Georgia" panose="02040502050405020303" pitchFamily="18" charset="0"/>
              </a:rPr>
              <a:t> element contains meta information about the HTML page</a:t>
            </a:r>
          </a:p>
          <a:p>
            <a:pPr marL="231775" indent="-231775">
              <a:buFont typeface="+mj-lt"/>
              <a:buAutoNum type="arabicParenR"/>
            </a:pPr>
            <a:r>
              <a:rPr lang="en-US" sz="1200" dirty="0">
                <a:latin typeface="Georgia" panose="02040502050405020303" pitchFamily="18" charset="0"/>
              </a:rPr>
              <a:t>The </a:t>
            </a:r>
            <a:r>
              <a:rPr lang="en-US" sz="1200" b="1" dirty="0">
                <a:latin typeface="Georgia" panose="02040502050405020303" pitchFamily="18" charset="0"/>
              </a:rPr>
              <a:t>&lt;title&gt;</a:t>
            </a:r>
            <a:r>
              <a:rPr lang="en-US" sz="1200" dirty="0">
                <a:latin typeface="Georgia" panose="02040502050405020303" pitchFamily="18" charset="0"/>
              </a:rPr>
              <a:t> element specifies a title for the HTML page (</a:t>
            </a:r>
            <a:r>
              <a:rPr lang="en-US" sz="1200" i="1" dirty="0">
                <a:latin typeface="Georgia" panose="02040502050405020303" pitchFamily="18" charset="0"/>
              </a:rPr>
              <a:t>which is shown in the browser's title bar or in the page's tab</a:t>
            </a:r>
            <a:r>
              <a:rPr lang="en-US" sz="1200" dirty="0">
                <a:latin typeface="Georgia" panose="02040502050405020303" pitchFamily="18" charset="0"/>
              </a:rPr>
              <a:t>)</a:t>
            </a:r>
          </a:p>
          <a:p>
            <a:pPr marL="231775" indent="-231775">
              <a:buFont typeface="+mj-lt"/>
              <a:buAutoNum type="arabicParenR"/>
            </a:pPr>
            <a:r>
              <a:rPr lang="en-US" sz="1200" dirty="0">
                <a:latin typeface="Georgia" panose="02040502050405020303" pitchFamily="18" charset="0"/>
              </a:rPr>
              <a:t>The </a:t>
            </a:r>
            <a:r>
              <a:rPr lang="en-US" sz="1200" b="1" dirty="0">
                <a:latin typeface="Georgia" panose="02040502050405020303" pitchFamily="18" charset="0"/>
              </a:rPr>
              <a:t>&lt;body&gt;</a:t>
            </a:r>
            <a:r>
              <a:rPr lang="en-US" sz="1200" dirty="0">
                <a:latin typeface="Georgia" panose="02040502050405020303" pitchFamily="18" charset="0"/>
              </a:rPr>
              <a:t> element defines the document's body, and is a container for all the visible contents, such as headings, paragraphs, images, hyperlinks, tables, lists, etc.</a:t>
            </a:r>
          </a:p>
          <a:p>
            <a:pPr marL="231775" indent="-231775">
              <a:buFont typeface="+mj-lt"/>
              <a:buAutoNum type="arabicParenR"/>
            </a:pPr>
            <a:r>
              <a:rPr lang="en-US" sz="1200" dirty="0">
                <a:latin typeface="Georgia" panose="02040502050405020303" pitchFamily="18" charset="0"/>
              </a:rPr>
              <a:t>The </a:t>
            </a:r>
            <a:r>
              <a:rPr lang="en-US" sz="1200" b="1" dirty="0">
                <a:latin typeface="Georgia" panose="02040502050405020303" pitchFamily="18" charset="0"/>
              </a:rPr>
              <a:t>&lt;h1&gt;</a:t>
            </a:r>
            <a:r>
              <a:rPr lang="en-US" sz="1200" dirty="0">
                <a:latin typeface="Georgia" panose="02040502050405020303" pitchFamily="18" charset="0"/>
              </a:rPr>
              <a:t> element defines a large heading</a:t>
            </a:r>
          </a:p>
          <a:p>
            <a:pPr marL="231775" indent="-231775">
              <a:buFont typeface="+mj-lt"/>
              <a:buAutoNum type="arabicParenR"/>
            </a:pPr>
            <a:r>
              <a:rPr lang="en-US" sz="1200" dirty="0">
                <a:latin typeface="Georgia" panose="02040502050405020303" pitchFamily="18" charset="0"/>
              </a:rPr>
              <a:t>The </a:t>
            </a:r>
            <a:r>
              <a:rPr lang="en-US" sz="1200" b="1" dirty="0">
                <a:latin typeface="Georgia" panose="02040502050405020303" pitchFamily="18" charset="0"/>
              </a:rPr>
              <a:t>&lt;p&gt; </a:t>
            </a:r>
            <a:r>
              <a:rPr lang="en-US" sz="1200" dirty="0">
                <a:latin typeface="Georgia" panose="02040502050405020303" pitchFamily="18" charset="0"/>
              </a:rPr>
              <a:t>element defines a paragraph</a:t>
            </a:r>
          </a:p>
        </p:txBody>
      </p:sp>
      <p:sp>
        <p:nvSpPr>
          <p:cNvPr id="9" name="Rectangle 8"/>
          <p:cNvSpPr/>
          <p:nvPr/>
        </p:nvSpPr>
        <p:spPr>
          <a:xfrm>
            <a:off x="4927221" y="3012393"/>
            <a:ext cx="863979" cy="645207"/>
          </a:xfrm>
          <a:prstGeom prst="rect">
            <a:avLst/>
          </a:prstGeom>
          <a:solidFill>
            <a:srgbClr val="FFFF00">
              <a:alpha val="3000"/>
            </a:srgbClr>
          </a:solid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 name="Picture 13"/>
          <p:cNvPicPr>
            <a:picLocks noChangeAspect="1"/>
          </p:cNvPicPr>
          <p:nvPr/>
        </p:nvPicPr>
        <p:blipFill>
          <a:blip r:embed="rId2"/>
          <a:stretch>
            <a:fillRect/>
          </a:stretch>
        </p:blipFill>
        <p:spPr>
          <a:xfrm>
            <a:off x="4753488" y="1675482"/>
            <a:ext cx="4238111" cy="3205520"/>
          </a:xfrm>
          <a:prstGeom prst="rect">
            <a:avLst/>
          </a:prstGeom>
        </p:spPr>
      </p:pic>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lang="en-US" sz="3200" dirty="0" smtClean="0">
                <a:solidFill>
                  <a:srgbClr val="1F497D"/>
                </a:solidFill>
                <a:latin typeface="Georgia"/>
              </a:rPr>
              <a:t>2 – Display Page from View</a:t>
            </a:r>
            <a:endParaRPr kumimoji="0" lang="en-US" sz="3200" b="0" i="0" u="none" strike="noStrike" kern="1200" cap="none" spc="0" normalizeH="0" baseline="0" noProof="0" dirty="0">
              <a:ln>
                <a:noFill/>
              </a:ln>
              <a:solidFill>
                <a:srgbClr val="1F497D"/>
              </a:solidFill>
              <a:effectLst/>
              <a:uLnTx/>
              <a:uFillTx/>
              <a:latin typeface="Georgia"/>
            </a:endParaRPr>
          </a:p>
        </p:txBody>
      </p:sp>
      <p:sp>
        <p:nvSpPr>
          <p:cNvPr id="2" name="Rectangle 1"/>
          <p:cNvSpPr/>
          <p:nvPr/>
        </p:nvSpPr>
        <p:spPr>
          <a:xfrm>
            <a:off x="57893" y="908758"/>
            <a:ext cx="7797327" cy="369332"/>
          </a:xfrm>
          <a:prstGeom prst="rect">
            <a:avLst/>
          </a:prstGeom>
        </p:spPr>
        <p:txBody>
          <a:bodyPr wrap="none">
            <a:spAutoFit/>
          </a:bodyPr>
          <a:lstStyle/>
          <a:p>
            <a:r>
              <a:rPr lang="en-US" dirty="0" smtClean="0">
                <a:latin typeface="Georgia" panose="02040502050405020303" pitchFamily="18" charset="0"/>
              </a:rPr>
              <a:t>We handle this action from Controller. See, before and after changing code.</a:t>
            </a:r>
            <a:endParaRPr lang="en-US" dirty="0">
              <a:latin typeface="Georgia" panose="02040502050405020303" pitchFamily="18" charset="0"/>
            </a:endParaRPr>
          </a:p>
        </p:txBody>
      </p:sp>
      <p:pic>
        <p:nvPicPr>
          <p:cNvPr id="3" name="Picture 2"/>
          <p:cNvPicPr>
            <a:picLocks noChangeAspect="1"/>
          </p:cNvPicPr>
          <p:nvPr/>
        </p:nvPicPr>
        <p:blipFill>
          <a:blip r:embed="rId3"/>
          <a:stretch>
            <a:fillRect/>
          </a:stretch>
        </p:blipFill>
        <p:spPr>
          <a:xfrm>
            <a:off x="152399" y="1675482"/>
            <a:ext cx="4232555" cy="3201318"/>
          </a:xfrm>
          <a:prstGeom prst="rect">
            <a:avLst/>
          </a:prstGeom>
        </p:spPr>
      </p:pic>
      <p:sp>
        <p:nvSpPr>
          <p:cNvPr id="7" name="TextBox 6"/>
          <p:cNvSpPr txBox="1"/>
          <p:nvPr/>
        </p:nvSpPr>
        <p:spPr>
          <a:xfrm>
            <a:off x="990600" y="1307068"/>
            <a:ext cx="2512226" cy="369332"/>
          </a:xfrm>
          <a:prstGeom prst="rect">
            <a:avLst/>
          </a:prstGeom>
          <a:noFill/>
        </p:spPr>
        <p:txBody>
          <a:bodyPr wrap="none" rtlCol="0">
            <a:spAutoFit/>
          </a:bodyPr>
          <a:lstStyle/>
          <a:p>
            <a:r>
              <a:rPr lang="en-US" b="1" dirty="0" smtClean="0">
                <a:latin typeface="Georgia" panose="02040502050405020303" pitchFamily="18" charset="0"/>
              </a:rPr>
              <a:t>Code before change</a:t>
            </a:r>
            <a:endParaRPr lang="en-US" b="1" dirty="0">
              <a:latin typeface="Georgia" panose="02040502050405020303" pitchFamily="18" charset="0"/>
            </a:endParaRPr>
          </a:p>
        </p:txBody>
      </p:sp>
      <p:sp>
        <p:nvSpPr>
          <p:cNvPr id="8" name="TextBox 7"/>
          <p:cNvSpPr txBox="1"/>
          <p:nvPr/>
        </p:nvSpPr>
        <p:spPr>
          <a:xfrm>
            <a:off x="5619208" y="1307068"/>
            <a:ext cx="2313454" cy="369332"/>
          </a:xfrm>
          <a:prstGeom prst="rect">
            <a:avLst/>
          </a:prstGeom>
          <a:noFill/>
        </p:spPr>
        <p:txBody>
          <a:bodyPr wrap="none" rtlCol="0">
            <a:spAutoFit/>
          </a:bodyPr>
          <a:lstStyle/>
          <a:p>
            <a:r>
              <a:rPr lang="en-US" b="1" dirty="0" smtClean="0">
                <a:latin typeface="Georgia" panose="02040502050405020303" pitchFamily="18" charset="0"/>
              </a:rPr>
              <a:t>Code after change</a:t>
            </a:r>
            <a:endParaRPr lang="en-US" b="1" dirty="0">
              <a:latin typeface="Georgia" panose="02040502050405020303" pitchFamily="18" charset="0"/>
            </a:endParaRPr>
          </a:p>
        </p:txBody>
      </p:sp>
      <p:sp>
        <p:nvSpPr>
          <p:cNvPr id="9" name="Rectangle 8"/>
          <p:cNvSpPr/>
          <p:nvPr/>
        </p:nvSpPr>
        <p:spPr>
          <a:xfrm>
            <a:off x="6019800" y="2667000"/>
            <a:ext cx="2870812" cy="781280"/>
          </a:xfrm>
          <a:prstGeom prst="rect">
            <a:avLst/>
          </a:prstGeom>
          <a:solidFill>
            <a:srgbClr val="FFFF00">
              <a:alpha val="3000"/>
            </a:srgbClr>
          </a:solid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0" name="TextBox 9"/>
          <p:cNvSpPr txBox="1"/>
          <p:nvPr/>
        </p:nvSpPr>
        <p:spPr>
          <a:xfrm>
            <a:off x="57893" y="4967022"/>
            <a:ext cx="8458199" cy="1200329"/>
          </a:xfrm>
          <a:prstGeom prst="rect">
            <a:avLst/>
          </a:prstGeom>
          <a:noFill/>
        </p:spPr>
        <p:txBody>
          <a:bodyPr wrap="square" rtlCol="0">
            <a:spAutoFit/>
          </a:bodyPr>
          <a:lstStyle/>
          <a:p>
            <a:r>
              <a:rPr lang="en-US" b="1" i="1" dirty="0">
                <a:solidFill>
                  <a:srgbClr val="FF0000"/>
                </a:solidFill>
                <a:latin typeface="Georgia" panose="02040502050405020303" pitchFamily="18" charset="0"/>
              </a:rPr>
              <a:t>$this-&gt;view("home/index</a:t>
            </a:r>
            <a:r>
              <a:rPr lang="en-US" b="1" i="1" dirty="0" smtClean="0">
                <a:solidFill>
                  <a:srgbClr val="FF0000"/>
                </a:solidFill>
                <a:latin typeface="Georgia" panose="02040502050405020303" pitchFamily="18" charset="0"/>
              </a:rPr>
              <a:t>");</a:t>
            </a:r>
          </a:p>
          <a:p>
            <a:r>
              <a:rPr lang="en-US" dirty="0" smtClean="0">
                <a:latin typeface="Georgia" panose="02040502050405020303" pitchFamily="18" charset="0"/>
              </a:rPr>
              <a:t>Note, please see the selection file in left side tree menu. This code means you want to access </a:t>
            </a:r>
            <a:r>
              <a:rPr lang="en-US" b="1" i="1" dirty="0" err="1" smtClean="0">
                <a:latin typeface="Georgia" panose="02040502050405020303" pitchFamily="18" charset="0"/>
              </a:rPr>
              <a:t>index.php</a:t>
            </a:r>
            <a:r>
              <a:rPr lang="en-US" dirty="0" smtClean="0">
                <a:latin typeface="Georgia" panose="02040502050405020303" pitchFamily="18" charset="0"/>
              </a:rPr>
              <a:t> in home subdirectory which is located in view directory. </a:t>
            </a:r>
            <a:endParaRPr lang="en-US" dirty="0">
              <a:latin typeface="Georgia" panose="02040502050405020303" pitchFamily="18" charset="0"/>
            </a:endParaRPr>
          </a:p>
        </p:txBody>
      </p:sp>
      <p:sp>
        <p:nvSpPr>
          <p:cNvPr id="11" name="Rectangle 10"/>
          <p:cNvSpPr/>
          <p:nvPr/>
        </p:nvSpPr>
        <p:spPr>
          <a:xfrm>
            <a:off x="4888753" y="3121225"/>
            <a:ext cx="673847" cy="452704"/>
          </a:xfrm>
          <a:prstGeom prst="rect">
            <a:avLst/>
          </a:prstGeom>
          <a:solidFill>
            <a:srgbClr val="FFFF00">
              <a:alpha val="3000"/>
            </a:srgbClr>
          </a:solid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cxnSp>
        <p:nvCxnSpPr>
          <p:cNvPr id="13" name="Curved Connector 12"/>
          <p:cNvCxnSpPr>
            <a:stCxn id="9" idx="1"/>
            <a:endCxn id="11" idx="3"/>
          </p:cNvCxnSpPr>
          <p:nvPr/>
        </p:nvCxnSpPr>
        <p:spPr>
          <a:xfrm rot="10800000" flipV="1">
            <a:off x="5562600" y="3057639"/>
            <a:ext cx="457200" cy="289937"/>
          </a:xfrm>
          <a:prstGeom prst="curvedConnector3">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426343384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lang="en-US" sz="3200" dirty="0">
                <a:solidFill>
                  <a:srgbClr val="1F497D"/>
                </a:solidFill>
                <a:latin typeface="Georgia"/>
              </a:rPr>
              <a:t>3</a:t>
            </a:r>
            <a:r>
              <a:rPr lang="en-US" sz="3200" dirty="0" smtClean="0">
                <a:solidFill>
                  <a:srgbClr val="1F497D"/>
                </a:solidFill>
                <a:latin typeface="Georgia"/>
              </a:rPr>
              <a:t> – Create Method </a:t>
            </a:r>
            <a:r>
              <a:rPr lang="en-US" sz="3200" i="1" dirty="0" smtClean="0">
                <a:solidFill>
                  <a:srgbClr val="1F497D"/>
                </a:solidFill>
                <a:latin typeface="Georgia"/>
              </a:rPr>
              <a:t>display() </a:t>
            </a:r>
            <a:r>
              <a:rPr lang="en-US" sz="3200" dirty="0" smtClean="0">
                <a:solidFill>
                  <a:srgbClr val="1F497D"/>
                </a:solidFill>
                <a:latin typeface="Georgia"/>
              </a:rPr>
              <a:t>in Core Controller</a:t>
            </a:r>
            <a:endParaRPr kumimoji="0" lang="en-US" sz="3200" b="0" i="0" u="none" strike="noStrike" kern="1200" cap="none" spc="0" normalizeH="0" baseline="0" noProof="0" dirty="0">
              <a:ln>
                <a:noFill/>
              </a:ln>
              <a:solidFill>
                <a:srgbClr val="1F497D"/>
              </a:solidFill>
              <a:effectLst/>
              <a:uLnTx/>
              <a:uFillTx/>
              <a:latin typeface="Georgia"/>
            </a:endParaRPr>
          </a:p>
        </p:txBody>
      </p:sp>
      <p:pic>
        <p:nvPicPr>
          <p:cNvPr id="3" name="Picture 2"/>
          <p:cNvPicPr>
            <a:picLocks noChangeAspect="1"/>
          </p:cNvPicPr>
          <p:nvPr/>
        </p:nvPicPr>
        <p:blipFill>
          <a:blip r:embed="rId2"/>
          <a:stretch>
            <a:fillRect/>
          </a:stretch>
        </p:blipFill>
        <p:spPr>
          <a:xfrm>
            <a:off x="152401" y="1666310"/>
            <a:ext cx="8234384" cy="5049820"/>
          </a:xfrm>
          <a:prstGeom prst="rect">
            <a:avLst/>
          </a:prstGeom>
        </p:spPr>
      </p:pic>
      <p:sp>
        <p:nvSpPr>
          <p:cNvPr id="5" name="Rectangle 4"/>
          <p:cNvSpPr/>
          <p:nvPr/>
        </p:nvSpPr>
        <p:spPr>
          <a:xfrm>
            <a:off x="3124200" y="4038600"/>
            <a:ext cx="5029200" cy="1066800"/>
          </a:xfrm>
          <a:prstGeom prst="rect">
            <a:avLst/>
          </a:prstGeom>
          <a:solidFill>
            <a:srgbClr val="FFFF00">
              <a:alpha val="3000"/>
            </a:srgbClr>
          </a:solid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 name="TextBox 5"/>
          <p:cNvSpPr txBox="1"/>
          <p:nvPr/>
        </p:nvSpPr>
        <p:spPr>
          <a:xfrm>
            <a:off x="93665" y="929089"/>
            <a:ext cx="8897935" cy="646331"/>
          </a:xfrm>
          <a:prstGeom prst="rect">
            <a:avLst/>
          </a:prstGeom>
          <a:noFill/>
        </p:spPr>
        <p:txBody>
          <a:bodyPr wrap="square" rtlCol="0">
            <a:spAutoFit/>
          </a:bodyPr>
          <a:lstStyle/>
          <a:p>
            <a:r>
              <a:rPr lang="en-US" dirty="0" smtClean="0">
                <a:latin typeface="Georgia" panose="02040502050405020303" pitchFamily="18" charset="0"/>
              </a:rPr>
              <a:t>In variable “</a:t>
            </a:r>
            <a:r>
              <a:rPr lang="en-US" i="1" dirty="0" smtClean="0">
                <a:latin typeface="Georgia" panose="02040502050405020303" pitchFamily="18" charset="0"/>
              </a:rPr>
              <a:t>view</a:t>
            </a:r>
            <a:r>
              <a:rPr lang="en-US" dirty="0" smtClean="0">
                <a:latin typeface="Georgia" panose="02040502050405020303" pitchFamily="18" charset="0"/>
              </a:rPr>
              <a:t>” may contains value like  “</a:t>
            </a:r>
            <a:r>
              <a:rPr lang="en-US" i="1" dirty="0" smtClean="0">
                <a:latin typeface="Georgia" panose="02040502050405020303" pitchFamily="18" charset="0"/>
              </a:rPr>
              <a:t>home/index</a:t>
            </a:r>
            <a:r>
              <a:rPr lang="en-US" dirty="0" smtClean="0">
                <a:latin typeface="Georgia" panose="02040502050405020303" pitchFamily="18" charset="0"/>
              </a:rPr>
              <a:t>”. This function will require file from </a:t>
            </a:r>
            <a:r>
              <a:rPr lang="en-US" b="1" i="1" dirty="0" smtClean="0">
                <a:latin typeface="Georgia" panose="02040502050405020303" pitchFamily="18" charset="0"/>
              </a:rPr>
              <a:t>view directory </a:t>
            </a:r>
            <a:r>
              <a:rPr lang="en-US" dirty="0" smtClean="0">
                <a:latin typeface="Georgia" panose="02040502050405020303" pitchFamily="18" charset="0"/>
              </a:rPr>
              <a:t>to get specific page and display it, like </a:t>
            </a:r>
            <a:r>
              <a:rPr lang="en-US" b="1" i="1" dirty="0" smtClean="0">
                <a:latin typeface="Georgia" panose="02040502050405020303" pitchFamily="18" charset="0"/>
              </a:rPr>
              <a:t>home</a:t>
            </a:r>
            <a:r>
              <a:rPr lang="en-US" dirty="0" smtClean="0">
                <a:latin typeface="Georgia" panose="02040502050405020303" pitchFamily="18" charset="0"/>
              </a:rPr>
              <a:t> page.</a:t>
            </a:r>
            <a:endParaRPr lang="en-US" dirty="0">
              <a:latin typeface="Georgia" panose="02040502050405020303" pitchFamily="18" charset="0"/>
            </a:endParaRPr>
          </a:p>
        </p:txBody>
      </p:sp>
      <p:cxnSp>
        <p:nvCxnSpPr>
          <p:cNvPr id="7" name="Straight Arrow Connector 6"/>
          <p:cNvCxnSpPr/>
          <p:nvPr/>
        </p:nvCxnSpPr>
        <p:spPr>
          <a:xfrm flipV="1">
            <a:off x="1676400" y="3048000"/>
            <a:ext cx="1524000" cy="99060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4944062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lang="en-US" sz="3200" dirty="0" smtClean="0">
                <a:solidFill>
                  <a:srgbClr val="1F497D"/>
                </a:solidFill>
                <a:latin typeface="Georgia"/>
              </a:rPr>
              <a:t>4 </a:t>
            </a:r>
            <a:r>
              <a:rPr lang="en-US" sz="3200" dirty="0">
                <a:solidFill>
                  <a:srgbClr val="1F497D"/>
                </a:solidFill>
                <a:latin typeface="Georgia"/>
              </a:rPr>
              <a:t>– </a:t>
            </a:r>
            <a:r>
              <a:rPr lang="en-US" sz="3200" dirty="0" smtClean="0">
                <a:solidFill>
                  <a:srgbClr val="1F497D"/>
                </a:solidFill>
                <a:latin typeface="Georgia"/>
              </a:rPr>
              <a:t>Inherit </a:t>
            </a:r>
            <a:r>
              <a:rPr lang="en-US" sz="3200" i="1" dirty="0" smtClean="0">
                <a:solidFill>
                  <a:srgbClr val="1F497D"/>
                </a:solidFill>
                <a:latin typeface="Georgia"/>
              </a:rPr>
              <a:t>display () </a:t>
            </a:r>
            <a:r>
              <a:rPr lang="en-US" sz="3200" dirty="0" smtClean="0">
                <a:solidFill>
                  <a:srgbClr val="1F497D"/>
                </a:solidFill>
                <a:latin typeface="Georgia"/>
              </a:rPr>
              <a:t>Function</a:t>
            </a:r>
            <a:endParaRPr kumimoji="0" lang="en-US" sz="3200" b="0" i="0" u="none" strike="noStrike" kern="1200" cap="none" spc="0" normalizeH="0" baseline="0" noProof="0" dirty="0">
              <a:ln>
                <a:noFill/>
              </a:ln>
              <a:solidFill>
                <a:srgbClr val="1F497D"/>
              </a:solidFill>
              <a:effectLst/>
              <a:uLnTx/>
              <a:uFillTx/>
              <a:latin typeface="Georgia"/>
            </a:endParaRPr>
          </a:p>
        </p:txBody>
      </p:sp>
      <p:sp>
        <p:nvSpPr>
          <p:cNvPr id="2" name="Rectangle 1"/>
          <p:cNvSpPr/>
          <p:nvPr/>
        </p:nvSpPr>
        <p:spPr>
          <a:xfrm>
            <a:off x="152400" y="990600"/>
            <a:ext cx="8610600" cy="923330"/>
          </a:xfrm>
          <a:prstGeom prst="rect">
            <a:avLst/>
          </a:prstGeom>
        </p:spPr>
        <p:txBody>
          <a:bodyPr wrap="square">
            <a:spAutoFit/>
          </a:bodyPr>
          <a:lstStyle/>
          <a:p>
            <a:r>
              <a:rPr lang="en-US" dirty="0" smtClean="0">
                <a:latin typeface="Georgia" panose="02040502050405020303" pitchFamily="18" charset="0"/>
              </a:rPr>
              <a:t>Last step in this stage is to inherit this </a:t>
            </a:r>
            <a:r>
              <a:rPr lang="en-US" b="1" i="1" dirty="0" smtClean="0">
                <a:latin typeface="Georgia" panose="02040502050405020303" pitchFamily="18" charset="0"/>
              </a:rPr>
              <a:t>display() </a:t>
            </a:r>
            <a:r>
              <a:rPr lang="en-US" b="1" i="1" dirty="0">
                <a:latin typeface="Georgia" panose="02040502050405020303" pitchFamily="18" charset="0"/>
              </a:rPr>
              <a:t>function </a:t>
            </a:r>
            <a:r>
              <a:rPr lang="en-US" dirty="0">
                <a:latin typeface="Georgia" panose="02040502050405020303" pitchFamily="18" charset="0"/>
              </a:rPr>
              <a:t>to the controller class. The </a:t>
            </a:r>
            <a:r>
              <a:rPr lang="en-US" b="1" i="1" dirty="0">
                <a:latin typeface="Georgia" panose="02040502050405020303" pitchFamily="18" charset="0"/>
              </a:rPr>
              <a:t>extends keyword </a:t>
            </a:r>
            <a:r>
              <a:rPr lang="en-US" dirty="0">
                <a:latin typeface="Georgia" panose="02040502050405020303" pitchFamily="18" charset="0"/>
              </a:rPr>
              <a:t>is used to derive a class from another class. This is called inheritance.</a:t>
            </a:r>
          </a:p>
        </p:txBody>
      </p:sp>
      <p:pic>
        <p:nvPicPr>
          <p:cNvPr id="3" name="Picture 2"/>
          <p:cNvPicPr>
            <a:picLocks noChangeAspect="1"/>
          </p:cNvPicPr>
          <p:nvPr/>
        </p:nvPicPr>
        <p:blipFill>
          <a:blip r:embed="rId2"/>
          <a:stretch>
            <a:fillRect/>
          </a:stretch>
        </p:blipFill>
        <p:spPr>
          <a:xfrm>
            <a:off x="165253" y="1913930"/>
            <a:ext cx="7607147" cy="4817601"/>
          </a:xfrm>
          <a:prstGeom prst="rect">
            <a:avLst/>
          </a:prstGeom>
        </p:spPr>
      </p:pic>
      <p:sp>
        <p:nvSpPr>
          <p:cNvPr id="5" name="Rectangle 4"/>
          <p:cNvSpPr/>
          <p:nvPr/>
        </p:nvSpPr>
        <p:spPr>
          <a:xfrm>
            <a:off x="2133601" y="2716576"/>
            <a:ext cx="2306198" cy="180860"/>
          </a:xfrm>
          <a:prstGeom prst="rect">
            <a:avLst/>
          </a:prstGeom>
          <a:solidFill>
            <a:srgbClr val="FFFF00">
              <a:alpha val="3000"/>
            </a:srgbClr>
          </a:solid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 name="TextBox 5"/>
          <p:cNvSpPr txBox="1"/>
          <p:nvPr/>
        </p:nvSpPr>
        <p:spPr>
          <a:xfrm>
            <a:off x="5512695" y="5136510"/>
            <a:ext cx="3478905" cy="1595021"/>
          </a:xfrm>
          <a:prstGeom prst="horizontalScroll">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smtClean="0">
                <a:latin typeface="Georgia" panose="02040502050405020303" pitchFamily="18" charset="0"/>
              </a:rPr>
              <a:t>This </a:t>
            </a:r>
            <a:r>
              <a:rPr lang="en-US" b="1" dirty="0" smtClean="0">
                <a:latin typeface="Georgia" panose="02040502050405020303" pitchFamily="18" charset="0"/>
              </a:rPr>
              <a:t>controller class in core directory </a:t>
            </a:r>
            <a:r>
              <a:rPr lang="en-US" dirty="0" smtClean="0">
                <a:latin typeface="Georgia" panose="02040502050405020303" pitchFamily="18" charset="0"/>
              </a:rPr>
              <a:t>inherits all function to </a:t>
            </a:r>
            <a:r>
              <a:rPr lang="en-US" b="1" dirty="0" smtClean="0">
                <a:latin typeface="Georgia" panose="02040502050405020303" pitchFamily="18" charset="0"/>
              </a:rPr>
              <a:t>home class in controller directory</a:t>
            </a:r>
            <a:r>
              <a:rPr lang="en-US" dirty="0" smtClean="0">
                <a:latin typeface="Georgia" panose="02040502050405020303" pitchFamily="18" charset="0"/>
              </a:rPr>
              <a:t>.</a:t>
            </a:r>
            <a:endParaRPr lang="en-US" dirty="0">
              <a:latin typeface="Georgia" panose="02040502050405020303" pitchFamily="18" charset="0"/>
            </a:endParaRPr>
          </a:p>
        </p:txBody>
      </p:sp>
      <p:cxnSp>
        <p:nvCxnSpPr>
          <p:cNvPr id="7" name="Straight Arrow Connector 6"/>
          <p:cNvCxnSpPr/>
          <p:nvPr/>
        </p:nvCxnSpPr>
        <p:spPr>
          <a:xfrm flipV="1">
            <a:off x="1600200" y="2971800"/>
            <a:ext cx="762000" cy="60960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16476317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lang="en-US" sz="3200" dirty="0" smtClean="0">
                <a:solidFill>
                  <a:srgbClr val="1F497D"/>
                </a:solidFill>
                <a:latin typeface="Georgia"/>
              </a:rPr>
              <a:t>5 - Testing – View Home Page</a:t>
            </a:r>
            <a:endParaRPr kumimoji="0" lang="en-US" sz="3200" b="0" i="0" u="none" strike="noStrike" kern="1200" cap="none" spc="0" normalizeH="0" baseline="0" noProof="0" dirty="0">
              <a:ln>
                <a:noFill/>
              </a:ln>
              <a:solidFill>
                <a:srgbClr val="1F497D"/>
              </a:solidFill>
              <a:effectLst/>
              <a:uLnTx/>
              <a:uFillTx/>
              <a:latin typeface="Georgia"/>
            </a:endParaRPr>
          </a:p>
        </p:txBody>
      </p:sp>
      <p:pic>
        <p:nvPicPr>
          <p:cNvPr id="2" name="Picture 1"/>
          <p:cNvPicPr>
            <a:picLocks noChangeAspect="1"/>
          </p:cNvPicPr>
          <p:nvPr/>
        </p:nvPicPr>
        <p:blipFill>
          <a:blip r:embed="rId2"/>
          <a:stretch>
            <a:fillRect/>
          </a:stretch>
        </p:blipFill>
        <p:spPr>
          <a:xfrm>
            <a:off x="152400" y="990600"/>
            <a:ext cx="8839200" cy="5728128"/>
          </a:xfrm>
          <a:prstGeom prst="rect">
            <a:avLst/>
          </a:prstGeom>
        </p:spPr>
      </p:pic>
      <p:sp>
        <p:nvSpPr>
          <p:cNvPr id="3" name="Horizontal Scroll 2"/>
          <p:cNvSpPr/>
          <p:nvPr/>
        </p:nvSpPr>
        <p:spPr>
          <a:xfrm>
            <a:off x="2667000" y="5181600"/>
            <a:ext cx="6215833" cy="1431429"/>
          </a:xfrm>
          <a:prstGeom prst="horizontalScroll">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wrap="none">
            <a:spAutoFit/>
          </a:bodyPr>
          <a:lstStyle/>
          <a:p>
            <a:r>
              <a:rPr lang="en-US" sz="1600" b="1" dirty="0" smtClean="0">
                <a:latin typeface="Georgia" panose="02040502050405020303" pitchFamily="18" charset="0"/>
              </a:rPr>
              <a:t>You can use these URLs to access your first home page.</a:t>
            </a:r>
          </a:p>
          <a:p>
            <a:r>
              <a:rPr lang="en-US" sz="1600" b="1" dirty="0" smtClean="0">
                <a:latin typeface="Georgia" panose="02040502050405020303" pitchFamily="18" charset="0"/>
              </a:rPr>
              <a:t>URL: </a:t>
            </a:r>
            <a:r>
              <a:rPr lang="en-US" sz="1600" i="1" dirty="0" smtClean="0">
                <a:latin typeface="Georgia" panose="02040502050405020303" pitchFamily="18" charset="0"/>
                <a:hlinkClick r:id="rId3"/>
              </a:rPr>
              <a:t>http</a:t>
            </a:r>
            <a:r>
              <a:rPr lang="en-US" sz="1600" i="1" dirty="0">
                <a:latin typeface="Georgia" panose="02040502050405020303" pitchFamily="18" charset="0"/>
                <a:hlinkClick r:id="rId3"/>
              </a:rPr>
              <a:t>://</a:t>
            </a:r>
            <a:r>
              <a:rPr lang="en-US" sz="1600" i="1" dirty="0" smtClean="0">
                <a:latin typeface="Georgia" panose="02040502050405020303" pitchFamily="18" charset="0"/>
                <a:hlinkClick r:id="rId3"/>
              </a:rPr>
              <a:t>localhost/lecture19/aimvc/public/home</a:t>
            </a:r>
            <a:endParaRPr lang="en-US" sz="1600" i="1" dirty="0" smtClean="0">
              <a:latin typeface="Georgia" panose="02040502050405020303" pitchFamily="18" charset="0"/>
            </a:endParaRPr>
          </a:p>
          <a:p>
            <a:r>
              <a:rPr lang="en-US" sz="1600" i="1" dirty="0">
                <a:latin typeface="Georgia" panose="02040502050405020303" pitchFamily="18" charset="0"/>
              </a:rPr>
              <a:t>            </a:t>
            </a:r>
            <a:r>
              <a:rPr lang="en-US" sz="1600" i="1" dirty="0">
                <a:latin typeface="Georgia" panose="02040502050405020303" pitchFamily="18" charset="0"/>
                <a:hlinkClick r:id="rId4"/>
              </a:rPr>
              <a:t>http://localhost/lecture19/aimvc/public/home/index</a:t>
            </a:r>
            <a:r>
              <a:rPr lang="en-US" sz="1600" i="1" dirty="0" smtClean="0">
                <a:latin typeface="Georgia" panose="02040502050405020303" pitchFamily="18" charset="0"/>
                <a:hlinkClick r:id="rId4"/>
              </a:rPr>
              <a:t>/</a:t>
            </a:r>
            <a:endParaRPr lang="en-US" sz="1600" i="1" dirty="0" smtClean="0">
              <a:latin typeface="Georgia" panose="02040502050405020303" pitchFamily="18" charset="0"/>
            </a:endParaRPr>
          </a:p>
          <a:p>
            <a:endParaRPr lang="en-US" sz="1600" i="1" dirty="0">
              <a:latin typeface="Georgia" panose="02040502050405020303" pitchFamily="18" charset="0"/>
            </a:endParaRPr>
          </a:p>
        </p:txBody>
      </p:sp>
    </p:spTree>
    <p:extLst>
      <p:ext uri="{BB962C8B-B14F-4D97-AF65-F5344CB8AC3E}">
        <p14:creationId xmlns:p14="http://schemas.microsoft.com/office/powerpoint/2010/main" val="173571086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p:cNvSpPr txBox="1"/>
          <p:nvPr/>
        </p:nvSpPr>
        <p:spPr>
          <a:xfrm>
            <a:off x="709070" y="4800600"/>
            <a:ext cx="7572030" cy="1815882"/>
          </a:xfrm>
          <a:prstGeom prst="rect">
            <a:avLst/>
          </a:prstGeom>
          <a:noFill/>
        </p:spPr>
        <p:txBody>
          <a:bodyPr wrap="square" rtlCol="0">
            <a:spAutoFit/>
          </a:bodyPr>
          <a:lstStyle/>
          <a:p>
            <a:pPr algn="ctr"/>
            <a:r>
              <a:rPr lang="en-US" sz="2800" b="1" dirty="0" smtClean="0">
                <a:latin typeface="Georgia" panose="02040502050405020303" pitchFamily="18" charset="0"/>
              </a:rPr>
              <a:t>How to access this method </a:t>
            </a:r>
            <a:r>
              <a:rPr lang="en-US" sz="2800" b="1" i="1" dirty="0" smtClean="0">
                <a:latin typeface="Georgia" panose="02040502050405020303" pitchFamily="18" charset="0"/>
              </a:rPr>
              <a:t>page()</a:t>
            </a:r>
            <a:r>
              <a:rPr lang="en-US" sz="2800" b="1" dirty="0" smtClean="0">
                <a:latin typeface="Georgia" panose="02040502050405020303" pitchFamily="18" charset="0"/>
              </a:rPr>
              <a:t> in the home class? It will display an error if you force to access this method from the URL.</a:t>
            </a:r>
            <a:endParaRPr lang="en-US" sz="2800" b="1" dirty="0">
              <a:latin typeface="Georgia" panose="02040502050405020303" pitchFamily="18" charset="0"/>
            </a:endParaRPr>
          </a:p>
        </p:txBody>
      </p:sp>
      <p:pic>
        <p:nvPicPr>
          <p:cNvPr id="3" name="Picture 2"/>
          <p:cNvPicPr>
            <a:picLocks noChangeAspect="1"/>
          </p:cNvPicPr>
          <p:nvPr/>
        </p:nvPicPr>
        <p:blipFill>
          <a:blip r:embed="rId2"/>
          <a:stretch>
            <a:fillRect/>
          </a:stretch>
        </p:blipFill>
        <p:spPr>
          <a:xfrm>
            <a:off x="1313735" y="762000"/>
            <a:ext cx="6362700" cy="38004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84655690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lang="en-US" sz="3200" dirty="0" smtClean="0">
                <a:solidFill>
                  <a:srgbClr val="1F497D"/>
                </a:solidFill>
                <a:latin typeface="Georgia"/>
              </a:rPr>
              <a:t>6 – Create </a:t>
            </a:r>
            <a:r>
              <a:rPr lang="en-US" sz="3200" i="1" dirty="0" err="1" smtClean="0">
                <a:solidFill>
                  <a:srgbClr val="1F497D"/>
                </a:solidFill>
                <a:latin typeface="Georgia"/>
              </a:rPr>
              <a:t>page.php</a:t>
            </a:r>
            <a:r>
              <a:rPr lang="en-US" sz="3200" dirty="0" smtClean="0">
                <a:solidFill>
                  <a:srgbClr val="1F497D"/>
                </a:solidFill>
                <a:latin typeface="Georgia"/>
              </a:rPr>
              <a:t> in </a:t>
            </a:r>
            <a:r>
              <a:rPr lang="en-US" sz="3200" i="1" dirty="0" smtClean="0">
                <a:solidFill>
                  <a:srgbClr val="1F497D"/>
                </a:solidFill>
                <a:latin typeface="Georgia"/>
              </a:rPr>
              <a:t>view/home</a:t>
            </a:r>
            <a:r>
              <a:rPr lang="en-US" sz="3200" dirty="0" smtClean="0">
                <a:solidFill>
                  <a:srgbClr val="1F497D"/>
                </a:solidFill>
                <a:latin typeface="Georgia"/>
              </a:rPr>
              <a:t> Directory </a:t>
            </a:r>
            <a:endParaRPr kumimoji="0" lang="en-US" sz="3200" b="0" i="0" u="none" strike="noStrike" kern="1200" cap="none" spc="0" normalizeH="0" baseline="0" noProof="0" dirty="0">
              <a:ln>
                <a:noFill/>
              </a:ln>
              <a:solidFill>
                <a:srgbClr val="1F497D"/>
              </a:solidFill>
              <a:effectLst/>
              <a:uLnTx/>
              <a:uFillTx/>
              <a:latin typeface="Georgia"/>
            </a:endParaRPr>
          </a:p>
        </p:txBody>
      </p:sp>
      <p:pic>
        <p:nvPicPr>
          <p:cNvPr id="2" name="Picture 1"/>
          <p:cNvPicPr>
            <a:picLocks noChangeAspect="1"/>
          </p:cNvPicPr>
          <p:nvPr/>
        </p:nvPicPr>
        <p:blipFill>
          <a:blip r:embed="rId2"/>
          <a:stretch>
            <a:fillRect/>
          </a:stretch>
        </p:blipFill>
        <p:spPr>
          <a:xfrm>
            <a:off x="152401" y="980960"/>
            <a:ext cx="8839200" cy="5597859"/>
          </a:xfrm>
          <a:prstGeom prst="rect">
            <a:avLst/>
          </a:prstGeom>
        </p:spPr>
      </p:pic>
      <p:sp>
        <p:nvSpPr>
          <p:cNvPr id="5" name="Rectangle 4"/>
          <p:cNvSpPr/>
          <p:nvPr/>
        </p:nvSpPr>
        <p:spPr>
          <a:xfrm>
            <a:off x="498440" y="3893742"/>
            <a:ext cx="1330360" cy="1074865"/>
          </a:xfrm>
          <a:prstGeom prst="rect">
            <a:avLst/>
          </a:prstGeom>
          <a:solidFill>
            <a:srgbClr val="FFFF00">
              <a:alpha val="3000"/>
            </a:srgbClr>
          </a:solid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 name="Horizontal Scroll 2"/>
          <p:cNvSpPr/>
          <p:nvPr/>
        </p:nvSpPr>
        <p:spPr>
          <a:xfrm>
            <a:off x="4800600" y="5494640"/>
            <a:ext cx="3962400" cy="1226939"/>
          </a:xfrm>
          <a:prstGeom prst="horizontalScroll">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wrap="square">
            <a:spAutoFit/>
          </a:bodyPr>
          <a:lstStyle/>
          <a:p>
            <a:r>
              <a:rPr lang="en-US" dirty="0" smtClean="0">
                <a:latin typeface="Georgia" panose="02040502050405020303" pitchFamily="18" charset="0"/>
              </a:rPr>
              <a:t>Display </a:t>
            </a:r>
            <a:r>
              <a:rPr lang="en-US" dirty="0">
                <a:latin typeface="Georgia" panose="02040502050405020303" pitchFamily="18" charset="0"/>
              </a:rPr>
              <a:t>another page </a:t>
            </a:r>
            <a:r>
              <a:rPr lang="en-US" dirty="0" smtClean="0">
                <a:latin typeface="Georgia" panose="02040502050405020303" pitchFamily="18" charset="0"/>
              </a:rPr>
              <a:t>from “</a:t>
            </a:r>
            <a:r>
              <a:rPr lang="en-US" i="1" dirty="0" smtClean="0">
                <a:latin typeface="Georgia" panose="02040502050405020303" pitchFamily="18" charset="0"/>
              </a:rPr>
              <a:t>home</a:t>
            </a:r>
            <a:r>
              <a:rPr lang="en-US" dirty="0">
                <a:latin typeface="Georgia" panose="02040502050405020303" pitchFamily="18" charset="0"/>
              </a:rPr>
              <a:t>” </a:t>
            </a:r>
            <a:r>
              <a:rPr lang="en-US" dirty="0" smtClean="0">
                <a:latin typeface="Georgia" panose="02040502050405020303" pitchFamily="18" charset="0"/>
              </a:rPr>
              <a:t>view</a:t>
            </a:r>
            <a:r>
              <a:rPr lang="en-US" dirty="0">
                <a:latin typeface="Georgia" panose="02040502050405020303" pitchFamily="18" charset="0"/>
              </a:rPr>
              <a:t> </a:t>
            </a:r>
            <a:r>
              <a:rPr lang="en-US" dirty="0" smtClean="0">
                <a:latin typeface="Georgia" panose="02040502050405020303" pitchFamily="18" charset="0"/>
              </a:rPr>
              <a:t>directory by creating new </a:t>
            </a:r>
            <a:r>
              <a:rPr lang="en-US" i="1" dirty="0" err="1" smtClean="0">
                <a:latin typeface="Georgia" panose="02040502050405020303" pitchFamily="18" charset="0"/>
              </a:rPr>
              <a:t>page.php</a:t>
            </a:r>
            <a:r>
              <a:rPr lang="en-US" dirty="0" smtClean="0">
                <a:latin typeface="Georgia" panose="02040502050405020303" pitchFamily="18" charset="0"/>
              </a:rPr>
              <a:t> file.</a:t>
            </a:r>
            <a:endParaRPr lang="en-US" dirty="0">
              <a:latin typeface="Georgia" panose="02040502050405020303" pitchFamily="18" charset="0"/>
            </a:endParaRPr>
          </a:p>
        </p:txBody>
      </p:sp>
      <p:cxnSp>
        <p:nvCxnSpPr>
          <p:cNvPr id="7" name="Straight Arrow Connector 6"/>
          <p:cNvCxnSpPr/>
          <p:nvPr/>
        </p:nvCxnSpPr>
        <p:spPr>
          <a:xfrm flipH="1" flipV="1">
            <a:off x="1905000" y="4572000"/>
            <a:ext cx="2743200" cy="1536109"/>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01135711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52400" y="990601"/>
            <a:ext cx="8839200" cy="5715000"/>
          </a:xfrm>
          <a:prstGeom prst="rect">
            <a:avLst/>
          </a:prstGeom>
        </p:spPr>
      </p:pic>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lang="en-US" sz="3200" dirty="0" smtClean="0">
                <a:solidFill>
                  <a:srgbClr val="1F497D"/>
                </a:solidFill>
                <a:latin typeface="Georgia"/>
              </a:rPr>
              <a:t>5 - Testing </a:t>
            </a:r>
            <a:r>
              <a:rPr lang="en-US" sz="3200" dirty="0">
                <a:solidFill>
                  <a:srgbClr val="1F497D"/>
                </a:solidFill>
                <a:latin typeface="Georgia"/>
                <a:sym typeface="Wingdings 3" panose="05040102010807070707" pitchFamily="18" charset="2"/>
              </a:rPr>
              <a:t></a:t>
            </a:r>
            <a:r>
              <a:rPr lang="en-US" sz="3200" dirty="0" smtClean="0">
                <a:solidFill>
                  <a:srgbClr val="1F497D"/>
                </a:solidFill>
                <a:latin typeface="Georgia"/>
              </a:rPr>
              <a:t> View Personal Page</a:t>
            </a:r>
            <a:endParaRPr kumimoji="0" lang="en-US" sz="3200" b="0" i="0" u="none" strike="noStrike" kern="1200" cap="none" spc="0" normalizeH="0" baseline="0" noProof="0" dirty="0">
              <a:ln>
                <a:noFill/>
              </a:ln>
              <a:solidFill>
                <a:srgbClr val="1F497D"/>
              </a:solidFill>
              <a:effectLst/>
              <a:uLnTx/>
              <a:uFillTx/>
              <a:latin typeface="Georgia"/>
            </a:endParaRPr>
          </a:p>
        </p:txBody>
      </p:sp>
      <p:sp>
        <p:nvSpPr>
          <p:cNvPr id="3" name="Horizontal Scroll 2"/>
          <p:cNvSpPr/>
          <p:nvPr/>
        </p:nvSpPr>
        <p:spPr>
          <a:xfrm>
            <a:off x="2819400" y="5912015"/>
            <a:ext cx="6100082" cy="777061"/>
          </a:xfrm>
          <a:prstGeom prst="horizontalScroll">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wrap="none">
            <a:spAutoFit/>
          </a:bodyPr>
          <a:lstStyle/>
          <a:p>
            <a:r>
              <a:rPr lang="en-US" sz="1600" b="1" dirty="0" smtClean="0">
                <a:latin typeface="Georgia" panose="02040502050405020303" pitchFamily="18" charset="0"/>
              </a:rPr>
              <a:t>You can use these URLs to access your first home page.</a:t>
            </a:r>
          </a:p>
          <a:p>
            <a:r>
              <a:rPr lang="en-US" sz="1600" b="1" dirty="0" smtClean="0">
                <a:latin typeface="Georgia" panose="02040502050405020303" pitchFamily="18" charset="0"/>
              </a:rPr>
              <a:t>URL: </a:t>
            </a:r>
            <a:r>
              <a:rPr lang="en-US" sz="1600" i="1" dirty="0" smtClean="0">
                <a:latin typeface="Georgia" panose="02040502050405020303" pitchFamily="18" charset="0"/>
                <a:hlinkClick r:id="rId3"/>
              </a:rPr>
              <a:t>http</a:t>
            </a:r>
            <a:r>
              <a:rPr lang="en-US" sz="1600" i="1" dirty="0">
                <a:latin typeface="Georgia" panose="02040502050405020303" pitchFamily="18" charset="0"/>
                <a:hlinkClick r:id="rId3"/>
              </a:rPr>
              <a:t>://</a:t>
            </a:r>
            <a:r>
              <a:rPr lang="en-US" sz="1600" i="1" dirty="0" smtClean="0">
                <a:latin typeface="Georgia" panose="02040502050405020303" pitchFamily="18" charset="0"/>
                <a:hlinkClick r:id="rId3"/>
              </a:rPr>
              <a:t>localhost/lecture19/aimvc/public/home/page/</a:t>
            </a:r>
            <a:endParaRPr lang="en-US" sz="1600" i="1" dirty="0">
              <a:latin typeface="Georgia" panose="02040502050405020303" pitchFamily="18" charset="0"/>
            </a:endParaRPr>
          </a:p>
        </p:txBody>
      </p:sp>
    </p:spTree>
    <p:extLst>
      <p:ext uri="{BB962C8B-B14F-4D97-AF65-F5344CB8AC3E}">
        <p14:creationId xmlns:p14="http://schemas.microsoft.com/office/powerpoint/2010/main" val="384893643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0" y="2895600"/>
            <a:ext cx="7620000" cy="1323439"/>
          </a:xfrm>
          <a:prstGeom prst="rect">
            <a:avLst/>
          </a:prstGeom>
        </p:spPr>
        <p:txBody>
          <a:bodyPr wrap="square">
            <a:spAutoFit/>
          </a:bodyPr>
          <a:lstStyle/>
          <a:p>
            <a:pPr lvl="0" algn="ctr">
              <a:defRPr/>
            </a:pPr>
            <a:r>
              <a:rPr kumimoji="0" lang="en-US" sz="4000" b="0" i="0" u="none" strike="noStrike" kern="1200" cap="none" spc="0" normalizeH="0" baseline="0" noProof="0" dirty="0" smtClean="0">
                <a:ln>
                  <a:noFill/>
                </a:ln>
                <a:solidFill>
                  <a:prstClr val="black"/>
                </a:solidFill>
                <a:effectLst/>
                <a:uLnTx/>
                <a:uFillTx/>
                <a:latin typeface="Georgia"/>
                <a:ea typeface="+mn-ea"/>
                <a:cs typeface="+mn-cs"/>
              </a:rPr>
              <a:t>3 – </a:t>
            </a:r>
            <a:r>
              <a:rPr lang="en-US" sz="4000" dirty="0" smtClean="0">
                <a:solidFill>
                  <a:prstClr val="black"/>
                </a:solidFill>
              </a:rPr>
              <a:t>Send and Receive Data from URL</a:t>
            </a:r>
            <a:endParaRPr kumimoji="0" lang="en-US" sz="4000" b="0" i="0" u="none" strike="noStrike" kern="1200" cap="none" spc="0" normalizeH="0" baseline="0" noProof="0" dirty="0">
              <a:ln>
                <a:noFill/>
              </a:ln>
              <a:solidFill>
                <a:prstClr val="black"/>
              </a:solidFill>
              <a:effectLst/>
              <a:uLnTx/>
              <a:uFillTx/>
              <a:latin typeface="Georgia"/>
              <a:ea typeface="+mn-ea"/>
              <a:cs typeface="+mn-cs"/>
            </a:endParaRPr>
          </a:p>
        </p:txBody>
      </p:sp>
      <p:pic>
        <p:nvPicPr>
          <p:cNvPr id="3074" name="Picture 2" descr="Fresh Green Leaves Header On White Background Stock Photo, Picture And  Royalty Free Image. Image 78250847."/>
          <p:cNvPicPr>
            <a:picLocks noChangeAspect="1" noChangeArrowheads="1"/>
          </p:cNvPicPr>
          <p:nvPr/>
        </p:nvPicPr>
        <p:blipFill rotWithShape="1">
          <a:blip r:embed="rId2">
            <a:extLst>
              <a:ext uri="{28A0092B-C50C-407E-A947-70E740481C1C}">
                <a14:useLocalDpi xmlns:a14="http://schemas.microsoft.com/office/drawing/2010/main" val="0"/>
              </a:ext>
            </a:extLst>
          </a:blip>
          <a:srcRect b="37312"/>
          <a:stretch/>
        </p:blipFill>
        <p:spPr bwMode="auto">
          <a:xfrm>
            <a:off x="0" y="0"/>
            <a:ext cx="91440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Fresh Green Leaves Header On White Background Stock Photo, Picture And  Royalty Free Image. Image 78250847."/>
          <p:cNvPicPr>
            <a:picLocks noChangeAspect="1" noChangeArrowheads="1"/>
          </p:cNvPicPr>
          <p:nvPr/>
        </p:nvPicPr>
        <p:blipFill rotWithShape="1">
          <a:blip r:embed="rId2">
            <a:extLst>
              <a:ext uri="{28A0092B-C50C-407E-A947-70E740481C1C}">
                <a14:useLocalDpi xmlns:a14="http://schemas.microsoft.com/office/drawing/2010/main" val="0"/>
              </a:ext>
            </a:extLst>
          </a:blip>
          <a:srcRect b="37312"/>
          <a:stretch/>
        </p:blipFill>
        <p:spPr bwMode="auto">
          <a:xfrm rot="10800000">
            <a:off x="0" y="4419600"/>
            <a:ext cx="9144000"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755814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lang="en-US" sz="2800" dirty="0" smtClean="0">
                <a:solidFill>
                  <a:srgbClr val="1F497D"/>
                </a:solidFill>
                <a:latin typeface="Georgia"/>
              </a:rPr>
              <a:t>1 – Check </a:t>
            </a:r>
            <a:r>
              <a:rPr lang="en-US" sz="2800" b="1" i="1" dirty="0" smtClean="0">
                <a:solidFill>
                  <a:srgbClr val="1F497D"/>
                </a:solidFill>
                <a:latin typeface="Georgia"/>
              </a:rPr>
              <a:t>display() Method </a:t>
            </a:r>
            <a:r>
              <a:rPr lang="en-US" sz="2800" dirty="0" smtClean="0">
                <a:solidFill>
                  <a:srgbClr val="1F497D"/>
                </a:solidFill>
                <a:latin typeface="Georgia"/>
              </a:rPr>
              <a:t>with Parameter Data</a:t>
            </a:r>
            <a:endParaRPr kumimoji="0" lang="en-US" sz="2800" b="0" i="0" u="none" strike="noStrike" kern="1200" cap="none" spc="0" normalizeH="0" baseline="0" noProof="0" dirty="0">
              <a:ln>
                <a:noFill/>
              </a:ln>
              <a:solidFill>
                <a:srgbClr val="1F497D"/>
              </a:solidFill>
              <a:effectLst/>
              <a:uLnTx/>
              <a:uFillTx/>
              <a:latin typeface="Georgia"/>
            </a:endParaRPr>
          </a:p>
        </p:txBody>
      </p:sp>
      <p:pic>
        <p:nvPicPr>
          <p:cNvPr id="2" name="Picture 1"/>
          <p:cNvPicPr>
            <a:picLocks noChangeAspect="1"/>
          </p:cNvPicPr>
          <p:nvPr/>
        </p:nvPicPr>
        <p:blipFill>
          <a:blip r:embed="rId2"/>
          <a:stretch>
            <a:fillRect/>
          </a:stretch>
        </p:blipFill>
        <p:spPr>
          <a:xfrm>
            <a:off x="152401" y="990600"/>
            <a:ext cx="8839200" cy="5292051"/>
          </a:xfrm>
          <a:prstGeom prst="rect">
            <a:avLst/>
          </a:prstGeom>
        </p:spPr>
      </p:pic>
      <p:sp>
        <p:nvSpPr>
          <p:cNvPr id="3" name="TextBox 2"/>
          <p:cNvSpPr txBox="1"/>
          <p:nvPr/>
        </p:nvSpPr>
        <p:spPr>
          <a:xfrm>
            <a:off x="4267200" y="5105400"/>
            <a:ext cx="4569178" cy="1595021"/>
          </a:xfrm>
          <a:prstGeom prst="horizontalScroll">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smtClean="0">
                <a:latin typeface="Georgia" panose="02040502050405020303" pitchFamily="18" charset="0"/>
              </a:rPr>
              <a:t>In the previous step, we have already created a </a:t>
            </a:r>
            <a:r>
              <a:rPr lang="en-US" b="1" i="1" dirty="0" smtClean="0">
                <a:latin typeface="Georgia" panose="02040502050405020303" pitchFamily="18" charset="0"/>
              </a:rPr>
              <a:t>display() method </a:t>
            </a:r>
            <a:r>
              <a:rPr lang="en-US" dirty="0" smtClean="0">
                <a:latin typeface="Georgia" panose="02040502050405020303" pitchFamily="18" charset="0"/>
              </a:rPr>
              <a:t>for a </a:t>
            </a:r>
            <a:r>
              <a:rPr lang="en-US" b="1" dirty="0" smtClean="0">
                <a:latin typeface="Georgia" panose="02040502050405020303" pitchFamily="18" charset="0"/>
              </a:rPr>
              <a:t>core Controller class </a:t>
            </a:r>
            <a:r>
              <a:rPr lang="en-US" dirty="0" smtClean="0">
                <a:latin typeface="Georgia" panose="02040502050405020303" pitchFamily="18" charset="0"/>
              </a:rPr>
              <a:t>with parameter data which can be used to send data.</a:t>
            </a:r>
            <a:endParaRPr lang="en-US" dirty="0">
              <a:latin typeface="Georgia" panose="02040502050405020303" pitchFamily="18" charset="0"/>
            </a:endParaRPr>
          </a:p>
        </p:txBody>
      </p:sp>
      <p:sp>
        <p:nvSpPr>
          <p:cNvPr id="5" name="Rectangle 4"/>
          <p:cNvSpPr/>
          <p:nvPr/>
        </p:nvSpPr>
        <p:spPr>
          <a:xfrm>
            <a:off x="3124200" y="3429000"/>
            <a:ext cx="5105400" cy="1524000"/>
          </a:xfrm>
          <a:prstGeom prst="rect">
            <a:avLst/>
          </a:prstGeom>
          <a:solidFill>
            <a:srgbClr val="FFFF00">
              <a:alpha val="3000"/>
            </a:srgbClr>
          </a:solid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cxnSp>
        <p:nvCxnSpPr>
          <p:cNvPr id="7" name="Straight Connector 6"/>
          <p:cNvCxnSpPr/>
          <p:nvPr/>
        </p:nvCxnSpPr>
        <p:spPr>
          <a:xfrm>
            <a:off x="6629400" y="4038600"/>
            <a:ext cx="914400" cy="0"/>
          </a:xfrm>
          <a:prstGeom prst="line">
            <a:avLst/>
          </a:prstGeom>
          <a:ln w="76200">
            <a:solidFill>
              <a:srgbClr val="FF0000"/>
            </a:solidFill>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17905444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lang="en-US" sz="3200" dirty="0">
                <a:solidFill>
                  <a:srgbClr val="1F497D"/>
                </a:solidFill>
                <a:latin typeface="Georgia"/>
              </a:rPr>
              <a:t>2 - </a:t>
            </a:r>
            <a:r>
              <a:rPr lang="en-US" sz="3200" dirty="0" smtClean="0">
                <a:solidFill>
                  <a:srgbClr val="1F497D"/>
                </a:solidFill>
                <a:latin typeface="Georgia"/>
              </a:rPr>
              <a:t>Assign </a:t>
            </a:r>
            <a:r>
              <a:rPr lang="en-US" sz="3200" i="1" dirty="0" smtClean="0">
                <a:solidFill>
                  <a:srgbClr val="1F497D"/>
                </a:solidFill>
                <a:latin typeface="Georgia"/>
              </a:rPr>
              <a:t>an</a:t>
            </a:r>
            <a:r>
              <a:rPr lang="en-US" sz="3200" dirty="0" smtClean="0">
                <a:solidFill>
                  <a:srgbClr val="1F497D"/>
                </a:solidFill>
                <a:latin typeface="Georgia"/>
              </a:rPr>
              <a:t> Associative Arrays to Method</a:t>
            </a:r>
            <a:endParaRPr kumimoji="0" lang="en-US" sz="3200" b="0" i="0" u="none" strike="noStrike" kern="1200" cap="none" spc="0" normalizeH="0" baseline="0" noProof="0" dirty="0">
              <a:ln>
                <a:noFill/>
              </a:ln>
              <a:solidFill>
                <a:srgbClr val="1F497D"/>
              </a:solidFill>
              <a:effectLst/>
              <a:uLnTx/>
              <a:uFillTx/>
              <a:latin typeface="Georgia"/>
            </a:endParaRPr>
          </a:p>
        </p:txBody>
      </p:sp>
      <p:pic>
        <p:nvPicPr>
          <p:cNvPr id="2" name="Picture 1"/>
          <p:cNvPicPr>
            <a:picLocks noChangeAspect="1"/>
          </p:cNvPicPr>
          <p:nvPr/>
        </p:nvPicPr>
        <p:blipFill>
          <a:blip r:embed="rId2"/>
          <a:stretch>
            <a:fillRect/>
          </a:stretch>
        </p:blipFill>
        <p:spPr>
          <a:xfrm>
            <a:off x="152401" y="990600"/>
            <a:ext cx="8839200" cy="5715000"/>
          </a:xfrm>
          <a:prstGeom prst="rect">
            <a:avLst/>
          </a:prstGeom>
        </p:spPr>
      </p:pic>
      <p:sp>
        <p:nvSpPr>
          <p:cNvPr id="5" name="Rectangle 4"/>
          <p:cNvSpPr/>
          <p:nvPr/>
        </p:nvSpPr>
        <p:spPr>
          <a:xfrm>
            <a:off x="2489812" y="2667000"/>
            <a:ext cx="4749188" cy="1266022"/>
          </a:xfrm>
          <a:prstGeom prst="rect">
            <a:avLst/>
          </a:prstGeom>
          <a:solidFill>
            <a:srgbClr val="FFFF00">
              <a:alpha val="3000"/>
            </a:srgbClr>
          </a:solid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 name="Rectangle 5"/>
          <p:cNvSpPr/>
          <p:nvPr/>
        </p:nvSpPr>
        <p:spPr>
          <a:xfrm>
            <a:off x="2489812" y="4021156"/>
            <a:ext cx="4749188" cy="1255924"/>
          </a:xfrm>
          <a:prstGeom prst="rect">
            <a:avLst/>
          </a:prstGeom>
          <a:solidFill>
            <a:srgbClr val="FFFF00">
              <a:alpha val="3000"/>
            </a:srgbClr>
          </a:solid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 name="TextBox 7"/>
          <p:cNvSpPr txBox="1"/>
          <p:nvPr/>
        </p:nvSpPr>
        <p:spPr>
          <a:xfrm>
            <a:off x="5413022" y="5275626"/>
            <a:ext cx="3578578" cy="1431429"/>
          </a:xfrm>
          <a:prstGeom prst="horizontalScroll">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wrap="square" rtlCol="0">
            <a:spAutoFit/>
          </a:bodyPr>
          <a:lstStyle/>
          <a:p>
            <a:r>
              <a:rPr lang="en-US" sz="1600" dirty="0" smtClean="0">
                <a:latin typeface="Georgia" panose="02040502050405020303" pitchFamily="18" charset="0"/>
              </a:rPr>
              <a:t>Now, you can send your data to the target method which can help you to display your data in the target page.</a:t>
            </a:r>
            <a:endParaRPr lang="en-US" sz="1600" dirty="0">
              <a:latin typeface="Georgia" panose="02040502050405020303" pitchFamily="18" charset="0"/>
            </a:endParaRPr>
          </a:p>
        </p:txBody>
      </p:sp>
      <p:cxnSp>
        <p:nvCxnSpPr>
          <p:cNvPr id="9" name="Straight Arrow Connector 8"/>
          <p:cNvCxnSpPr>
            <a:stCxn id="5" idx="1"/>
          </p:cNvCxnSpPr>
          <p:nvPr/>
        </p:nvCxnSpPr>
        <p:spPr>
          <a:xfrm flipH="1">
            <a:off x="1432193" y="3300011"/>
            <a:ext cx="1057619" cy="577926"/>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p:cNvCxnSpPr/>
          <p:nvPr/>
        </p:nvCxnSpPr>
        <p:spPr>
          <a:xfrm flipH="1" flipV="1">
            <a:off x="1410159" y="4120308"/>
            <a:ext cx="1079653" cy="509991"/>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0498291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52400" y="990600"/>
            <a:ext cx="8839200" cy="5715000"/>
          </a:xfrm>
          <a:prstGeom prst="rect">
            <a:avLst/>
          </a:prstGeom>
        </p:spPr>
      </p:pic>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lang="en-US" sz="3200" dirty="0" smtClean="0">
                <a:solidFill>
                  <a:srgbClr val="1F497D"/>
                </a:solidFill>
                <a:latin typeface="Georgia"/>
              </a:rPr>
              <a:t>3 – Receive data from </a:t>
            </a:r>
            <a:r>
              <a:rPr lang="en-US" sz="3200" b="1" i="1" dirty="0" smtClean="0">
                <a:solidFill>
                  <a:srgbClr val="1F497D"/>
                </a:solidFill>
                <a:latin typeface="Georgia"/>
              </a:rPr>
              <a:t>display()</a:t>
            </a:r>
            <a:r>
              <a:rPr lang="en-US" sz="3200" dirty="0" smtClean="0">
                <a:solidFill>
                  <a:srgbClr val="1F497D"/>
                </a:solidFill>
                <a:latin typeface="Georgia"/>
              </a:rPr>
              <a:t> </a:t>
            </a:r>
            <a:r>
              <a:rPr lang="en-US" sz="3200" dirty="0">
                <a:solidFill>
                  <a:srgbClr val="1F497D"/>
                </a:solidFill>
                <a:latin typeface="Georgia"/>
              </a:rPr>
              <a:t>P</a:t>
            </a:r>
            <a:r>
              <a:rPr lang="en-US" sz="3200" dirty="0" smtClean="0">
                <a:solidFill>
                  <a:srgbClr val="1F497D"/>
                </a:solidFill>
                <a:latin typeface="Georgia"/>
              </a:rPr>
              <a:t>arameter</a:t>
            </a:r>
            <a:endParaRPr kumimoji="0" lang="en-US" sz="3200" b="0" i="0" u="none" strike="noStrike" kern="1200" cap="none" spc="0" normalizeH="0" baseline="0" noProof="0" dirty="0">
              <a:ln>
                <a:noFill/>
              </a:ln>
              <a:solidFill>
                <a:srgbClr val="1F497D"/>
              </a:solidFill>
              <a:effectLst/>
              <a:uLnTx/>
              <a:uFillTx/>
              <a:latin typeface="Georgia"/>
            </a:endParaRPr>
          </a:p>
        </p:txBody>
      </p:sp>
      <p:sp>
        <p:nvSpPr>
          <p:cNvPr id="3" name="TextBox 2"/>
          <p:cNvSpPr txBox="1"/>
          <p:nvPr/>
        </p:nvSpPr>
        <p:spPr>
          <a:xfrm>
            <a:off x="4724400" y="4971775"/>
            <a:ext cx="4111978" cy="1758613"/>
          </a:xfrm>
          <a:prstGeom prst="horizontalScroll">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wrap="square" rtlCol="0">
            <a:spAutoFit/>
          </a:bodyPr>
          <a:lstStyle/>
          <a:p>
            <a:r>
              <a:rPr lang="en-US" sz="1600" dirty="0" smtClean="0">
                <a:latin typeface="Georgia" panose="02040502050405020303" pitchFamily="18" charset="0"/>
              </a:rPr>
              <a:t>Now, go to </a:t>
            </a:r>
            <a:r>
              <a:rPr lang="en-US" sz="1600" b="1" i="1" dirty="0" err="1" smtClean="0">
                <a:latin typeface="Georgia" panose="02040502050405020303" pitchFamily="18" charset="0"/>
              </a:rPr>
              <a:t>index.php</a:t>
            </a:r>
            <a:r>
              <a:rPr lang="en-US" sz="1600" dirty="0" smtClean="0">
                <a:latin typeface="Georgia" panose="02040502050405020303" pitchFamily="18" charset="0"/>
              </a:rPr>
              <a:t> page in the home view directory and modify by following this code. You are trying to view the </a:t>
            </a:r>
            <a:r>
              <a:rPr lang="en-US" sz="1600" b="1" i="1" dirty="0" smtClean="0">
                <a:latin typeface="Georgia" panose="02040502050405020303" pitchFamily="18" charset="0"/>
              </a:rPr>
              <a:t>name</a:t>
            </a:r>
            <a:r>
              <a:rPr lang="en-US" sz="1600" dirty="0" smtClean="0">
                <a:latin typeface="Georgia" panose="02040502050405020303" pitchFamily="18" charset="0"/>
              </a:rPr>
              <a:t> and </a:t>
            </a:r>
            <a:r>
              <a:rPr lang="en-US" sz="1600" b="1" i="1" dirty="0" smtClean="0">
                <a:latin typeface="Georgia" panose="02040502050405020303" pitchFamily="18" charset="0"/>
              </a:rPr>
              <a:t>age</a:t>
            </a:r>
            <a:r>
              <a:rPr lang="en-US" sz="1600" dirty="0" smtClean="0">
                <a:latin typeface="Georgia" panose="02040502050405020303" pitchFamily="18" charset="0"/>
              </a:rPr>
              <a:t> in your home page.</a:t>
            </a:r>
            <a:endParaRPr lang="en-US" sz="1600" dirty="0">
              <a:latin typeface="Georgia" panose="02040502050405020303" pitchFamily="18" charset="0"/>
            </a:endParaRPr>
          </a:p>
        </p:txBody>
      </p:sp>
      <p:sp>
        <p:nvSpPr>
          <p:cNvPr id="7" name="Rectangle 6"/>
          <p:cNvSpPr/>
          <p:nvPr/>
        </p:nvSpPr>
        <p:spPr>
          <a:xfrm>
            <a:off x="2895600" y="3215088"/>
            <a:ext cx="5940778" cy="823512"/>
          </a:xfrm>
          <a:prstGeom prst="rect">
            <a:avLst/>
          </a:prstGeom>
          <a:solidFill>
            <a:srgbClr val="FFFF00">
              <a:alpha val="3000"/>
            </a:srgbClr>
          </a:solid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cxnSp>
        <p:nvCxnSpPr>
          <p:cNvPr id="8" name="Straight Connector 7"/>
          <p:cNvCxnSpPr/>
          <p:nvPr/>
        </p:nvCxnSpPr>
        <p:spPr>
          <a:xfrm>
            <a:off x="3646583" y="3538251"/>
            <a:ext cx="2743200" cy="0"/>
          </a:xfrm>
          <a:prstGeom prst="line">
            <a:avLst/>
          </a:prstGeom>
          <a:ln w="76200">
            <a:solidFill>
              <a:schemeClr val="tx1">
                <a:lumMod val="95000"/>
                <a:lumOff val="5000"/>
              </a:schemeClr>
            </a:solidFill>
          </a:ln>
        </p:spPr>
        <p:style>
          <a:lnRef idx="3">
            <a:schemeClr val="accent2"/>
          </a:lnRef>
          <a:fillRef idx="0">
            <a:schemeClr val="accent2"/>
          </a:fillRef>
          <a:effectRef idx="2">
            <a:schemeClr val="accent2"/>
          </a:effectRef>
          <a:fontRef idx="minor">
            <a:schemeClr val="tx1"/>
          </a:fontRef>
        </p:style>
      </p:cxnSp>
      <p:cxnSp>
        <p:nvCxnSpPr>
          <p:cNvPr id="10" name="Straight Connector 9"/>
          <p:cNvCxnSpPr/>
          <p:nvPr/>
        </p:nvCxnSpPr>
        <p:spPr>
          <a:xfrm>
            <a:off x="3657600" y="3910987"/>
            <a:ext cx="2743200" cy="0"/>
          </a:xfrm>
          <a:prstGeom prst="line">
            <a:avLst/>
          </a:prstGeom>
          <a:ln w="76200">
            <a:solidFill>
              <a:schemeClr val="tx1">
                <a:lumMod val="95000"/>
                <a:lumOff val="5000"/>
              </a:schemeClr>
            </a:solidFill>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80065350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2400" y="990601"/>
            <a:ext cx="8839200" cy="5739788"/>
          </a:xfrm>
          <a:prstGeom prst="rect">
            <a:avLst/>
          </a:prstGeom>
        </p:spPr>
      </p:pic>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lang="en-US" sz="2800" dirty="0" smtClean="0">
                <a:solidFill>
                  <a:srgbClr val="1F497D"/>
                </a:solidFill>
                <a:latin typeface="Georgia"/>
              </a:rPr>
              <a:t>4 – Also Modify </a:t>
            </a:r>
            <a:r>
              <a:rPr lang="en-US" sz="2800" b="1" i="1" dirty="0" err="1" smtClean="0">
                <a:solidFill>
                  <a:srgbClr val="1F497D"/>
                </a:solidFill>
                <a:latin typeface="Georgia"/>
              </a:rPr>
              <a:t>page.php</a:t>
            </a:r>
            <a:r>
              <a:rPr lang="en-US" sz="2800" dirty="0" smtClean="0">
                <a:solidFill>
                  <a:srgbClr val="1F497D"/>
                </a:solidFill>
                <a:latin typeface="Georgia"/>
              </a:rPr>
              <a:t> file </a:t>
            </a:r>
            <a:r>
              <a:rPr lang="en-US" sz="2800" i="1" dirty="0" smtClean="0">
                <a:solidFill>
                  <a:srgbClr val="1F497D"/>
                </a:solidFill>
                <a:latin typeface="Georgia"/>
              </a:rPr>
              <a:t>in</a:t>
            </a:r>
            <a:r>
              <a:rPr lang="en-US" sz="2800" dirty="0" smtClean="0">
                <a:solidFill>
                  <a:srgbClr val="1F497D"/>
                </a:solidFill>
                <a:latin typeface="Georgia"/>
              </a:rPr>
              <a:t> Home Directory</a:t>
            </a:r>
            <a:endParaRPr kumimoji="0" lang="en-US" sz="2800" b="0" i="0" u="none" strike="noStrike" kern="1200" cap="none" spc="0" normalizeH="0" baseline="0" noProof="0" dirty="0">
              <a:ln>
                <a:noFill/>
              </a:ln>
              <a:solidFill>
                <a:srgbClr val="1F497D"/>
              </a:solidFill>
              <a:effectLst/>
              <a:uLnTx/>
              <a:uFillTx/>
              <a:latin typeface="Georgia"/>
            </a:endParaRPr>
          </a:p>
        </p:txBody>
      </p:sp>
      <p:sp>
        <p:nvSpPr>
          <p:cNvPr id="3" name="TextBox 2"/>
          <p:cNvSpPr txBox="1"/>
          <p:nvPr/>
        </p:nvSpPr>
        <p:spPr>
          <a:xfrm>
            <a:off x="4724400" y="5410200"/>
            <a:ext cx="4111978" cy="1104245"/>
          </a:xfrm>
          <a:prstGeom prst="horizontalScroll">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wrap="square" rtlCol="0">
            <a:spAutoFit/>
          </a:bodyPr>
          <a:lstStyle/>
          <a:p>
            <a:r>
              <a:rPr lang="en-US" sz="1600" dirty="0" smtClean="0">
                <a:latin typeface="Georgia" panose="02040502050405020303" pitchFamily="18" charset="0"/>
              </a:rPr>
              <a:t>Here, it is actually the same. You only need to set the data and display it to the page.</a:t>
            </a:r>
            <a:endParaRPr lang="en-US" sz="1600" dirty="0">
              <a:latin typeface="Georgia" panose="02040502050405020303" pitchFamily="18" charset="0"/>
            </a:endParaRPr>
          </a:p>
        </p:txBody>
      </p:sp>
    </p:spTree>
    <p:extLst>
      <p:ext uri="{BB962C8B-B14F-4D97-AF65-F5344CB8AC3E}">
        <p14:creationId xmlns:p14="http://schemas.microsoft.com/office/powerpoint/2010/main" val="233001625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2400" y="990601"/>
            <a:ext cx="8839200" cy="5715000"/>
          </a:xfrm>
          <a:prstGeom prst="rect">
            <a:avLst/>
          </a:prstGeom>
        </p:spPr>
      </p:pic>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kumimoji="0" lang="en-US" sz="3200" b="0" i="0" u="none" strike="noStrike" kern="1200" cap="none" spc="0" normalizeH="0" baseline="0" noProof="0" dirty="0" smtClean="0">
                <a:ln>
                  <a:noFill/>
                </a:ln>
                <a:solidFill>
                  <a:srgbClr val="1F497D"/>
                </a:solidFill>
                <a:effectLst/>
                <a:uLnTx/>
                <a:uFillTx/>
                <a:latin typeface="Georgia"/>
                <a:ea typeface="+mn-ea"/>
                <a:cs typeface="+mn-cs"/>
              </a:rPr>
              <a:t>5 - Testing </a:t>
            </a:r>
            <a:r>
              <a:rPr lang="en-US" sz="3200" dirty="0">
                <a:solidFill>
                  <a:srgbClr val="1F497D"/>
                </a:solidFill>
                <a:latin typeface="Georgia"/>
                <a:sym typeface="Wingdings 3" panose="05040102010807070707" pitchFamily="18" charset="2"/>
              </a:rPr>
              <a:t></a:t>
            </a:r>
            <a:r>
              <a:rPr kumimoji="0" lang="en-US" sz="3200" b="0" i="0" u="none" strike="noStrike" kern="1200" cap="none" spc="0" normalizeH="0" baseline="0" noProof="0" dirty="0" smtClean="0">
                <a:ln>
                  <a:noFill/>
                </a:ln>
                <a:solidFill>
                  <a:srgbClr val="1F497D"/>
                </a:solidFill>
                <a:effectLst/>
                <a:uLnTx/>
                <a:uFillTx/>
                <a:latin typeface="Georgia"/>
                <a:ea typeface="+mn-ea"/>
                <a:cs typeface="+mn-cs"/>
              </a:rPr>
              <a:t> Home </a:t>
            </a:r>
            <a:r>
              <a:rPr lang="en-US" sz="3200" dirty="0" smtClean="0">
                <a:solidFill>
                  <a:srgbClr val="1F497D"/>
                </a:solidFill>
                <a:latin typeface="Georgia"/>
              </a:rPr>
              <a:t>Index </a:t>
            </a:r>
            <a:r>
              <a:rPr kumimoji="0" lang="en-US" sz="3200" b="0" i="0" u="none" strike="noStrike" kern="1200" cap="none" spc="0" normalizeH="0" baseline="0" noProof="0" dirty="0" smtClean="0">
                <a:ln>
                  <a:noFill/>
                </a:ln>
                <a:solidFill>
                  <a:srgbClr val="1F497D"/>
                </a:solidFill>
                <a:effectLst/>
                <a:uLnTx/>
                <a:uFillTx/>
                <a:latin typeface="Georgia"/>
                <a:ea typeface="+mn-ea"/>
                <a:cs typeface="+mn-cs"/>
              </a:rPr>
              <a:t>Page</a:t>
            </a:r>
            <a:endParaRPr kumimoji="0" lang="en-US" sz="3200" b="0" i="0" u="none" strike="noStrike" kern="1200" cap="none" spc="0" normalizeH="0" baseline="0" noProof="0" dirty="0">
              <a:ln>
                <a:noFill/>
              </a:ln>
              <a:solidFill>
                <a:srgbClr val="1F497D"/>
              </a:solidFill>
              <a:effectLst/>
              <a:uLnTx/>
              <a:uFillTx/>
              <a:latin typeface="Georgia"/>
              <a:ea typeface="+mn-ea"/>
              <a:cs typeface="+mn-cs"/>
            </a:endParaRPr>
          </a:p>
        </p:txBody>
      </p:sp>
      <p:sp>
        <p:nvSpPr>
          <p:cNvPr id="6" name="Horizontal Scroll 5"/>
          <p:cNvSpPr/>
          <p:nvPr/>
        </p:nvSpPr>
        <p:spPr>
          <a:xfrm>
            <a:off x="2057400" y="5594011"/>
            <a:ext cx="6814463" cy="1104245"/>
          </a:xfrm>
          <a:prstGeom prst="horizontalScroll">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wrap="none">
            <a:spAutoFit/>
          </a:bodyPr>
          <a:lstStyle/>
          <a:p>
            <a:r>
              <a:rPr lang="en-US" sz="1600" b="1" dirty="0" smtClean="0">
                <a:latin typeface="Georgia" panose="02040502050405020303" pitchFamily="18" charset="0"/>
              </a:rPr>
              <a:t>You can send the data and access it by following URLs:</a:t>
            </a:r>
          </a:p>
          <a:p>
            <a:r>
              <a:rPr lang="en-US" sz="1600" b="1" dirty="0" smtClean="0">
                <a:latin typeface="Georgia" panose="02040502050405020303" pitchFamily="18" charset="0"/>
              </a:rPr>
              <a:t>URL: </a:t>
            </a:r>
            <a:r>
              <a:rPr lang="en-US" sz="1600" i="1" dirty="0" smtClean="0">
                <a:latin typeface="Georgia" panose="02040502050405020303" pitchFamily="18" charset="0"/>
                <a:hlinkClick r:id="rId3"/>
              </a:rPr>
              <a:t>http</a:t>
            </a:r>
            <a:r>
              <a:rPr lang="en-US" sz="1600" i="1" dirty="0">
                <a:latin typeface="Georgia" panose="02040502050405020303" pitchFamily="18" charset="0"/>
                <a:hlinkClick r:id="rId3"/>
              </a:rPr>
              <a:t>://</a:t>
            </a:r>
            <a:r>
              <a:rPr lang="en-US" sz="1600" i="1" dirty="0" smtClean="0">
                <a:latin typeface="Georgia" panose="02040502050405020303" pitchFamily="18" charset="0"/>
                <a:hlinkClick r:id="rId3"/>
              </a:rPr>
              <a:t>localhost/lecture19/aimvc/public/home/nani/17/</a:t>
            </a:r>
            <a:endParaRPr lang="en-US" sz="1600" i="1" dirty="0" smtClean="0">
              <a:latin typeface="Georgia" panose="02040502050405020303" pitchFamily="18" charset="0"/>
            </a:endParaRPr>
          </a:p>
          <a:p>
            <a:r>
              <a:rPr lang="en-US" sz="1600" i="1" dirty="0">
                <a:latin typeface="Georgia" panose="02040502050405020303" pitchFamily="18" charset="0"/>
              </a:rPr>
              <a:t>            </a:t>
            </a:r>
            <a:r>
              <a:rPr lang="en-US" sz="1600" i="1" dirty="0">
                <a:latin typeface="Georgia" panose="02040502050405020303" pitchFamily="18" charset="0"/>
                <a:hlinkClick r:id="rId4"/>
              </a:rPr>
              <a:t>http://</a:t>
            </a:r>
            <a:r>
              <a:rPr lang="en-US" sz="1600" i="1" dirty="0" smtClean="0">
                <a:latin typeface="Georgia" panose="02040502050405020303" pitchFamily="18" charset="0"/>
                <a:hlinkClick r:id="rId4"/>
              </a:rPr>
              <a:t>localhost/lecture19/aimvc/public/home/index/nani/17/</a:t>
            </a:r>
            <a:endParaRPr lang="en-US" sz="1600" i="1" dirty="0" smtClean="0">
              <a:latin typeface="Georgia" panose="02040502050405020303" pitchFamily="18" charset="0"/>
            </a:endParaRPr>
          </a:p>
        </p:txBody>
      </p:sp>
    </p:spTree>
    <p:extLst>
      <p:ext uri="{BB962C8B-B14F-4D97-AF65-F5344CB8AC3E}">
        <p14:creationId xmlns:p14="http://schemas.microsoft.com/office/powerpoint/2010/main" val="232111832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52400" y="990601"/>
            <a:ext cx="8839200" cy="5707656"/>
          </a:xfrm>
          <a:prstGeom prst="rect">
            <a:avLst/>
          </a:prstGeom>
        </p:spPr>
      </p:pic>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kumimoji="0" lang="en-US" sz="3200" b="0" i="0" u="none" strike="noStrike" kern="1200" cap="none" spc="0" normalizeH="0" baseline="0" noProof="0" dirty="0" smtClean="0">
                <a:ln>
                  <a:noFill/>
                </a:ln>
                <a:solidFill>
                  <a:srgbClr val="1F497D"/>
                </a:solidFill>
                <a:effectLst/>
                <a:uLnTx/>
                <a:uFillTx/>
                <a:latin typeface="Georgia"/>
                <a:ea typeface="+mn-ea"/>
                <a:cs typeface="+mn-cs"/>
              </a:rPr>
              <a:t>6 - Testing </a:t>
            </a:r>
            <a:r>
              <a:rPr lang="en-US" sz="3200" dirty="0">
                <a:solidFill>
                  <a:srgbClr val="1F497D"/>
                </a:solidFill>
                <a:latin typeface="Georgia"/>
                <a:sym typeface="Wingdings 3" panose="05040102010807070707" pitchFamily="18" charset="2"/>
              </a:rPr>
              <a:t></a:t>
            </a:r>
            <a:r>
              <a:rPr kumimoji="0" lang="en-US" sz="3200" b="0" i="0" u="none" strike="noStrike" kern="1200" cap="none" spc="0" normalizeH="0" baseline="0" noProof="0" dirty="0" smtClean="0">
                <a:ln>
                  <a:noFill/>
                </a:ln>
                <a:solidFill>
                  <a:srgbClr val="1F497D"/>
                </a:solidFill>
                <a:effectLst/>
                <a:uLnTx/>
                <a:uFillTx/>
                <a:latin typeface="Georgia"/>
                <a:ea typeface="+mn-ea"/>
                <a:cs typeface="+mn-cs"/>
              </a:rPr>
              <a:t> Home </a:t>
            </a:r>
            <a:r>
              <a:rPr lang="en-US" sz="3200" dirty="0" smtClean="0">
                <a:solidFill>
                  <a:srgbClr val="1F497D"/>
                </a:solidFill>
                <a:latin typeface="Georgia"/>
              </a:rPr>
              <a:t>Personal </a:t>
            </a:r>
            <a:r>
              <a:rPr kumimoji="0" lang="en-US" sz="3200" b="0" i="0" u="none" strike="noStrike" kern="1200" cap="none" spc="0" normalizeH="0" baseline="0" noProof="0" dirty="0" smtClean="0">
                <a:ln>
                  <a:noFill/>
                </a:ln>
                <a:solidFill>
                  <a:srgbClr val="1F497D"/>
                </a:solidFill>
                <a:effectLst/>
                <a:uLnTx/>
                <a:uFillTx/>
                <a:latin typeface="Georgia"/>
                <a:ea typeface="+mn-ea"/>
                <a:cs typeface="+mn-cs"/>
              </a:rPr>
              <a:t>Page</a:t>
            </a:r>
            <a:endParaRPr kumimoji="0" lang="en-US" sz="3200" b="0" i="0" u="none" strike="noStrike" kern="1200" cap="none" spc="0" normalizeH="0" baseline="0" noProof="0" dirty="0">
              <a:ln>
                <a:noFill/>
              </a:ln>
              <a:solidFill>
                <a:srgbClr val="1F497D"/>
              </a:solidFill>
              <a:effectLst/>
              <a:uLnTx/>
              <a:uFillTx/>
              <a:latin typeface="Georgia"/>
              <a:ea typeface="+mn-ea"/>
              <a:cs typeface="+mn-cs"/>
            </a:endParaRPr>
          </a:p>
        </p:txBody>
      </p:sp>
      <p:sp>
        <p:nvSpPr>
          <p:cNvPr id="6" name="Horizontal Scroll 5"/>
          <p:cNvSpPr/>
          <p:nvPr/>
        </p:nvSpPr>
        <p:spPr>
          <a:xfrm>
            <a:off x="2057400" y="5791200"/>
            <a:ext cx="6745516" cy="777061"/>
          </a:xfrm>
          <a:prstGeom prst="horizontalScroll">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wrap="none">
            <a:spAutoFit/>
          </a:bodyPr>
          <a:lstStyle/>
          <a:p>
            <a:r>
              <a:rPr lang="en-US" sz="1600" b="1" dirty="0" smtClean="0">
                <a:latin typeface="Georgia" panose="02040502050405020303" pitchFamily="18" charset="0"/>
              </a:rPr>
              <a:t>You can send the data and access it by following URLs:</a:t>
            </a:r>
          </a:p>
          <a:p>
            <a:r>
              <a:rPr lang="en-US" sz="1600" b="1" dirty="0" smtClean="0">
                <a:latin typeface="Georgia" panose="02040502050405020303" pitchFamily="18" charset="0"/>
              </a:rPr>
              <a:t>URL: </a:t>
            </a:r>
            <a:r>
              <a:rPr lang="en-US" sz="1600" i="1" dirty="0">
                <a:latin typeface="Georgia" panose="02040502050405020303" pitchFamily="18" charset="0"/>
                <a:hlinkClick r:id="rId3"/>
              </a:rPr>
              <a:t>http://localhost/lecture19/aimvc/public/home/page/12/13/11</a:t>
            </a:r>
            <a:r>
              <a:rPr lang="en-US" sz="1600" i="1" dirty="0" smtClean="0">
                <a:latin typeface="Georgia" panose="02040502050405020303" pitchFamily="18" charset="0"/>
                <a:hlinkClick r:id="rId3"/>
              </a:rPr>
              <a:t>/</a:t>
            </a:r>
            <a:endParaRPr lang="en-US" sz="1600" i="1" dirty="0" smtClean="0">
              <a:latin typeface="Georgia" panose="02040502050405020303" pitchFamily="18" charset="0"/>
            </a:endParaRPr>
          </a:p>
        </p:txBody>
      </p:sp>
    </p:spTree>
    <p:extLst>
      <p:ext uri="{BB962C8B-B14F-4D97-AF65-F5344CB8AC3E}">
        <p14:creationId xmlns:p14="http://schemas.microsoft.com/office/powerpoint/2010/main" val="265621244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0" y="2895600"/>
            <a:ext cx="7620000" cy="1323439"/>
          </a:xfrm>
          <a:prstGeom prst="rect">
            <a:avLst/>
          </a:prstGeom>
        </p:spPr>
        <p:txBody>
          <a:bodyPr wrap="square">
            <a:spAutoFit/>
          </a:bodyPr>
          <a:lstStyle/>
          <a:p>
            <a:pPr lvl="0" algn="ctr">
              <a:defRPr/>
            </a:pPr>
            <a:r>
              <a:rPr kumimoji="0" lang="en-US" sz="4000" b="0" i="0" u="none" strike="noStrike" kern="1200" cap="none" spc="0" normalizeH="0" baseline="0" noProof="0" dirty="0" smtClean="0">
                <a:ln>
                  <a:noFill/>
                </a:ln>
                <a:solidFill>
                  <a:prstClr val="black"/>
                </a:solidFill>
                <a:effectLst/>
                <a:uLnTx/>
                <a:uFillTx/>
                <a:latin typeface="Georgia"/>
                <a:ea typeface="+mn-ea"/>
                <a:cs typeface="+mn-cs"/>
              </a:rPr>
              <a:t>4 – </a:t>
            </a:r>
            <a:r>
              <a:rPr lang="en-US" sz="4000" dirty="0" smtClean="0">
                <a:solidFill>
                  <a:prstClr val="black"/>
                </a:solidFill>
              </a:rPr>
              <a:t>Create Header &amp; Footer Templates </a:t>
            </a:r>
            <a:r>
              <a:rPr lang="en-US" sz="4000" dirty="0">
                <a:solidFill>
                  <a:prstClr val="black"/>
                </a:solidFill>
              </a:rPr>
              <a:t>with </a:t>
            </a:r>
            <a:r>
              <a:rPr lang="en-US" sz="4000" i="1" dirty="0">
                <a:solidFill>
                  <a:prstClr val="black"/>
                </a:solidFill>
              </a:rPr>
              <a:t>their</a:t>
            </a:r>
            <a:r>
              <a:rPr lang="en-US" sz="4000" dirty="0">
                <a:solidFill>
                  <a:prstClr val="black"/>
                </a:solidFill>
              </a:rPr>
              <a:t> </a:t>
            </a:r>
            <a:r>
              <a:rPr lang="en-US" sz="4000" dirty="0" smtClean="0">
                <a:solidFill>
                  <a:prstClr val="black"/>
                </a:solidFill>
              </a:rPr>
              <a:t>Title Page</a:t>
            </a:r>
            <a:endParaRPr kumimoji="0" lang="en-US" sz="4000" b="0" i="0" u="none" strike="noStrike" kern="1200" cap="none" spc="0" normalizeH="0" baseline="0" noProof="0" dirty="0">
              <a:ln>
                <a:noFill/>
              </a:ln>
              <a:solidFill>
                <a:prstClr val="black"/>
              </a:solidFill>
              <a:effectLst/>
              <a:uLnTx/>
              <a:uFillTx/>
              <a:latin typeface="Georgia"/>
              <a:ea typeface="+mn-ea"/>
              <a:cs typeface="+mn-cs"/>
            </a:endParaRPr>
          </a:p>
        </p:txBody>
      </p:sp>
      <p:pic>
        <p:nvPicPr>
          <p:cNvPr id="3074" name="Picture 2" descr="Fresh Green Leaves Header On White Background Stock Photo, Picture And  Royalty Free Image. Image 78250847."/>
          <p:cNvPicPr>
            <a:picLocks noChangeAspect="1" noChangeArrowheads="1"/>
          </p:cNvPicPr>
          <p:nvPr/>
        </p:nvPicPr>
        <p:blipFill rotWithShape="1">
          <a:blip r:embed="rId2">
            <a:extLst>
              <a:ext uri="{28A0092B-C50C-407E-A947-70E740481C1C}">
                <a14:useLocalDpi xmlns:a14="http://schemas.microsoft.com/office/drawing/2010/main" val="0"/>
              </a:ext>
            </a:extLst>
          </a:blip>
          <a:srcRect b="37312"/>
          <a:stretch/>
        </p:blipFill>
        <p:spPr bwMode="auto">
          <a:xfrm>
            <a:off x="0" y="0"/>
            <a:ext cx="91440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Fresh Green Leaves Header On White Background Stock Photo, Picture And  Royalty Free Image. Image 78250847."/>
          <p:cNvPicPr>
            <a:picLocks noChangeAspect="1" noChangeArrowheads="1"/>
          </p:cNvPicPr>
          <p:nvPr/>
        </p:nvPicPr>
        <p:blipFill rotWithShape="1">
          <a:blip r:embed="rId2">
            <a:extLst>
              <a:ext uri="{28A0092B-C50C-407E-A947-70E740481C1C}">
                <a14:useLocalDpi xmlns:a14="http://schemas.microsoft.com/office/drawing/2010/main" val="0"/>
              </a:ext>
            </a:extLst>
          </a:blip>
          <a:srcRect b="37312"/>
          <a:stretch/>
        </p:blipFill>
        <p:spPr bwMode="auto">
          <a:xfrm rot="10800000">
            <a:off x="0" y="4419600"/>
            <a:ext cx="9144000"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96744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lang="en-US" sz="3200" dirty="0" smtClean="0">
                <a:solidFill>
                  <a:srgbClr val="1F497D"/>
                </a:solidFill>
                <a:latin typeface="Georgia"/>
              </a:rPr>
              <a:t>HTML Header &amp; Footer Templates</a:t>
            </a:r>
            <a:endParaRPr kumimoji="0" lang="en-US" sz="3200" b="0" i="0" u="none" strike="noStrike" kern="1200" cap="none" spc="0" normalizeH="0" baseline="0" noProof="0" dirty="0">
              <a:ln>
                <a:noFill/>
              </a:ln>
              <a:solidFill>
                <a:srgbClr val="1F497D"/>
              </a:solidFill>
              <a:effectLst/>
              <a:uLnTx/>
              <a:uFillTx/>
              <a:latin typeface="Georgia"/>
            </a:endParaRPr>
          </a:p>
        </p:txBody>
      </p:sp>
      <p:sp>
        <p:nvSpPr>
          <p:cNvPr id="3" name="Rectangle 2"/>
          <p:cNvSpPr/>
          <p:nvPr/>
        </p:nvSpPr>
        <p:spPr>
          <a:xfrm>
            <a:off x="85381" y="4724400"/>
            <a:ext cx="8686800" cy="1938992"/>
          </a:xfrm>
          <a:prstGeom prst="rect">
            <a:avLst/>
          </a:prstGeom>
        </p:spPr>
        <p:txBody>
          <a:bodyPr wrap="square">
            <a:spAutoFit/>
          </a:bodyPr>
          <a:lstStyle/>
          <a:p>
            <a:pPr algn="ctr"/>
            <a:r>
              <a:rPr lang="en-US" sz="2400" dirty="0">
                <a:latin typeface="Georgia" panose="02040502050405020303" pitchFamily="18" charset="0"/>
              </a:rPr>
              <a:t>You can easily create sticky or fixed header and footer </a:t>
            </a:r>
            <a:r>
              <a:rPr lang="en-US" sz="2400" dirty="0" smtClean="0">
                <a:latin typeface="Georgia" panose="02040502050405020303" pitchFamily="18" charset="0"/>
              </a:rPr>
              <a:t>template using </a:t>
            </a:r>
            <a:r>
              <a:rPr lang="en-US" sz="2400" b="1" i="1" dirty="0">
                <a:latin typeface="Georgia" panose="02040502050405020303" pitchFamily="18" charset="0"/>
              </a:rPr>
              <a:t>the CSS fixed positioning</a:t>
            </a:r>
            <a:r>
              <a:rPr lang="en-US" sz="2400" dirty="0">
                <a:latin typeface="Georgia" panose="02040502050405020303" pitchFamily="18" charset="0"/>
              </a:rPr>
              <a:t>. Simply apply the CSS position property with the value fixed in combination with the top and bottom property to place the element on the top or bottom of the viewport accordingly.</a:t>
            </a:r>
          </a:p>
        </p:txBody>
      </p:sp>
      <p:pic>
        <p:nvPicPr>
          <p:cNvPr id="5" name="Picture 4"/>
          <p:cNvPicPr>
            <a:picLocks noChangeAspect="1"/>
          </p:cNvPicPr>
          <p:nvPr/>
        </p:nvPicPr>
        <p:blipFill>
          <a:blip r:embed="rId2"/>
          <a:stretch>
            <a:fillRect/>
          </a:stretch>
        </p:blipFill>
        <p:spPr>
          <a:xfrm>
            <a:off x="2819400" y="1066800"/>
            <a:ext cx="6172200" cy="289631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Left Brace 5"/>
          <p:cNvSpPr/>
          <p:nvPr/>
        </p:nvSpPr>
        <p:spPr>
          <a:xfrm>
            <a:off x="2514600" y="1066800"/>
            <a:ext cx="152400" cy="1295400"/>
          </a:xfrm>
          <a:prstGeom prst="leftBrace">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sp>
        <p:nvSpPr>
          <p:cNvPr id="7" name="Left Brace 6"/>
          <p:cNvSpPr/>
          <p:nvPr/>
        </p:nvSpPr>
        <p:spPr>
          <a:xfrm>
            <a:off x="2514600" y="3581399"/>
            <a:ext cx="152400" cy="399005"/>
          </a:xfrm>
          <a:prstGeom prst="leftBrace">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sp>
        <p:nvSpPr>
          <p:cNvPr id="8" name="Rectangle 7"/>
          <p:cNvSpPr/>
          <p:nvPr/>
        </p:nvSpPr>
        <p:spPr>
          <a:xfrm>
            <a:off x="650913" y="1419665"/>
            <a:ext cx="1561646" cy="523220"/>
          </a:xfrm>
          <a:prstGeom prst="rect">
            <a:avLst/>
          </a:prstGeom>
        </p:spPr>
        <p:txBody>
          <a:bodyPr wrap="none">
            <a:spAutoFit/>
          </a:bodyPr>
          <a:lstStyle/>
          <a:p>
            <a:r>
              <a:rPr lang="en-US" sz="2800" b="1" dirty="0">
                <a:solidFill>
                  <a:srgbClr val="1F497D"/>
                </a:solidFill>
                <a:latin typeface="Georgia"/>
              </a:rPr>
              <a:t>Header</a:t>
            </a:r>
            <a:endParaRPr lang="en-US" sz="2800" b="1" dirty="0"/>
          </a:p>
        </p:txBody>
      </p:sp>
      <p:sp>
        <p:nvSpPr>
          <p:cNvPr id="9" name="Rectangle 8"/>
          <p:cNvSpPr/>
          <p:nvPr/>
        </p:nvSpPr>
        <p:spPr>
          <a:xfrm>
            <a:off x="713822" y="3429651"/>
            <a:ext cx="1414170" cy="523220"/>
          </a:xfrm>
          <a:prstGeom prst="rect">
            <a:avLst/>
          </a:prstGeom>
        </p:spPr>
        <p:txBody>
          <a:bodyPr wrap="none">
            <a:spAutoFit/>
          </a:bodyPr>
          <a:lstStyle/>
          <a:p>
            <a:r>
              <a:rPr lang="en-US" sz="2800" b="1" dirty="0">
                <a:solidFill>
                  <a:srgbClr val="1F497D"/>
                </a:solidFill>
                <a:latin typeface="Georgia"/>
              </a:rPr>
              <a:t>Footer</a:t>
            </a:r>
            <a:endParaRPr lang="en-US" sz="2800" b="1" dirty="0"/>
          </a:p>
        </p:txBody>
      </p:sp>
    </p:spTree>
    <p:extLst>
      <p:ext uri="{BB962C8B-B14F-4D97-AF65-F5344CB8AC3E}">
        <p14:creationId xmlns:p14="http://schemas.microsoft.com/office/powerpoint/2010/main" val="315671251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lang="en-US" sz="2800" dirty="0" smtClean="0">
                <a:solidFill>
                  <a:srgbClr val="1F497D"/>
                </a:solidFill>
                <a:latin typeface="Georgia"/>
              </a:rPr>
              <a:t>1 – Create Template Directory in View</a:t>
            </a:r>
            <a:endParaRPr kumimoji="0" lang="en-US" sz="2800" b="0" i="0" u="none" strike="noStrike" kern="1200" cap="none" spc="0" normalizeH="0" baseline="0" noProof="0" dirty="0">
              <a:ln>
                <a:noFill/>
              </a:ln>
              <a:solidFill>
                <a:srgbClr val="1F497D"/>
              </a:solidFill>
              <a:effectLst/>
              <a:uLnTx/>
              <a:uFillTx/>
              <a:latin typeface="Georgia"/>
            </a:endParaRPr>
          </a:p>
        </p:txBody>
      </p:sp>
      <p:pic>
        <p:nvPicPr>
          <p:cNvPr id="10" name="Picture 9"/>
          <p:cNvPicPr>
            <a:picLocks noChangeAspect="1"/>
          </p:cNvPicPr>
          <p:nvPr/>
        </p:nvPicPr>
        <p:blipFill>
          <a:blip r:embed="rId2"/>
          <a:stretch>
            <a:fillRect/>
          </a:stretch>
        </p:blipFill>
        <p:spPr>
          <a:xfrm>
            <a:off x="203811" y="990600"/>
            <a:ext cx="2735855" cy="565209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1" name="Rectangle 10"/>
          <p:cNvSpPr/>
          <p:nvPr/>
        </p:nvSpPr>
        <p:spPr>
          <a:xfrm>
            <a:off x="806986" y="4636264"/>
            <a:ext cx="2012414" cy="927254"/>
          </a:xfrm>
          <a:prstGeom prst="rect">
            <a:avLst/>
          </a:prstGeom>
          <a:solidFill>
            <a:srgbClr val="FFFF00">
              <a:alpha val="3000"/>
            </a:srgbClr>
          </a:solid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2" name="TextBox 11"/>
          <p:cNvSpPr txBox="1"/>
          <p:nvPr/>
        </p:nvSpPr>
        <p:spPr>
          <a:xfrm>
            <a:off x="3276600" y="3352800"/>
            <a:ext cx="5105400" cy="3108543"/>
          </a:xfrm>
          <a:prstGeom prst="rect">
            <a:avLst/>
          </a:prstGeom>
          <a:noFill/>
        </p:spPr>
        <p:txBody>
          <a:bodyPr wrap="square" rtlCol="0">
            <a:spAutoFit/>
          </a:bodyPr>
          <a:lstStyle/>
          <a:p>
            <a:r>
              <a:rPr lang="en-US" sz="2800" dirty="0" smtClean="0">
                <a:latin typeface="Georgia" panose="02040502050405020303" pitchFamily="18" charset="0"/>
              </a:rPr>
              <a:t>Create one subdirectory in view. This </a:t>
            </a:r>
            <a:r>
              <a:rPr lang="en-US" sz="2800" b="1" i="1" dirty="0" smtClean="0">
                <a:latin typeface="Georgia" panose="02040502050405020303" pitchFamily="18" charset="0"/>
              </a:rPr>
              <a:t>template directory </a:t>
            </a:r>
            <a:r>
              <a:rPr lang="en-US" sz="2800" dirty="0" smtClean="0">
                <a:latin typeface="Georgia" panose="02040502050405020303" pitchFamily="18" charset="0"/>
              </a:rPr>
              <a:t>can store </a:t>
            </a:r>
            <a:r>
              <a:rPr lang="en-US" sz="2800" b="1" i="1" dirty="0" smtClean="0">
                <a:latin typeface="Georgia" panose="02040502050405020303" pitchFamily="18" charset="0"/>
              </a:rPr>
              <a:t>header</a:t>
            </a:r>
            <a:r>
              <a:rPr lang="en-US" sz="2800" dirty="0" smtClean="0">
                <a:latin typeface="Georgia" panose="02040502050405020303" pitchFamily="18" charset="0"/>
              </a:rPr>
              <a:t> and </a:t>
            </a:r>
            <a:r>
              <a:rPr lang="en-US" sz="2800" b="1" i="1" dirty="0" smtClean="0">
                <a:latin typeface="Georgia" panose="02040502050405020303" pitchFamily="18" charset="0"/>
              </a:rPr>
              <a:t>footer</a:t>
            </a:r>
            <a:r>
              <a:rPr lang="en-US" sz="2800" dirty="0" smtClean="0">
                <a:latin typeface="Georgia" panose="02040502050405020303" pitchFamily="18" charset="0"/>
              </a:rPr>
              <a:t> templates and those files can be used as a template for all </a:t>
            </a:r>
            <a:r>
              <a:rPr lang="en-US" sz="2800" i="1" dirty="0" err="1" smtClean="0">
                <a:latin typeface="Georgia" panose="02040502050405020303" pitchFamily="18" charset="0"/>
              </a:rPr>
              <a:t>php</a:t>
            </a:r>
            <a:r>
              <a:rPr lang="en-US" sz="2800" i="1" dirty="0" smtClean="0">
                <a:latin typeface="Georgia" panose="02040502050405020303" pitchFamily="18" charset="0"/>
              </a:rPr>
              <a:t> pages</a:t>
            </a:r>
            <a:r>
              <a:rPr lang="en-US" sz="2800" dirty="0" smtClean="0">
                <a:latin typeface="Georgia" panose="02040502050405020303" pitchFamily="18" charset="0"/>
              </a:rPr>
              <a:t> in our framework project.</a:t>
            </a:r>
            <a:endParaRPr lang="en-US" sz="2800" dirty="0">
              <a:latin typeface="Georgia" panose="02040502050405020303" pitchFamily="18" charset="0"/>
            </a:endParaRPr>
          </a:p>
        </p:txBody>
      </p:sp>
    </p:spTree>
    <p:extLst>
      <p:ext uri="{BB962C8B-B14F-4D97-AF65-F5344CB8AC3E}">
        <p14:creationId xmlns:p14="http://schemas.microsoft.com/office/powerpoint/2010/main" val="375505407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lang="en-US" sz="2800" dirty="0">
                <a:solidFill>
                  <a:srgbClr val="1F497D"/>
                </a:solidFill>
                <a:latin typeface="Georgia"/>
              </a:rPr>
              <a:t>2</a:t>
            </a:r>
            <a:r>
              <a:rPr lang="en-US" sz="2800" dirty="0" smtClean="0">
                <a:solidFill>
                  <a:srgbClr val="1F497D"/>
                </a:solidFill>
                <a:latin typeface="Georgia"/>
              </a:rPr>
              <a:t> – Header, Footer &amp; Content Sections</a:t>
            </a:r>
            <a:endParaRPr kumimoji="0" lang="en-US" sz="2800" b="0" i="0" u="none" strike="noStrike" kern="1200" cap="none" spc="0" normalizeH="0" baseline="0" noProof="0" dirty="0">
              <a:ln>
                <a:noFill/>
              </a:ln>
              <a:solidFill>
                <a:srgbClr val="1F497D"/>
              </a:solidFill>
              <a:effectLst/>
              <a:uLnTx/>
              <a:uFillTx/>
              <a:latin typeface="Georgia"/>
            </a:endParaRPr>
          </a:p>
        </p:txBody>
      </p:sp>
      <p:pic>
        <p:nvPicPr>
          <p:cNvPr id="3" name="Picture 2"/>
          <p:cNvPicPr>
            <a:picLocks noChangeAspect="1"/>
          </p:cNvPicPr>
          <p:nvPr/>
        </p:nvPicPr>
        <p:blipFill>
          <a:blip r:embed="rId2"/>
          <a:stretch>
            <a:fillRect/>
          </a:stretch>
        </p:blipFill>
        <p:spPr>
          <a:xfrm>
            <a:off x="152400" y="990600"/>
            <a:ext cx="4343400" cy="3232759"/>
          </a:xfrm>
          <a:prstGeom prst="rect">
            <a:avLst/>
          </a:prstGeom>
        </p:spPr>
      </p:pic>
      <p:pic>
        <p:nvPicPr>
          <p:cNvPr id="5" name="Picture 4"/>
          <p:cNvPicPr>
            <a:picLocks noChangeAspect="1"/>
          </p:cNvPicPr>
          <p:nvPr/>
        </p:nvPicPr>
        <p:blipFill>
          <a:blip r:embed="rId3"/>
          <a:stretch>
            <a:fillRect/>
          </a:stretch>
        </p:blipFill>
        <p:spPr>
          <a:xfrm>
            <a:off x="4648200" y="990599"/>
            <a:ext cx="4343400" cy="3232759"/>
          </a:xfrm>
          <a:prstGeom prst="rect">
            <a:avLst/>
          </a:prstGeom>
        </p:spPr>
      </p:pic>
      <p:pic>
        <p:nvPicPr>
          <p:cNvPr id="6" name="Picture 5"/>
          <p:cNvPicPr>
            <a:picLocks noChangeAspect="1"/>
          </p:cNvPicPr>
          <p:nvPr/>
        </p:nvPicPr>
        <p:blipFill>
          <a:blip r:embed="rId4"/>
          <a:stretch>
            <a:fillRect/>
          </a:stretch>
        </p:blipFill>
        <p:spPr>
          <a:xfrm>
            <a:off x="2250991" y="3810000"/>
            <a:ext cx="6712149" cy="284835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Rectangle 6"/>
          <p:cNvSpPr/>
          <p:nvPr/>
        </p:nvSpPr>
        <p:spPr>
          <a:xfrm>
            <a:off x="1981200" y="3046811"/>
            <a:ext cx="2023311" cy="461665"/>
          </a:xfrm>
          <a:prstGeom prst="rect">
            <a:avLst/>
          </a:prstGeom>
        </p:spPr>
        <p:txBody>
          <a:bodyPr wrap="none">
            <a:spAutoFit/>
          </a:bodyPr>
          <a:lstStyle/>
          <a:p>
            <a:r>
              <a:rPr lang="en-US" sz="2400" b="1" i="1" dirty="0" err="1" smtClean="0">
                <a:solidFill>
                  <a:schemeClr val="tx1">
                    <a:lumMod val="95000"/>
                    <a:lumOff val="5000"/>
                  </a:schemeClr>
                </a:solidFill>
                <a:latin typeface="Georgia"/>
              </a:rPr>
              <a:t>header.php</a:t>
            </a:r>
            <a:endParaRPr lang="en-US" sz="2400" b="1" i="1" dirty="0">
              <a:solidFill>
                <a:schemeClr val="tx1">
                  <a:lumMod val="95000"/>
                  <a:lumOff val="5000"/>
                </a:schemeClr>
              </a:solidFill>
            </a:endParaRPr>
          </a:p>
        </p:txBody>
      </p:sp>
      <p:sp>
        <p:nvSpPr>
          <p:cNvPr id="8" name="Rectangle 7"/>
          <p:cNvSpPr/>
          <p:nvPr/>
        </p:nvSpPr>
        <p:spPr>
          <a:xfrm>
            <a:off x="6324600" y="2966273"/>
            <a:ext cx="1872629" cy="461665"/>
          </a:xfrm>
          <a:prstGeom prst="rect">
            <a:avLst/>
          </a:prstGeom>
        </p:spPr>
        <p:txBody>
          <a:bodyPr wrap="none">
            <a:spAutoFit/>
          </a:bodyPr>
          <a:lstStyle/>
          <a:p>
            <a:r>
              <a:rPr lang="en-US" sz="2400" b="1" i="1" dirty="0" err="1" smtClean="0">
                <a:solidFill>
                  <a:schemeClr val="tx1">
                    <a:lumMod val="95000"/>
                    <a:lumOff val="5000"/>
                  </a:schemeClr>
                </a:solidFill>
                <a:latin typeface="Georgia"/>
              </a:rPr>
              <a:t>footer.php</a:t>
            </a:r>
            <a:endParaRPr lang="en-US" sz="2400" b="1" i="1" dirty="0">
              <a:solidFill>
                <a:schemeClr val="tx1">
                  <a:lumMod val="95000"/>
                  <a:lumOff val="5000"/>
                </a:schemeClr>
              </a:solidFill>
            </a:endParaRPr>
          </a:p>
        </p:txBody>
      </p:sp>
      <p:sp>
        <p:nvSpPr>
          <p:cNvPr id="9" name="Rectangle 8"/>
          <p:cNvSpPr/>
          <p:nvPr/>
        </p:nvSpPr>
        <p:spPr>
          <a:xfrm>
            <a:off x="3886200" y="5946335"/>
            <a:ext cx="3860352" cy="461665"/>
          </a:xfrm>
          <a:prstGeom prst="rect">
            <a:avLst/>
          </a:prstGeom>
        </p:spPr>
        <p:txBody>
          <a:bodyPr wrap="none">
            <a:spAutoFit/>
          </a:bodyPr>
          <a:lstStyle/>
          <a:p>
            <a:r>
              <a:rPr lang="en-US" sz="2400" b="1" i="1" dirty="0" smtClean="0">
                <a:solidFill>
                  <a:schemeClr val="tx1">
                    <a:lumMod val="95000"/>
                    <a:lumOff val="5000"/>
                  </a:schemeClr>
                </a:solidFill>
                <a:latin typeface="Georgia"/>
              </a:rPr>
              <a:t>/view/home/</a:t>
            </a:r>
            <a:r>
              <a:rPr lang="en-US" sz="2400" b="1" i="1" dirty="0" err="1" smtClean="0">
                <a:solidFill>
                  <a:schemeClr val="tx1">
                    <a:lumMod val="95000"/>
                    <a:lumOff val="5000"/>
                  </a:schemeClr>
                </a:solidFill>
                <a:latin typeface="Georgia"/>
              </a:rPr>
              <a:t>index.php</a:t>
            </a:r>
            <a:endParaRPr lang="en-US" sz="2400" b="1" i="1" dirty="0">
              <a:solidFill>
                <a:schemeClr val="tx1">
                  <a:lumMod val="95000"/>
                  <a:lumOff val="5000"/>
                </a:schemeClr>
              </a:solidFill>
            </a:endParaRPr>
          </a:p>
        </p:txBody>
      </p:sp>
    </p:spTree>
    <p:extLst>
      <p:ext uri="{BB962C8B-B14F-4D97-AF65-F5344CB8AC3E}">
        <p14:creationId xmlns:p14="http://schemas.microsoft.com/office/powerpoint/2010/main" val="268978252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lang="en-US" sz="3200" dirty="0" smtClean="0">
                <a:solidFill>
                  <a:srgbClr val="1F497D"/>
                </a:solidFill>
                <a:latin typeface="Georgia"/>
              </a:rPr>
              <a:t>3 – Add Header &amp; Footer in Controller</a:t>
            </a:r>
            <a:endParaRPr kumimoji="0" lang="en-US" sz="3200" b="0" i="0" u="none" strike="noStrike" kern="1200" cap="none" spc="0" normalizeH="0" baseline="0" noProof="0" dirty="0">
              <a:ln>
                <a:noFill/>
              </a:ln>
              <a:solidFill>
                <a:srgbClr val="1F497D"/>
              </a:solidFill>
              <a:effectLst/>
              <a:uLnTx/>
              <a:uFillTx/>
              <a:latin typeface="Georgia"/>
            </a:endParaRPr>
          </a:p>
        </p:txBody>
      </p:sp>
      <p:pic>
        <p:nvPicPr>
          <p:cNvPr id="2" name="Picture 1"/>
          <p:cNvPicPr>
            <a:picLocks noChangeAspect="1"/>
          </p:cNvPicPr>
          <p:nvPr/>
        </p:nvPicPr>
        <p:blipFill>
          <a:blip r:embed="rId2"/>
          <a:stretch>
            <a:fillRect/>
          </a:stretch>
        </p:blipFill>
        <p:spPr>
          <a:xfrm>
            <a:off x="177188" y="990600"/>
            <a:ext cx="6652755" cy="5715000"/>
          </a:xfrm>
          <a:prstGeom prst="rect">
            <a:avLst/>
          </a:prstGeom>
        </p:spPr>
      </p:pic>
      <p:sp>
        <p:nvSpPr>
          <p:cNvPr id="3" name="Rectangle 2"/>
          <p:cNvSpPr/>
          <p:nvPr/>
        </p:nvSpPr>
        <p:spPr>
          <a:xfrm>
            <a:off x="7162800" y="2895600"/>
            <a:ext cx="1067921" cy="369332"/>
          </a:xfrm>
          <a:prstGeom prst="rect">
            <a:avLst/>
          </a:prstGeom>
        </p:spPr>
        <p:txBody>
          <a:bodyPr wrap="none">
            <a:spAutoFit/>
          </a:bodyPr>
          <a:lstStyle/>
          <a:p>
            <a:r>
              <a:rPr lang="en-US" b="1" dirty="0">
                <a:solidFill>
                  <a:srgbClr val="1F497D"/>
                </a:solidFill>
                <a:latin typeface="Georgia"/>
              </a:rPr>
              <a:t>Header</a:t>
            </a:r>
            <a:endParaRPr lang="en-US" b="1" dirty="0"/>
          </a:p>
        </p:txBody>
      </p:sp>
      <p:sp>
        <p:nvSpPr>
          <p:cNvPr id="5" name="Rectangle 4"/>
          <p:cNvSpPr/>
          <p:nvPr/>
        </p:nvSpPr>
        <p:spPr>
          <a:xfrm>
            <a:off x="7203675" y="3663434"/>
            <a:ext cx="978153" cy="369332"/>
          </a:xfrm>
          <a:prstGeom prst="rect">
            <a:avLst/>
          </a:prstGeom>
        </p:spPr>
        <p:txBody>
          <a:bodyPr wrap="none">
            <a:spAutoFit/>
          </a:bodyPr>
          <a:lstStyle/>
          <a:p>
            <a:r>
              <a:rPr lang="en-US" b="1" dirty="0">
                <a:solidFill>
                  <a:srgbClr val="1F497D"/>
                </a:solidFill>
                <a:latin typeface="Georgia"/>
              </a:rPr>
              <a:t>Footer</a:t>
            </a:r>
            <a:endParaRPr lang="en-US" b="1" dirty="0"/>
          </a:p>
        </p:txBody>
      </p:sp>
      <p:cxnSp>
        <p:nvCxnSpPr>
          <p:cNvPr id="6" name="Straight Arrow Connector 5"/>
          <p:cNvCxnSpPr>
            <a:endCxn id="3" idx="1"/>
          </p:cNvCxnSpPr>
          <p:nvPr/>
        </p:nvCxnSpPr>
        <p:spPr>
          <a:xfrm flipV="1">
            <a:off x="4935557" y="3080266"/>
            <a:ext cx="2227243" cy="45614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p:cNvCxnSpPr/>
          <p:nvPr/>
        </p:nvCxnSpPr>
        <p:spPr>
          <a:xfrm>
            <a:off x="4946573" y="3822853"/>
            <a:ext cx="2247441" cy="55084"/>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3" name="Rectangle 12"/>
          <p:cNvSpPr/>
          <p:nvPr/>
        </p:nvSpPr>
        <p:spPr>
          <a:xfrm>
            <a:off x="7203677" y="4659868"/>
            <a:ext cx="1067921" cy="369332"/>
          </a:xfrm>
          <a:prstGeom prst="rect">
            <a:avLst/>
          </a:prstGeom>
        </p:spPr>
        <p:txBody>
          <a:bodyPr wrap="none">
            <a:spAutoFit/>
          </a:bodyPr>
          <a:lstStyle/>
          <a:p>
            <a:r>
              <a:rPr lang="en-US" b="1" dirty="0">
                <a:solidFill>
                  <a:srgbClr val="1F497D"/>
                </a:solidFill>
                <a:latin typeface="Georgia"/>
              </a:rPr>
              <a:t>Header</a:t>
            </a:r>
            <a:endParaRPr lang="en-US" b="1" dirty="0"/>
          </a:p>
        </p:txBody>
      </p:sp>
      <p:sp>
        <p:nvSpPr>
          <p:cNvPr id="14" name="Rectangle 13"/>
          <p:cNvSpPr/>
          <p:nvPr/>
        </p:nvSpPr>
        <p:spPr>
          <a:xfrm>
            <a:off x="7244552" y="5105208"/>
            <a:ext cx="978153" cy="369332"/>
          </a:xfrm>
          <a:prstGeom prst="rect">
            <a:avLst/>
          </a:prstGeom>
        </p:spPr>
        <p:txBody>
          <a:bodyPr wrap="none">
            <a:spAutoFit/>
          </a:bodyPr>
          <a:lstStyle/>
          <a:p>
            <a:r>
              <a:rPr lang="en-US" b="1" dirty="0">
                <a:solidFill>
                  <a:srgbClr val="1F497D"/>
                </a:solidFill>
                <a:latin typeface="Georgia"/>
              </a:rPr>
              <a:t>Footer</a:t>
            </a:r>
            <a:endParaRPr lang="en-US" b="1" dirty="0"/>
          </a:p>
        </p:txBody>
      </p:sp>
      <p:cxnSp>
        <p:nvCxnSpPr>
          <p:cNvPr id="15" name="Straight Arrow Connector 14"/>
          <p:cNvCxnSpPr>
            <a:endCxn id="13" idx="1"/>
          </p:cNvCxnSpPr>
          <p:nvPr/>
        </p:nvCxnSpPr>
        <p:spPr>
          <a:xfrm flipV="1">
            <a:off x="4935557" y="4844534"/>
            <a:ext cx="2268120" cy="14610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p:cNvCxnSpPr/>
          <p:nvPr/>
        </p:nvCxnSpPr>
        <p:spPr>
          <a:xfrm>
            <a:off x="4987450" y="5264627"/>
            <a:ext cx="2247441" cy="55084"/>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3675465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lang="en-US" sz="3200" dirty="0" smtClean="0">
                <a:solidFill>
                  <a:srgbClr val="1F497D"/>
                </a:solidFill>
                <a:latin typeface="Georgia"/>
              </a:rPr>
              <a:t>4 – Don’t Forget !!!</a:t>
            </a:r>
            <a:endParaRPr kumimoji="0" lang="en-US" sz="3200" b="0" i="0" u="none" strike="noStrike" kern="1200" cap="none" spc="0" normalizeH="0" baseline="0" noProof="0" dirty="0">
              <a:ln>
                <a:noFill/>
              </a:ln>
              <a:solidFill>
                <a:srgbClr val="1F497D"/>
              </a:solidFill>
              <a:effectLst/>
              <a:uLnTx/>
              <a:uFillTx/>
              <a:latin typeface="Georgia"/>
            </a:endParaRPr>
          </a:p>
        </p:txBody>
      </p:sp>
      <p:sp>
        <p:nvSpPr>
          <p:cNvPr id="2" name="TextBox 1"/>
          <p:cNvSpPr txBox="1"/>
          <p:nvPr/>
        </p:nvSpPr>
        <p:spPr>
          <a:xfrm>
            <a:off x="75282" y="956631"/>
            <a:ext cx="7850226" cy="369332"/>
          </a:xfrm>
          <a:prstGeom prst="rect">
            <a:avLst/>
          </a:prstGeom>
          <a:noFill/>
        </p:spPr>
        <p:txBody>
          <a:bodyPr wrap="none" rtlCol="0">
            <a:spAutoFit/>
          </a:bodyPr>
          <a:lstStyle/>
          <a:p>
            <a:r>
              <a:rPr lang="en-US" dirty="0" smtClean="0">
                <a:latin typeface="Georgia" panose="02040502050405020303" pitchFamily="18" charset="0"/>
              </a:rPr>
              <a:t>You my need to remove header and footer in </a:t>
            </a:r>
            <a:r>
              <a:rPr lang="en-US" b="1" dirty="0" smtClean="0">
                <a:latin typeface="Georgia" panose="02040502050405020303" pitchFamily="18" charset="0"/>
              </a:rPr>
              <a:t>/view/home/</a:t>
            </a:r>
            <a:r>
              <a:rPr lang="en-US" b="1" dirty="0" err="1" smtClean="0">
                <a:latin typeface="Georgia" panose="02040502050405020303" pitchFamily="18" charset="0"/>
              </a:rPr>
              <a:t>page.php</a:t>
            </a:r>
            <a:r>
              <a:rPr lang="en-US" b="1" dirty="0" smtClean="0">
                <a:latin typeface="Georgia" panose="02040502050405020303" pitchFamily="18" charset="0"/>
              </a:rPr>
              <a:t> </a:t>
            </a:r>
            <a:r>
              <a:rPr lang="en-US" dirty="0" smtClean="0">
                <a:latin typeface="Georgia" panose="02040502050405020303" pitchFamily="18" charset="0"/>
              </a:rPr>
              <a:t>file.</a:t>
            </a:r>
            <a:endParaRPr lang="en-US" dirty="0">
              <a:latin typeface="Georgia" panose="02040502050405020303" pitchFamily="18" charset="0"/>
            </a:endParaRPr>
          </a:p>
        </p:txBody>
      </p:sp>
      <p:pic>
        <p:nvPicPr>
          <p:cNvPr id="6" name="Picture 5"/>
          <p:cNvPicPr>
            <a:picLocks noChangeAspect="1"/>
          </p:cNvPicPr>
          <p:nvPr/>
        </p:nvPicPr>
        <p:blipFill>
          <a:blip r:embed="rId2"/>
          <a:stretch>
            <a:fillRect/>
          </a:stretch>
        </p:blipFill>
        <p:spPr>
          <a:xfrm>
            <a:off x="152401" y="1355341"/>
            <a:ext cx="8839200" cy="5350259"/>
          </a:xfrm>
          <a:prstGeom prst="rect">
            <a:avLst/>
          </a:prstGeom>
        </p:spPr>
      </p:pic>
      <p:sp>
        <p:nvSpPr>
          <p:cNvPr id="7" name="Rectangle 6"/>
          <p:cNvSpPr/>
          <p:nvPr/>
        </p:nvSpPr>
        <p:spPr>
          <a:xfrm>
            <a:off x="1985790" y="2025266"/>
            <a:ext cx="3424410" cy="1511148"/>
          </a:xfrm>
          <a:prstGeom prst="rect">
            <a:avLst/>
          </a:prstGeom>
          <a:solidFill>
            <a:srgbClr val="FFFF00">
              <a:alpha val="3000"/>
            </a:srgbClr>
          </a:solid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 name="Rectangle 7"/>
          <p:cNvSpPr/>
          <p:nvPr/>
        </p:nvSpPr>
        <p:spPr>
          <a:xfrm>
            <a:off x="1985790" y="5257800"/>
            <a:ext cx="3424410" cy="609600"/>
          </a:xfrm>
          <a:prstGeom prst="rect">
            <a:avLst/>
          </a:prstGeom>
          <a:solidFill>
            <a:srgbClr val="FFFF00">
              <a:alpha val="3000"/>
            </a:srgbClr>
          </a:solid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 name="Rectangle 8"/>
          <p:cNvSpPr/>
          <p:nvPr/>
        </p:nvSpPr>
        <p:spPr>
          <a:xfrm>
            <a:off x="5417545" y="2514600"/>
            <a:ext cx="1067921" cy="369332"/>
          </a:xfrm>
          <a:prstGeom prst="rect">
            <a:avLst/>
          </a:prstGeom>
        </p:spPr>
        <p:txBody>
          <a:bodyPr wrap="none">
            <a:spAutoFit/>
          </a:bodyPr>
          <a:lstStyle/>
          <a:p>
            <a:r>
              <a:rPr lang="en-US" b="1" dirty="0">
                <a:solidFill>
                  <a:srgbClr val="1F497D"/>
                </a:solidFill>
                <a:latin typeface="Georgia"/>
              </a:rPr>
              <a:t>Header</a:t>
            </a:r>
            <a:endParaRPr lang="en-US" b="1" dirty="0"/>
          </a:p>
        </p:txBody>
      </p:sp>
      <p:sp>
        <p:nvSpPr>
          <p:cNvPr id="10" name="Rectangle 9"/>
          <p:cNvSpPr/>
          <p:nvPr/>
        </p:nvSpPr>
        <p:spPr>
          <a:xfrm>
            <a:off x="5507313" y="5377934"/>
            <a:ext cx="978153" cy="369332"/>
          </a:xfrm>
          <a:prstGeom prst="rect">
            <a:avLst/>
          </a:prstGeom>
        </p:spPr>
        <p:txBody>
          <a:bodyPr wrap="none">
            <a:spAutoFit/>
          </a:bodyPr>
          <a:lstStyle/>
          <a:p>
            <a:r>
              <a:rPr lang="en-US" b="1" dirty="0">
                <a:solidFill>
                  <a:srgbClr val="1F497D"/>
                </a:solidFill>
                <a:latin typeface="Georgia"/>
              </a:rPr>
              <a:t>Footer</a:t>
            </a:r>
            <a:endParaRPr lang="en-US" b="1" dirty="0"/>
          </a:p>
        </p:txBody>
      </p:sp>
      <p:pic>
        <p:nvPicPr>
          <p:cNvPr id="2050" name="Picture 2" descr="Red Cross Mark PNG Transparent Images | PNG All"/>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31794" y="2230159"/>
            <a:ext cx="938213" cy="93821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Red Cross Mark PNG Transparent Images | PNG All"/>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34548" y="5181600"/>
            <a:ext cx="938213" cy="9382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003279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kumimoji="0" lang="en-US" sz="3200" b="0" i="0" u="none" strike="noStrike" kern="1200" cap="none" spc="0" normalizeH="0" baseline="0" noProof="0" dirty="0" smtClean="0">
                <a:ln>
                  <a:noFill/>
                </a:ln>
                <a:solidFill>
                  <a:srgbClr val="1F497D"/>
                </a:solidFill>
                <a:effectLst/>
                <a:uLnTx/>
                <a:uFillTx/>
                <a:latin typeface="Georgia"/>
                <a:ea typeface="+mn-ea"/>
                <a:cs typeface="+mn-cs"/>
              </a:rPr>
              <a:t>5 - Testing </a:t>
            </a:r>
            <a:r>
              <a:rPr lang="en-US" sz="3200" dirty="0">
                <a:solidFill>
                  <a:srgbClr val="1F497D"/>
                </a:solidFill>
                <a:latin typeface="Georgia"/>
                <a:sym typeface="Wingdings 3" panose="05040102010807070707" pitchFamily="18" charset="2"/>
              </a:rPr>
              <a:t></a:t>
            </a:r>
            <a:r>
              <a:rPr kumimoji="0" lang="en-US" sz="3200" b="0" i="0" u="none" strike="noStrike" kern="1200" cap="none" spc="0" normalizeH="0" baseline="0" noProof="0" dirty="0" smtClean="0">
                <a:ln>
                  <a:noFill/>
                </a:ln>
                <a:solidFill>
                  <a:srgbClr val="1F497D"/>
                </a:solidFill>
                <a:effectLst/>
                <a:uLnTx/>
                <a:uFillTx/>
                <a:latin typeface="Georgia"/>
                <a:ea typeface="+mn-ea"/>
                <a:cs typeface="+mn-cs"/>
              </a:rPr>
              <a:t> Home and Personal Pages</a:t>
            </a:r>
            <a:endParaRPr kumimoji="0" lang="en-US" sz="3200" b="0" i="0" u="none" strike="noStrike" kern="1200" cap="none" spc="0" normalizeH="0" baseline="0" noProof="0" dirty="0">
              <a:ln>
                <a:noFill/>
              </a:ln>
              <a:solidFill>
                <a:srgbClr val="1F497D"/>
              </a:solidFill>
              <a:effectLst/>
              <a:uLnTx/>
              <a:uFillTx/>
              <a:latin typeface="Georgia"/>
              <a:ea typeface="+mn-ea"/>
              <a:cs typeface="+mn-cs"/>
            </a:endParaRPr>
          </a:p>
        </p:txBody>
      </p:sp>
      <p:pic>
        <p:nvPicPr>
          <p:cNvPr id="2" name="Picture 1"/>
          <p:cNvPicPr>
            <a:picLocks noChangeAspect="1"/>
          </p:cNvPicPr>
          <p:nvPr/>
        </p:nvPicPr>
        <p:blipFill>
          <a:blip r:embed="rId2"/>
          <a:stretch>
            <a:fillRect/>
          </a:stretch>
        </p:blipFill>
        <p:spPr>
          <a:xfrm>
            <a:off x="152400" y="990600"/>
            <a:ext cx="4952999" cy="4033264"/>
          </a:xfrm>
          <a:prstGeom prst="rect">
            <a:avLst/>
          </a:prstGeom>
        </p:spPr>
      </p:pic>
      <p:pic>
        <p:nvPicPr>
          <p:cNvPr id="5" name="Picture 4"/>
          <p:cNvPicPr>
            <a:picLocks noChangeAspect="1"/>
          </p:cNvPicPr>
          <p:nvPr/>
        </p:nvPicPr>
        <p:blipFill>
          <a:blip r:embed="rId3"/>
          <a:stretch>
            <a:fillRect/>
          </a:stretch>
        </p:blipFill>
        <p:spPr>
          <a:xfrm>
            <a:off x="3733800" y="2432551"/>
            <a:ext cx="5235766" cy="4263524"/>
          </a:xfrm>
          <a:prstGeom prst="rect">
            <a:avLst/>
          </a:prstGeom>
        </p:spPr>
      </p:pic>
      <p:sp>
        <p:nvSpPr>
          <p:cNvPr id="7" name="TextBox 6"/>
          <p:cNvSpPr txBox="1"/>
          <p:nvPr/>
        </p:nvSpPr>
        <p:spPr>
          <a:xfrm>
            <a:off x="4016566" y="4992820"/>
            <a:ext cx="4953000" cy="1963103"/>
          </a:xfrm>
          <a:prstGeom prst="horizontalScroll">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wrap="square" rtlCol="0">
            <a:spAutoFit/>
          </a:bodyPr>
          <a:lstStyle/>
          <a:p>
            <a:r>
              <a:rPr lang="en-US" b="1" dirty="0" smtClean="0">
                <a:latin typeface="Georgia" panose="02040502050405020303" pitchFamily="18" charset="0"/>
              </a:rPr>
              <a:t>Problem:</a:t>
            </a:r>
          </a:p>
          <a:p>
            <a:r>
              <a:rPr lang="en-US" dirty="0" smtClean="0">
                <a:latin typeface="Georgia" panose="02040502050405020303" pitchFamily="18" charset="0"/>
              </a:rPr>
              <a:t>Both pages still display the same title page. If you check from previous slide. Our </a:t>
            </a:r>
            <a:r>
              <a:rPr lang="en-US" b="1" i="1" dirty="0" smtClean="0">
                <a:latin typeface="Georgia" panose="02040502050405020303" pitchFamily="18" charset="0"/>
              </a:rPr>
              <a:t>/view/home/</a:t>
            </a:r>
            <a:r>
              <a:rPr lang="en-US" b="1" i="1" dirty="0" err="1" smtClean="0">
                <a:latin typeface="Georgia" panose="02040502050405020303" pitchFamily="18" charset="0"/>
              </a:rPr>
              <a:t>page.php</a:t>
            </a:r>
            <a:r>
              <a:rPr lang="en-US" b="1" i="1" dirty="0" smtClean="0">
                <a:latin typeface="Georgia" panose="02040502050405020303" pitchFamily="18" charset="0"/>
              </a:rPr>
              <a:t> </a:t>
            </a:r>
            <a:r>
              <a:rPr lang="en-US" dirty="0" smtClean="0">
                <a:latin typeface="Georgia" panose="02040502050405020303" pitchFamily="18" charset="0"/>
              </a:rPr>
              <a:t>file assigned with title page “Personal Page”.</a:t>
            </a:r>
            <a:endParaRPr lang="en-US" dirty="0">
              <a:latin typeface="Georgia" panose="02040502050405020303" pitchFamily="18" charset="0"/>
            </a:endParaRPr>
          </a:p>
        </p:txBody>
      </p:sp>
      <p:sp>
        <p:nvSpPr>
          <p:cNvPr id="8" name="Rectangle 7"/>
          <p:cNvSpPr/>
          <p:nvPr/>
        </p:nvSpPr>
        <p:spPr>
          <a:xfrm>
            <a:off x="3733800" y="2280151"/>
            <a:ext cx="1371599" cy="635359"/>
          </a:xfrm>
          <a:prstGeom prst="rect">
            <a:avLst/>
          </a:prstGeom>
          <a:solidFill>
            <a:srgbClr val="FFFF00">
              <a:alpha val="3000"/>
            </a:srgbClr>
          </a:solidFill>
          <a:ln w="7620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 name="TextBox 8"/>
          <p:cNvSpPr txBox="1"/>
          <p:nvPr/>
        </p:nvSpPr>
        <p:spPr>
          <a:xfrm>
            <a:off x="5715000" y="1524000"/>
            <a:ext cx="1922321" cy="369332"/>
          </a:xfrm>
          <a:prstGeom prst="rect">
            <a:avLst/>
          </a:prstGeom>
          <a:noFill/>
        </p:spPr>
        <p:txBody>
          <a:bodyPr wrap="none" rtlCol="0">
            <a:spAutoFit/>
          </a:bodyPr>
          <a:lstStyle/>
          <a:p>
            <a:r>
              <a:rPr lang="en-US" b="1" dirty="0" smtClean="0">
                <a:solidFill>
                  <a:srgbClr val="FF0000"/>
                </a:solidFill>
                <a:latin typeface="Georgia" panose="02040502050405020303" pitchFamily="18" charset="0"/>
              </a:rPr>
              <a:t>Wrong here !!!</a:t>
            </a:r>
            <a:endParaRPr lang="en-US" b="1" dirty="0">
              <a:solidFill>
                <a:srgbClr val="FF0000"/>
              </a:solidFill>
              <a:latin typeface="Georgia" panose="02040502050405020303" pitchFamily="18" charset="0"/>
            </a:endParaRPr>
          </a:p>
        </p:txBody>
      </p:sp>
      <p:cxnSp>
        <p:nvCxnSpPr>
          <p:cNvPr id="10" name="Straight Arrow Connector 9"/>
          <p:cNvCxnSpPr>
            <a:endCxn id="9" idx="2"/>
          </p:cNvCxnSpPr>
          <p:nvPr/>
        </p:nvCxnSpPr>
        <p:spPr>
          <a:xfrm flipV="1">
            <a:off x="5105399" y="1893332"/>
            <a:ext cx="1570762" cy="386819"/>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3631103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0" y="2895600"/>
            <a:ext cx="7620000" cy="1323439"/>
          </a:xfrm>
          <a:prstGeom prst="rect">
            <a:avLst/>
          </a:prstGeom>
        </p:spPr>
        <p:txBody>
          <a:bodyPr wrap="square">
            <a:spAutoFit/>
          </a:bodyPr>
          <a:lstStyle/>
          <a:p>
            <a:pPr lvl="0" algn="ctr">
              <a:defRPr/>
            </a:pPr>
            <a:r>
              <a:rPr lang="en-US" sz="4000" dirty="0" smtClean="0">
                <a:solidFill>
                  <a:prstClr val="black"/>
                </a:solidFill>
                <a:latin typeface="Georgia"/>
              </a:rPr>
              <a:t>5</a:t>
            </a:r>
            <a:r>
              <a:rPr kumimoji="0" lang="en-US" sz="4000" b="0" i="0" u="none" strike="noStrike" kern="1200" cap="none" spc="0" normalizeH="0" baseline="0" noProof="0" dirty="0" smtClean="0">
                <a:ln>
                  <a:noFill/>
                </a:ln>
                <a:solidFill>
                  <a:prstClr val="black"/>
                </a:solidFill>
                <a:effectLst/>
                <a:uLnTx/>
                <a:uFillTx/>
                <a:latin typeface="Georgia"/>
                <a:ea typeface="+mn-ea"/>
                <a:cs typeface="+mn-cs"/>
              </a:rPr>
              <a:t> – </a:t>
            </a:r>
            <a:r>
              <a:rPr lang="en-US" sz="4000" dirty="0" smtClean="0">
                <a:solidFill>
                  <a:prstClr val="black"/>
                </a:solidFill>
              </a:rPr>
              <a:t>Send Title Page </a:t>
            </a:r>
            <a:r>
              <a:rPr lang="en-US" sz="4000" i="1" dirty="0" smtClean="0">
                <a:solidFill>
                  <a:prstClr val="black"/>
                </a:solidFill>
              </a:rPr>
              <a:t>from</a:t>
            </a:r>
            <a:r>
              <a:rPr lang="en-US" sz="4000" dirty="0" smtClean="0">
                <a:solidFill>
                  <a:prstClr val="black"/>
                </a:solidFill>
              </a:rPr>
              <a:t> each Method</a:t>
            </a:r>
            <a:endParaRPr kumimoji="0" lang="en-US" sz="4000" b="0" i="0" u="none" strike="noStrike" kern="1200" cap="none" spc="0" normalizeH="0" baseline="0" noProof="0" dirty="0">
              <a:ln>
                <a:noFill/>
              </a:ln>
              <a:solidFill>
                <a:prstClr val="black"/>
              </a:solidFill>
              <a:effectLst/>
              <a:uLnTx/>
              <a:uFillTx/>
              <a:latin typeface="Georgia"/>
              <a:ea typeface="+mn-ea"/>
              <a:cs typeface="+mn-cs"/>
            </a:endParaRPr>
          </a:p>
        </p:txBody>
      </p:sp>
      <p:pic>
        <p:nvPicPr>
          <p:cNvPr id="3074" name="Picture 2" descr="Fresh Green Leaves Header On White Background Stock Photo, Picture And  Royalty Free Image. Image 78250847."/>
          <p:cNvPicPr>
            <a:picLocks noChangeAspect="1" noChangeArrowheads="1"/>
          </p:cNvPicPr>
          <p:nvPr/>
        </p:nvPicPr>
        <p:blipFill rotWithShape="1">
          <a:blip r:embed="rId2">
            <a:extLst>
              <a:ext uri="{28A0092B-C50C-407E-A947-70E740481C1C}">
                <a14:useLocalDpi xmlns:a14="http://schemas.microsoft.com/office/drawing/2010/main" val="0"/>
              </a:ext>
            </a:extLst>
          </a:blip>
          <a:srcRect b="37312"/>
          <a:stretch/>
        </p:blipFill>
        <p:spPr bwMode="auto">
          <a:xfrm>
            <a:off x="0" y="0"/>
            <a:ext cx="91440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Fresh Green Leaves Header On White Background Stock Photo, Picture And  Royalty Free Image. Image 78250847."/>
          <p:cNvPicPr>
            <a:picLocks noChangeAspect="1" noChangeArrowheads="1"/>
          </p:cNvPicPr>
          <p:nvPr/>
        </p:nvPicPr>
        <p:blipFill rotWithShape="1">
          <a:blip r:embed="rId2">
            <a:extLst>
              <a:ext uri="{28A0092B-C50C-407E-A947-70E740481C1C}">
                <a14:useLocalDpi xmlns:a14="http://schemas.microsoft.com/office/drawing/2010/main" val="0"/>
              </a:ext>
            </a:extLst>
          </a:blip>
          <a:srcRect b="37312"/>
          <a:stretch/>
        </p:blipFill>
        <p:spPr bwMode="auto">
          <a:xfrm rot="10800000">
            <a:off x="0" y="4419600"/>
            <a:ext cx="9144000"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752736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2"/>
          <a:stretch>
            <a:fillRect/>
          </a:stretch>
        </p:blipFill>
        <p:spPr>
          <a:xfrm>
            <a:off x="152401" y="931059"/>
            <a:ext cx="6248400" cy="5811086"/>
          </a:xfrm>
          <a:prstGeom prst="rect">
            <a:avLst/>
          </a:prstGeom>
        </p:spPr>
      </p:pic>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lang="en-US" sz="3200" dirty="0" smtClean="0">
                <a:solidFill>
                  <a:srgbClr val="1F497D"/>
                </a:solidFill>
                <a:latin typeface="Georgia"/>
              </a:rPr>
              <a:t>1 – Send Title Page </a:t>
            </a:r>
            <a:r>
              <a:rPr lang="en-US" sz="3200" i="1" dirty="0" smtClean="0">
                <a:solidFill>
                  <a:srgbClr val="1F497D"/>
                </a:solidFill>
                <a:latin typeface="Georgia"/>
              </a:rPr>
              <a:t>using</a:t>
            </a:r>
            <a:r>
              <a:rPr lang="en-US" sz="3200" dirty="0" smtClean="0">
                <a:solidFill>
                  <a:srgbClr val="1F497D"/>
                </a:solidFill>
                <a:latin typeface="Georgia"/>
              </a:rPr>
              <a:t> Associative Arrays</a:t>
            </a:r>
            <a:endParaRPr kumimoji="0" lang="en-US" sz="3200" b="0" i="0" u="none" strike="noStrike" kern="1200" cap="none" spc="0" normalizeH="0" baseline="0" noProof="0" dirty="0">
              <a:ln>
                <a:noFill/>
              </a:ln>
              <a:solidFill>
                <a:srgbClr val="1F497D"/>
              </a:solidFill>
              <a:effectLst/>
              <a:uLnTx/>
              <a:uFillTx/>
              <a:latin typeface="Georgia"/>
            </a:endParaRPr>
          </a:p>
        </p:txBody>
      </p:sp>
      <p:sp>
        <p:nvSpPr>
          <p:cNvPr id="5" name="Rectangle 4"/>
          <p:cNvSpPr/>
          <p:nvPr/>
        </p:nvSpPr>
        <p:spPr>
          <a:xfrm>
            <a:off x="7162800" y="2895600"/>
            <a:ext cx="1351652" cy="369332"/>
          </a:xfrm>
          <a:prstGeom prst="rect">
            <a:avLst/>
          </a:prstGeom>
        </p:spPr>
        <p:txBody>
          <a:bodyPr wrap="none">
            <a:spAutoFit/>
          </a:bodyPr>
          <a:lstStyle/>
          <a:p>
            <a:r>
              <a:rPr lang="en-US" b="1" dirty="0" smtClean="0">
                <a:solidFill>
                  <a:srgbClr val="1F497D"/>
                </a:solidFill>
                <a:latin typeface="Georgia"/>
              </a:rPr>
              <a:t>Title Page</a:t>
            </a:r>
            <a:endParaRPr lang="en-US" b="1" dirty="0"/>
          </a:p>
        </p:txBody>
      </p:sp>
      <p:cxnSp>
        <p:nvCxnSpPr>
          <p:cNvPr id="6" name="Straight Arrow Connector 5"/>
          <p:cNvCxnSpPr>
            <a:endCxn id="5" idx="1"/>
          </p:cNvCxnSpPr>
          <p:nvPr/>
        </p:nvCxnSpPr>
        <p:spPr>
          <a:xfrm flipV="1">
            <a:off x="4428781" y="3080266"/>
            <a:ext cx="2734019" cy="158693"/>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7" name="Rectangle 6"/>
          <p:cNvSpPr/>
          <p:nvPr/>
        </p:nvSpPr>
        <p:spPr>
          <a:xfrm>
            <a:off x="7162800" y="4480193"/>
            <a:ext cx="1351652" cy="369332"/>
          </a:xfrm>
          <a:prstGeom prst="rect">
            <a:avLst/>
          </a:prstGeom>
        </p:spPr>
        <p:txBody>
          <a:bodyPr wrap="none">
            <a:spAutoFit/>
          </a:bodyPr>
          <a:lstStyle/>
          <a:p>
            <a:r>
              <a:rPr lang="en-US" b="1" dirty="0" smtClean="0">
                <a:solidFill>
                  <a:srgbClr val="1F497D"/>
                </a:solidFill>
                <a:latin typeface="Georgia"/>
              </a:rPr>
              <a:t>Title Page</a:t>
            </a:r>
            <a:endParaRPr lang="en-US" b="1" dirty="0"/>
          </a:p>
        </p:txBody>
      </p:sp>
      <p:cxnSp>
        <p:nvCxnSpPr>
          <p:cNvPr id="8" name="Straight Arrow Connector 7"/>
          <p:cNvCxnSpPr>
            <a:endCxn id="7" idx="1"/>
          </p:cNvCxnSpPr>
          <p:nvPr/>
        </p:nvCxnSpPr>
        <p:spPr>
          <a:xfrm flipV="1">
            <a:off x="4660135" y="4664859"/>
            <a:ext cx="2502665" cy="184667"/>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p:cNvCxnSpPr/>
          <p:nvPr/>
        </p:nvCxnSpPr>
        <p:spPr>
          <a:xfrm flipV="1">
            <a:off x="1371600" y="1905000"/>
            <a:ext cx="609600" cy="632752"/>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5" name="TextBox 14"/>
          <p:cNvSpPr txBox="1"/>
          <p:nvPr/>
        </p:nvSpPr>
        <p:spPr>
          <a:xfrm>
            <a:off x="6521993" y="3490244"/>
            <a:ext cx="2598137" cy="738664"/>
          </a:xfrm>
          <a:prstGeom prst="rect">
            <a:avLst/>
          </a:prstGeom>
          <a:noFill/>
        </p:spPr>
        <p:txBody>
          <a:bodyPr wrap="square" rtlCol="0">
            <a:spAutoFit/>
          </a:bodyPr>
          <a:lstStyle/>
          <a:p>
            <a:r>
              <a:rPr lang="en-US" sz="1400" dirty="0" smtClean="0">
                <a:latin typeface="Georgia" panose="02040502050405020303" pitchFamily="18" charset="0"/>
              </a:rPr>
              <a:t>Array data also need to send as a parameter in </a:t>
            </a:r>
            <a:r>
              <a:rPr lang="en-US" sz="1400" b="1" i="1" dirty="0" smtClean="0">
                <a:latin typeface="Georgia" panose="02040502050405020303" pitchFamily="18" charset="0"/>
              </a:rPr>
              <a:t>display function</a:t>
            </a:r>
            <a:r>
              <a:rPr lang="en-US" sz="1400" dirty="0" smtClean="0">
                <a:latin typeface="Georgia" panose="02040502050405020303" pitchFamily="18" charset="0"/>
              </a:rPr>
              <a:t>.</a:t>
            </a:r>
            <a:endParaRPr lang="en-US" sz="1400" dirty="0">
              <a:latin typeface="Georgia" panose="02040502050405020303" pitchFamily="18" charset="0"/>
            </a:endParaRPr>
          </a:p>
        </p:txBody>
      </p:sp>
      <p:cxnSp>
        <p:nvCxnSpPr>
          <p:cNvPr id="17" name="Straight Arrow Connector 16"/>
          <p:cNvCxnSpPr>
            <a:stCxn id="15" idx="1"/>
          </p:cNvCxnSpPr>
          <p:nvPr/>
        </p:nvCxnSpPr>
        <p:spPr>
          <a:xfrm flipH="1" flipV="1">
            <a:off x="5181601" y="3516218"/>
            <a:ext cx="1340392" cy="34335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9" name="TextBox 18"/>
          <p:cNvSpPr txBox="1"/>
          <p:nvPr/>
        </p:nvSpPr>
        <p:spPr>
          <a:xfrm>
            <a:off x="6521993" y="5111693"/>
            <a:ext cx="2598137" cy="738664"/>
          </a:xfrm>
          <a:prstGeom prst="rect">
            <a:avLst/>
          </a:prstGeom>
          <a:noFill/>
        </p:spPr>
        <p:txBody>
          <a:bodyPr wrap="square" rtlCol="0">
            <a:spAutoFit/>
          </a:bodyPr>
          <a:lstStyle/>
          <a:p>
            <a:r>
              <a:rPr lang="en-US" sz="1400" dirty="0" smtClean="0">
                <a:latin typeface="Georgia" panose="02040502050405020303" pitchFamily="18" charset="0"/>
              </a:rPr>
              <a:t>Array data also need to send as a parameter in </a:t>
            </a:r>
            <a:r>
              <a:rPr lang="en-US" sz="1400" b="1" i="1" dirty="0" smtClean="0">
                <a:latin typeface="Georgia" panose="02040502050405020303" pitchFamily="18" charset="0"/>
              </a:rPr>
              <a:t>display function</a:t>
            </a:r>
            <a:r>
              <a:rPr lang="en-US" sz="1400" dirty="0" smtClean="0">
                <a:latin typeface="Georgia" panose="02040502050405020303" pitchFamily="18" charset="0"/>
              </a:rPr>
              <a:t>.</a:t>
            </a:r>
            <a:endParaRPr lang="en-US" sz="1400" dirty="0">
              <a:latin typeface="Georgia" panose="02040502050405020303" pitchFamily="18" charset="0"/>
            </a:endParaRPr>
          </a:p>
        </p:txBody>
      </p:sp>
      <p:cxnSp>
        <p:nvCxnSpPr>
          <p:cNvPr id="20" name="Straight Arrow Connector 19"/>
          <p:cNvCxnSpPr>
            <a:stCxn id="19" idx="1"/>
          </p:cNvCxnSpPr>
          <p:nvPr/>
        </p:nvCxnSpPr>
        <p:spPr>
          <a:xfrm flipH="1" flipV="1">
            <a:off x="5181601" y="5137667"/>
            <a:ext cx="1340392" cy="34335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4" name="Straight Connector 13"/>
          <p:cNvCxnSpPr/>
          <p:nvPr/>
        </p:nvCxnSpPr>
        <p:spPr>
          <a:xfrm>
            <a:off x="2379964" y="4895498"/>
            <a:ext cx="2225695" cy="7481"/>
          </a:xfrm>
          <a:prstGeom prst="line">
            <a:avLst/>
          </a:prstGeom>
          <a:ln w="12700">
            <a:solidFill>
              <a:schemeClr val="tx1">
                <a:lumMod val="95000"/>
                <a:lumOff val="5000"/>
              </a:schemeClr>
            </a:solidFill>
          </a:ln>
        </p:spPr>
        <p:style>
          <a:lnRef idx="3">
            <a:schemeClr val="accent2"/>
          </a:lnRef>
          <a:fillRef idx="0">
            <a:schemeClr val="accent2"/>
          </a:fillRef>
          <a:effectRef idx="2">
            <a:schemeClr val="accent2"/>
          </a:effectRef>
          <a:fontRef idx="minor">
            <a:schemeClr val="tx1"/>
          </a:fontRef>
        </p:style>
      </p:cxnSp>
      <p:cxnSp>
        <p:nvCxnSpPr>
          <p:cNvPr id="16" name="Straight Connector 15"/>
          <p:cNvCxnSpPr/>
          <p:nvPr/>
        </p:nvCxnSpPr>
        <p:spPr>
          <a:xfrm>
            <a:off x="2385574" y="3561297"/>
            <a:ext cx="2730578" cy="6546"/>
          </a:xfrm>
          <a:prstGeom prst="line">
            <a:avLst/>
          </a:prstGeom>
          <a:ln w="12700">
            <a:solidFill>
              <a:schemeClr val="tx1">
                <a:lumMod val="95000"/>
                <a:lumOff val="5000"/>
              </a:schemeClr>
            </a:solidFill>
          </a:ln>
        </p:spPr>
        <p:style>
          <a:lnRef idx="3">
            <a:schemeClr val="accent2"/>
          </a:lnRef>
          <a:fillRef idx="0">
            <a:schemeClr val="accent2"/>
          </a:fillRef>
          <a:effectRef idx="2">
            <a:schemeClr val="accent2"/>
          </a:effectRef>
          <a:fontRef idx="minor">
            <a:schemeClr val="tx1"/>
          </a:fontRef>
        </p:style>
      </p:cxnSp>
      <p:cxnSp>
        <p:nvCxnSpPr>
          <p:cNvPr id="18" name="Straight Connector 17"/>
          <p:cNvCxnSpPr/>
          <p:nvPr/>
        </p:nvCxnSpPr>
        <p:spPr>
          <a:xfrm>
            <a:off x="2364069" y="5166640"/>
            <a:ext cx="2730578" cy="6546"/>
          </a:xfrm>
          <a:prstGeom prst="line">
            <a:avLst/>
          </a:prstGeom>
          <a:ln w="12700">
            <a:solidFill>
              <a:schemeClr val="tx1">
                <a:lumMod val="95000"/>
                <a:lumOff val="5000"/>
              </a:schemeClr>
            </a:solidFill>
          </a:ln>
        </p:spPr>
        <p:style>
          <a:lnRef idx="3">
            <a:schemeClr val="accent2"/>
          </a:lnRef>
          <a:fillRef idx="0">
            <a:schemeClr val="accent2"/>
          </a:fillRef>
          <a:effectRef idx="2">
            <a:schemeClr val="accent2"/>
          </a:effectRef>
          <a:fontRef idx="minor">
            <a:schemeClr val="tx1"/>
          </a:fontRef>
        </p:style>
      </p:cxnSp>
      <p:cxnSp>
        <p:nvCxnSpPr>
          <p:cNvPr id="21" name="Straight Connector 20"/>
          <p:cNvCxnSpPr/>
          <p:nvPr/>
        </p:nvCxnSpPr>
        <p:spPr>
          <a:xfrm flipV="1">
            <a:off x="2364069" y="3307080"/>
            <a:ext cx="2009811" cy="19459"/>
          </a:xfrm>
          <a:prstGeom prst="line">
            <a:avLst/>
          </a:prstGeom>
          <a:ln w="12700">
            <a:solidFill>
              <a:schemeClr val="tx1">
                <a:lumMod val="95000"/>
                <a:lumOff val="5000"/>
              </a:schemeClr>
            </a:solidFill>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09988459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lang="en-US" sz="3200" dirty="0" smtClean="0">
                <a:solidFill>
                  <a:srgbClr val="1F497D"/>
                </a:solidFill>
                <a:latin typeface="Georgia"/>
              </a:rPr>
              <a:t>2 – Modify </a:t>
            </a:r>
            <a:r>
              <a:rPr lang="en-US" sz="3200" b="1" i="1" dirty="0" err="1">
                <a:solidFill>
                  <a:srgbClr val="1F497D"/>
                </a:solidFill>
                <a:latin typeface="Georgia"/>
              </a:rPr>
              <a:t>h</a:t>
            </a:r>
            <a:r>
              <a:rPr lang="en-US" sz="3200" b="1" i="1" dirty="0" err="1" smtClean="0">
                <a:solidFill>
                  <a:srgbClr val="1F497D"/>
                </a:solidFill>
                <a:latin typeface="Georgia"/>
              </a:rPr>
              <a:t>eader.php</a:t>
            </a:r>
            <a:r>
              <a:rPr lang="en-US" sz="3200" b="1" i="1" dirty="0" smtClean="0">
                <a:solidFill>
                  <a:srgbClr val="1F497D"/>
                </a:solidFill>
                <a:latin typeface="Georgia"/>
              </a:rPr>
              <a:t> file </a:t>
            </a:r>
            <a:r>
              <a:rPr lang="en-US" sz="3200" dirty="0" smtClean="0">
                <a:solidFill>
                  <a:srgbClr val="1F497D"/>
                </a:solidFill>
                <a:latin typeface="Georgia"/>
              </a:rPr>
              <a:t>in Title Tag</a:t>
            </a:r>
            <a:endParaRPr kumimoji="0" lang="en-US" sz="3200" b="0" i="0" u="none" strike="noStrike" kern="1200" cap="none" spc="0" normalizeH="0" baseline="0" noProof="0" dirty="0">
              <a:ln>
                <a:noFill/>
              </a:ln>
              <a:solidFill>
                <a:srgbClr val="1F497D"/>
              </a:solidFill>
              <a:effectLst/>
              <a:uLnTx/>
              <a:uFillTx/>
              <a:latin typeface="Georgia"/>
            </a:endParaRPr>
          </a:p>
        </p:txBody>
      </p:sp>
      <p:pic>
        <p:nvPicPr>
          <p:cNvPr id="2" name="Picture 1"/>
          <p:cNvPicPr>
            <a:picLocks noChangeAspect="1"/>
          </p:cNvPicPr>
          <p:nvPr/>
        </p:nvPicPr>
        <p:blipFill>
          <a:blip r:embed="rId2"/>
          <a:stretch>
            <a:fillRect/>
          </a:stretch>
        </p:blipFill>
        <p:spPr>
          <a:xfrm>
            <a:off x="152401" y="990600"/>
            <a:ext cx="8839200" cy="4858186"/>
          </a:xfrm>
          <a:prstGeom prst="rect">
            <a:avLst/>
          </a:prstGeom>
        </p:spPr>
      </p:pic>
      <p:sp>
        <p:nvSpPr>
          <p:cNvPr id="3" name="Rectangle 2"/>
          <p:cNvSpPr/>
          <p:nvPr/>
        </p:nvSpPr>
        <p:spPr>
          <a:xfrm>
            <a:off x="84463" y="5962879"/>
            <a:ext cx="3754554" cy="738664"/>
          </a:xfrm>
          <a:prstGeom prst="rect">
            <a:avLst/>
          </a:prstGeom>
        </p:spPr>
        <p:txBody>
          <a:bodyPr wrap="none">
            <a:spAutoFit/>
          </a:bodyPr>
          <a:lstStyle/>
          <a:p>
            <a:r>
              <a:rPr lang="en-US" b="1" dirty="0" smtClean="0">
                <a:latin typeface="Georgia" panose="02040502050405020303" pitchFamily="18" charset="0"/>
              </a:rPr>
              <a:t>Change following line </a:t>
            </a:r>
            <a:r>
              <a:rPr lang="en-US" b="1" dirty="0">
                <a:latin typeface="Georgia" panose="02040502050405020303" pitchFamily="18" charset="0"/>
              </a:rPr>
              <a:t>of code:</a:t>
            </a:r>
            <a:br>
              <a:rPr lang="en-US" b="1" dirty="0">
                <a:latin typeface="Georgia" panose="02040502050405020303" pitchFamily="18" charset="0"/>
              </a:rPr>
            </a:br>
            <a:r>
              <a:rPr lang="en-US" sz="1200" b="1" dirty="0" smtClean="0">
                <a:latin typeface="Georgia" panose="02040502050405020303" pitchFamily="18" charset="0"/>
              </a:rPr>
              <a:t>From : </a:t>
            </a:r>
            <a:r>
              <a:rPr lang="en-US" sz="1200" i="1" dirty="0" smtClean="0">
                <a:latin typeface="Georgia" panose="02040502050405020303" pitchFamily="18" charset="0"/>
              </a:rPr>
              <a:t>&lt;title&gt;Home </a:t>
            </a:r>
            <a:r>
              <a:rPr lang="en-US" sz="1200" i="1" dirty="0">
                <a:latin typeface="Georgia" panose="02040502050405020303" pitchFamily="18" charset="0"/>
              </a:rPr>
              <a:t>Page&lt;/title&gt;</a:t>
            </a:r>
            <a:endParaRPr lang="en-US" sz="1200" i="1" dirty="0" smtClean="0">
              <a:latin typeface="Georgia" panose="02040502050405020303" pitchFamily="18" charset="0"/>
            </a:endParaRPr>
          </a:p>
          <a:p>
            <a:r>
              <a:rPr lang="en-US" sz="1200" b="1" dirty="0" smtClean="0">
                <a:latin typeface="Georgia" panose="02040502050405020303" pitchFamily="18" charset="0"/>
              </a:rPr>
              <a:t>To       : </a:t>
            </a:r>
            <a:r>
              <a:rPr lang="en-US" sz="1200" i="1" dirty="0" smtClean="0">
                <a:latin typeface="Georgia" panose="02040502050405020303" pitchFamily="18" charset="0"/>
              </a:rPr>
              <a:t>&lt;</a:t>
            </a:r>
            <a:r>
              <a:rPr lang="en-US" sz="1200" i="1" dirty="0">
                <a:latin typeface="Georgia" panose="02040502050405020303" pitchFamily="18" charset="0"/>
              </a:rPr>
              <a:t>title&gt;&lt;?</a:t>
            </a:r>
            <a:r>
              <a:rPr lang="en-US" sz="1200" i="1" dirty="0" err="1">
                <a:latin typeface="Georgia" panose="02040502050405020303" pitchFamily="18" charset="0"/>
              </a:rPr>
              <a:t>php</a:t>
            </a:r>
            <a:r>
              <a:rPr lang="en-US" sz="1200" i="1" dirty="0">
                <a:latin typeface="Georgia" panose="02040502050405020303" pitchFamily="18" charset="0"/>
              </a:rPr>
              <a:t> echo $data['title']; ?&gt;&lt;/title&gt;</a:t>
            </a:r>
          </a:p>
        </p:txBody>
      </p:sp>
    </p:spTree>
    <p:extLst>
      <p:ext uri="{BB962C8B-B14F-4D97-AF65-F5344CB8AC3E}">
        <p14:creationId xmlns:p14="http://schemas.microsoft.com/office/powerpoint/2010/main" val="169045705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0" i="0" u="none" strike="noStrike" kern="1200" cap="none" spc="0" normalizeH="0" baseline="0" noProof="0" dirty="0" smtClean="0">
                <a:ln>
                  <a:noFill/>
                </a:ln>
                <a:solidFill>
                  <a:srgbClr val="1F497D"/>
                </a:solidFill>
                <a:effectLst/>
                <a:uLnTx/>
                <a:uFillTx/>
                <a:latin typeface="Georgia"/>
                <a:ea typeface="+mn-ea"/>
                <a:cs typeface="+mn-cs"/>
              </a:rPr>
              <a:t>3 - </a:t>
            </a:r>
            <a:r>
              <a:rPr kumimoji="0" lang="en-US" sz="3200" b="1" i="0" u="none" strike="noStrike" kern="1200" cap="none" spc="0" normalizeH="0" baseline="0" noProof="0" dirty="0" smtClean="0">
                <a:ln>
                  <a:noFill/>
                </a:ln>
                <a:solidFill>
                  <a:srgbClr val="1F497D"/>
                </a:solidFill>
                <a:effectLst/>
                <a:uLnTx/>
                <a:uFillTx/>
                <a:latin typeface="Georgia"/>
                <a:ea typeface="+mn-ea"/>
                <a:cs typeface="+mn-cs"/>
              </a:rPr>
              <a:t>Testing</a:t>
            </a:r>
            <a:r>
              <a:rPr kumimoji="0" lang="en-US" sz="3200" b="0" i="0" u="none" strike="noStrike" kern="1200" cap="none" spc="0" normalizeH="0" baseline="0" noProof="0" dirty="0" smtClean="0">
                <a:ln>
                  <a:noFill/>
                </a:ln>
                <a:solidFill>
                  <a:srgbClr val="1F497D"/>
                </a:solidFill>
                <a:effectLst/>
                <a:uLnTx/>
                <a:uFillTx/>
                <a:latin typeface="Georgia"/>
                <a:ea typeface="+mn-ea"/>
                <a:cs typeface="+mn-cs"/>
              </a:rPr>
              <a:t> </a:t>
            </a:r>
            <a:r>
              <a:rPr kumimoji="0" lang="en-US" sz="3200" b="0" i="0" u="none" strike="noStrike" kern="1200" cap="none" spc="0" normalizeH="0" baseline="0" noProof="0" dirty="0" smtClean="0">
                <a:ln>
                  <a:noFill/>
                </a:ln>
                <a:solidFill>
                  <a:srgbClr val="1F497D"/>
                </a:solidFill>
                <a:effectLst/>
                <a:uLnTx/>
                <a:uFillTx/>
                <a:latin typeface="Georgia"/>
                <a:ea typeface="+mn-ea"/>
                <a:cs typeface="+mn-cs"/>
                <a:sym typeface="Wingdings 3" panose="05040102010807070707" pitchFamily="18" charset="2"/>
              </a:rPr>
              <a:t></a:t>
            </a:r>
            <a:r>
              <a:rPr kumimoji="0" lang="en-US" sz="3200" b="0" i="0" u="none" strike="noStrike" kern="1200" cap="none" spc="0" normalizeH="0" baseline="0" noProof="0" dirty="0" smtClean="0">
                <a:ln>
                  <a:noFill/>
                </a:ln>
                <a:solidFill>
                  <a:srgbClr val="1F497D"/>
                </a:solidFill>
                <a:effectLst/>
                <a:uLnTx/>
                <a:uFillTx/>
                <a:latin typeface="Georgia"/>
                <a:ea typeface="+mn-ea"/>
                <a:cs typeface="+mn-cs"/>
              </a:rPr>
              <a:t> Home and Personal Pages</a:t>
            </a:r>
            <a:endParaRPr kumimoji="0" lang="en-US" sz="3200" b="0" i="0" u="none" strike="noStrike" kern="1200" cap="none" spc="0" normalizeH="0" baseline="0" noProof="0" dirty="0">
              <a:ln>
                <a:noFill/>
              </a:ln>
              <a:solidFill>
                <a:srgbClr val="1F497D"/>
              </a:solidFill>
              <a:effectLst/>
              <a:uLnTx/>
              <a:uFillTx/>
              <a:latin typeface="Georgia"/>
              <a:ea typeface="+mn-ea"/>
              <a:cs typeface="+mn-cs"/>
            </a:endParaRPr>
          </a:p>
        </p:txBody>
      </p:sp>
      <p:pic>
        <p:nvPicPr>
          <p:cNvPr id="2" name="Picture 1"/>
          <p:cNvPicPr>
            <a:picLocks noChangeAspect="1"/>
          </p:cNvPicPr>
          <p:nvPr/>
        </p:nvPicPr>
        <p:blipFill>
          <a:blip r:embed="rId2"/>
          <a:stretch>
            <a:fillRect/>
          </a:stretch>
        </p:blipFill>
        <p:spPr>
          <a:xfrm>
            <a:off x="152400" y="990600"/>
            <a:ext cx="4952999" cy="4033264"/>
          </a:xfrm>
          <a:prstGeom prst="rect">
            <a:avLst/>
          </a:prstGeom>
        </p:spPr>
      </p:pic>
      <p:pic>
        <p:nvPicPr>
          <p:cNvPr id="3" name="Picture 2"/>
          <p:cNvPicPr>
            <a:picLocks noChangeAspect="1"/>
          </p:cNvPicPr>
          <p:nvPr/>
        </p:nvPicPr>
        <p:blipFill>
          <a:blip r:embed="rId3"/>
          <a:stretch>
            <a:fillRect/>
          </a:stretch>
        </p:blipFill>
        <p:spPr>
          <a:xfrm>
            <a:off x="3620393" y="2438400"/>
            <a:ext cx="5362025" cy="4296386"/>
          </a:xfrm>
          <a:prstGeom prst="rect">
            <a:avLst/>
          </a:prstGeom>
        </p:spPr>
      </p:pic>
      <p:sp>
        <p:nvSpPr>
          <p:cNvPr id="8" name="Rectangle 7"/>
          <p:cNvSpPr/>
          <p:nvPr/>
        </p:nvSpPr>
        <p:spPr>
          <a:xfrm>
            <a:off x="3733801" y="2434728"/>
            <a:ext cx="1069554" cy="407624"/>
          </a:xfrm>
          <a:prstGeom prst="rect">
            <a:avLst/>
          </a:prstGeom>
          <a:solidFill>
            <a:srgbClr val="FFFF00">
              <a:alpha val="3000"/>
            </a:srgbClr>
          </a:solidFill>
          <a:ln w="7620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 name="TextBox 8"/>
          <p:cNvSpPr txBox="1"/>
          <p:nvPr/>
        </p:nvSpPr>
        <p:spPr>
          <a:xfrm>
            <a:off x="5715000" y="1524000"/>
            <a:ext cx="2395207" cy="369332"/>
          </a:xfrm>
          <a:prstGeom prst="rect">
            <a:avLst/>
          </a:prstGeom>
          <a:noFill/>
        </p:spPr>
        <p:txBody>
          <a:bodyPr wrap="none" rtlCol="0">
            <a:spAutoFit/>
          </a:bodyPr>
          <a:lstStyle/>
          <a:p>
            <a:r>
              <a:rPr lang="en-US" b="1" dirty="0" smtClean="0">
                <a:solidFill>
                  <a:srgbClr val="FF0000"/>
                </a:solidFill>
                <a:latin typeface="Georgia" panose="02040502050405020303" pitchFamily="18" charset="0"/>
              </a:rPr>
              <a:t>It’s correct Now !!!</a:t>
            </a:r>
            <a:endParaRPr lang="en-US" b="1" dirty="0">
              <a:solidFill>
                <a:srgbClr val="FF0000"/>
              </a:solidFill>
              <a:latin typeface="Georgia" panose="02040502050405020303" pitchFamily="18" charset="0"/>
            </a:endParaRPr>
          </a:p>
        </p:txBody>
      </p:sp>
      <p:cxnSp>
        <p:nvCxnSpPr>
          <p:cNvPr id="10" name="Straight Arrow Connector 9"/>
          <p:cNvCxnSpPr>
            <a:endCxn id="9" idx="2"/>
          </p:cNvCxnSpPr>
          <p:nvPr/>
        </p:nvCxnSpPr>
        <p:spPr>
          <a:xfrm flipV="1">
            <a:off x="4858439" y="1893332"/>
            <a:ext cx="2054165" cy="739700"/>
          </a:xfrm>
          <a:prstGeom prst="straightConnector1">
            <a:avLst/>
          </a:prstGeom>
          <a:ln w="76200">
            <a:solidFill>
              <a:srgbClr val="00B0F0"/>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58741248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886200"/>
            <a:ext cx="9143999" cy="769441"/>
          </a:xfrm>
          <a:prstGeom prst="rect">
            <a:avLst/>
          </a:prstGeom>
        </p:spPr>
        <p:txBody>
          <a:bodyPr wrap="square">
            <a:spAutoFit/>
          </a:bodyPr>
          <a:lstStyle/>
          <a:p>
            <a:pPr marL="0" marR="0" lvl="0" indent="0" algn="ctr" defTabSz="914391"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exercise </a:t>
            </a:r>
            <a:r>
              <a:rPr kumimoji="0" lang="en-US" sz="44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for students</a:t>
            </a:r>
          </a:p>
        </p:txBody>
      </p:sp>
      <p:pic>
        <p:nvPicPr>
          <p:cNvPr id="6148" name="Picture 4" descr="Clipboard checklist clipart letters example gif - Cliparti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1401" y="1143001"/>
            <a:ext cx="1752600" cy="26098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441055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152401" y="152400"/>
            <a:ext cx="8839200" cy="9144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marL="0" marR="0" lvl="0" indent="0" algn="ctr" defTabSz="914391" rtl="0" eaLnBrk="0" fontAlgn="base" latinLnBrk="0" hangingPunct="0">
              <a:lnSpc>
                <a:spcPct val="100000"/>
              </a:lnSpc>
              <a:spcBef>
                <a:spcPct val="0"/>
              </a:spcBef>
              <a:spcAft>
                <a:spcPct val="0"/>
              </a:spcAft>
              <a:buClrTx/>
              <a:buSzTx/>
              <a:buFontTx/>
              <a:buNone/>
              <a:tabLst/>
              <a:defRPr/>
            </a:pPr>
            <a:r>
              <a:rPr kumimoji="0" lang="en-US" sz="4000" b="0" i="0" u="none" strike="noStrike" kern="1200" cap="none" spc="0" normalizeH="0" baseline="0" noProof="0" dirty="0" err="1" smtClean="0">
                <a:ln>
                  <a:noFill/>
                </a:ln>
                <a:solidFill>
                  <a:srgbClr val="1F497D"/>
                </a:solidFill>
                <a:effectLst/>
                <a:uLnTx/>
                <a:uFillTx/>
                <a:latin typeface="Georgia"/>
                <a:ea typeface="+mn-ea"/>
                <a:cs typeface="+mn-cs"/>
              </a:rPr>
              <a:t>Latihan</a:t>
            </a:r>
            <a:r>
              <a:rPr kumimoji="0" lang="en-US" sz="4000" b="0" i="0" u="none" strike="noStrike" kern="1200" cap="none" spc="0" normalizeH="0" baseline="0" noProof="0" dirty="0" smtClean="0">
                <a:ln>
                  <a:noFill/>
                </a:ln>
                <a:solidFill>
                  <a:srgbClr val="1F497D"/>
                </a:solidFill>
                <a:effectLst/>
                <a:uLnTx/>
                <a:uFillTx/>
                <a:latin typeface="Georgia"/>
                <a:ea typeface="+mn-ea"/>
                <a:cs typeface="+mn-cs"/>
              </a:rPr>
              <a:t> </a:t>
            </a:r>
            <a:r>
              <a:rPr kumimoji="0" lang="en-US" sz="4000" b="0" i="0" u="none" strike="noStrike" kern="1200" cap="none" spc="0" normalizeH="0" baseline="0" noProof="0" dirty="0" err="1" smtClean="0">
                <a:ln>
                  <a:noFill/>
                </a:ln>
                <a:solidFill>
                  <a:srgbClr val="1F497D"/>
                </a:solidFill>
                <a:effectLst/>
                <a:uLnTx/>
                <a:uFillTx/>
                <a:latin typeface="Georgia"/>
                <a:ea typeface="+mn-ea"/>
                <a:cs typeface="+mn-cs"/>
              </a:rPr>
              <a:t>untuk</a:t>
            </a:r>
            <a:r>
              <a:rPr kumimoji="0" lang="en-US" sz="4000" b="0" i="0" u="none" strike="noStrike" kern="1200" cap="none" spc="0" normalizeH="0" baseline="0" noProof="0" dirty="0" smtClean="0">
                <a:ln>
                  <a:noFill/>
                </a:ln>
                <a:solidFill>
                  <a:srgbClr val="1F497D"/>
                </a:solidFill>
                <a:effectLst/>
                <a:uLnTx/>
                <a:uFillTx/>
                <a:latin typeface="Georgia"/>
                <a:ea typeface="+mn-ea"/>
                <a:cs typeface="+mn-cs"/>
              </a:rPr>
              <a:t> </a:t>
            </a:r>
            <a:r>
              <a:rPr kumimoji="0" lang="en-US" sz="4000" b="0" i="1" u="none" strike="noStrike" kern="1200" cap="none" spc="0" normalizeH="0" baseline="0" noProof="0" dirty="0" smtClean="0">
                <a:ln>
                  <a:noFill/>
                </a:ln>
                <a:solidFill>
                  <a:srgbClr val="1F497D"/>
                </a:solidFill>
                <a:effectLst/>
                <a:uLnTx/>
                <a:uFillTx/>
                <a:latin typeface="Georgia"/>
                <a:ea typeface="+mn-ea"/>
                <a:cs typeface="+mn-cs"/>
              </a:rPr>
              <a:t>Students</a:t>
            </a:r>
            <a:endParaRPr kumimoji="0" lang="en-US" sz="4000" b="0" i="1" u="none" strike="noStrike" kern="1200" cap="none" spc="0" normalizeH="0" baseline="0" noProof="0" dirty="0">
              <a:ln>
                <a:noFill/>
              </a:ln>
              <a:solidFill>
                <a:srgbClr val="1F497D"/>
              </a:solidFill>
              <a:effectLst/>
              <a:uLnTx/>
              <a:uFillTx/>
              <a:latin typeface="Georgia"/>
              <a:ea typeface="+mn-ea"/>
              <a:cs typeface="+mn-cs"/>
            </a:endParaRPr>
          </a:p>
        </p:txBody>
      </p:sp>
      <p:sp>
        <p:nvSpPr>
          <p:cNvPr id="5" name="TextBox 4"/>
          <p:cNvSpPr txBox="1"/>
          <p:nvPr/>
        </p:nvSpPr>
        <p:spPr>
          <a:xfrm>
            <a:off x="125776" y="1167211"/>
            <a:ext cx="8865824" cy="830997"/>
          </a:xfrm>
          <a:prstGeom prst="rect">
            <a:avLst/>
          </a:prstGeom>
          <a:noFill/>
        </p:spPr>
        <p:txBody>
          <a:bodyPr wrap="square" rtlCol="0">
            <a:spAutoFit/>
          </a:bodyPr>
          <a:lstStyle/>
          <a:p>
            <a:pPr marL="0" marR="0" lvl="0" indent="0" algn="l" defTabSz="914391"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Create directory	: </a:t>
            </a:r>
            <a:r>
              <a:rPr kumimoji="0" lang="en-US" sz="24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C:\</a:t>
            </a:r>
            <a:r>
              <a:rPr kumimoji="0" lang="en-US" sz="2400" b="0"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xampp\htdocs\lecture19\</a:t>
            </a:r>
            <a:endParaRPr kumimoji="0" lang="en-US" sz="2400" b="0" i="0" u="none" strike="noStrike" kern="1200" cap="none" spc="0" normalizeH="0" baseline="-25000" noProof="0" dirty="0">
              <a:ln>
                <a:noFill/>
              </a:ln>
              <a:solidFill>
                <a:prstClr val="black"/>
              </a:solidFill>
              <a:effectLst/>
              <a:uLnTx/>
              <a:uFillTx/>
              <a:latin typeface="Georgia" panose="02040502050405020303" pitchFamily="18" charset="0"/>
              <a:ea typeface="+mn-ea"/>
              <a:cs typeface="+mn-cs"/>
            </a:endParaRPr>
          </a:p>
          <a:p>
            <a:pPr marL="0" marR="0" lvl="0" indent="0" algn="l" defTabSz="914391"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Create file		: </a:t>
            </a:r>
            <a:r>
              <a:rPr kumimoji="0" lang="en-US" sz="2400" b="0"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_.</a:t>
            </a:r>
            <a:r>
              <a:rPr kumimoji="0" lang="en-US" sz="2400" b="0" i="0" u="none" strike="noStrike" kern="1200" cap="none" spc="0" normalizeH="0" baseline="0" noProof="0" dirty="0" err="1" smtClean="0">
                <a:ln>
                  <a:noFill/>
                </a:ln>
                <a:solidFill>
                  <a:prstClr val="black"/>
                </a:solidFill>
                <a:effectLst/>
                <a:uLnTx/>
                <a:uFillTx/>
                <a:latin typeface="Georgia" panose="02040502050405020303" pitchFamily="18" charset="0"/>
                <a:ea typeface="+mn-ea"/>
                <a:cs typeface="+mn-cs"/>
              </a:rPr>
              <a:t>php</a:t>
            </a:r>
            <a:endParaRPr kumimoji="0" lang="en-US" sz="24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endParaRPr>
          </a:p>
        </p:txBody>
      </p:sp>
      <p:sp>
        <p:nvSpPr>
          <p:cNvPr id="3" name="Rectangle 2"/>
          <p:cNvSpPr/>
          <p:nvPr/>
        </p:nvSpPr>
        <p:spPr>
          <a:xfrm>
            <a:off x="152400" y="2194560"/>
            <a:ext cx="8991600" cy="313932"/>
          </a:xfrm>
          <a:prstGeom prst="rect">
            <a:avLst/>
          </a:prstGeom>
        </p:spPr>
        <p:txBody>
          <a:bodyPr wrap="square">
            <a:spAutoFit/>
          </a:bodyPr>
          <a:lstStyle/>
          <a:p>
            <a:pPr marL="0" marR="0" lvl="0" indent="0" algn="l" defTabSz="822960" rtl="0" eaLnBrk="1" fontAlgn="base" latinLnBrk="0" hangingPunct="1">
              <a:lnSpc>
                <a:spcPct val="100000"/>
              </a:lnSpc>
              <a:spcBef>
                <a:spcPct val="0"/>
              </a:spcBef>
              <a:spcAft>
                <a:spcPct val="0"/>
              </a:spcAft>
              <a:buClrTx/>
              <a:buSzTx/>
              <a:buFontTx/>
              <a:buNone/>
              <a:tabLst/>
              <a:defRPr/>
            </a:pPr>
            <a:r>
              <a:rPr kumimoji="0" lang="en-US" sz="1440" b="0" i="0" u="none" strike="noStrike" kern="1200" cap="none" spc="0" normalizeH="0" baseline="0" noProof="0" dirty="0" err="1" smtClean="0">
                <a:ln>
                  <a:noFill/>
                </a:ln>
                <a:solidFill>
                  <a:prstClr val="black"/>
                </a:solidFill>
                <a:effectLst/>
                <a:uLnTx/>
                <a:uFillTx/>
                <a:latin typeface="Georgia" panose="02040502050405020303" pitchFamily="18" charset="0"/>
                <a:ea typeface="+mn-ea"/>
                <a:cs typeface="+mn-cs"/>
              </a:rPr>
              <a:t>Buat</a:t>
            </a:r>
            <a:r>
              <a:rPr kumimoji="0" lang="en-US" sz="1440" b="0"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 </a:t>
            </a:r>
            <a:r>
              <a:rPr kumimoji="0" lang="en-US" sz="1440" b="0" i="0" u="none" strike="noStrike" kern="1200" cap="none" spc="0" normalizeH="0" baseline="0" noProof="0" dirty="0" err="1" smtClean="0">
                <a:ln>
                  <a:noFill/>
                </a:ln>
                <a:solidFill>
                  <a:prstClr val="black"/>
                </a:solidFill>
                <a:effectLst/>
                <a:uLnTx/>
                <a:uFillTx/>
                <a:latin typeface="Georgia" panose="02040502050405020303" pitchFamily="18" charset="0"/>
                <a:ea typeface="+mn-ea"/>
                <a:cs typeface="+mn-cs"/>
              </a:rPr>
              <a:t>semua</a:t>
            </a:r>
            <a:r>
              <a:rPr kumimoji="0" lang="en-US" sz="1440" b="0"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 </a:t>
            </a:r>
            <a:r>
              <a:rPr kumimoji="0" lang="en-US" sz="1440" b="0" i="0" u="none" strike="noStrike" kern="1200" cap="none" spc="0" normalizeH="0" baseline="0" noProof="0" dirty="0" err="1" smtClean="0">
                <a:ln>
                  <a:noFill/>
                </a:ln>
                <a:solidFill>
                  <a:prstClr val="black"/>
                </a:solidFill>
                <a:effectLst/>
                <a:uLnTx/>
                <a:uFillTx/>
                <a:latin typeface="Georgia" panose="02040502050405020303" pitchFamily="18" charset="0"/>
                <a:ea typeface="+mn-ea"/>
                <a:cs typeface="+mn-cs"/>
              </a:rPr>
              <a:t>contoh</a:t>
            </a:r>
            <a:r>
              <a:rPr kumimoji="0" lang="en-US" sz="1440" b="0"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 yang </a:t>
            </a:r>
            <a:r>
              <a:rPr kumimoji="0" lang="en-US" sz="1440" b="0" i="0" u="none" strike="noStrike" kern="1200" cap="none" spc="0" normalizeH="0" baseline="0" noProof="0" dirty="0" err="1" smtClean="0">
                <a:ln>
                  <a:noFill/>
                </a:ln>
                <a:solidFill>
                  <a:prstClr val="black"/>
                </a:solidFill>
                <a:effectLst/>
                <a:uLnTx/>
                <a:uFillTx/>
                <a:latin typeface="Georgia" panose="02040502050405020303" pitchFamily="18" charset="0"/>
                <a:ea typeface="+mn-ea"/>
                <a:cs typeface="+mn-cs"/>
              </a:rPr>
              <a:t>sudah</a:t>
            </a:r>
            <a:r>
              <a:rPr kumimoji="0" lang="en-US" sz="1440" b="0"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 di </a:t>
            </a:r>
            <a:r>
              <a:rPr kumimoji="0" lang="en-US" sz="1440" b="0" i="0" u="none" strike="noStrike" kern="1200" cap="none" spc="0" normalizeH="0" baseline="0" noProof="0" dirty="0" err="1" smtClean="0">
                <a:ln>
                  <a:noFill/>
                </a:ln>
                <a:solidFill>
                  <a:prstClr val="black"/>
                </a:solidFill>
                <a:effectLst/>
                <a:uLnTx/>
                <a:uFillTx/>
                <a:latin typeface="Georgia" panose="02040502050405020303" pitchFamily="18" charset="0"/>
                <a:ea typeface="+mn-ea"/>
                <a:cs typeface="+mn-cs"/>
              </a:rPr>
              <a:t>pelajari</a:t>
            </a:r>
            <a:r>
              <a:rPr kumimoji="0" lang="en-US" sz="1440" b="0"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 </a:t>
            </a:r>
            <a:r>
              <a:rPr kumimoji="0" lang="en-US" sz="1440" b="0" i="0" u="none" strike="noStrike" kern="1200" cap="none" spc="0" normalizeH="0" baseline="0" noProof="0" dirty="0" err="1" smtClean="0">
                <a:ln>
                  <a:noFill/>
                </a:ln>
                <a:solidFill>
                  <a:prstClr val="black"/>
                </a:solidFill>
                <a:effectLst/>
                <a:uLnTx/>
                <a:uFillTx/>
                <a:latin typeface="Georgia" panose="02040502050405020303" pitchFamily="18" charset="0"/>
                <a:ea typeface="+mn-ea"/>
                <a:cs typeface="+mn-cs"/>
              </a:rPr>
              <a:t>sebelumnya</a:t>
            </a:r>
            <a:r>
              <a:rPr kumimoji="0" lang="en-US" sz="1440" b="0"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 di </a:t>
            </a:r>
            <a:r>
              <a:rPr kumimoji="0" lang="en-US" sz="1440" b="0" i="1"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lecture</a:t>
            </a:r>
            <a:r>
              <a:rPr kumimoji="0" lang="en-US" sz="1440" b="0"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 </a:t>
            </a:r>
            <a:r>
              <a:rPr kumimoji="0" lang="en-US" sz="1440" b="0" i="0" u="none" strike="noStrike" kern="1200" cap="none" spc="0" normalizeH="0" baseline="0" noProof="0" dirty="0" err="1" smtClean="0">
                <a:ln>
                  <a:noFill/>
                </a:ln>
                <a:solidFill>
                  <a:prstClr val="black"/>
                </a:solidFill>
                <a:effectLst/>
                <a:uLnTx/>
                <a:uFillTx/>
                <a:latin typeface="Georgia" panose="02040502050405020303" pitchFamily="18" charset="0"/>
                <a:ea typeface="+mn-ea"/>
                <a:cs typeface="+mn-cs"/>
              </a:rPr>
              <a:t>ini</a:t>
            </a:r>
            <a:r>
              <a:rPr kumimoji="0" lang="en-US" sz="1440" b="0"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a:t>
            </a:r>
            <a:endParaRPr kumimoji="0" lang="en-US" sz="144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endParaRPr>
          </a:p>
        </p:txBody>
      </p:sp>
    </p:spTree>
    <p:extLst>
      <p:ext uri="{BB962C8B-B14F-4D97-AF65-F5344CB8AC3E}">
        <p14:creationId xmlns:p14="http://schemas.microsoft.com/office/powerpoint/2010/main" val="150490152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76400" y="2971800"/>
            <a:ext cx="5530215" cy="1035745"/>
          </a:xfrm>
          <a:prstGeom prst="wedgeRoundRectCallout">
            <a:avLst>
              <a:gd name="adj1" fmla="val 51225"/>
              <a:gd name="adj2" fmla="val 132447"/>
              <a:gd name="adj3" fmla="val 16667"/>
            </a:avLst>
          </a:prstGeom>
          <a:solidFill>
            <a:schemeClr val="accent3">
              <a:lumMod val="20000"/>
              <a:lumOff val="80000"/>
            </a:schemeClr>
          </a:solidFill>
        </p:spPr>
        <p:style>
          <a:lnRef idx="2">
            <a:schemeClr val="dk1"/>
          </a:lnRef>
          <a:fillRef idx="1">
            <a:schemeClr val="lt1"/>
          </a:fillRef>
          <a:effectRef idx="0">
            <a:schemeClr val="dk1"/>
          </a:effectRef>
          <a:fontRef idx="minor">
            <a:schemeClr val="dk1"/>
          </a:fontRef>
        </p:style>
        <p:txBody>
          <a:bodyPr vert="horz" wrap="square" lIns="0" tIns="12700" rIns="0" bIns="0" rtlCol="0">
            <a:spAutoFit/>
          </a:bodyPr>
          <a:lstStyle/>
          <a:p>
            <a:pPr marL="12700" algn="ctr">
              <a:lnSpc>
                <a:spcPct val="100000"/>
              </a:lnSpc>
              <a:spcBef>
                <a:spcPts val="100"/>
              </a:spcBef>
            </a:pPr>
            <a:r>
              <a:rPr sz="6000" dirty="0">
                <a:solidFill>
                  <a:srgbClr val="30859C"/>
                </a:solidFill>
              </a:rPr>
              <a:t>THANK</a:t>
            </a:r>
            <a:r>
              <a:rPr sz="6000" spc="-355" dirty="0">
                <a:solidFill>
                  <a:srgbClr val="30859C"/>
                </a:solidFill>
              </a:rPr>
              <a:t> </a:t>
            </a:r>
            <a:r>
              <a:rPr sz="6000" spc="-5" dirty="0" smtClean="0">
                <a:solidFill>
                  <a:srgbClr val="30859C"/>
                </a:solidFill>
              </a:rPr>
              <a:t>YOU</a:t>
            </a:r>
            <a:endParaRPr sz="6000" dirty="0"/>
          </a:p>
        </p:txBody>
      </p:sp>
      <p:pic>
        <p:nvPicPr>
          <p:cNvPr id="3" name="Picture 2" descr="Download Free png Photography Person Clip art - thinking clipart png  download - 645 ... - DLPNG.com"/>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06615" y="4476896"/>
            <a:ext cx="1719273" cy="2132432"/>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p:cNvSpPr txBox="1">
            <a:spLocks/>
          </p:cNvSpPr>
          <p:nvPr/>
        </p:nvSpPr>
        <p:spPr>
          <a:xfrm>
            <a:off x="903914" y="76200"/>
            <a:ext cx="8021974" cy="1499616"/>
          </a:xfrm>
          <a:prstGeom prst="rect">
            <a:avLst/>
          </a:prstGeom>
        </p:spPr>
        <p:txBody>
          <a:bodyPr vert="horz" lIns="91440" tIns="45720" rIns="91440" bIns="45720" rtlCol="0" anchor="ctr">
            <a:normAutofit/>
          </a:bodyPr>
          <a:lst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5000" b="0" i="0" u="none" strike="noStrike" kern="1200" cap="all" spc="100" normalizeH="0" baseline="0" noProof="0" dirty="0" smtClean="0">
                <a:ln>
                  <a:noFill/>
                </a:ln>
                <a:solidFill>
                  <a:sysClr val="windowText" lastClr="000000">
                    <a:lumMod val="95000"/>
                    <a:lumOff val="5000"/>
                  </a:sysClr>
                </a:solidFill>
                <a:effectLst/>
                <a:uLnTx/>
                <a:uFillTx/>
                <a:latin typeface="Tw Cen MT Condensed" panose="020B0606020104020203"/>
                <a:ea typeface="+mj-ea"/>
                <a:cs typeface="+mj-cs"/>
              </a:rPr>
              <a:t>END PRESENTATION</a:t>
            </a:r>
            <a:endParaRPr kumimoji="0" lang="en-US" sz="5000" b="0" i="0" u="none" strike="noStrike" kern="1200" cap="all" spc="100" normalizeH="0" baseline="0" noProof="0" dirty="0">
              <a:ln>
                <a:noFill/>
              </a:ln>
              <a:solidFill>
                <a:sysClr val="windowText" lastClr="000000">
                  <a:lumMod val="95000"/>
                  <a:lumOff val="5000"/>
                </a:sysClr>
              </a:solidFill>
              <a:effectLst/>
              <a:uLnTx/>
              <a:uFillTx/>
              <a:latin typeface="Tw Cen MT Condensed" panose="020B0606020104020203"/>
              <a:ea typeface="+mj-ea"/>
              <a:cs typeface="+mj-cs"/>
            </a:endParaRPr>
          </a:p>
        </p:txBody>
      </p:sp>
      <p:grpSp>
        <p:nvGrpSpPr>
          <p:cNvPr id="5" name="Group 4"/>
          <p:cNvGrpSpPr/>
          <p:nvPr/>
        </p:nvGrpSpPr>
        <p:grpSpPr>
          <a:xfrm>
            <a:off x="903913" y="1186434"/>
            <a:ext cx="3041667" cy="670501"/>
            <a:chOff x="1024128" y="2917984"/>
            <a:chExt cx="3041667" cy="670501"/>
          </a:xfrm>
        </p:grpSpPr>
        <p:sp>
          <p:nvSpPr>
            <p:cNvPr id="6" name="Rectangle 5"/>
            <p:cNvSpPr/>
            <p:nvPr/>
          </p:nvSpPr>
          <p:spPr>
            <a:xfrm>
              <a:off x="1024128" y="3188375"/>
              <a:ext cx="2252861" cy="400110"/>
            </a:xfrm>
            <a:prstGeom prst="rect">
              <a:avLst/>
            </a:prstGeom>
          </p:spPr>
          <p:txBody>
            <a:bodyPr wrap="none">
              <a:spAutoFit/>
            </a:bodyPr>
            <a:lstStyle/>
            <a:p>
              <a:pPr defTabSz="457200"/>
              <a:r>
                <a:rPr lang="en-US" sz="2000" dirty="0" smtClean="0">
                  <a:solidFill>
                    <a:prstClr val="black"/>
                  </a:solidFill>
                  <a:latin typeface="Tw Cen MT" panose="020B0602020104020603"/>
                </a:rPr>
                <a:t>Instructor: S – W </a:t>
              </a:r>
              <a:r>
                <a:rPr lang="en-US" sz="2000" dirty="0">
                  <a:solidFill>
                    <a:prstClr val="black"/>
                  </a:solidFill>
                  <a:latin typeface="Tw Cen MT" panose="020B0602020104020603"/>
                </a:rPr>
                <a:t>–</a:t>
              </a:r>
              <a:r>
                <a:rPr lang="en-US" sz="2000" dirty="0" smtClean="0">
                  <a:solidFill>
                    <a:prstClr val="black"/>
                  </a:solidFill>
                  <a:latin typeface="Tw Cen MT" panose="020B0602020104020603"/>
                </a:rPr>
                <a:t> T</a:t>
              </a:r>
            </a:p>
          </p:txBody>
        </p:sp>
        <p:sp>
          <p:nvSpPr>
            <p:cNvPr id="7" name="Rectangle 6"/>
            <p:cNvSpPr/>
            <p:nvPr/>
          </p:nvSpPr>
          <p:spPr>
            <a:xfrm>
              <a:off x="1024128" y="2917984"/>
              <a:ext cx="3041667" cy="400110"/>
            </a:xfrm>
            <a:prstGeom prst="rect">
              <a:avLst/>
            </a:prstGeom>
          </p:spPr>
          <p:txBody>
            <a:bodyPr wrap="none">
              <a:spAutoFit/>
            </a:bodyPr>
            <a:lstStyle/>
            <a:p>
              <a:pPr defTabSz="457200"/>
              <a:r>
                <a:rPr lang="en-US" sz="2000" dirty="0">
                  <a:solidFill>
                    <a:srgbClr val="FF0000"/>
                  </a:solidFill>
                  <a:latin typeface="Tw Cen MT" panose="020B0602020104020603"/>
                </a:rPr>
                <a:t>Thank you for your attention</a:t>
              </a:r>
            </a:p>
          </p:txBody>
        </p:sp>
      </p:grpSp>
      <p:sp>
        <p:nvSpPr>
          <p:cNvPr id="8" name="Rectangle 7"/>
          <p:cNvSpPr/>
          <p:nvPr/>
        </p:nvSpPr>
        <p:spPr>
          <a:xfrm>
            <a:off x="470335" y="540135"/>
            <a:ext cx="304599" cy="1316800"/>
          </a:xfrm>
          <a:prstGeom prst="rect">
            <a:avLst/>
          </a:prstGeom>
          <a:solidFill>
            <a:sysClr val="windowText" lastClr="000000"/>
          </a:solidFill>
          <a:ln w="15875" cap="flat" cmpd="sng" algn="ctr">
            <a:solidFill>
              <a:sysClr val="windowText" lastClr="000000">
                <a:shade val="50000"/>
              </a:sysClr>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Tw Cen MT" panose="020B0602020104020603"/>
              <a:ea typeface="+mn-ea"/>
              <a:cs typeface="+mn-cs"/>
            </a:endParaRPr>
          </a:p>
        </p:txBody>
      </p:sp>
    </p:spTree>
  </p:cSld>
  <p:clrMapOvr>
    <a:masterClrMapping/>
  </p:clrMapOvr>
  <p:timing>
    <p:tnLst>
      <p:par>
        <p:cTn id="1" dur="indefinite" restart="never" nodeType="tmRoot"/>
      </p:par>
    </p:tnLst>
  </p:timing>
</p:sld>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rb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1306</TotalTime>
  <Words>1540</Words>
  <Application>Microsoft Office PowerPoint</Application>
  <PresentationFormat>On-screen Show (4:3)</PresentationFormat>
  <Paragraphs>139</Paragraphs>
  <Slides>39</Slides>
  <Notes>1</Notes>
  <HiddenSlides>0</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39</vt:i4>
      </vt:variant>
    </vt:vector>
  </HeadingPairs>
  <TitlesOfParts>
    <vt:vector size="55" baseType="lpstr">
      <vt:lpstr>Bookman Uralic</vt:lpstr>
      <vt:lpstr>Carlito</vt:lpstr>
      <vt:lpstr>Arial</vt:lpstr>
      <vt:lpstr>Calibri</vt:lpstr>
      <vt:lpstr>Georgia</vt:lpstr>
      <vt:lpstr>Tahoma</vt:lpstr>
      <vt:lpstr>Times New Roman</vt:lpstr>
      <vt:lpstr>Trebuchet MS</vt:lpstr>
      <vt:lpstr>Tw Cen MT</vt:lpstr>
      <vt:lpstr>Tw Cen MT Condensed</vt:lpstr>
      <vt:lpstr>Wingdings</vt:lpstr>
      <vt:lpstr>Wingdings 2</vt:lpstr>
      <vt:lpstr>Wingdings 3</vt:lpstr>
      <vt:lpstr>Office Theme</vt:lpstr>
      <vt:lpstr>Urban</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NL</dc:creator>
  <cp:lastModifiedBy>NL</cp:lastModifiedBy>
  <cp:revision>234</cp:revision>
  <dcterms:created xsi:type="dcterms:W3CDTF">2021-03-23T22:28:06Z</dcterms:created>
  <dcterms:modified xsi:type="dcterms:W3CDTF">2021-06-24T01:02:50Z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2018-01-22T00:00:00Z</vt:filetime>
  </property>
  <property fmtid="{D5CDD505-2E9C-101B-9397-08002B2CF9AE}" pid="3" name="Creator">
    <vt:lpwstr>Microsoft® PowerPoint® 2013</vt:lpwstr>
  </property>
  <property fmtid="{D5CDD505-2E9C-101B-9397-08002B2CF9AE}" pid="4" name="LastSaved">
    <vt:filetime>2021-03-23T00:00:00Z</vt:filetime>
  </property>
</Properties>
</file>