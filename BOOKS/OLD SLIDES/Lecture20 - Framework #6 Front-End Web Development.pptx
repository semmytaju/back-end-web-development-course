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  <p:sldMasterId id="2147483678" r:id="rId3"/>
  </p:sldMasterIdLst>
  <p:notesMasterIdLst>
    <p:notesMasterId r:id="rId46"/>
  </p:notesMasterIdLst>
  <p:sldIdLst>
    <p:sldId id="285" r:id="rId4"/>
    <p:sldId id="286" r:id="rId5"/>
    <p:sldId id="306" r:id="rId6"/>
    <p:sldId id="345" r:id="rId7"/>
    <p:sldId id="346" r:id="rId8"/>
    <p:sldId id="354" r:id="rId9"/>
    <p:sldId id="298" r:id="rId10"/>
    <p:sldId id="352" r:id="rId11"/>
    <p:sldId id="302" r:id="rId12"/>
    <p:sldId id="351" r:id="rId13"/>
    <p:sldId id="356" r:id="rId14"/>
    <p:sldId id="355" r:id="rId15"/>
    <p:sldId id="350" r:id="rId16"/>
    <p:sldId id="357" r:id="rId17"/>
    <p:sldId id="349" r:id="rId18"/>
    <p:sldId id="363" r:id="rId19"/>
    <p:sldId id="364" r:id="rId20"/>
    <p:sldId id="365" r:id="rId21"/>
    <p:sldId id="361" r:id="rId22"/>
    <p:sldId id="362" r:id="rId23"/>
    <p:sldId id="366" r:id="rId24"/>
    <p:sldId id="359" r:id="rId25"/>
    <p:sldId id="360" r:id="rId26"/>
    <p:sldId id="367" r:id="rId27"/>
    <p:sldId id="358" r:id="rId28"/>
    <p:sldId id="353" r:id="rId29"/>
    <p:sldId id="348" r:id="rId30"/>
    <p:sldId id="372" r:id="rId31"/>
    <p:sldId id="371" r:id="rId32"/>
    <p:sldId id="370" r:id="rId33"/>
    <p:sldId id="369" r:id="rId34"/>
    <p:sldId id="373" r:id="rId35"/>
    <p:sldId id="368" r:id="rId36"/>
    <p:sldId id="374" r:id="rId37"/>
    <p:sldId id="347" r:id="rId38"/>
    <p:sldId id="375" r:id="rId39"/>
    <p:sldId id="376" r:id="rId40"/>
    <p:sldId id="377" r:id="rId41"/>
    <p:sldId id="378" r:id="rId42"/>
    <p:sldId id="303" r:id="rId43"/>
    <p:sldId id="304" r:id="rId44"/>
    <p:sldId id="284" r:id="rId4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41" autoAdjust="0"/>
  </p:normalViewPr>
  <p:slideViewPr>
    <p:cSldViewPr>
      <p:cViewPr varScale="1">
        <p:scale>
          <a:sx n="72" d="100"/>
          <a:sy n="72" d="100"/>
        </p:scale>
        <p:origin x="132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viewProps" Target="view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A8E67-C31F-4B3F-AE22-4E6EEE62189F}" type="datetimeFigureOut">
              <a:rPr lang="en-US" smtClean="0"/>
              <a:t>3/29/2022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D6AE2-3021-4755-9483-33FED85582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410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186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318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5640802-FA98-427B-B9DA-D5CD3C58A5E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pPr marL="0" marR="0" lvl="0" indent="0" algn="r" defTabSz="93186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990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2843" y="1078991"/>
            <a:ext cx="8066537" cy="325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5410200" y="3810000"/>
            <a:ext cx="3733800" cy="904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 flipV="1">
            <a:off x="5410200" y="3897313"/>
            <a:ext cx="3733800" cy="1920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 flipV="1">
            <a:off x="5410200" y="4114800"/>
            <a:ext cx="3733800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5410200" y="4164013"/>
            <a:ext cx="1965325" cy="19050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/>
          <p:cNvSpPr/>
          <p:nvPr/>
        </p:nvSpPr>
        <p:spPr>
          <a:xfrm flipV="1">
            <a:off x="5410200" y="4198938"/>
            <a:ext cx="1965325" cy="9525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1" name="Rounded Rectangle 10"/>
          <p:cNvSpPr/>
          <p:nvPr/>
        </p:nvSpPr>
        <p:spPr bwMode="white">
          <a:xfrm>
            <a:off x="5410200" y="3962400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12" name="Rounded Rectangle 11"/>
          <p:cNvSpPr/>
          <p:nvPr/>
        </p:nvSpPr>
        <p:spPr bwMode="white">
          <a:xfrm>
            <a:off x="7377113" y="4060825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3649663"/>
            <a:ext cx="9144000" cy="2444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0" y="3675063"/>
            <a:ext cx="9144000" cy="1412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5" name="Rectangle 14"/>
          <p:cNvSpPr/>
          <p:nvPr/>
        </p:nvSpPr>
        <p:spPr>
          <a:xfrm flipV="1">
            <a:off x="6413500" y="3643313"/>
            <a:ext cx="2730500" cy="2476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00" cy="37020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875"/>
            <a:ext cx="9604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A5911-318A-42B0-BD23-6D9EB7D0CA04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18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588"/>
            <a:ext cx="74771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4458D9D-7997-48C9-9AC8-3F90B58B8F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4431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4A82B4-6618-4215-93D9-CEB563386B8B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7DC8DC-866E-4B93-B469-7F06B8221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99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CF3936-C19B-44C7-9907-C0E7C284152D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50082-0BCC-45F0-8D95-A24D80F2B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585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314A90-AFC1-4E63-8122-57311A38DF42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8D1BD-67A6-4741-9925-0FDB9D002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278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/>
          <a:lstStyle>
            <a:lvl1pPr>
              <a:defRPr sz="4000" b="0" i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A2782CB-796F-4B39-B3A1-A580BB814B6D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8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235CFA-2E95-41A8-BAE8-E6B82C409E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0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363" y="612775"/>
            <a:ext cx="95726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FEC-1725-49C8-B349-7936A7B6C619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7C593E-29F5-4DB5-AA21-09B3E16427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868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4EACB-F0B1-430E-814E-618E1FB95B3F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2F2B9-77ED-4645-81E1-35508EBB26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49780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83054-3FDA-4EA6-BDCD-F6F20A348F07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4040EC-DEFE-48A7-8B41-72679CFEB6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5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3B4C38-6B7A-4435-A3AF-075D8A2102F3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95D01F-80C4-4EF3-9C3E-4AB2D853C1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7925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07E67-5493-4B92-9FD9-CEF01D49F27C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CC2162-9904-4CE2-ADF7-C5DB601A18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503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7261E-68CB-4B7F-AB36-DC4916C10FE0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EC959-A47F-459F-8D4B-AA4F723E34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71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49026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1"/>
            <a:ext cx="5455919" cy="400148"/>
          </a:xfrm>
        </p:spPr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0243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0237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6"/>
            <a:ext cx="7296911" cy="492481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1899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6634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769" y="484758"/>
            <a:ext cx="4458461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426" y="3362909"/>
            <a:ext cx="6645147" cy="2021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366713"/>
            <a:ext cx="9144000" cy="8413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00" cy="31115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7975"/>
            <a:ext cx="9144000" cy="920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200" y="360363"/>
            <a:ext cx="3733800" cy="904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39738"/>
            <a:ext cx="3733800" cy="18097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025" y="496888"/>
            <a:ext cx="3063875" cy="28575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938" y="588963"/>
            <a:ext cx="1600200" cy="3651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5263" y="-1588"/>
            <a:ext cx="57150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3988" y="-1588"/>
            <a:ext cx="28575" cy="620713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4938" y="-1588"/>
            <a:ext cx="9525" cy="620713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725" y="-1588"/>
            <a:ext cx="26988" cy="620713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400" y="0"/>
            <a:ext cx="55563" cy="585788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4125" y="0"/>
            <a:ext cx="7938" cy="585788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7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20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2249488"/>
            <a:ext cx="8229600" cy="432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8" y="612775"/>
            <a:ext cx="957262" cy="457200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076F8D71-EA83-45CB-9292-976A9C8DA0C3}" type="datetimeFigureOut">
              <a:rPr lang="en-US"/>
              <a:pPr>
                <a:defRPr/>
              </a:pPr>
              <a:t>3/29/2022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775"/>
            <a:ext cx="1325563" cy="457200"/>
          </a:xfrm>
          <a:prstGeom prst="rect">
            <a:avLst/>
          </a:prstGeom>
        </p:spPr>
        <p:txBody>
          <a:bodyPr vert="horz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038" y="1588"/>
            <a:ext cx="762000" cy="366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FFFFFF"/>
                </a:solidFill>
                <a:latin typeface="Georgia" panose="02040502050405020303" pitchFamily="18" charset="0"/>
              </a:defRPr>
            </a:lvl1pPr>
          </a:lstStyle>
          <a:p>
            <a:fld id="{C36EDDF5-661D-4F0D-A8FC-08CDEA6AF9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112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rebuchet MS" pitchFamily="34" charset="0"/>
        </a:defRPr>
      </a:lvl9pPr>
    </p:titleStyle>
    <p:bodyStyle>
      <a:lvl1pPr marL="365125" indent="-255588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7225" indent="-246063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Font typeface="Georgia" panose="02040502050405020303" pitchFamily="18" charset="0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2338" indent="-21907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13" indent="-200025" algn="l" rtl="0" eaLnBrk="0" fontAlgn="base" hangingPunct="0">
        <a:spcBef>
          <a:spcPts val="300"/>
        </a:spcBef>
        <a:spcAft>
          <a:spcPct val="0"/>
        </a:spcAft>
        <a:buClr>
          <a:schemeClr val="accent1"/>
        </a:buClr>
        <a:buFont typeface="Wingdings 2" panose="05020102010507070707" pitchFamily="18" charset="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ts val="300"/>
        </a:spcBef>
        <a:spcAft>
          <a:spcPct val="0"/>
        </a:spcAft>
        <a:buClr>
          <a:srgbClr val="9BBB59"/>
        </a:buClr>
        <a:buFont typeface="Georgia" panose="02040502050405020303" pitchFamily="18" charset="0"/>
        <a:buChar char="▫"/>
        <a:defRPr sz="2000" kern="1200">
          <a:solidFill>
            <a:srgbClr val="9BBB59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23545" y="3648455"/>
            <a:ext cx="729691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Bookman Uralic"/>
                <a:cs typeface="Bookman Ur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44041" y="2828670"/>
            <a:ext cx="545591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4151" y="5726336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71047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96">
        <a:defRPr>
          <a:latin typeface="+mn-lt"/>
          <a:ea typeface="+mn-ea"/>
          <a:cs typeface="+mn-cs"/>
        </a:defRPr>
      </a:lvl2pPr>
      <a:lvl3pPr marL="914391">
        <a:defRPr>
          <a:latin typeface="+mn-lt"/>
          <a:ea typeface="+mn-ea"/>
          <a:cs typeface="+mn-cs"/>
        </a:defRPr>
      </a:lvl3pPr>
      <a:lvl4pPr marL="1371587">
        <a:defRPr>
          <a:latin typeface="+mn-lt"/>
          <a:ea typeface="+mn-ea"/>
          <a:cs typeface="+mn-cs"/>
        </a:defRPr>
      </a:lvl4pPr>
      <a:lvl5pPr marL="1828782">
        <a:defRPr>
          <a:latin typeface="+mn-lt"/>
          <a:ea typeface="+mn-ea"/>
          <a:cs typeface="+mn-cs"/>
        </a:defRPr>
      </a:lvl5pPr>
      <a:lvl6pPr marL="2285978">
        <a:defRPr>
          <a:latin typeface="+mn-lt"/>
          <a:ea typeface="+mn-ea"/>
          <a:cs typeface="+mn-cs"/>
        </a:defRPr>
      </a:lvl6pPr>
      <a:lvl7pPr marL="2743173">
        <a:defRPr>
          <a:latin typeface="+mn-lt"/>
          <a:ea typeface="+mn-ea"/>
          <a:cs typeface="+mn-cs"/>
        </a:defRPr>
      </a:lvl7pPr>
      <a:lvl8pPr marL="3200368">
        <a:defRPr>
          <a:latin typeface="+mn-lt"/>
          <a:ea typeface="+mn-ea"/>
          <a:cs typeface="+mn-cs"/>
        </a:defRPr>
      </a:lvl8pPr>
      <a:lvl9pPr marL="3657563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dicoding.com/learningpaths/22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lints.com/id/lowongan/perbedaan-front-end-dan-back-end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aravel.com/docs/8.x/structure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etbootstrap.com/docs/5.0/getting-started/download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jquery.com/download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jquery.com/jquery-3.3.1.slim.min.js" TargetMode="External"/><Relationship Id="rId2" Type="http://schemas.openxmlformats.org/officeDocument/2006/relationships/hyperlink" Target="https://cdnjs.com/libraries/jquery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0/getting-started/introduction/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0/components/navbar/" TargetMode="Externa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etbootstrap.com/docs/5.0/layout/containers/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44" b="-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276600" y="3308350"/>
            <a:ext cx="5867400" cy="1819275"/>
          </a:xfrm>
          <a:prstGeom prst="rect">
            <a:avLst/>
          </a:prstGeom>
          <a:solidFill>
            <a:schemeClr val="dk1">
              <a:alpha val="42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7172" name="Group 8"/>
          <p:cNvGrpSpPr>
            <a:grpSpLocks/>
          </p:cNvGrpSpPr>
          <p:nvPr/>
        </p:nvGrpSpPr>
        <p:grpSpPr bwMode="auto">
          <a:xfrm>
            <a:off x="3428998" y="3429001"/>
            <a:ext cx="5638798" cy="1490376"/>
            <a:chOff x="4966856" y="5954268"/>
            <a:chExt cx="4100945" cy="1258675"/>
          </a:xfrm>
        </p:grpSpPr>
        <p:sp>
          <p:nvSpPr>
            <p:cNvPr id="4" name="Rectangle 3"/>
            <p:cNvSpPr/>
            <p:nvPr/>
          </p:nvSpPr>
          <p:spPr>
            <a:xfrm>
              <a:off x="4966856" y="5954268"/>
              <a:ext cx="4052205" cy="492038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Fakultas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Ilmu</a:t>
              </a:r>
              <a:r>
                <a:rPr kumimoji="0" 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 </a:t>
              </a:r>
              <a:r>
                <a:rPr kumimoji="0" lang="en-US" sz="4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rPr>
                <a:t>Komputer</a:t>
              </a:r>
              <a:endPara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7178" name="TextBox 5"/>
            <p:cNvSpPr txBox="1">
              <a:spLocks noChangeArrowheads="1"/>
            </p:cNvSpPr>
            <p:nvPr/>
          </p:nvSpPr>
          <p:spPr bwMode="auto">
            <a:xfrm>
              <a:off x="5576457" y="6511136"/>
              <a:ext cx="3491344" cy="7018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Learning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is the process of acquiring new understanding, knowledge, behaviors, skills, values, attitudes, and preferences.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0" y="5213325"/>
            <a:ext cx="9144000" cy="15875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74" name="Rectangle 1"/>
          <p:cNvSpPr>
            <a:spLocks noChangeArrowheads="1"/>
          </p:cNvSpPr>
          <p:nvPr/>
        </p:nvSpPr>
        <p:spPr bwMode="auto">
          <a:xfrm>
            <a:off x="0" y="5486400"/>
            <a:ext cx="9144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2000" b="1" dirty="0">
                <a:solidFill>
                  <a:srgbClr val="000000"/>
                </a:solidFill>
                <a:latin typeface="+mn-lt"/>
              </a:rPr>
              <a:t>Framework #6 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4000" b="1" dirty="0">
                <a:solidFill>
                  <a:srgbClr val="000000"/>
                </a:solidFill>
                <a:latin typeface="+mn-lt"/>
              </a:rPr>
              <a:t>[Bootstrap &amp; JQuery]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6781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609600" y="4724400"/>
            <a:ext cx="7924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0" algn="ctr" fontAlgn="base">
              <a:spcBef>
                <a:spcPts val="2388"/>
              </a:spcBef>
              <a:spcAft>
                <a:spcPct val="0"/>
              </a:spcAft>
              <a:defRPr/>
            </a:pPr>
            <a:r>
              <a:rPr lang="en-US" sz="3600" b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Welcome to the Framework Programming </a:t>
            </a:r>
            <a:r>
              <a:rPr lang="en-US" sz="3600" b="1" i="1" dirty="0">
                <a:solidFill>
                  <a:srgbClr val="1F497D">
                    <a:satMod val="200000"/>
                  </a:srgbClr>
                </a:solidFill>
                <a:latin typeface="+mn-lt"/>
              </a:rPr>
              <a:t>course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11113" y="3789040"/>
            <a:ext cx="9132887" cy="2096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245" name="Picture 2" descr="Teens and Technology – Cavalier Chronic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60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Front-End Web Developer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6041345"/>
            <a:ext cx="45400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Read Source:</a:t>
            </a:r>
          </a:p>
          <a:p>
            <a:r>
              <a:rPr lang="en-US" sz="1600" i="1" dirty="0">
                <a:latin typeface="Georgia" panose="02040502050405020303" pitchFamily="18" charset="0"/>
                <a:hlinkClick r:id="rId2"/>
              </a:rPr>
              <a:t>https://www.dicoding.com/learningpaths/22/</a:t>
            </a:r>
            <a:endParaRPr lang="en-US" sz="1600" i="1" dirty="0">
              <a:latin typeface="Georgia" panose="02040502050405020303" pitchFamily="18" charset="0"/>
            </a:endParaRPr>
          </a:p>
        </p:txBody>
      </p:sp>
      <p:pic>
        <p:nvPicPr>
          <p:cNvPr id="7" name="Picture 12" descr="Download Free png Woman Girl Clip Art - Girl Thinking Clipart Png Free PNG  Images ... - DLPNG.com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51" y="4495800"/>
            <a:ext cx="1219200" cy="162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ular Callout 7"/>
          <p:cNvSpPr/>
          <p:nvPr/>
        </p:nvSpPr>
        <p:spPr>
          <a:xfrm>
            <a:off x="1143000" y="1577257"/>
            <a:ext cx="6781800" cy="2247424"/>
          </a:xfrm>
          <a:prstGeom prst="wedgeRoundRectCallout">
            <a:avLst>
              <a:gd name="adj1" fmla="val -47518"/>
              <a:gd name="adj2" fmla="val 90931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err="1">
                <a:latin typeface="Georgia" panose="02040502050405020303" pitchFamily="18" charset="0"/>
              </a:rPr>
              <a:t>Seorang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dirty="0">
                <a:latin typeface="Georgia" panose="02040502050405020303" pitchFamily="18" charset="0"/>
              </a:rPr>
              <a:t>Front-End Web Developer </a:t>
            </a:r>
            <a:r>
              <a:rPr lang="en-US" dirty="0" err="1">
                <a:latin typeface="Georgia" panose="02040502050405020303" pitchFamily="18" charset="0"/>
              </a:rPr>
              <a:t>adalah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Software Developer</a:t>
            </a:r>
            <a:r>
              <a:rPr lang="en-US" dirty="0">
                <a:latin typeface="Georgia" panose="02040502050405020303" pitchFamily="18" charset="0"/>
              </a:rPr>
              <a:t> yang </a:t>
            </a:r>
            <a:r>
              <a:rPr lang="en-US" dirty="0" err="1">
                <a:latin typeface="Georgia" panose="02040502050405020303" pitchFamily="18" charset="0"/>
              </a:rPr>
              <a:t>bertanggung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jawab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untuk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merancang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dan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membangun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berbagai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aplikasi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web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secara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i="1" dirty="0" err="1">
                <a:latin typeface="Georgia" panose="02040502050405020303" pitchFamily="18" charset="0"/>
              </a:rPr>
              <a:t>responsif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b="1" i="1" dirty="0" err="1">
                <a:latin typeface="Georgia" panose="02040502050405020303" pitchFamily="18" charset="0"/>
              </a:rPr>
              <a:t>interaktif</a:t>
            </a:r>
            <a:r>
              <a:rPr lang="en-US" dirty="0">
                <a:latin typeface="Georgia" panose="02040502050405020303" pitchFamily="18" charset="0"/>
              </a:rPr>
              <a:t>, </a:t>
            </a:r>
            <a:r>
              <a:rPr lang="en-US" dirty="0" err="1">
                <a:latin typeface="Georgia" panose="02040502050405020303" pitchFamily="18" charset="0"/>
              </a:rPr>
              <a:t>dan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juga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i="1" dirty="0">
                <a:latin typeface="Georgia" panose="02040502050405020303" pitchFamily="18" charset="0"/>
              </a:rPr>
              <a:t>user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i="1" dirty="0">
                <a:latin typeface="Georgia" panose="02040502050405020303" pitchFamily="18" charset="0"/>
              </a:rPr>
              <a:t>friendly</a:t>
            </a:r>
            <a:r>
              <a:rPr lang="en-US" dirty="0">
                <a:latin typeface="Georgia" panose="02040502050405020303" pitchFamily="18" charset="0"/>
              </a:rPr>
              <a:t>. </a:t>
            </a:r>
            <a:r>
              <a:rPr lang="en-US" dirty="0" err="1">
                <a:latin typeface="Georgia" panose="02040502050405020303" pitchFamily="18" charset="0"/>
              </a:rPr>
              <a:t>Seorang</a:t>
            </a:r>
            <a:r>
              <a:rPr lang="en-US" dirty="0">
                <a:latin typeface="Georgia" panose="02040502050405020303" pitchFamily="18" charset="0"/>
              </a:rPr>
              <a:t> Front-End Web Developer </a:t>
            </a:r>
            <a:r>
              <a:rPr lang="en-US" dirty="0" err="1">
                <a:latin typeface="Georgia" panose="02040502050405020303" pitchFamily="18" charset="0"/>
              </a:rPr>
              <a:t>memiliki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peranan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besar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dalam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pengembangan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aplikasi</a:t>
            </a:r>
            <a:r>
              <a:rPr lang="en-US" dirty="0">
                <a:latin typeface="Georgia" panose="02040502050405020303" pitchFamily="18" charset="0"/>
              </a:rPr>
              <a:t> web </a:t>
            </a:r>
            <a:r>
              <a:rPr lang="en-US" dirty="0" err="1">
                <a:latin typeface="Georgia" panose="02040502050405020303" pitchFamily="18" charset="0"/>
              </a:rPr>
              <a:t>karena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bertanggung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jawab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langsung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kepada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b="1" i="1" dirty="0" err="1">
                <a:latin typeface="Georgia" panose="02040502050405020303" pitchFamily="18" charset="0"/>
              </a:rPr>
              <a:t>pengalaman</a:t>
            </a:r>
            <a:r>
              <a:rPr lang="en-US" b="1" i="1" dirty="0">
                <a:latin typeface="Georgia" panose="02040502050405020303" pitchFamily="18" charset="0"/>
              </a:rPr>
              <a:t> </a:t>
            </a:r>
            <a:r>
              <a:rPr lang="en-US" b="1" i="1" dirty="0" err="1">
                <a:latin typeface="Georgia" panose="02040502050405020303" pitchFamily="18" charset="0"/>
              </a:rPr>
              <a:t>pengguna</a:t>
            </a:r>
            <a:r>
              <a:rPr lang="en-US" dirty="0">
                <a:latin typeface="Georgia" panose="020405020504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0420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Front-End Web Development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" y="4876800"/>
            <a:ext cx="8382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Front-end &amp; Back-end Developer :</a:t>
            </a:r>
          </a:p>
          <a:p>
            <a:r>
              <a:rPr lang="en-US" sz="2000" i="1" dirty="0">
                <a:latin typeface="Georgia" panose="02040502050405020303" pitchFamily="18" charset="0"/>
              </a:rPr>
              <a:t>Front end developer </a:t>
            </a:r>
            <a:r>
              <a:rPr lang="en-US" sz="2000" dirty="0" err="1">
                <a:latin typeface="Georgia" panose="02040502050405020303" pitchFamily="18" charset="0"/>
              </a:rPr>
              <a:t>adalah</a:t>
            </a:r>
            <a:r>
              <a:rPr lang="en-US" sz="2000" dirty="0">
                <a:latin typeface="Georgia" panose="02040502050405020303" pitchFamily="18" charset="0"/>
              </a:rPr>
              <a:t> orang yang </a:t>
            </a:r>
            <a:r>
              <a:rPr lang="en-US" sz="2000" dirty="0" err="1">
                <a:latin typeface="Georgia" panose="02040502050405020303" pitchFamily="18" charset="0"/>
              </a:rPr>
              <a:t>berperan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mengembangkan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tampilan</a:t>
            </a:r>
            <a:r>
              <a:rPr lang="en-US" sz="2000" dirty="0">
                <a:latin typeface="Georgia" panose="02040502050405020303" pitchFamily="18" charset="0"/>
              </a:rPr>
              <a:t> situs </a:t>
            </a:r>
            <a:r>
              <a:rPr lang="en-US" sz="2000" dirty="0" err="1">
                <a:latin typeface="Georgia" panose="02040502050405020303" pitchFamily="18" charset="0"/>
              </a:rPr>
              <a:t>atau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aplikasi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melalui</a:t>
            </a:r>
            <a:r>
              <a:rPr lang="en-US" sz="2000" dirty="0">
                <a:latin typeface="Georgia" panose="02040502050405020303" pitchFamily="18" charset="0"/>
              </a:rPr>
              <a:t> HTML, CSS, </a:t>
            </a:r>
            <a:r>
              <a:rPr lang="en-US" sz="2000" dirty="0" err="1">
                <a:latin typeface="Georgia" panose="02040502050405020303" pitchFamily="18" charset="0"/>
              </a:rPr>
              <a:t>dan</a:t>
            </a:r>
            <a:r>
              <a:rPr lang="en-US" sz="2000" dirty="0">
                <a:latin typeface="Georgia" panose="02040502050405020303" pitchFamily="18" charset="0"/>
              </a:rPr>
              <a:t> JavaScript. </a:t>
            </a:r>
            <a:r>
              <a:rPr lang="en-US" sz="2000" dirty="0" err="1">
                <a:latin typeface="Georgia" panose="02040502050405020303" pitchFamily="18" charset="0"/>
              </a:rPr>
              <a:t>Sedangkan</a:t>
            </a:r>
            <a:r>
              <a:rPr lang="en-US" sz="2000" dirty="0">
                <a:latin typeface="Georgia" panose="02040502050405020303" pitchFamily="18" charset="0"/>
              </a:rPr>
              <a:t>, </a:t>
            </a:r>
            <a:r>
              <a:rPr lang="en-US" sz="2000" i="1" dirty="0">
                <a:latin typeface="Georgia" panose="02040502050405020303" pitchFamily="18" charset="0"/>
              </a:rPr>
              <a:t>back end developer </a:t>
            </a:r>
            <a:r>
              <a:rPr lang="en-US" sz="2000" dirty="0" err="1">
                <a:latin typeface="Georgia" panose="02040502050405020303" pitchFamily="18" charset="0"/>
              </a:rPr>
              <a:t>adalah</a:t>
            </a:r>
            <a:r>
              <a:rPr lang="en-US" sz="2000" dirty="0">
                <a:latin typeface="Georgia" panose="02040502050405020303" pitchFamily="18" charset="0"/>
              </a:rPr>
              <a:t> orang yang </a:t>
            </a:r>
            <a:r>
              <a:rPr lang="en-US" sz="2000" dirty="0" err="1">
                <a:latin typeface="Georgia" panose="02040502050405020303" pitchFamily="18" charset="0"/>
              </a:rPr>
              <a:t>berperan</a:t>
            </a:r>
            <a:r>
              <a:rPr lang="en-US" sz="2000" dirty="0">
                <a:latin typeface="Georgia" panose="02040502050405020303" pitchFamily="18" charset="0"/>
              </a:rPr>
              <a:t> agar situs </a:t>
            </a:r>
            <a:r>
              <a:rPr lang="en-US" sz="2000" dirty="0" err="1">
                <a:latin typeface="Georgia" panose="02040502050405020303" pitchFamily="18" charset="0"/>
              </a:rPr>
              <a:t>atau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aplikasi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dapat</a:t>
            </a:r>
            <a:r>
              <a:rPr lang="en-US" sz="2000" dirty="0">
                <a:latin typeface="Georgia" panose="02040502050405020303" pitchFamily="18" charset="0"/>
              </a:rPr>
              <a:t> </a:t>
            </a:r>
            <a:r>
              <a:rPr lang="en-US" sz="2000" dirty="0" err="1">
                <a:latin typeface="Georgia" panose="02040502050405020303" pitchFamily="18" charset="0"/>
              </a:rPr>
              <a:t>bekerja</a:t>
            </a:r>
            <a:r>
              <a:rPr lang="en-US" sz="2000" dirty="0"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5" name="Picture 12" descr="Download Free png Woman Girl Clip Art - Girl Thinking Clipart Png Free PNG  Images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875060"/>
            <a:ext cx="1219200" cy="1620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ular Callout 5"/>
          <p:cNvSpPr/>
          <p:nvPr/>
        </p:nvSpPr>
        <p:spPr>
          <a:xfrm>
            <a:off x="2971800" y="2399734"/>
            <a:ext cx="4648200" cy="1328023"/>
          </a:xfrm>
          <a:prstGeom prst="wedgeRoundRectCallout">
            <a:avLst>
              <a:gd name="adj1" fmla="val -63756"/>
              <a:gd name="adj2" fmla="val 4389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latin typeface="Georgia" panose="02040502050405020303" pitchFamily="18" charset="0"/>
              </a:rPr>
              <a:t>Developer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memegang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peranan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penting</a:t>
            </a:r>
            <a:r>
              <a:rPr lang="en-US" dirty="0">
                <a:latin typeface="Georgia" panose="02040502050405020303" pitchFamily="18" charset="0"/>
              </a:rPr>
              <a:t> di </a:t>
            </a:r>
            <a:r>
              <a:rPr lang="en-US" dirty="0" err="1">
                <a:latin typeface="Georgia" panose="02040502050405020303" pitchFamily="18" charset="0"/>
              </a:rPr>
              <a:t>dalam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pengembangan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sebuah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situs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atau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 err="1">
                <a:latin typeface="Georgia" panose="02040502050405020303" pitchFamily="18" charset="0"/>
              </a:rPr>
              <a:t>aplikasi</a:t>
            </a:r>
            <a:r>
              <a:rPr lang="en-US" dirty="0">
                <a:latin typeface="Georgia" panose="02040502050405020303" pitchFamily="18" charset="0"/>
              </a:rPr>
              <a:t>. </a:t>
            </a:r>
            <a:r>
              <a:rPr lang="en-US" dirty="0" err="1">
                <a:latin typeface="Georgia" panose="02040502050405020303" pitchFamily="18" charset="0"/>
              </a:rPr>
              <a:t>Apakah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dirty="0" err="1">
                <a:latin typeface="Georgia" panose="02040502050405020303" pitchFamily="18" charset="0"/>
              </a:rPr>
              <a:t>perbedaan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front end </a:t>
            </a:r>
            <a:r>
              <a:rPr lang="en-US" dirty="0" err="1">
                <a:latin typeface="Georgia" panose="02040502050405020303" pitchFamily="18" charset="0"/>
              </a:rPr>
              <a:t>dan</a:t>
            </a:r>
            <a:r>
              <a:rPr lang="en-US" dirty="0">
                <a:latin typeface="Georgia" panose="02040502050405020303" pitchFamily="18" charset="0"/>
              </a:rPr>
              <a:t> </a:t>
            </a:r>
            <a:r>
              <a:rPr lang="en-US" i="1" dirty="0">
                <a:latin typeface="Georgia" panose="02040502050405020303" pitchFamily="18" charset="0"/>
              </a:rPr>
              <a:t>back end</a:t>
            </a:r>
            <a:r>
              <a:rPr lang="en-US" dirty="0">
                <a:latin typeface="Georgia" panose="02040502050405020303" pitchFamily="18" charset="0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500671"/>
            <a:ext cx="4572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>
                <a:latin typeface="Georgia" panose="02040502050405020303" pitchFamily="18" charset="0"/>
                <a:hlinkClick r:id="rId3"/>
              </a:rPr>
              <a:t>https://glints.com/id/lowongan/perbedaan-front-end-dan-back-end/</a:t>
            </a:r>
            <a:endParaRPr lang="en-US" sz="8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924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Bootstrap &amp; JQuery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76" y="896956"/>
            <a:ext cx="89420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Georgia" panose="02040502050405020303" pitchFamily="18" charset="0"/>
              </a:rPr>
              <a:t>Bootstrap</a:t>
            </a:r>
            <a:r>
              <a:rPr lang="en-US" sz="1600" dirty="0">
                <a:latin typeface="Georgia" panose="02040502050405020303" pitchFamily="18" charset="0"/>
              </a:rPr>
              <a:t> is a free and open-source CSS framework directed at responsive, mobile-first front-end web development. </a:t>
            </a:r>
            <a:r>
              <a:rPr lang="en-US" sz="1600" b="1" dirty="0">
                <a:latin typeface="Georgia" panose="02040502050405020303" pitchFamily="18" charset="0"/>
              </a:rPr>
              <a:t>jQuery</a:t>
            </a:r>
            <a:r>
              <a:rPr lang="en-US" sz="1600" dirty="0">
                <a:latin typeface="Georgia" panose="02040502050405020303" pitchFamily="18" charset="0"/>
              </a:rPr>
              <a:t> is a JavaScript library designed to simplify HTML DOM tree traversal and manipulation, as well as event handling, CSS animation, and Ajax.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2425"/>
          <a:stretch/>
        </p:blipFill>
        <p:spPr>
          <a:xfrm>
            <a:off x="140847" y="1961002"/>
            <a:ext cx="2569302" cy="49065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994053"/>
            <a:ext cx="2607670" cy="4838752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5791200" y="3953728"/>
            <a:ext cx="3200400" cy="919401"/>
          </a:xfrm>
          <a:prstGeom prst="wedgeRoundRectCallout">
            <a:avLst>
              <a:gd name="adj1" fmla="val 23359"/>
              <a:gd name="adj2" fmla="val 88862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How to download </a:t>
            </a:r>
            <a:r>
              <a:rPr lang="en-US" sz="1600" b="1" i="1" dirty="0">
                <a:latin typeface="Georgia" panose="02040502050405020303" pitchFamily="18" charset="0"/>
              </a:rPr>
              <a:t>Bootstrap</a:t>
            </a:r>
            <a:r>
              <a:rPr lang="en-US" sz="1600" dirty="0">
                <a:latin typeface="Georgia" panose="02040502050405020303" pitchFamily="18" charset="0"/>
              </a:rPr>
              <a:t> and </a:t>
            </a:r>
            <a:r>
              <a:rPr lang="en-US" sz="1600" b="1" i="1" dirty="0">
                <a:latin typeface="Georgia" panose="02040502050405020303" pitchFamily="18" charset="0"/>
              </a:rPr>
              <a:t>JQuery</a:t>
            </a:r>
            <a:r>
              <a:rPr lang="en-US" sz="1600" dirty="0">
                <a:latin typeface="Georgia" panose="02040502050405020303" pitchFamily="18" charset="0"/>
              </a:rPr>
              <a:t> and add/use them offline in the project?</a:t>
            </a:r>
          </a:p>
        </p:txBody>
      </p:sp>
      <p:pic>
        <p:nvPicPr>
          <p:cNvPr id="7" name="Picture 12" descr="Download Free png Woman Girl Clip Art - Girl Thinking Clipart Png Free PNG  Images ... - DLPNG.com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5313361"/>
            <a:ext cx="1143000" cy="1519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4593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9144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File/Directory Framework Structure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424144"/>
              </p:ext>
            </p:extLst>
          </p:nvPr>
        </p:nvGraphicFramePr>
        <p:xfrm>
          <a:off x="156990" y="1219200"/>
          <a:ext cx="8834610" cy="40792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52610">
                  <a:extLst>
                    <a:ext uri="{9D8B030D-6E8A-4147-A177-3AD203B41FA5}">
                      <a16:colId xmlns:a16="http://schemas.microsoft.com/office/drawing/2014/main" val="34935433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18564406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38002308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Georgia" panose="02040502050405020303" pitchFamily="18" charset="0"/>
                        </a:rPr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Georgia" panose="02040502050405020303" pitchFamily="18" charset="0"/>
                        </a:rPr>
                        <a:t>Directory/File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Georgia" panose="02040502050405020303" pitchFamily="18" charset="0"/>
                        </a:rPr>
                        <a:t>Description (</a:t>
                      </a:r>
                      <a:r>
                        <a:rPr lang="en-US" sz="1400" i="1" dirty="0">
                          <a:latin typeface="Georgia" panose="02040502050405020303" pitchFamily="18" charset="0"/>
                        </a:rPr>
                        <a:t>optional</a:t>
                      </a:r>
                      <a:r>
                        <a:rPr lang="en-US" sz="1400" dirty="0">
                          <a:latin typeface="Georgia" panose="02040502050405020303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078381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app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Georgia" panose="02040502050405020303" pitchFamily="18" charset="0"/>
                        </a:rPr>
                        <a:t>app directory is the web application’s </a:t>
                      </a:r>
                      <a:r>
                        <a:rPr lang="en-US" sz="1200" b="1" i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private directory 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of this new framework.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46777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public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i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public directory 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is to store all the public static resources like </a:t>
                      </a:r>
                      <a:r>
                        <a:rPr lang="en-US" sz="1200" b="1" i="1" dirty="0">
                          <a:latin typeface="Georgia" panose="02040502050405020303" pitchFamily="18" charset="0"/>
                        </a:rPr>
                        <a:t>html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en-US" sz="1200" b="1" i="1" dirty="0" err="1">
                          <a:latin typeface="Georgia" panose="02040502050405020303" pitchFamily="18" charset="0"/>
                        </a:rPr>
                        <a:t>css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en-US" sz="1200" b="1" i="1" dirty="0">
                          <a:latin typeface="Georgia" panose="02040502050405020303" pitchFamily="18" charset="0"/>
                        </a:rPr>
                        <a:t>image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and </a:t>
                      </a:r>
                      <a:r>
                        <a:rPr lang="en-US" sz="1200" b="1" i="1" dirty="0" err="1">
                          <a:latin typeface="Georgia" panose="02040502050405020303" pitchFamily="18" charset="0"/>
                        </a:rPr>
                        <a:t>js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files.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701115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Georgia" panose="02040502050405020303" pitchFamily="18" charset="0"/>
                        </a:rPr>
                        <a:t>core directory</a:t>
                      </a:r>
                      <a:r>
                        <a:rPr lang="en-US" sz="1200" baseline="0" dirty="0">
                          <a:latin typeface="Georgia" panose="02040502050405020303" pitchFamily="18" charset="0"/>
                        </a:rPr>
                        <a:t> is to store all files for routing and it will store the framework’s core classes.</a:t>
                      </a:r>
                      <a:endParaRPr lang="en-US" sz="12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15701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Georgia" panose="02040502050405020303" pitchFamily="18" charset="0"/>
                        </a:rPr>
                        <a:t>model directory is for all app’s Model classes.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2080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Georgia" panose="02040502050405020303" pitchFamily="18" charset="0"/>
                        </a:rPr>
                        <a:t>view directory is for all app’s View classes.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364870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controller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Georgia" panose="02040502050405020303" pitchFamily="18" charset="0"/>
                        </a:rPr>
                        <a:t>controller directory is for all app’s Controller classes.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47268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css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latin typeface="Georgia" panose="02040502050405020303" pitchFamily="18" charset="0"/>
                        </a:rPr>
                        <a:t>css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directory is for Cascading Style Sheets (CSS) files.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7741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img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latin typeface="Georgia" panose="02040502050405020303" pitchFamily="18" charset="0"/>
                        </a:rPr>
                        <a:t>Img</a:t>
                      </a:r>
                      <a:r>
                        <a:rPr lang="en-US" sz="1200" baseline="0" dirty="0"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directory is for images files.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8326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js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latin typeface="Georgia" panose="02040502050405020303" pitchFamily="18" charset="0"/>
                        </a:rPr>
                        <a:t>js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directory is for </a:t>
                      </a:r>
                      <a:r>
                        <a:rPr lang="en-US" sz="1200" dirty="0" err="1">
                          <a:latin typeface="Georgia" panose="02040502050405020303" pitchFamily="18" charset="0"/>
                        </a:rPr>
                        <a:t>Javascript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files.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56956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Georgia" panose="02040502050405020303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0070C0"/>
                          </a:solidFill>
                          <a:latin typeface="Georgia" panose="02040502050405020303" pitchFamily="18" charset="0"/>
                        </a:rPr>
                        <a:t>index.php</a:t>
                      </a:r>
                      <a:endParaRPr lang="en-US" sz="1200" b="1" dirty="0">
                        <a:solidFill>
                          <a:srgbClr val="0070C0"/>
                        </a:solidFill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i="1" dirty="0" err="1">
                          <a:latin typeface="Georgia" panose="02040502050405020303" pitchFamily="18" charset="0"/>
                        </a:rPr>
                        <a:t>index.php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 file is the “</a:t>
                      </a:r>
                      <a:r>
                        <a:rPr lang="en-US" sz="1200" i="1" dirty="0">
                          <a:latin typeface="Georgia" panose="02040502050405020303" pitchFamily="18" charset="0"/>
                        </a:rPr>
                        <a:t>entry-point</a:t>
                      </a:r>
                      <a:r>
                        <a:rPr lang="en-US" sz="1200" dirty="0">
                          <a:latin typeface="Georgia" panose="02040502050405020303" pitchFamily="18" charset="0"/>
                        </a:rPr>
                        <a:t>” file, the front controller</a:t>
                      </a:r>
                      <a:r>
                        <a:rPr lang="en-US" sz="1200" baseline="0" dirty="0">
                          <a:latin typeface="Georgia" panose="02040502050405020303" pitchFamily="18" charset="0"/>
                        </a:rPr>
                        <a:t> to the users.</a:t>
                      </a:r>
                      <a:endParaRPr lang="en-US" sz="1200" dirty="0">
                        <a:latin typeface="Georgia" panose="0204050205040502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1692015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6723" y="5375313"/>
            <a:ext cx="8954877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Additional Directories:</a:t>
            </a:r>
          </a:p>
          <a:p>
            <a:r>
              <a:rPr lang="en-US" sz="1200" i="1" dirty="0">
                <a:solidFill>
                  <a:srgbClr val="FF0000"/>
                </a:solidFill>
                <a:latin typeface="Georgia" panose="02040502050405020303" pitchFamily="18" charset="0"/>
              </a:rPr>
              <a:t>template directory</a:t>
            </a:r>
            <a:r>
              <a:rPr lang="en-US" sz="1200" dirty="0">
                <a:solidFill>
                  <a:srgbClr val="FF0000"/>
                </a:solidFill>
                <a:latin typeface="Georgia" panose="02040502050405020303" pitchFamily="18" charset="0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Georgia" panose="02040502050405020303" pitchFamily="18" charset="0"/>
              </a:rPr>
              <a:t>stores the template files like </a:t>
            </a:r>
            <a:r>
              <a:rPr lang="en-US" sz="1200" i="1" dirty="0">
                <a:solidFill>
                  <a:prstClr val="black"/>
                </a:solidFill>
                <a:latin typeface="Georgia" panose="02040502050405020303" pitchFamily="18" charset="0"/>
              </a:rPr>
              <a:t>header</a:t>
            </a:r>
            <a:r>
              <a:rPr lang="en-US" sz="1200" dirty="0">
                <a:solidFill>
                  <a:prstClr val="black"/>
                </a:solidFill>
                <a:latin typeface="Georgia" panose="02040502050405020303" pitchFamily="18" charset="0"/>
              </a:rPr>
              <a:t> file and </a:t>
            </a:r>
            <a:r>
              <a:rPr lang="en-US" sz="1200" i="1" dirty="0">
                <a:solidFill>
                  <a:prstClr val="black"/>
                </a:solidFill>
                <a:latin typeface="Georgia" panose="02040502050405020303" pitchFamily="18" charset="0"/>
              </a:rPr>
              <a:t>footer</a:t>
            </a:r>
            <a:r>
              <a:rPr lang="en-US" sz="1200" dirty="0">
                <a:solidFill>
                  <a:prstClr val="black"/>
                </a:solidFill>
                <a:latin typeface="Georgia" panose="02040502050405020303" pitchFamily="18" charset="0"/>
              </a:rPr>
              <a:t> file.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config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 directory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stores the app’s configuration files.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upload directory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is for uploaded files, such as uploaded images.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db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directory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database related classes, such as database driver classes.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helper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directory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help/assistant functions.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library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eorgia" panose="02040502050405020303" pitchFamily="18" charset="0"/>
              </a:rPr>
              <a:t>directory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 for class libraries.</a:t>
            </a:r>
          </a:p>
        </p:txBody>
      </p:sp>
    </p:spTree>
    <p:extLst>
      <p:ext uri="{BB962C8B-B14F-4D97-AF65-F5344CB8AC3E}">
        <p14:creationId xmlns:p14="http://schemas.microsoft.com/office/powerpoint/2010/main" val="185717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MVC Assets Directory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5410200"/>
            <a:ext cx="89916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The </a:t>
            </a:r>
            <a:r>
              <a:rPr lang="en-US" sz="1600" b="1" i="1" dirty="0">
                <a:latin typeface="Georgia" panose="02040502050405020303" pitchFamily="18" charset="0"/>
              </a:rPr>
              <a:t>assets directory </a:t>
            </a:r>
            <a:r>
              <a:rPr lang="en-US" sz="1600" dirty="0">
                <a:latin typeface="Georgia" panose="02040502050405020303" pitchFamily="18" charset="0"/>
              </a:rPr>
              <a:t>is more like a files system and provides more freedom to put any file you would like in the directory. Here, we used </a:t>
            </a:r>
            <a:r>
              <a:rPr lang="en-US" sz="1600" b="1" dirty="0">
                <a:latin typeface="Georgia" panose="02040502050405020303" pitchFamily="18" charset="0"/>
              </a:rPr>
              <a:t>Public Directory </a:t>
            </a:r>
            <a:r>
              <a:rPr lang="en-US" sz="1600" dirty="0">
                <a:latin typeface="Georgia" panose="02040502050405020303" pitchFamily="18" charset="0"/>
              </a:rPr>
              <a:t>as a assets directory which store some  public static resources like </a:t>
            </a:r>
            <a:r>
              <a:rPr lang="en-US" sz="1600" i="1" dirty="0" err="1">
                <a:latin typeface="Georgia" panose="02040502050405020303" pitchFamily="18" charset="0"/>
              </a:rPr>
              <a:t>css</a:t>
            </a:r>
            <a:r>
              <a:rPr lang="en-US" sz="1600" dirty="0">
                <a:latin typeface="Georgia" panose="02040502050405020303" pitchFamily="18" charset="0"/>
              </a:rPr>
              <a:t>, </a:t>
            </a:r>
            <a:r>
              <a:rPr lang="en-US" sz="1600" i="1" dirty="0">
                <a:latin typeface="Georgia" panose="02040502050405020303" pitchFamily="18" charset="0"/>
              </a:rPr>
              <a:t>image</a:t>
            </a:r>
            <a:r>
              <a:rPr lang="en-US" sz="1600" dirty="0">
                <a:latin typeface="Georgia" panose="02040502050405020303" pitchFamily="18" charset="0"/>
              </a:rPr>
              <a:t> and </a:t>
            </a:r>
            <a:r>
              <a:rPr lang="en-US" sz="1600" i="1" dirty="0" err="1">
                <a:latin typeface="Georgia" panose="02040502050405020303" pitchFamily="18" charset="0"/>
              </a:rPr>
              <a:t>js</a:t>
            </a:r>
            <a:r>
              <a:rPr lang="en-US" sz="1600" dirty="0">
                <a:latin typeface="Georgia" panose="02040502050405020303" pitchFamily="18" charset="0"/>
              </a:rPr>
              <a:t> files. The public directory contains the </a:t>
            </a:r>
            <a:r>
              <a:rPr lang="en-US" sz="1600" i="1" dirty="0" err="1">
                <a:latin typeface="Georgia" panose="02040502050405020303" pitchFamily="18" charset="0"/>
              </a:rPr>
              <a:t>index.php</a:t>
            </a:r>
            <a:r>
              <a:rPr lang="en-US" sz="1600" dirty="0">
                <a:latin typeface="Georgia" panose="02040502050405020303" pitchFamily="18" charset="0"/>
              </a:rPr>
              <a:t> file, which is the entry point for all requests entering the application and </a:t>
            </a:r>
            <a:r>
              <a:rPr lang="en-US" sz="1600" b="1" i="1" dirty="0">
                <a:latin typeface="Georgia" panose="02040502050405020303" pitchFamily="18" charset="0"/>
              </a:rPr>
              <a:t>configures </a:t>
            </a:r>
            <a:r>
              <a:rPr lang="en-US" sz="1600" b="1" i="1" dirty="0" err="1">
                <a:latin typeface="Georgia" panose="02040502050405020303" pitchFamily="18" charset="0"/>
              </a:rPr>
              <a:t>autoloading</a:t>
            </a:r>
            <a:r>
              <a:rPr lang="en-US" sz="1600" dirty="0">
                <a:latin typeface="Georgia" panose="02040502050405020303" pitchFamily="18" charset="0"/>
              </a:rPr>
              <a:t>. This directory also </a:t>
            </a:r>
            <a:r>
              <a:rPr lang="en-US" sz="1600" i="1" dirty="0">
                <a:latin typeface="Georgia" panose="02040502050405020303" pitchFamily="18" charset="0"/>
              </a:rPr>
              <a:t>houses</a:t>
            </a:r>
            <a:r>
              <a:rPr lang="en-US" sz="1600" dirty="0">
                <a:latin typeface="Georgia" panose="02040502050405020303" pitchFamily="18" charset="0"/>
              </a:rPr>
              <a:t> the </a:t>
            </a:r>
            <a:r>
              <a:rPr lang="en-US" sz="1600" b="1" dirty="0">
                <a:latin typeface="Georgia" panose="02040502050405020303" pitchFamily="18" charset="0"/>
              </a:rPr>
              <a:t>assets</a:t>
            </a:r>
            <a:r>
              <a:rPr lang="en-US" sz="1600" dirty="0">
                <a:latin typeface="Georgia" panose="02040502050405020303" pitchFamily="18" charset="0"/>
              </a:rPr>
              <a:t> such as </a:t>
            </a:r>
            <a:r>
              <a:rPr lang="en-US" sz="1600" b="1" i="1" dirty="0">
                <a:latin typeface="Georgia" panose="02040502050405020303" pitchFamily="18" charset="0"/>
              </a:rPr>
              <a:t>images</a:t>
            </a:r>
            <a:r>
              <a:rPr lang="en-US" sz="1600" dirty="0">
                <a:latin typeface="Georgia" panose="02040502050405020303" pitchFamily="18" charset="0"/>
              </a:rPr>
              <a:t>, </a:t>
            </a:r>
            <a:r>
              <a:rPr lang="en-US" sz="1600" b="1" i="1" dirty="0">
                <a:latin typeface="Georgia" panose="02040502050405020303" pitchFamily="18" charset="0"/>
              </a:rPr>
              <a:t>JavaScript</a:t>
            </a:r>
            <a:r>
              <a:rPr lang="en-US" sz="1600" dirty="0">
                <a:latin typeface="Georgia" panose="02040502050405020303" pitchFamily="18" charset="0"/>
              </a:rPr>
              <a:t>, and </a:t>
            </a:r>
            <a:r>
              <a:rPr lang="en-US" sz="1600" b="1" i="1" dirty="0">
                <a:latin typeface="Georgia" panose="02040502050405020303" pitchFamily="18" charset="0"/>
              </a:rPr>
              <a:t>CSS</a:t>
            </a:r>
            <a:r>
              <a:rPr lang="en-US" sz="1600" dirty="0">
                <a:latin typeface="Georgia" panose="02040502050405020303" pitchFamily="18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63726"/>
            <a:ext cx="8839200" cy="43415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057400"/>
            <a:ext cx="5029200" cy="932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10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 err="1">
                <a:solidFill>
                  <a:srgbClr val="1F497D"/>
                </a:solidFill>
                <a:latin typeface="Georgia"/>
              </a:rPr>
              <a:t>Laravel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Directory Structure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802" y="1005977"/>
            <a:ext cx="2763398" cy="450002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8" y="972926"/>
            <a:ext cx="2864501" cy="485434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32120" y="6086686"/>
            <a:ext cx="3934090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Read Source:</a:t>
            </a:r>
            <a:endParaRPr lang="en-US" sz="1600" b="1" dirty="0">
              <a:latin typeface="Georgia" panose="02040502050405020303" pitchFamily="18" charset="0"/>
            </a:endParaRPr>
          </a:p>
          <a:p>
            <a:r>
              <a:rPr lang="en-US" sz="1600" i="1" dirty="0">
                <a:latin typeface="Georgia" panose="02040502050405020303" pitchFamily="18" charset="0"/>
                <a:hlinkClick r:id="rId4"/>
              </a:rPr>
              <a:t>https://laravel.com/docs/8.x/structure/</a:t>
            </a:r>
            <a:endParaRPr lang="en-US" sz="1600" i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843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1 – </a:t>
            </a:r>
            <a:r>
              <a:rPr lang="en-US" sz="4000" dirty="0">
                <a:solidFill>
                  <a:prstClr val="black"/>
                </a:solidFill>
              </a:rPr>
              <a:t>Create URL Path Constants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977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65961"/>
            <a:ext cx="8839200" cy="4389709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– Create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config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File &amp; Directory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5492612"/>
            <a:ext cx="8534400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300" dirty="0">
                <a:latin typeface="Georgia" panose="02040502050405020303" pitchFamily="18" charset="0"/>
              </a:rPr>
              <a:t>Define new </a:t>
            </a:r>
            <a:r>
              <a:rPr lang="en-US" sz="2300" i="1" dirty="0">
                <a:latin typeface="Georgia" panose="02040502050405020303" pitchFamily="18" charset="0"/>
              </a:rPr>
              <a:t>path constants </a:t>
            </a:r>
            <a:r>
              <a:rPr lang="en-US" sz="2300" dirty="0">
                <a:latin typeface="Georgia" panose="02040502050405020303" pitchFamily="18" charset="0"/>
              </a:rPr>
              <a:t>with the value is the your base URL. Remember, if you change the </a:t>
            </a:r>
            <a:r>
              <a:rPr lang="en-US" sz="2300" b="1" i="1" dirty="0">
                <a:latin typeface="Georgia" panose="02040502050405020303" pitchFamily="18" charset="0"/>
              </a:rPr>
              <a:t>current working directory </a:t>
            </a:r>
            <a:r>
              <a:rPr lang="en-US" sz="2300" dirty="0">
                <a:latin typeface="Georgia" panose="02040502050405020303" pitchFamily="18" charset="0"/>
              </a:rPr>
              <a:t>name, you may need to rename also  in this </a:t>
            </a:r>
            <a:r>
              <a:rPr lang="en-US" sz="2300" i="1" dirty="0" err="1">
                <a:latin typeface="Georgia" panose="02040502050405020303" pitchFamily="18" charset="0"/>
              </a:rPr>
              <a:t>config</a:t>
            </a:r>
            <a:r>
              <a:rPr lang="en-US" sz="2300" dirty="0">
                <a:latin typeface="Georgia" panose="02040502050405020303" pitchFamily="18" charset="0"/>
              </a:rPr>
              <a:t> file.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6239219" y="2556831"/>
            <a:ext cx="1524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601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– Initialize </a:t>
            </a:r>
            <a:r>
              <a:rPr lang="en-US" sz="3200" b="1" i="1" dirty="0" err="1">
                <a:solidFill>
                  <a:srgbClr val="1F497D"/>
                </a:solidFill>
                <a:latin typeface="Georgia"/>
              </a:rPr>
              <a:t>Config</a:t>
            </a:r>
            <a:r>
              <a:rPr lang="en-US" sz="3200" b="1" i="1" dirty="0">
                <a:solidFill>
                  <a:srgbClr val="1F497D"/>
                </a:solidFill>
                <a:latin typeface="Georgia"/>
              </a:rPr>
              <a:t> File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as a the Core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43897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667000" y="2971800"/>
            <a:ext cx="4495800" cy="762000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82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 – </a:t>
            </a:r>
            <a:r>
              <a:rPr lang="en-US" sz="4000" dirty="0">
                <a:solidFill>
                  <a:prstClr val="black"/>
                </a:solidFill>
              </a:rPr>
              <a:t>Download </a:t>
            </a:r>
            <a:r>
              <a:rPr lang="en-US" sz="4000" i="1" dirty="0">
                <a:solidFill>
                  <a:prstClr val="black"/>
                </a:solidFill>
              </a:rPr>
              <a:t>Bootstrap</a:t>
            </a:r>
            <a:r>
              <a:rPr lang="en-US" sz="4000" dirty="0">
                <a:solidFill>
                  <a:prstClr val="black"/>
                </a:solidFill>
              </a:rPr>
              <a:t> and Put in Public/Assets Directory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5571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1 - Download Bootstrap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610" y="946529"/>
            <a:ext cx="77769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Visit Bootstrap from Bootstrap official website.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b="1" i="1" dirty="0">
                <a:latin typeface="Georgia" panose="02040502050405020303" pitchFamily="18" charset="0"/>
              </a:rPr>
              <a:t>Link</a:t>
            </a:r>
            <a:r>
              <a:rPr lang="en-US" dirty="0">
                <a:latin typeface="Georgia" panose="02040502050405020303" pitchFamily="18" charset="0"/>
              </a:rPr>
              <a:t>: 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https://getbootstrap.com/</a:t>
            </a:r>
            <a:endParaRPr lang="en-US" dirty="0">
              <a:latin typeface="Georgia" panose="020405020504050203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92860"/>
            <a:ext cx="8839200" cy="510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1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2 - Download Bootstrap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610" y="946529"/>
            <a:ext cx="89199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Georgia" panose="02040502050405020303" pitchFamily="18" charset="0"/>
              </a:rPr>
              <a:t>Download </a:t>
            </a:r>
            <a:r>
              <a:rPr lang="en-US" sz="1600" i="1" dirty="0">
                <a:latin typeface="Georgia" panose="02040502050405020303" pitchFamily="18" charset="0"/>
              </a:rPr>
              <a:t>ready-to-use compiled code </a:t>
            </a:r>
            <a:r>
              <a:rPr lang="en-US" sz="1600" dirty="0">
                <a:latin typeface="Georgia" panose="02040502050405020303" pitchFamily="18" charset="0"/>
              </a:rPr>
              <a:t>for </a:t>
            </a:r>
            <a:r>
              <a:rPr lang="en-US" sz="1600" b="1" dirty="0">
                <a:latin typeface="Georgia" panose="02040502050405020303" pitchFamily="18" charset="0"/>
              </a:rPr>
              <a:t>Bootstrap v5.0.2 </a:t>
            </a:r>
            <a:r>
              <a:rPr lang="en-US" sz="1600" dirty="0">
                <a:latin typeface="Georgia" panose="02040502050405020303" pitchFamily="18" charset="0"/>
              </a:rPr>
              <a:t>to easily drop into your project.</a:t>
            </a:r>
          </a:p>
          <a:p>
            <a:r>
              <a:rPr lang="en-US" sz="1600" b="1" i="1" dirty="0">
                <a:latin typeface="Georgia" panose="02040502050405020303" pitchFamily="18" charset="0"/>
              </a:rPr>
              <a:t>Link</a:t>
            </a:r>
            <a:r>
              <a:rPr lang="en-US" sz="1600" dirty="0">
                <a:latin typeface="Georgia" panose="02040502050405020303" pitchFamily="18" charset="0"/>
              </a:rPr>
              <a:t>: </a:t>
            </a:r>
            <a:r>
              <a:rPr lang="en-US" sz="1600" dirty="0">
                <a:latin typeface="Georgia" panose="02040502050405020303" pitchFamily="18" charset="0"/>
                <a:hlinkClick r:id="rId2"/>
              </a:rPr>
              <a:t>https://getbootstrap.com/docs/5.0/getting-started/download/</a:t>
            </a:r>
            <a:endParaRPr lang="en-US" sz="1600" dirty="0">
              <a:latin typeface="Georgia" panose="02040502050405020303" pitchFamily="18" charset="0"/>
            </a:endParaRPr>
          </a:p>
          <a:p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6" y="1600200"/>
            <a:ext cx="8818084" cy="50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646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3 - Extract Bootstrap &amp; Place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them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Project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5892516"/>
            <a:ext cx="6476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Copy and paste these two folders in our </a:t>
            </a:r>
            <a:r>
              <a:rPr lang="en-US" b="1" i="1" dirty="0">
                <a:latin typeface="Georgia" panose="02040502050405020303" pitchFamily="18" charset="0"/>
              </a:rPr>
              <a:t>public/assets directory</a:t>
            </a:r>
            <a:r>
              <a:rPr lang="en-US" dirty="0">
                <a:latin typeface="Georgia" panose="02040502050405020303" pitchFamily="18" charset="0"/>
              </a:rPr>
              <a:t>, if the directory already existed, you can paste and replace both directories.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98" y="990599"/>
            <a:ext cx="8819001" cy="48752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3544539"/>
            <a:ext cx="2057400" cy="31182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0" name="Straight Arrow Connector 9"/>
          <p:cNvCxnSpPr/>
          <p:nvPr/>
        </p:nvCxnSpPr>
        <p:spPr>
          <a:xfrm>
            <a:off x="3657600" y="3962400"/>
            <a:ext cx="33528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478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2 – </a:t>
            </a:r>
            <a:r>
              <a:rPr lang="en-US" sz="4000" dirty="0">
                <a:solidFill>
                  <a:prstClr val="black"/>
                </a:solidFill>
              </a:rPr>
              <a:t>Download </a:t>
            </a:r>
            <a:r>
              <a:rPr lang="en-US" sz="4000" i="1" dirty="0">
                <a:solidFill>
                  <a:prstClr val="black"/>
                </a:solidFill>
              </a:rPr>
              <a:t>jQuery</a:t>
            </a:r>
            <a:r>
              <a:rPr lang="en-US" sz="4000" dirty="0">
                <a:solidFill>
                  <a:prstClr val="black"/>
                </a:solidFill>
              </a:rPr>
              <a:t> and Put in Public/Assets Directory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7348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1 - Download jQuery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610" y="946529"/>
            <a:ext cx="777699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Visit jQuery from jQuery official website.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b="1" i="1" dirty="0">
                <a:latin typeface="Georgia" panose="02040502050405020303" pitchFamily="18" charset="0"/>
              </a:rPr>
              <a:t>Link</a:t>
            </a:r>
            <a:r>
              <a:rPr lang="en-US" dirty="0">
                <a:latin typeface="Georgia" panose="02040502050405020303" pitchFamily="18" charset="0"/>
              </a:rPr>
              <a:t>: </a:t>
            </a:r>
            <a:r>
              <a:rPr lang="en-US" sz="1600" dirty="0">
                <a:latin typeface="Georgia" panose="02040502050405020303" pitchFamily="18" charset="0"/>
                <a:hlinkClick r:id="rId2"/>
              </a:rPr>
              <a:t>https://jquery.com/download/</a:t>
            </a:r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592860"/>
            <a:ext cx="8839199" cy="511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764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2 - Download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jQuery.slim.min.js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609" y="946529"/>
            <a:ext cx="891998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Visit jQuery from jQuery official website.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b="1" i="1" dirty="0">
                <a:latin typeface="Georgia" panose="02040502050405020303" pitchFamily="18" charset="0"/>
              </a:rPr>
              <a:t>Link</a:t>
            </a:r>
            <a:r>
              <a:rPr lang="en-US" dirty="0">
                <a:latin typeface="Georgia" panose="02040502050405020303" pitchFamily="18" charset="0"/>
              </a:rPr>
              <a:t>: </a:t>
            </a:r>
            <a:r>
              <a:rPr lang="en-US" sz="1600" dirty="0">
                <a:latin typeface="Georgia" panose="02040502050405020303" pitchFamily="18" charset="0"/>
                <a:hlinkClick r:id="rId2"/>
              </a:rPr>
              <a:t>https://cdnjs.com/libraries/jquery/</a:t>
            </a:r>
            <a:endParaRPr lang="en-US" sz="1600" dirty="0">
              <a:latin typeface="Georgia" panose="02040502050405020303" pitchFamily="18" charset="0"/>
            </a:endParaRPr>
          </a:p>
          <a:p>
            <a:r>
              <a:rPr lang="en-US" sz="1600" dirty="0">
                <a:latin typeface="Georgia" panose="02040502050405020303" pitchFamily="18" charset="0"/>
              </a:rPr>
              <a:t>              </a:t>
            </a:r>
            <a:r>
              <a:rPr lang="en-US" sz="1600" dirty="0">
                <a:latin typeface="Georgia" panose="02040502050405020303" pitchFamily="18" charset="0"/>
                <a:hlinkClick r:id="rId3"/>
              </a:rPr>
              <a:t>https://code.jquery.com/jquery-3.3.1.slim.min.js</a:t>
            </a:r>
            <a:endParaRPr lang="en-US" sz="1600" dirty="0">
              <a:latin typeface="Georgia" panose="02040502050405020303" pitchFamily="18" charset="0"/>
            </a:endParaRPr>
          </a:p>
          <a:p>
            <a:endParaRPr lang="en-US" sz="1600" dirty="0">
              <a:latin typeface="Georgia" panose="020405020504050203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1" y="1905000"/>
            <a:ext cx="8300212" cy="480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36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– Save to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your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Working Directory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52500"/>
            <a:ext cx="8839200" cy="53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870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Does bootstrap 5 require jQuery?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2057400"/>
            <a:ext cx="7620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i="1" dirty="0">
                <a:latin typeface="Georgia" panose="02040502050405020303" pitchFamily="18" charset="0"/>
              </a:rPr>
              <a:t>Bootstrap 5</a:t>
            </a:r>
            <a:r>
              <a:rPr lang="en-US" sz="2800" dirty="0">
                <a:latin typeface="Georgia" panose="02040502050405020303" pitchFamily="18" charset="0"/>
              </a:rPr>
              <a:t> is designed to be used </a:t>
            </a:r>
            <a:r>
              <a:rPr lang="en-US" sz="2800" b="1" i="1" dirty="0">
                <a:latin typeface="Georgia" panose="02040502050405020303" pitchFamily="18" charset="0"/>
              </a:rPr>
              <a:t>without</a:t>
            </a:r>
            <a:r>
              <a:rPr lang="en-US" sz="2800" dirty="0">
                <a:latin typeface="Georgia" panose="02040502050405020303" pitchFamily="18" charset="0"/>
              </a:rPr>
              <a:t> jQuery, but it's still possible to use our components with jQuery. </a:t>
            </a:r>
          </a:p>
          <a:p>
            <a:pPr algn="ctr"/>
            <a:endParaRPr lang="en-US" sz="2800" dirty="0">
              <a:latin typeface="Georgia" panose="02040502050405020303" pitchFamily="18" charset="0"/>
            </a:endParaRPr>
          </a:p>
          <a:p>
            <a:pPr algn="ctr"/>
            <a:r>
              <a:rPr lang="en-US" sz="2800" dirty="0">
                <a:latin typeface="Georgia" panose="02040502050405020303" pitchFamily="18" charset="0"/>
              </a:rPr>
              <a:t>Bootstrap uses jQuery for JavaScript plugins (</a:t>
            </a:r>
            <a:r>
              <a:rPr lang="en-US" sz="2800" b="1" i="1" dirty="0">
                <a:latin typeface="Georgia" panose="02040502050405020303" pitchFamily="18" charset="0"/>
              </a:rPr>
              <a:t>like modals, tooltips, </a:t>
            </a:r>
            <a:r>
              <a:rPr lang="en-US" sz="2800" b="1" i="1" dirty="0" err="1">
                <a:latin typeface="Georgia" panose="02040502050405020303" pitchFamily="18" charset="0"/>
              </a:rPr>
              <a:t>etc</a:t>
            </a:r>
            <a:r>
              <a:rPr lang="en-US" sz="2800" dirty="0">
                <a:latin typeface="Georgia" panose="02040502050405020303" pitchFamily="18" charset="0"/>
              </a:rPr>
              <a:t>). However, if you just use the CSS part of Bootstrap, you don't need jQuery.</a:t>
            </a:r>
          </a:p>
        </p:txBody>
      </p:sp>
    </p:spTree>
    <p:extLst>
      <p:ext uri="{BB962C8B-B14F-4D97-AF65-F5344CB8AC3E}">
        <p14:creationId xmlns:p14="http://schemas.microsoft.com/office/powerpoint/2010/main" val="2706637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8956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3 – </a:t>
            </a:r>
            <a:r>
              <a:rPr lang="en-US" sz="4000" dirty="0">
                <a:solidFill>
                  <a:prstClr val="black"/>
                </a:solidFill>
              </a:rPr>
              <a:t>Quick start to add </a:t>
            </a:r>
            <a:r>
              <a:rPr lang="en-US" sz="4000" i="1" dirty="0">
                <a:solidFill>
                  <a:prstClr val="black"/>
                </a:solidFill>
              </a:rPr>
              <a:t>Bootstrap</a:t>
            </a:r>
            <a:r>
              <a:rPr lang="en-US" sz="4000" dirty="0">
                <a:solidFill>
                  <a:prstClr val="black"/>
                </a:solidFill>
              </a:rPr>
              <a:t> &amp; </a:t>
            </a:r>
            <a:r>
              <a:rPr lang="en-US" sz="4000" i="1" dirty="0">
                <a:solidFill>
                  <a:prstClr val="black"/>
                </a:solidFill>
              </a:rPr>
              <a:t>jQuery</a:t>
            </a:r>
            <a:r>
              <a:rPr lang="en-US" sz="4000" dirty="0">
                <a:solidFill>
                  <a:prstClr val="black"/>
                </a:solidFill>
              </a:rPr>
              <a:t> to Project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954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1 - Get started with Bootstrap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50926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93" y="6166684"/>
            <a:ext cx="78623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i="1" dirty="0">
                <a:latin typeface="Georgia" panose="02040502050405020303" pitchFamily="18" charset="0"/>
              </a:rPr>
              <a:t>Link</a:t>
            </a:r>
            <a:r>
              <a:rPr lang="en-US" sz="1400" dirty="0">
                <a:latin typeface="Georgia" panose="02040502050405020303" pitchFamily="18" charset="0"/>
              </a:rPr>
              <a:t>: </a:t>
            </a:r>
            <a:r>
              <a:rPr lang="en-US" sz="1400" dirty="0">
                <a:latin typeface="Georgia" panose="02040502050405020303" pitchFamily="18" charset="0"/>
                <a:hlinkClick r:id="rId3"/>
              </a:rPr>
              <a:t>https://getbootstrap.com/docs/5.0/getting-started/introduction/</a:t>
            </a:r>
            <a:endParaRPr lang="en-US" sz="1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23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5238044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– Place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Bootstrap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our Project (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Offline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)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80770" y="3126954"/>
            <a:ext cx="6006947" cy="673865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2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5238044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– Place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JavaScript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our Project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1828800"/>
            <a:ext cx="6629400" cy="1143000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6282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4 – Testing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5687986"/>
          </a:xfrm>
          <a:prstGeom prst="rect">
            <a:avLst/>
          </a:prstGeom>
        </p:spPr>
      </p:pic>
      <p:sp>
        <p:nvSpPr>
          <p:cNvPr id="3" name="Horizontal Scroll 2"/>
          <p:cNvSpPr/>
          <p:nvPr/>
        </p:nvSpPr>
        <p:spPr>
          <a:xfrm>
            <a:off x="3810000" y="4953000"/>
            <a:ext cx="4953000" cy="1595021"/>
          </a:xfrm>
          <a:prstGeom prst="horizontalScroll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Open the project in the browser. Right-click on the page and click “</a:t>
            </a:r>
            <a:r>
              <a:rPr lang="en-US" i="1" dirty="0">
                <a:latin typeface="Georgia" panose="02040502050405020303" pitchFamily="18" charset="0"/>
              </a:rPr>
              <a:t>view page source</a:t>
            </a:r>
            <a:r>
              <a:rPr lang="en-US" dirty="0">
                <a:latin typeface="Georgia" panose="02040502050405020303" pitchFamily="18" charset="0"/>
              </a:rPr>
              <a:t>”, when the source page opens, you'll see the HTML code for the full page.</a:t>
            </a:r>
          </a:p>
        </p:txBody>
      </p:sp>
    </p:spTree>
    <p:extLst>
      <p:ext uri="{BB962C8B-B14F-4D97-AF65-F5344CB8AC3E}">
        <p14:creationId xmlns:p14="http://schemas.microsoft.com/office/powerpoint/2010/main" val="3512409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590800"/>
            <a:ext cx="762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4 – </a:t>
            </a:r>
            <a:r>
              <a:rPr lang="en-US" sz="4000" dirty="0">
                <a:solidFill>
                  <a:prstClr val="black"/>
                </a:solidFill>
              </a:rPr>
              <a:t>Create </a:t>
            </a:r>
            <a:r>
              <a:rPr lang="en-US" sz="4000" i="1" dirty="0">
                <a:solidFill>
                  <a:prstClr val="black"/>
                </a:solidFill>
              </a:rPr>
              <a:t>a</a:t>
            </a:r>
            <a:r>
              <a:rPr lang="en-US" sz="4000" dirty="0">
                <a:solidFill>
                  <a:prstClr val="black"/>
                </a:solidFill>
              </a:rPr>
              <a:t> Simple Bootstrap Page with navigation header (</a:t>
            </a:r>
            <a:r>
              <a:rPr lang="en-US" sz="4000" i="1" dirty="0" err="1">
                <a:solidFill>
                  <a:prstClr val="black"/>
                </a:solidFill>
              </a:rPr>
              <a:t>Navbar</a:t>
            </a:r>
            <a:r>
              <a:rPr lang="en-US" sz="4000" dirty="0">
                <a:solidFill>
                  <a:prstClr val="black"/>
                </a:solidFill>
              </a:rPr>
              <a:t>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602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– Find Example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Navbar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Bootstrap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36" y="990601"/>
            <a:ext cx="8837364" cy="49515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9675" y="6028489"/>
            <a:ext cx="84582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Georgia" panose="02040502050405020303" pitchFamily="18" charset="0"/>
              </a:rPr>
              <a:t>In column search, you can find </a:t>
            </a:r>
            <a:r>
              <a:rPr lang="en-US" b="1" dirty="0" err="1">
                <a:latin typeface="Georgia" panose="02040502050405020303" pitchFamily="18" charset="0"/>
              </a:rPr>
              <a:t>Navbar</a:t>
            </a:r>
            <a:r>
              <a:rPr lang="en-US" b="1" dirty="0">
                <a:latin typeface="Georgia" panose="02040502050405020303" pitchFamily="18" charset="0"/>
              </a:rPr>
              <a:t> or follow this link:</a:t>
            </a:r>
          </a:p>
          <a:p>
            <a:r>
              <a:rPr lang="en-US" sz="1600" b="1" i="1" dirty="0">
                <a:latin typeface="Georgia" panose="02040502050405020303" pitchFamily="18" charset="0"/>
              </a:rPr>
              <a:t>Link</a:t>
            </a:r>
            <a:r>
              <a:rPr lang="en-US" sz="1600" dirty="0">
                <a:latin typeface="Georgia" panose="02040502050405020303" pitchFamily="18" charset="0"/>
              </a:rPr>
              <a:t>: </a:t>
            </a:r>
            <a:r>
              <a:rPr lang="en-US" sz="1600" dirty="0">
                <a:latin typeface="Georgia" panose="02040502050405020303" pitchFamily="18" charset="0"/>
                <a:hlinkClick r:id="rId3"/>
              </a:rPr>
              <a:t>https://getbootstrap.com/docs/5.0/components/navbar/</a:t>
            </a:r>
            <a:endParaRPr lang="en-US" sz="1600" dirty="0"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0" y="1600200"/>
            <a:ext cx="2569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Georgia" panose="02040502050405020303" pitchFamily="18" charset="0"/>
              </a:rPr>
              <a:t>Copy this code.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638800" y="2033405"/>
            <a:ext cx="1295400" cy="82843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591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– Add </a:t>
            </a:r>
            <a:r>
              <a:rPr lang="en-US" sz="3200" dirty="0" err="1">
                <a:solidFill>
                  <a:srgbClr val="1F497D"/>
                </a:solidFill>
                <a:latin typeface="Georgia"/>
              </a:rPr>
              <a:t>Navbar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header.php</a:t>
            </a:r>
            <a:endParaRPr kumimoji="0" lang="en-US" sz="3200" b="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1"/>
            <a:ext cx="8839200" cy="52939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08103" y="2809300"/>
            <a:ext cx="6354897" cy="2346593"/>
          </a:xfrm>
          <a:prstGeom prst="rect">
            <a:avLst/>
          </a:prstGeom>
          <a:solidFill>
            <a:schemeClr val="accent6">
              <a:lumMod val="60000"/>
              <a:lumOff val="40000"/>
              <a:alpha val="12000"/>
            </a:schemeClr>
          </a:solidFill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18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Please Check type of Bootstrap Containers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0" y="990599"/>
            <a:ext cx="8810740" cy="49773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10" y="6036322"/>
            <a:ext cx="8919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latin typeface="Georgia" panose="02040502050405020303" pitchFamily="18" charset="0"/>
              </a:rPr>
              <a:t>Link</a:t>
            </a:r>
            <a:r>
              <a:rPr lang="en-US" dirty="0">
                <a:latin typeface="Georgia" panose="02040502050405020303" pitchFamily="18" charset="0"/>
              </a:rPr>
              <a:t>: </a:t>
            </a:r>
            <a:r>
              <a:rPr lang="en-US" dirty="0">
                <a:latin typeface="Georgia" panose="02040502050405020303" pitchFamily="18" charset="0"/>
                <a:hlinkClick r:id="rId3"/>
              </a:rPr>
              <a:t>https://getbootstrap.com/docs/5.0/layout/containers/</a:t>
            </a:r>
            <a:endParaRPr lang="en-U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844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– Add Container in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/view/home/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index.php</a:t>
            </a:r>
            <a:endParaRPr kumimoji="0" lang="en-US" sz="3200" i="1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1"/>
            <a:ext cx="8839200" cy="529393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576" y="6336268"/>
            <a:ext cx="85610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</a:t>
            </a:r>
            <a:r>
              <a:rPr lang="en-US" b="1" dirty="0">
                <a:latin typeface="Georgia" panose="02040502050405020303" pitchFamily="18" charset="0"/>
              </a:rPr>
              <a:t>&lt;div&gt; tag </a:t>
            </a:r>
            <a:r>
              <a:rPr lang="en-US" dirty="0">
                <a:latin typeface="Georgia" panose="02040502050405020303" pitchFamily="18" charset="0"/>
              </a:rPr>
              <a:t>defines a </a:t>
            </a:r>
            <a:r>
              <a:rPr lang="en-US" i="1" dirty="0">
                <a:latin typeface="Georgia" panose="02040502050405020303" pitchFamily="18" charset="0"/>
              </a:rPr>
              <a:t>division</a:t>
            </a:r>
            <a:r>
              <a:rPr lang="en-US" dirty="0">
                <a:latin typeface="Georgia" panose="02040502050405020303" pitchFamily="18" charset="0"/>
              </a:rPr>
              <a:t> or a section in an HTML document.</a:t>
            </a:r>
          </a:p>
        </p:txBody>
      </p:sp>
    </p:spTree>
    <p:extLst>
      <p:ext uri="{BB962C8B-B14F-4D97-AF65-F5344CB8AC3E}">
        <p14:creationId xmlns:p14="http://schemas.microsoft.com/office/powerpoint/2010/main" val="3065855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4 – Testing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56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0974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590800"/>
            <a:ext cx="7620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5 – </a:t>
            </a:r>
            <a:r>
              <a:rPr lang="en-US" sz="4000" dirty="0">
                <a:solidFill>
                  <a:prstClr val="black"/>
                </a:solidFill>
              </a:rPr>
              <a:t>Create </a:t>
            </a:r>
            <a:r>
              <a:rPr lang="en-US" sz="4000" i="1" dirty="0">
                <a:solidFill>
                  <a:prstClr val="black"/>
                </a:solidFill>
              </a:rPr>
              <a:t>link</a:t>
            </a:r>
            <a:r>
              <a:rPr lang="en-US" sz="4000" dirty="0">
                <a:solidFill>
                  <a:prstClr val="black"/>
                </a:solidFill>
              </a:rPr>
              <a:t> in navigation header (</a:t>
            </a:r>
            <a:r>
              <a:rPr lang="en-US" sz="4000" i="1" dirty="0" err="1">
                <a:solidFill>
                  <a:prstClr val="black"/>
                </a:solidFill>
              </a:rPr>
              <a:t>Navbar</a:t>
            </a:r>
            <a:r>
              <a:rPr lang="en-US" sz="4000" dirty="0">
                <a:solidFill>
                  <a:prstClr val="black"/>
                </a:solidFill>
              </a:rPr>
              <a:t>)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0888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90600"/>
            <a:ext cx="8839200" cy="5342197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– All Link in </a:t>
            </a:r>
            <a:r>
              <a:rPr lang="en-US" sz="3200" dirty="0" err="1">
                <a:solidFill>
                  <a:srgbClr val="1F497D"/>
                </a:solidFill>
                <a:latin typeface="Georgia"/>
              </a:rPr>
              <a:t>Navbar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563653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– Don’t forget add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container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in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page.php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 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file</a:t>
            </a:r>
            <a:endParaRPr kumimoji="0" lang="en-US" sz="3200" b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54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7047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– Testing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0" y="990600"/>
            <a:ext cx="8834610" cy="524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6732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2590800"/>
            <a:ext cx="7620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5 – </a:t>
            </a:r>
            <a:r>
              <a:rPr lang="en-US" sz="4000" dirty="0">
                <a:solidFill>
                  <a:prstClr val="black"/>
                </a:solidFill>
              </a:rPr>
              <a:t>Add Image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307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>
            <a:off x="0" y="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resh Green Leaves Header On White Background Stock Photo, Picture And  Royalty Free Image. Image 78250847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312"/>
          <a:stretch/>
        </p:blipFill>
        <p:spPr bwMode="auto">
          <a:xfrm rot="10800000">
            <a:off x="0" y="4419600"/>
            <a:ext cx="91440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574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1 – Add an image in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img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directory 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952500"/>
            <a:ext cx="8839200" cy="538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466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2 – Add </a:t>
            </a:r>
            <a:r>
              <a:rPr lang="en-US" sz="3200" i="1" dirty="0" err="1">
                <a:solidFill>
                  <a:srgbClr val="1F497D"/>
                </a:solidFill>
                <a:latin typeface="Georgia"/>
              </a:rPr>
              <a:t>img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Tag in </a:t>
            </a:r>
            <a:r>
              <a:rPr lang="en-US" sz="3200" i="1" dirty="0">
                <a:solidFill>
                  <a:srgbClr val="1F497D"/>
                </a:solidFill>
                <a:latin typeface="Georgia"/>
              </a:rPr>
              <a:t>your</a:t>
            </a:r>
            <a:r>
              <a:rPr lang="en-US" sz="3200" dirty="0">
                <a:solidFill>
                  <a:srgbClr val="1F497D"/>
                </a:solidFill>
                <a:latin typeface="Georgia"/>
              </a:rPr>
              <a:t> Script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4" y="975566"/>
            <a:ext cx="8848036" cy="545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2770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0" y="152400"/>
            <a:ext cx="8839200" cy="6858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1F497D"/>
                </a:solidFill>
                <a:latin typeface="Georgia"/>
              </a:rPr>
              <a:t>3 – Testing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eorgi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90600"/>
            <a:ext cx="8839200" cy="5249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16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86200"/>
            <a:ext cx="914399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Exercise </a:t>
            </a: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for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Students</a:t>
            </a:r>
          </a:p>
        </p:txBody>
      </p:sp>
      <p:pic>
        <p:nvPicPr>
          <p:cNvPr id="6148" name="Picture 4" descr="Clipboard checklist clipart letters example gif - Cliparti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1" y="1143001"/>
            <a:ext cx="1752600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4105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 bwMode="auto">
          <a:xfrm>
            <a:off x="152401" y="152400"/>
            <a:ext cx="8839200" cy="914400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9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Latihan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untuk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40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776" y="1167211"/>
            <a:ext cx="8865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directory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C:\xampp\htdocs\lecture20\</a:t>
            </a:r>
            <a:endParaRPr kumimoji="0" lang="en-US" sz="24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  <a:p>
            <a:pPr marL="0" marR="0" lvl="0" indent="0" algn="l" defTabSz="9143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Create file		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_.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php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" y="2194560"/>
            <a:ext cx="8991600" cy="313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2296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Buat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semua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contoh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yang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sudah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pelajari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sebelumnya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di </a:t>
            </a:r>
            <a:r>
              <a:rPr kumimoji="0" lang="en-US" sz="144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lecture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 </a:t>
            </a:r>
            <a:r>
              <a:rPr kumimoji="0" lang="en-US" sz="144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ini</a:t>
            </a:r>
            <a:r>
              <a:rPr kumimoji="0" lang="en-US" sz="144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49015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2971800"/>
            <a:ext cx="5530215" cy="1035745"/>
          </a:xfrm>
          <a:prstGeom prst="wedgeRoundRectCallout">
            <a:avLst>
              <a:gd name="adj1" fmla="val 51225"/>
              <a:gd name="adj2" fmla="val 13244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solidFill>
                  <a:srgbClr val="30859C"/>
                </a:solidFill>
              </a:rPr>
              <a:t>THANK</a:t>
            </a:r>
            <a:r>
              <a:rPr sz="6000" spc="-355" dirty="0">
                <a:solidFill>
                  <a:srgbClr val="30859C"/>
                </a:solidFill>
              </a:rPr>
              <a:t> </a:t>
            </a:r>
            <a:r>
              <a:rPr sz="6000" spc="-5" dirty="0">
                <a:solidFill>
                  <a:srgbClr val="30859C"/>
                </a:solidFill>
              </a:rPr>
              <a:t>YOU</a:t>
            </a:r>
            <a:endParaRPr sz="6000" dirty="0"/>
          </a:p>
        </p:txBody>
      </p:sp>
      <p:pic>
        <p:nvPicPr>
          <p:cNvPr id="3" name="Picture 2" descr="Download Free png Photography Person Clip art - thinking clipart png  download - 645 ... - DLPNG.co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6615" y="4476896"/>
            <a:ext cx="1719273" cy="213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03914" y="76200"/>
            <a:ext cx="802197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all" spc="100" normalizeH="0" baseline="0" noProof="0" dirty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END PRESENTATION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03913" y="1186434"/>
            <a:ext cx="3041667" cy="670501"/>
            <a:chOff x="1024128" y="2917984"/>
            <a:chExt cx="3041667" cy="670501"/>
          </a:xfrm>
        </p:grpSpPr>
        <p:sp>
          <p:nvSpPr>
            <p:cNvPr id="6" name="Rectangle 5"/>
            <p:cNvSpPr/>
            <p:nvPr/>
          </p:nvSpPr>
          <p:spPr>
            <a:xfrm>
              <a:off x="1024128" y="3188375"/>
              <a:ext cx="225286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prstClr val="black"/>
                  </a:solidFill>
                  <a:latin typeface="Tw Cen MT" panose="020B0602020104020603"/>
                </a:rPr>
                <a:t>Instructor: S – W – T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024128" y="2917984"/>
              <a:ext cx="30416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457200"/>
              <a:r>
                <a:rPr lang="en-US" sz="2000" dirty="0">
                  <a:solidFill>
                    <a:srgbClr val="FF0000"/>
                  </a:solidFill>
                  <a:latin typeface="Tw Cen MT" panose="020B0602020104020603"/>
                </a:rPr>
                <a:t>Thank you for your attention</a:t>
              </a:r>
            </a:p>
          </p:txBody>
        </p:sp>
      </p:grpSp>
      <p:sp>
        <p:nvSpPr>
          <p:cNvPr id="8" name="Rectangle 7"/>
          <p:cNvSpPr/>
          <p:nvPr/>
        </p:nvSpPr>
        <p:spPr>
          <a:xfrm>
            <a:off x="470335" y="540135"/>
            <a:ext cx="304599" cy="1316800"/>
          </a:xfrm>
          <a:prstGeom prst="rect">
            <a:avLst/>
          </a:prstGeom>
          <a:solidFill>
            <a:sysClr val="windowText" lastClr="000000"/>
          </a:solidFill>
          <a:ln w="15875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rb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</TotalTime>
  <Words>1185</Words>
  <Application>Microsoft Office PowerPoint</Application>
  <PresentationFormat>On-screen Show (4:3)</PresentationFormat>
  <Paragraphs>122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6" baseType="lpstr">
      <vt:lpstr>Bookman Uralic</vt:lpstr>
      <vt:lpstr>Carlito</vt:lpstr>
      <vt:lpstr>Arial</vt:lpstr>
      <vt:lpstr>Calibri</vt:lpstr>
      <vt:lpstr>Georgia</vt:lpstr>
      <vt:lpstr>Tahoma</vt:lpstr>
      <vt:lpstr>Times New Roman</vt:lpstr>
      <vt:lpstr>Trebuchet MS</vt:lpstr>
      <vt:lpstr>Tw Cen MT</vt:lpstr>
      <vt:lpstr>Tw Cen MT Condensed</vt:lpstr>
      <vt:lpstr>Wingdings 2</vt:lpstr>
      <vt:lpstr>Office Theme</vt:lpstr>
      <vt:lpstr>Urban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NL</dc:creator>
  <cp:lastModifiedBy>Semmy Taju</cp:lastModifiedBy>
  <cp:revision>377</cp:revision>
  <dcterms:created xsi:type="dcterms:W3CDTF">2021-03-23T22:28:06Z</dcterms:created>
  <dcterms:modified xsi:type="dcterms:W3CDTF">2022-03-28T20:30:06Z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2021-03-23T00:00:00Z</vt:filetime>
  </property>
</Properties>
</file>